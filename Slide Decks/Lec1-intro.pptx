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256" r:id="rId2"/>
    <p:sldId id="280" r:id="rId3"/>
    <p:sldId id="281" r:id="rId4"/>
    <p:sldId id="282" r:id="rId5"/>
    <p:sldId id="308" r:id="rId6"/>
    <p:sldId id="292" r:id="rId7"/>
    <p:sldId id="289" r:id="rId8"/>
    <p:sldId id="290" r:id="rId9"/>
    <p:sldId id="291" r:id="rId10"/>
    <p:sldId id="283" r:id="rId11"/>
    <p:sldId id="285" r:id="rId12"/>
    <p:sldId id="284" r:id="rId13"/>
    <p:sldId id="286" r:id="rId14"/>
    <p:sldId id="307" r:id="rId15"/>
    <p:sldId id="332" r:id="rId16"/>
    <p:sldId id="293" r:id="rId17"/>
    <p:sldId id="309" r:id="rId18"/>
    <p:sldId id="310" r:id="rId19"/>
    <p:sldId id="305" r:id="rId20"/>
    <p:sldId id="306" r:id="rId21"/>
    <p:sldId id="316" r:id="rId22"/>
    <p:sldId id="317" r:id="rId23"/>
    <p:sldId id="318" r:id="rId24"/>
    <p:sldId id="319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3" r:id="rId33"/>
    <p:sldId id="304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279" r:id="rId47"/>
    <p:sldId id="311" r:id="rId48"/>
    <p:sldId id="312" r:id="rId49"/>
    <p:sldId id="313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0" d="100"/>
          <a:sy n="110" d="100"/>
        </p:scale>
        <p:origin x="212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06241-04A0-EC43-B01F-52FC3A1B96E4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06241-04A0-EC43-B01F-52FC3A1B96E4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65120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06241-04A0-EC43-B01F-52FC3A1B96E4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230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06241-04A0-EC43-B01F-52FC3A1B96E4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073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DE32BE-7060-409C-A0CB-7403F6FD9703}" type="slidenum">
              <a:rPr lang="tr-TR"/>
              <a:pPr/>
              <a:t>23</a:t>
            </a:fld>
            <a:endParaRPr lang="tr-TR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689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9B53CF-2B55-4845-8A18-7AFB37552E11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286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198050-4AAD-4E21-8F88-9328EDCD8B63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548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BB8DEC-8A88-4A69-910F-FD9AC78FFFF5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107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696B5D-9452-46BF-99D4-B38270CE0D5E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269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1445D1-3F24-46C6-9169-8C05A6145218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351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FBC76F-A38B-49DA-91A5-F696B5DB16E4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771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9E426D-FD78-4727-846A-9729E638B780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813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508400-9E34-434F-9B02-DF3FC5728881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283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D9C2C-B806-4711-89D7-3BC6B9C262D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DF2EA8-28B6-4FB7-86F7-A57D790A1FC3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A3ECD-BC3F-4E84-8E59-249603251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784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79248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695700"/>
            <a:ext cx="79248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9DEA33CC-2890-45D3-BE4E-A136C88CD3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90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mleg.cse.sc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dall.com/" TargetMode="External"/><Relationship Id="rId2" Type="http://schemas.openxmlformats.org/officeDocument/2006/relationships/hyperlink" Target="https://sites.google.com/view/csce88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nishar/mit-deep-learning-book-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XwyBcvp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atural_language_processing" TargetMode="External"/><Relationship Id="rId13" Type="http://schemas.openxmlformats.org/officeDocument/2006/relationships/hyperlink" Target="https://en.wikipedia.org/wiki/Deep_learning#cite_note-:9-6" TargetMode="External"/><Relationship Id="rId3" Type="http://schemas.openxmlformats.org/officeDocument/2006/relationships/hyperlink" Target="https://en.wikipedia.org/wiki/Deep_learning#Deep_neural_networks" TargetMode="External"/><Relationship Id="rId7" Type="http://schemas.openxmlformats.org/officeDocument/2006/relationships/hyperlink" Target="https://en.wikipedia.org/wiki/Automatic_speech_recognition" TargetMode="External"/><Relationship Id="rId12" Type="http://schemas.openxmlformats.org/officeDocument/2006/relationships/hyperlink" Target="https://en.wikipedia.org/wiki/Deep_learning#cite_note-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mputer_vision" TargetMode="External"/><Relationship Id="rId11" Type="http://schemas.openxmlformats.org/officeDocument/2006/relationships/hyperlink" Target="https://en.wikipedia.org/wiki/Drug_design" TargetMode="External"/><Relationship Id="rId5" Type="http://schemas.openxmlformats.org/officeDocument/2006/relationships/hyperlink" Target="https://en.wikipedia.org/wiki/Recurrent_neural_networks" TargetMode="External"/><Relationship Id="rId10" Type="http://schemas.openxmlformats.org/officeDocument/2006/relationships/hyperlink" Target="https://en.wikipedia.org/wiki/Bioinformatics" TargetMode="External"/><Relationship Id="rId4" Type="http://schemas.openxmlformats.org/officeDocument/2006/relationships/hyperlink" Target="https://en.wikipedia.org/wiki/Deep_belief_network" TargetMode="External"/><Relationship Id="rId9" Type="http://schemas.openxmlformats.org/officeDocument/2006/relationships/hyperlink" Target="https://en.wikipedia.org/wiki/Machine_translation" TargetMode="External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lib.stat.cmu.edu/" TargetMode="External"/><Relationship Id="rId2" Type="http://schemas.openxmlformats.org/officeDocument/2006/relationships/hyperlink" Target="http://www.ics.uci.edu/~mlearn/MLRepository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mlr.org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648200"/>
            <a:ext cx="7406640" cy="1752600"/>
          </a:xfrm>
        </p:spPr>
        <p:txBody>
          <a:bodyPr>
            <a:normAutofit lnSpcReduction="10000"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About Hu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Machine Learning and Evolution Laboratory</a:t>
            </a:r>
          </a:p>
          <a:p>
            <a:r>
              <a:rPr lang="en-US" altLang="en-US" dirty="0">
                <a:hlinkClick r:id="rId2"/>
              </a:rPr>
              <a:t>http://mleg.cse.sc.edu</a:t>
            </a:r>
            <a:endParaRPr lang="en-US" altLang="en-US" dirty="0"/>
          </a:p>
          <a:p>
            <a:r>
              <a:rPr lang="en-US" altLang="en-US" sz="2400" dirty="0"/>
              <a:t>Machine learning, evolutionary computation, data mining, </a:t>
            </a:r>
            <a:r>
              <a:rPr lang="en-US" altLang="en-US" sz="2400" dirty="0" err="1"/>
              <a:t>Bioinformatics,material</a:t>
            </a:r>
            <a:r>
              <a:rPr lang="en-US" altLang="en-US" sz="2400" dirty="0"/>
              <a:t> informatics, health informatics</a:t>
            </a:r>
          </a:p>
          <a:p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91000"/>
            <a:ext cx="2546033" cy="2514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067175"/>
            <a:ext cx="2762250" cy="2762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817" y="4191000"/>
            <a:ext cx="1972815" cy="1509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816" y="5448300"/>
            <a:ext cx="1972815" cy="131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9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Objectives of CSCE883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Exciting!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Useful!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Fun!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Something to show</a:t>
            </a:r>
          </a:p>
        </p:txBody>
      </p:sp>
    </p:spTree>
    <p:extLst>
      <p:ext uri="{BB962C8B-B14F-4D97-AF65-F5344CB8AC3E}">
        <p14:creationId xmlns:p14="http://schemas.microsoft.com/office/powerpoint/2010/main" val="360055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Syllabus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宋体" panose="02010600030101010101" pitchFamily="2" charset="-122"/>
                <a:hlinkClick r:id="rId2"/>
              </a:rPr>
              <a:t>https://sites.google.com/view/csce883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Office: 2240 innovation center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Office Hours:  </a:t>
            </a:r>
            <a:r>
              <a:rPr lang="en-US" altLang="en-US" dirty="0"/>
              <a:t>TTH 2:30PM-3:30PM or by Appointment  (via zoom online)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4 homework, 1 mid-term exam, 1 final project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Textbook-must have</a:t>
            </a:r>
          </a:p>
          <a:p>
            <a:pPr lvl="2"/>
            <a:r>
              <a:rPr lang="en-US" dirty="0"/>
              <a:t>Introduction to Machine Learning by </a:t>
            </a:r>
            <a:r>
              <a:rPr lang="en-US" dirty="0" err="1"/>
              <a:t>Ethem</a:t>
            </a:r>
            <a:r>
              <a:rPr lang="en-US" dirty="0"/>
              <a:t> </a:t>
            </a:r>
            <a:r>
              <a:rPr lang="en-US" dirty="0" err="1"/>
              <a:t>Alpaydin</a:t>
            </a:r>
            <a:br>
              <a:rPr lang="en-US" dirty="0"/>
            </a:br>
            <a:r>
              <a:rPr lang="en-US" altLang="zh-CN" dirty="0">
                <a:ea typeface="宋体" panose="02010600030101010101" pitchFamily="2" charset="-122"/>
              </a:rPr>
              <a:t>(you can find cheap books at </a:t>
            </a:r>
            <a:r>
              <a:rPr lang="en-US" altLang="zh-CN" u="sng" dirty="0">
                <a:ea typeface="宋体" panose="02010600030101010101" pitchFamily="2" charset="-122"/>
                <a:hlinkClick r:id="rId3"/>
              </a:rPr>
              <a:t>http://www.addall.com</a:t>
            </a:r>
            <a:r>
              <a:rPr lang="en-US" altLang="zh-CN" dirty="0">
                <a:ea typeface="宋体" panose="02010600030101010101" pitchFamily="2" charset="-122"/>
              </a:rPr>
              <a:t>) 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  <a:hlinkClick r:id="rId4"/>
              </a:rPr>
              <a:t>https://github.com/janishar/mit-deep-learning-book-pdf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Grading: A/B</a:t>
            </a:r>
            <a:r>
              <a:rPr lang="en-US" altLang="zh-CN">
                <a:ea typeface="宋体" panose="02010600030101010101" pitchFamily="2" charset="-122"/>
              </a:rPr>
              <a:t>/C/D/F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063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deep learning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endParaRPr lang="en-US" dirty="0"/>
          </a:p>
        </p:txBody>
      </p:sp>
      <p:pic>
        <p:nvPicPr>
          <p:cNvPr id="4" name="VXwyBcvpIng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421" y="1447800"/>
            <a:ext cx="8822267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2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35608" y="80736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AI revolution:  The Big Picture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46988" y="2889006"/>
            <a:ext cx="7886700" cy="36641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ChatGPT/Claude/AGI</a:t>
            </a:r>
          </a:p>
          <a:p>
            <a:r>
              <a:rPr lang="en-US" dirty="0"/>
              <a:t>Self-driving Car</a:t>
            </a:r>
          </a:p>
          <a:p>
            <a:r>
              <a:rPr lang="en-US" dirty="0"/>
              <a:t>Siri, Amazon Echo </a:t>
            </a:r>
          </a:p>
          <a:p>
            <a:r>
              <a:rPr lang="en-US" dirty="0"/>
              <a:t>Google Translation</a:t>
            </a:r>
          </a:p>
          <a:p>
            <a:r>
              <a:rPr lang="en-US" dirty="0" err="1"/>
              <a:t>AlphaGo</a:t>
            </a:r>
            <a:endParaRPr lang="en-US" dirty="0"/>
          </a:p>
          <a:p>
            <a:r>
              <a:rPr lang="en-US" altLang="zh-CN" dirty="0"/>
              <a:t>Robots</a:t>
            </a:r>
          </a:p>
          <a:p>
            <a:r>
              <a:rPr lang="en-US" dirty="0"/>
              <a:t>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26267"/>
            <a:ext cx="2744908" cy="15096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226267"/>
            <a:ext cx="2460555" cy="1589519"/>
          </a:xfrm>
          <a:prstGeom prst="rect">
            <a:avLst/>
          </a:prstGeom>
        </p:spPr>
      </p:pic>
      <p:pic>
        <p:nvPicPr>
          <p:cNvPr id="1026" name="Picture 2" descr="Image result for good translat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633" y="3000282"/>
            <a:ext cx="2751365" cy="137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alpha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304390"/>
            <a:ext cx="2347301" cy="145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siri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933" y="5489352"/>
            <a:ext cx="2042469" cy="89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77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12 October 2017</a:t>
            </a:r>
            <a:endParaRPr lang="en-US" dirty="0"/>
          </a:p>
        </p:txBody>
      </p:sp>
      <p:pic>
        <p:nvPicPr>
          <p:cNvPr id="6" name="Picture 2" descr="Image result for convolutional neural network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05200"/>
            <a:ext cx="7420356" cy="201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07742" y="1541052"/>
            <a:ext cx="70604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6A6A6A"/>
                </a:solidFill>
                <a:latin typeface="Roboto"/>
              </a:rPr>
              <a:t>Deep Learning</a:t>
            </a:r>
            <a:r>
              <a:rPr lang="en-US" sz="2000" dirty="0">
                <a:solidFill>
                  <a:srgbClr val="545454"/>
                </a:solidFill>
                <a:latin typeface="Roboto"/>
              </a:rPr>
              <a:t> is a subfield of machine </a:t>
            </a:r>
            <a:r>
              <a:rPr lang="en-US" sz="2000" b="1" dirty="0">
                <a:solidFill>
                  <a:srgbClr val="6A6A6A"/>
                </a:solidFill>
                <a:latin typeface="Roboto"/>
              </a:rPr>
              <a:t>learning</a:t>
            </a:r>
            <a:r>
              <a:rPr lang="en-US" sz="2000" dirty="0">
                <a:solidFill>
                  <a:srgbClr val="545454"/>
                </a:solidFill>
                <a:latin typeface="Roboto"/>
              </a:rPr>
              <a:t> concerned with algorithms inspired by the structure and function of the brain called artificial neural networks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114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How it works: </a:t>
            </a:r>
            <a:r>
              <a:rPr lang="en-US" sz="3000" dirty="0" err="1"/>
              <a:t>CNN+Backpropagation</a:t>
            </a:r>
            <a:r>
              <a:rPr lang="en-US" sz="3000" dirty="0"/>
              <a:t>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12 October 2017</a:t>
            </a:r>
            <a:endParaRPr lang="en-US" dirty="0"/>
          </a:p>
        </p:txBody>
      </p:sp>
      <p:pic>
        <p:nvPicPr>
          <p:cNvPr id="4098" name="Picture 2" descr="Image result for deep neural  network model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72" y="2042279"/>
            <a:ext cx="6857510" cy="352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31028" y="5569675"/>
            <a:ext cx="49622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</a:rPr>
              <a:t>Representation Learning  vs 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75634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Breakthroughs by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Deep learning architectures such as </a:t>
            </a:r>
            <a:r>
              <a:rPr lang="en-US" dirty="0">
                <a:hlinkClick r:id="rId3"/>
              </a:rPr>
              <a:t>deep neural networks</a:t>
            </a:r>
            <a:r>
              <a:rPr lang="en-US" dirty="0"/>
              <a:t>, </a:t>
            </a:r>
            <a:r>
              <a:rPr lang="en-US" dirty="0">
                <a:hlinkClick r:id="rId4" tooltip="Deep belief network"/>
              </a:rPr>
              <a:t>deep belief networks</a:t>
            </a:r>
            <a:r>
              <a:rPr lang="en-US" dirty="0"/>
              <a:t> and </a:t>
            </a:r>
            <a:r>
              <a:rPr lang="en-US" dirty="0">
                <a:hlinkClick r:id="rId5" tooltip="Recurrent neural networks"/>
              </a:rPr>
              <a:t>recurrent neural networks</a:t>
            </a:r>
            <a:r>
              <a:rPr lang="en-US" dirty="0"/>
              <a:t> have been applied to fields including </a:t>
            </a:r>
            <a:r>
              <a:rPr lang="en-US" dirty="0">
                <a:hlinkClick r:id="rId6" tooltip="Computer vision"/>
              </a:rPr>
              <a:t>computer vision</a:t>
            </a:r>
            <a:r>
              <a:rPr lang="en-US" dirty="0"/>
              <a:t>, </a:t>
            </a:r>
            <a:r>
              <a:rPr lang="en-US" dirty="0">
                <a:hlinkClick r:id="rId7" tooltip="Automatic speech recognition"/>
              </a:rPr>
              <a:t>speech recognition</a:t>
            </a:r>
            <a:r>
              <a:rPr lang="en-US" dirty="0"/>
              <a:t>, </a:t>
            </a:r>
            <a:r>
              <a:rPr lang="en-US" dirty="0">
                <a:hlinkClick r:id="rId8" tooltip="Natural language processing"/>
              </a:rPr>
              <a:t>natural language processing</a:t>
            </a:r>
            <a:r>
              <a:rPr lang="en-US" dirty="0"/>
              <a:t>, audio recognition, social network filtering, </a:t>
            </a:r>
            <a:r>
              <a:rPr lang="en-US" dirty="0">
                <a:hlinkClick r:id="rId9" tooltip="Machine translation"/>
              </a:rPr>
              <a:t>machine translation</a:t>
            </a:r>
            <a:r>
              <a:rPr lang="en-US" dirty="0"/>
              <a:t>, </a:t>
            </a:r>
            <a:r>
              <a:rPr lang="en-US" dirty="0">
                <a:hlinkClick r:id="rId10" tooltip="Bioinformatics"/>
              </a:rPr>
              <a:t>bioinformatics</a:t>
            </a:r>
            <a:r>
              <a:rPr lang="en-US" dirty="0"/>
              <a:t> and </a:t>
            </a:r>
            <a:r>
              <a:rPr lang="en-US" dirty="0">
                <a:hlinkClick r:id="rId11" tooltip="Drug design"/>
              </a:rPr>
              <a:t>drug design</a:t>
            </a:r>
            <a:r>
              <a:rPr lang="en-US" baseline="30000" dirty="0">
                <a:hlinkClick r:id="rId12"/>
              </a:rPr>
              <a:t>[5]</a:t>
            </a:r>
            <a:r>
              <a:rPr lang="en-US" dirty="0"/>
              <a:t>, where they have produced results comparable to and in some cases superior</a:t>
            </a:r>
            <a:r>
              <a:rPr lang="en-US" baseline="30000" dirty="0">
                <a:hlinkClick r:id="rId13"/>
              </a:rPr>
              <a:t>[6]</a:t>
            </a:r>
            <a:r>
              <a:rPr lang="en-US" dirty="0"/>
              <a:t> to human experts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12 October 2017</a:t>
            </a:r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200" y="4876800"/>
            <a:ext cx="7886700" cy="178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3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AI in China startups</a:t>
            </a:r>
            <a:endParaRPr lang="en-US" altLang="en-US"/>
          </a:p>
        </p:txBody>
      </p:sp>
      <p:pic>
        <p:nvPicPr>
          <p:cNvPr id="18436" name="Picture 2" descr="http://img.mp.itc.cn/upload/20170711/8d32b53ec03048ff98577c5dda7cdad7_th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981200"/>
            <a:ext cx="7691245" cy="4648200"/>
          </a:xfrm>
          <a:noFill/>
        </p:spPr>
      </p:pic>
    </p:spTree>
    <p:extLst>
      <p:ext uri="{BB962C8B-B14F-4D97-AF65-F5344CB8AC3E}">
        <p14:creationId xmlns:p14="http://schemas.microsoft.com/office/powerpoint/2010/main" val="427912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 companies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798729"/>
              </p:ext>
            </p:extLst>
          </p:nvPr>
        </p:nvGraphicFramePr>
        <p:xfrm>
          <a:off x="1600200" y="1252558"/>
          <a:ext cx="4281488" cy="5052992"/>
        </p:xfrm>
        <a:graphic>
          <a:graphicData uri="http://schemas.openxmlformats.org/drawingml/2006/table">
            <a:tbl>
              <a:tblPr/>
              <a:tblGrid>
                <a:gridCol w="2139950">
                  <a:extLst>
                    <a:ext uri="{9D8B030D-6E8A-4147-A177-3AD203B41FA5}">
                      <a16:colId xmlns:a16="http://schemas.microsoft.com/office/drawing/2014/main" val="3178343717"/>
                    </a:ext>
                  </a:extLst>
                </a:gridCol>
                <a:gridCol w="2141538">
                  <a:extLst>
                    <a:ext uri="{9D8B030D-6E8A-4147-A177-3AD203B41FA5}">
                      <a16:colId xmlns:a16="http://schemas.microsoft.com/office/drawing/2014/main" val="1390930757"/>
                    </a:ext>
                  </a:extLst>
                </a:gridCol>
              </a:tblGrid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第四范式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成规模的深度学习云平台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654342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思必驰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实时、基于云的自动语音识别，用于车载、智能家居和机器人 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UI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730282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寒武纪科技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AI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设备及神经网络处理器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888855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格灵深瞳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3D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计算机视觉和深度学习，用于人和车辆监测、追踪及识别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858605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深鉴科技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压缩 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CNN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网络和处理器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23667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竹间智能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基于多模态的人机自然交互界面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422898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旷视科技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人脸识别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676255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地平线机器人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智能家居，自动驾驶和公共安全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33341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碳云智能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基于机器的个性化健康分析和健康指数预测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457777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云天励飞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基于云的深度学习，用于公共安全和工业监测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698615"/>
                  </a:ext>
                </a:extLst>
              </a:tr>
              <a:tr h="916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Minieye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ADAS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摄像头和软件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96257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出门问问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智能手表，使用云进行语音搜索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306099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Momenta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L5 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无人驾驶 </a:t>
                      </a:r>
                      <a:r>
                        <a:rPr kumimoji="0" lang="en-US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AI 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平台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196512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摩图科技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商业化计算机视觉和深度学习技术，用于低成本、低功耗平台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30059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Rokid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家庭智能助理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–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自动语音识别技术 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+ </a:t>
                      </a: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face/gesture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967994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中科视拓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赋能企业计算机视觉和机器学习的开源开发平台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392395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商汤科技</a:t>
                      </a: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计算机视觉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88868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图普科技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图像识别技术和服务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9984"/>
                  </a:ext>
                </a:extLst>
              </a:tr>
              <a:tr h="316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图森科技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自动驾驶软件：检测和追踪，</a:t>
                      </a: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SLAM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，图像分割、面部分析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885650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云知声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基于 </a:t>
                      </a: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</a:rPr>
                        <a:t>AI </a:t>
                      </a: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的语音和文本识别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019920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依图科技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用于安防、交通和医疗影像的计算机视觉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25393"/>
                  </a:ext>
                </a:extLst>
              </a:tr>
              <a:tr h="179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零零无限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智能无人机摄像头</a:t>
                      </a:r>
                    </a:p>
                  </a:txBody>
                  <a:tcPr marL="35517" marR="35517" marT="21312" marB="213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787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43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 startups</a:t>
            </a:r>
          </a:p>
        </p:txBody>
      </p:sp>
      <p:pic>
        <p:nvPicPr>
          <p:cNvPr id="19460" name="Picture 2" descr="http://blog.ventureradar.com/wp-content/uploads/2016/01/DeepLearningStartups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676400"/>
            <a:ext cx="7620000" cy="4284845"/>
          </a:xfrm>
          <a:noFill/>
        </p:spPr>
      </p:pic>
    </p:spTree>
    <p:extLst>
      <p:ext uri="{BB962C8B-B14F-4D97-AF65-F5344CB8AC3E}">
        <p14:creationId xmlns:p14="http://schemas.microsoft.com/office/powerpoint/2010/main" val="584690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447800" y="281763"/>
            <a:ext cx="7498080" cy="1143000"/>
          </a:xfrm>
        </p:spPr>
        <p:txBody>
          <a:bodyPr/>
          <a:lstStyle/>
          <a:p>
            <a:r>
              <a:rPr lang="en-US" altLang="en-US"/>
              <a:t>Keywords in AI/Computer Vision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1371600" y="1347013"/>
            <a:ext cx="32004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Deep learning</a:t>
            </a:r>
          </a:p>
          <a:p>
            <a:r>
              <a:rPr lang="en-US" altLang="en-US" dirty="0"/>
              <a:t>DNN</a:t>
            </a:r>
          </a:p>
          <a:p>
            <a:r>
              <a:rPr lang="en-US" altLang="en-US" dirty="0"/>
              <a:t>CNN</a:t>
            </a:r>
          </a:p>
          <a:p>
            <a:r>
              <a:rPr lang="en-US" altLang="en-US" dirty="0"/>
              <a:t>GAN</a:t>
            </a:r>
          </a:p>
          <a:p>
            <a:r>
              <a:rPr lang="en-US" altLang="en-US" dirty="0"/>
              <a:t>RNN</a:t>
            </a:r>
          </a:p>
          <a:p>
            <a:r>
              <a:rPr lang="en-US" altLang="en-US" dirty="0"/>
              <a:t>ImageNet</a:t>
            </a:r>
          </a:p>
          <a:p>
            <a:r>
              <a:rPr lang="en-US" altLang="en-US" dirty="0" err="1"/>
              <a:t>Cifar</a:t>
            </a:r>
            <a:endParaRPr lang="en-US" altLang="en-US" dirty="0"/>
          </a:p>
          <a:p>
            <a:r>
              <a:rPr lang="en-US" altLang="en-US" dirty="0"/>
              <a:t>Tensorflow</a:t>
            </a:r>
          </a:p>
          <a:p>
            <a:r>
              <a:rPr lang="en-US" altLang="en-US" dirty="0" err="1"/>
              <a:t>Caffe</a:t>
            </a:r>
            <a:endParaRPr lang="en-US" altLang="en-US" dirty="0"/>
          </a:p>
          <a:p>
            <a:r>
              <a:rPr lang="en-US" altLang="en-US" dirty="0"/>
              <a:t>Torch</a:t>
            </a:r>
          </a:p>
          <a:p>
            <a:r>
              <a:rPr lang="en-US" altLang="en-US" dirty="0" err="1"/>
              <a:t>Theano</a:t>
            </a:r>
            <a:endParaRPr lang="en-US" altLang="en-US" dirty="0"/>
          </a:p>
          <a:p>
            <a:r>
              <a:rPr lang="en-US" altLang="en-US" dirty="0" err="1"/>
              <a:t>MxNet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Arial" panose="020B0604020202020204" pitchFamily="34" charset="0"/>
              </a:rPr>
              <a:t>USC CSE 768, Spring 2013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76800" y="1347013"/>
            <a:ext cx="3200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kern="0" dirty="0" err="1"/>
              <a:t>Lecunn</a:t>
            </a:r>
            <a:endParaRPr lang="en-US" kern="0" dirty="0"/>
          </a:p>
          <a:p>
            <a:pPr>
              <a:defRPr/>
            </a:pPr>
            <a:r>
              <a:rPr lang="en-US" kern="0" dirty="0"/>
              <a:t>Hinton</a:t>
            </a:r>
          </a:p>
          <a:p>
            <a:pPr>
              <a:defRPr/>
            </a:pPr>
            <a:r>
              <a:rPr lang="en-US" kern="0" dirty="0" err="1"/>
              <a:t>Feifei</a:t>
            </a:r>
            <a:r>
              <a:rPr lang="en-US" kern="0" dirty="0"/>
              <a:t> Li</a:t>
            </a:r>
          </a:p>
          <a:p>
            <a:pPr>
              <a:defRPr/>
            </a:pPr>
            <a:r>
              <a:rPr lang="en-US" kern="0" dirty="0"/>
              <a:t>Jian Sun</a:t>
            </a:r>
          </a:p>
          <a:p>
            <a:pPr>
              <a:defRPr/>
            </a:pPr>
            <a:r>
              <a:rPr lang="en-US" dirty="0" err="1"/>
              <a:t>Bengio</a:t>
            </a:r>
            <a:endParaRPr lang="en-US" dirty="0"/>
          </a:p>
          <a:p>
            <a:pPr>
              <a:defRPr/>
            </a:pPr>
            <a:r>
              <a:rPr lang="en-US" kern="0" dirty="0" err="1"/>
              <a:t>Goodfellow</a:t>
            </a:r>
            <a:endParaRPr lang="en-US" kern="0" dirty="0"/>
          </a:p>
          <a:p>
            <a:pPr>
              <a:defRPr/>
            </a:pPr>
            <a:r>
              <a:rPr lang="en-US" kern="0" dirty="0" err="1"/>
              <a:t>OpenAI</a:t>
            </a:r>
            <a:endParaRPr lang="en-US" kern="0" dirty="0"/>
          </a:p>
          <a:p>
            <a:pPr>
              <a:defRPr/>
            </a:pPr>
            <a:r>
              <a:rPr lang="en-US" kern="0" dirty="0" err="1"/>
              <a:t>WaveNet</a:t>
            </a:r>
            <a:endParaRPr lang="en-US" kern="0" dirty="0"/>
          </a:p>
          <a:p>
            <a:pPr>
              <a:defRPr/>
            </a:pPr>
            <a:r>
              <a:rPr lang="en-US" kern="0" dirty="0"/>
              <a:t>AGI</a:t>
            </a:r>
          </a:p>
          <a:p>
            <a:pPr>
              <a:defRPr/>
            </a:pPr>
            <a:r>
              <a:rPr lang="en-US" kern="0" dirty="0"/>
              <a:t>GRPO</a:t>
            </a:r>
          </a:p>
          <a:p>
            <a:pPr>
              <a:defRPr/>
            </a:pPr>
            <a:endParaRPr lang="en-US" kern="0" dirty="0"/>
          </a:p>
          <a:p>
            <a:pPr>
              <a:defRPr/>
            </a:pPr>
            <a:endParaRPr lang="en-US" kern="0" dirty="0"/>
          </a:p>
        </p:txBody>
      </p:sp>
      <p:sp>
        <p:nvSpPr>
          <p:cNvPr id="6" name="Round Same Side Corner Rectangle 5"/>
          <p:cNvSpPr/>
          <p:nvPr/>
        </p:nvSpPr>
        <p:spPr bwMode="auto">
          <a:xfrm>
            <a:off x="2411875" y="6172200"/>
            <a:ext cx="4114800" cy="990600"/>
          </a:xfrm>
          <a:prstGeom prst="round2Same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lang="en-US" dirty="0"/>
              <a:t>The Deep Learning Revolution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007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Learning?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i="1" dirty="0"/>
              <a:t>“Learning denotes changes in a system that ... enable a system to do the same task … more efficiently the next time.”  - </a:t>
            </a:r>
            <a:r>
              <a:rPr lang="en-US" altLang="en-US" sz="2400" dirty="0"/>
              <a:t>Herbert Simon</a:t>
            </a:r>
            <a:r>
              <a:rPr lang="en-US" altLang="en-US" sz="2400" i="1" dirty="0"/>
              <a:t> </a:t>
            </a:r>
          </a:p>
          <a:p>
            <a:r>
              <a:rPr lang="en-US" altLang="en-US" sz="2400" i="1" dirty="0"/>
              <a:t>“Learning is constructing or modifying representations of what is being experienced.” - </a:t>
            </a:r>
            <a:r>
              <a:rPr lang="en-US" altLang="en-US" sz="2400" dirty="0" err="1"/>
              <a:t>Ryszard</a:t>
            </a:r>
            <a:r>
              <a:rPr lang="en-US" altLang="en-US" sz="2400" dirty="0"/>
              <a:t> Michalski</a:t>
            </a:r>
            <a:r>
              <a:rPr lang="en-US" altLang="en-US" sz="2400" i="1" dirty="0"/>
              <a:t> </a:t>
            </a:r>
          </a:p>
          <a:p>
            <a:r>
              <a:rPr lang="en-US" altLang="en-US" sz="2400" i="1" dirty="0"/>
              <a:t>“Learning is making useful changes in our minds.” - </a:t>
            </a:r>
            <a:r>
              <a:rPr lang="en-US" altLang="en-US" sz="2400" dirty="0"/>
              <a:t>Marvin Minsky</a:t>
            </a:r>
            <a:r>
              <a:rPr lang="en-US" altLang="en-US" sz="2400" i="1" dirty="0"/>
              <a:t> </a:t>
            </a:r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pPr>
              <a:buFontTx/>
              <a:buNone/>
            </a:pPr>
            <a:r>
              <a:rPr lang="en-US" altLang="en-US" sz="2400" i="1" dirty="0"/>
              <a:t>	“Machine learning refers to a system capable of the autonomous acquisition and integration of knowledge.”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1187869" y="4800600"/>
            <a:ext cx="7772400" cy="13716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human/animal learns?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05000" y="1392832"/>
            <a:ext cx="41025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Ride a bike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1066800" y="2560638"/>
            <a:ext cx="38230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Play chess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774152" y="3429000"/>
            <a:ext cx="3875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Play piano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709494" y="4382492"/>
            <a:ext cx="36573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Play Poke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3484780" y="1939627"/>
            <a:ext cx="57468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Recognize fruits</a:t>
            </a:r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1575623" y="5712519"/>
            <a:ext cx="2992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reading</a:t>
            </a: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5715000" y="4954063"/>
            <a:ext cx="3371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speaking</a:t>
            </a:r>
          </a:p>
        </p:txBody>
      </p:sp>
    </p:spTree>
    <p:extLst>
      <p:ext uri="{BB962C8B-B14F-4D97-AF65-F5344CB8AC3E}">
        <p14:creationId xmlns:p14="http://schemas.microsoft.com/office/powerpoint/2010/main" val="920935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8382000" cy="11731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So What Is Machine Learning?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Automating automation</a:t>
            </a:r>
          </a:p>
          <a:p>
            <a:pPr eaLnBrk="1" hangingPunct="1"/>
            <a:r>
              <a:rPr lang="en-US" altLang="en-US" dirty="0"/>
              <a:t>Getting computers to program themselves</a:t>
            </a:r>
          </a:p>
          <a:p>
            <a:pPr eaLnBrk="1" hangingPunct="1"/>
            <a:r>
              <a:rPr lang="en-US" altLang="en-US" dirty="0"/>
              <a:t>Writing software is the bottleneck</a:t>
            </a:r>
          </a:p>
          <a:p>
            <a:pPr eaLnBrk="1" hangingPunct="1"/>
            <a:r>
              <a:rPr lang="en-US" altLang="en-US" dirty="0"/>
              <a:t>Let the data do the work instead!</a:t>
            </a:r>
          </a:p>
        </p:txBody>
      </p:sp>
    </p:spTree>
    <p:extLst>
      <p:ext uri="{BB962C8B-B14F-4D97-AF65-F5344CB8AC3E}">
        <p14:creationId xmlns:p14="http://schemas.microsoft.com/office/powerpoint/2010/main" val="382068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Machine Learning?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No human experts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industrial/manufacturing control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mass spectrometer analysis, drug design, astronomic discovery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Black-box human expertise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face/handwriting/speech recognition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driving a car, flying a plane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Rapidly changing phenomena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credit scoring, financial modeling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diagnosis, fraud detection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Need for customization/personalization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personalized news reader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movie/book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497568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924800" cy="914400"/>
          </a:xfrm>
        </p:spPr>
        <p:txBody>
          <a:bodyPr/>
          <a:lstStyle/>
          <a:p>
            <a:r>
              <a:rPr lang="en-US" altLang="en-US"/>
              <a:t>Related Fields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143000" y="5181600"/>
            <a:ext cx="7924800" cy="990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i="1"/>
              <a:t>Machine learning</a:t>
            </a:r>
            <a:r>
              <a:rPr lang="en-US" altLang="en-US" sz="2400"/>
              <a:t> is primarily concerned with the accuracy and effectiveness of the </a:t>
            </a:r>
            <a:r>
              <a:rPr lang="en-US" altLang="en-US" sz="2400" i="1"/>
              <a:t>computer system</a:t>
            </a:r>
            <a:r>
              <a:rPr lang="en-US" altLang="en-US" sz="2400"/>
              <a:t>.</a:t>
            </a:r>
            <a:endParaRPr lang="en-US" altLang="en-US" sz="2400" i="1"/>
          </a:p>
        </p:txBody>
      </p:sp>
      <p:sp>
        <p:nvSpPr>
          <p:cNvPr id="64516" name="Oval 4"/>
          <p:cNvSpPr>
            <a:spLocks noChangeArrowheads="1"/>
          </p:cNvSpPr>
          <p:nvPr/>
        </p:nvSpPr>
        <p:spPr bwMode="auto">
          <a:xfrm>
            <a:off x="5257800" y="3429000"/>
            <a:ext cx="2743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psychological models</a:t>
            </a:r>
          </a:p>
        </p:txBody>
      </p:sp>
      <p:sp>
        <p:nvSpPr>
          <p:cNvPr id="64517" name="Oval 5"/>
          <p:cNvSpPr>
            <a:spLocks noChangeArrowheads="1"/>
          </p:cNvSpPr>
          <p:nvPr/>
        </p:nvSpPr>
        <p:spPr bwMode="auto">
          <a:xfrm>
            <a:off x="3962400" y="1066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</a:t>
            </a:r>
          </a:p>
          <a:p>
            <a:pPr algn="ctr" eaLnBrk="0" hangingPunct="0"/>
            <a:r>
              <a:rPr lang="en-US" altLang="en-US"/>
              <a:t>mining</a:t>
            </a:r>
          </a:p>
        </p:txBody>
      </p:sp>
      <p:sp>
        <p:nvSpPr>
          <p:cNvPr id="64518" name="Oval 6"/>
          <p:cNvSpPr>
            <a:spLocks noChangeArrowheads="1"/>
          </p:cNvSpPr>
          <p:nvPr/>
        </p:nvSpPr>
        <p:spPr bwMode="auto">
          <a:xfrm>
            <a:off x="5562600" y="2819400"/>
            <a:ext cx="2286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cognitive science</a:t>
            </a:r>
          </a:p>
        </p:txBody>
      </p:sp>
      <p:sp>
        <p:nvSpPr>
          <p:cNvPr id="64519" name="Oval 7"/>
          <p:cNvSpPr>
            <a:spLocks noChangeArrowheads="1"/>
          </p:cNvSpPr>
          <p:nvPr/>
        </p:nvSpPr>
        <p:spPr bwMode="auto">
          <a:xfrm>
            <a:off x="5562600" y="2133600"/>
            <a:ext cx="21336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decision theory</a:t>
            </a:r>
          </a:p>
        </p:txBody>
      </p:sp>
      <p:sp>
        <p:nvSpPr>
          <p:cNvPr id="64520" name="Oval 8"/>
          <p:cNvSpPr>
            <a:spLocks noChangeArrowheads="1"/>
          </p:cNvSpPr>
          <p:nvPr/>
        </p:nvSpPr>
        <p:spPr bwMode="auto">
          <a:xfrm>
            <a:off x="1752600" y="2438400"/>
            <a:ext cx="2667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information theory</a:t>
            </a:r>
          </a:p>
        </p:txBody>
      </p:sp>
      <p:sp>
        <p:nvSpPr>
          <p:cNvPr id="64521" name="Oval 9"/>
          <p:cNvSpPr>
            <a:spLocks noChangeArrowheads="1"/>
          </p:cNvSpPr>
          <p:nvPr/>
        </p:nvSpPr>
        <p:spPr bwMode="auto">
          <a:xfrm>
            <a:off x="2590800" y="3048000"/>
            <a:ext cx="1752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databases</a:t>
            </a:r>
          </a:p>
        </p:txBody>
      </p:sp>
      <p:sp>
        <p:nvSpPr>
          <p:cNvPr id="64522" name="Oval 10"/>
          <p:cNvSpPr>
            <a:spLocks noChangeArrowheads="1"/>
          </p:cNvSpPr>
          <p:nvPr/>
        </p:nvSpPr>
        <p:spPr bwMode="auto">
          <a:xfrm>
            <a:off x="3886200" y="1752600"/>
            <a:ext cx="2286000" cy="23622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000" b="1" i="1"/>
              <a:t>machine</a:t>
            </a:r>
          </a:p>
          <a:p>
            <a:pPr algn="ctr" eaLnBrk="0" hangingPunct="0"/>
            <a:r>
              <a:rPr lang="en-US" altLang="en-US" sz="2000" b="1" i="1"/>
              <a:t>learning</a:t>
            </a:r>
          </a:p>
        </p:txBody>
      </p:sp>
      <p:sp>
        <p:nvSpPr>
          <p:cNvPr id="64523" name="Oval 11"/>
          <p:cNvSpPr>
            <a:spLocks noChangeArrowheads="1"/>
          </p:cNvSpPr>
          <p:nvPr/>
        </p:nvSpPr>
        <p:spPr bwMode="auto">
          <a:xfrm>
            <a:off x="5029200" y="3733800"/>
            <a:ext cx="16764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neuroscience</a:t>
            </a:r>
          </a:p>
        </p:txBody>
      </p:sp>
      <p:sp>
        <p:nvSpPr>
          <p:cNvPr id="64524" name="Oval 12"/>
          <p:cNvSpPr>
            <a:spLocks noChangeArrowheads="1"/>
          </p:cNvSpPr>
          <p:nvPr/>
        </p:nvSpPr>
        <p:spPr bwMode="auto">
          <a:xfrm>
            <a:off x="2895600" y="1600200"/>
            <a:ext cx="18288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statistics</a:t>
            </a:r>
          </a:p>
        </p:txBody>
      </p:sp>
      <p:sp>
        <p:nvSpPr>
          <p:cNvPr id="64525" name="Oval 13"/>
          <p:cNvSpPr>
            <a:spLocks noChangeArrowheads="1"/>
          </p:cNvSpPr>
          <p:nvPr/>
        </p:nvSpPr>
        <p:spPr bwMode="auto">
          <a:xfrm>
            <a:off x="3733800" y="3733800"/>
            <a:ext cx="14478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evolutionary</a:t>
            </a:r>
          </a:p>
          <a:p>
            <a:pPr algn="ctr" eaLnBrk="0" hangingPunct="0"/>
            <a:r>
              <a:rPr lang="en-US" altLang="en-US"/>
              <a:t>models</a:t>
            </a:r>
          </a:p>
        </p:txBody>
      </p:sp>
      <p:sp>
        <p:nvSpPr>
          <p:cNvPr id="64526" name="Oval 14"/>
          <p:cNvSpPr>
            <a:spLocks noChangeArrowheads="1"/>
          </p:cNvSpPr>
          <p:nvPr/>
        </p:nvSpPr>
        <p:spPr bwMode="auto">
          <a:xfrm>
            <a:off x="5029200" y="1295400"/>
            <a:ext cx="1981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control theory</a:t>
            </a:r>
          </a:p>
        </p:txBody>
      </p:sp>
    </p:spTree>
    <p:extLst>
      <p:ext uri="{BB962C8B-B14F-4D97-AF65-F5344CB8AC3E}">
        <p14:creationId xmlns:p14="http://schemas.microsoft.com/office/powerpoint/2010/main" val="2073681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79320" y="274638"/>
            <a:ext cx="749808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Types of Learning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912" y="1600200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 b="1"/>
              <a:t>Supervised (inductive) learning</a:t>
            </a:r>
          </a:p>
          <a:p>
            <a:pPr lvl="1" eaLnBrk="1" hangingPunct="1"/>
            <a:r>
              <a:rPr lang="en-US" altLang="en-US"/>
              <a:t>Training data includes desired outputs</a:t>
            </a:r>
          </a:p>
          <a:p>
            <a:pPr eaLnBrk="1" hangingPunct="1"/>
            <a:r>
              <a:rPr lang="en-US" altLang="en-US" b="1"/>
              <a:t>Unsupervised learning</a:t>
            </a:r>
          </a:p>
          <a:p>
            <a:pPr lvl="1" eaLnBrk="1" hangingPunct="1"/>
            <a:r>
              <a:rPr lang="en-US" altLang="en-US"/>
              <a:t>Training data does not include desired outputs</a:t>
            </a:r>
          </a:p>
          <a:p>
            <a:pPr eaLnBrk="1" hangingPunct="1"/>
            <a:r>
              <a:rPr lang="en-US" altLang="en-US" b="1"/>
              <a:t>Semi-supervised learning</a:t>
            </a:r>
          </a:p>
          <a:p>
            <a:pPr lvl="1" eaLnBrk="1" hangingPunct="1"/>
            <a:r>
              <a:rPr lang="en-US" altLang="en-US"/>
              <a:t>Training data includes a few desired outputs</a:t>
            </a:r>
          </a:p>
          <a:p>
            <a:pPr eaLnBrk="1" hangingPunct="1"/>
            <a:r>
              <a:rPr lang="en-US" altLang="en-US" b="1"/>
              <a:t>Reinforcement learning</a:t>
            </a:r>
          </a:p>
          <a:p>
            <a:pPr lvl="1" eaLnBrk="1" hangingPunct="1"/>
            <a:r>
              <a:rPr lang="en-US" altLang="en-US"/>
              <a:t>Rewards from sequence of actions</a:t>
            </a:r>
          </a:p>
        </p:txBody>
      </p:sp>
    </p:spTree>
    <p:extLst>
      <p:ext uri="{BB962C8B-B14F-4D97-AF65-F5344CB8AC3E}">
        <p14:creationId xmlns:p14="http://schemas.microsoft.com/office/powerpoint/2010/main" val="2206943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Inductive Learning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Given</a:t>
            </a:r>
            <a:r>
              <a:rPr lang="en-US" altLang="en-US"/>
              <a:t> examples of a function </a:t>
            </a:r>
            <a:r>
              <a:rPr lang="en-US" altLang="en-US" i="1"/>
              <a:t>(X, F(X))</a:t>
            </a:r>
          </a:p>
          <a:p>
            <a:pPr eaLnBrk="1" hangingPunct="1"/>
            <a:r>
              <a:rPr lang="en-US" altLang="en-US" b="1"/>
              <a:t>Predict</a:t>
            </a:r>
            <a:r>
              <a:rPr lang="en-US" altLang="en-US"/>
              <a:t> function</a:t>
            </a:r>
            <a:r>
              <a:rPr lang="en-US" altLang="en-US" i="1"/>
              <a:t> F(X) </a:t>
            </a:r>
            <a:r>
              <a:rPr lang="en-US" altLang="en-US"/>
              <a:t>for new examples</a:t>
            </a:r>
            <a:r>
              <a:rPr lang="en-US" altLang="en-US" i="1"/>
              <a:t> X</a:t>
            </a:r>
          </a:p>
          <a:p>
            <a:pPr lvl="1" eaLnBrk="1" hangingPunct="1"/>
            <a:r>
              <a:rPr lang="en-US" altLang="en-US"/>
              <a:t>Discrete </a:t>
            </a:r>
            <a:r>
              <a:rPr lang="en-US" altLang="en-US" i="1"/>
              <a:t>F(X)</a:t>
            </a:r>
            <a:r>
              <a:rPr lang="en-US" altLang="en-US"/>
              <a:t>: Classification</a:t>
            </a:r>
          </a:p>
          <a:p>
            <a:pPr lvl="1" eaLnBrk="1" hangingPunct="1"/>
            <a:r>
              <a:rPr lang="en-US" altLang="en-US"/>
              <a:t>Continuous </a:t>
            </a:r>
            <a:r>
              <a:rPr lang="en-US" altLang="en-US" i="1"/>
              <a:t>F(X)</a:t>
            </a:r>
            <a:r>
              <a:rPr lang="en-US" altLang="en-US"/>
              <a:t>: Regression</a:t>
            </a:r>
          </a:p>
          <a:p>
            <a:pPr lvl="1" eaLnBrk="1" hangingPunct="1"/>
            <a:r>
              <a:rPr lang="en-US" altLang="en-US" i="1"/>
              <a:t>F(X)</a:t>
            </a:r>
            <a:r>
              <a:rPr lang="en-US" altLang="en-US"/>
              <a:t> = Probability(</a:t>
            </a:r>
            <a:r>
              <a:rPr lang="en-US" altLang="en-US" i="1"/>
              <a:t>X</a:t>
            </a:r>
            <a:r>
              <a:rPr lang="en-US" altLang="en-US"/>
              <a:t>): Probability estimation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993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pic>
        <p:nvPicPr>
          <p:cNvPr id="52228" name="Picture 2" descr="C:\Users\hays\Desktop\143 Computer Vision\slides\07\machine_learning_spectru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40" y="5316"/>
            <a:ext cx="7914167" cy="561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ame 1"/>
          <p:cNvSpPr/>
          <p:nvPr/>
        </p:nvSpPr>
        <p:spPr>
          <a:xfrm>
            <a:off x="1828800" y="3733800"/>
            <a:ext cx="3048000" cy="1295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52600" y="5486400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Reinforcement Learning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78652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Classification: Applications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F4C409-C017-451C-B236-E185BBA6E0E4}" type="slidenum">
              <a:rPr lang="tr-TR" smtClean="0"/>
              <a:pPr/>
              <a:t>22</a:t>
            </a:fld>
            <a:endParaRPr lang="tr-TR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tr-TR" dirty="0"/>
              <a:t>Aka Pattern recognition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Face recognition: </a:t>
            </a:r>
            <a:r>
              <a:rPr lang="tr-TR" dirty="0"/>
              <a:t>Pose, lighting, occlusion (glasses, beard), make-up, hair style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Character recognition: </a:t>
            </a:r>
            <a:r>
              <a:rPr lang="tr-TR" dirty="0"/>
              <a:t>Different handwriting styles.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Speech recognition: </a:t>
            </a:r>
            <a:r>
              <a:rPr lang="tr-TR" dirty="0"/>
              <a:t>Temporal dependency.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Medical diagnosis: </a:t>
            </a:r>
            <a:r>
              <a:rPr lang="tr-TR" dirty="0"/>
              <a:t>From symptoms to illnesses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Biometrics: </a:t>
            </a:r>
            <a:r>
              <a:rPr lang="tr-TR" dirty="0"/>
              <a:t>Recognition/authentication using physical and/or behavioral characteristics: Face, iris, signature, etc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accent1"/>
                </a:solidFill>
              </a:rPr>
              <a:t>Outlier/novelty detection: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5645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760" y="274638"/>
            <a:ext cx="7498080" cy="1143000"/>
          </a:xfrm>
        </p:spPr>
        <p:txBody>
          <a:bodyPr/>
          <a:lstStyle/>
          <a:p>
            <a:r>
              <a:rPr lang="tr-TR"/>
              <a:t>Face Recognition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9067800" y="6305550"/>
            <a:ext cx="457200" cy="476250"/>
          </a:xfrm>
        </p:spPr>
        <p:txBody>
          <a:bodyPr>
            <a:normAutofit/>
          </a:bodyPr>
          <a:lstStyle/>
          <a:p>
            <a:fld id="{6DF4C409-C017-451C-B236-E185BBA6E0E4}" type="slidenum">
              <a:rPr lang="tr-TR" smtClean="0"/>
              <a:pPr/>
              <a:t>23</a:t>
            </a:fld>
            <a:endParaRPr lang="tr-TR" dirty="0"/>
          </a:p>
        </p:txBody>
      </p:sp>
      <p:pic>
        <p:nvPicPr>
          <p:cNvPr id="304145" name="Picture 17" descr="0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9802" y="2492375"/>
            <a:ext cx="876300" cy="1066800"/>
          </a:xfrm>
          <a:prstGeom prst="rect">
            <a:avLst/>
          </a:prstGeom>
          <a:noFill/>
        </p:spPr>
      </p:pic>
      <p:pic>
        <p:nvPicPr>
          <p:cNvPr id="304146" name="Picture 18" descr="0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7865" y="2492375"/>
            <a:ext cx="876300" cy="1066800"/>
          </a:xfrm>
          <a:prstGeom prst="rect">
            <a:avLst/>
          </a:prstGeom>
          <a:noFill/>
        </p:spPr>
      </p:pic>
      <p:pic>
        <p:nvPicPr>
          <p:cNvPr id="304147" name="Picture 19" descr="0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25927" y="2492375"/>
            <a:ext cx="876300" cy="1066800"/>
          </a:xfrm>
          <a:prstGeom prst="rect">
            <a:avLst/>
          </a:prstGeom>
          <a:noFill/>
        </p:spPr>
      </p:pic>
      <p:pic>
        <p:nvPicPr>
          <p:cNvPr id="304148" name="Picture 20" descr="0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33990" y="2492375"/>
            <a:ext cx="876300" cy="1066800"/>
          </a:xfrm>
          <a:prstGeom prst="rect">
            <a:avLst/>
          </a:prstGeom>
          <a:noFill/>
        </p:spPr>
      </p:pic>
      <p:pic>
        <p:nvPicPr>
          <p:cNvPr id="304149" name="Picture 21" descr="01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38365" y="4508500"/>
            <a:ext cx="876300" cy="1066800"/>
          </a:xfrm>
          <a:prstGeom prst="rect">
            <a:avLst/>
          </a:prstGeom>
          <a:noFill/>
        </p:spPr>
      </p:pic>
      <p:pic>
        <p:nvPicPr>
          <p:cNvPr id="304150" name="Picture 22" descr="02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6427" y="4508500"/>
            <a:ext cx="876300" cy="1066800"/>
          </a:xfrm>
          <a:prstGeom prst="rect">
            <a:avLst/>
          </a:prstGeom>
          <a:noFill/>
        </p:spPr>
      </p:pic>
      <p:pic>
        <p:nvPicPr>
          <p:cNvPr id="304151" name="Picture 23" descr="10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154490" y="4508500"/>
            <a:ext cx="876300" cy="1066800"/>
          </a:xfrm>
          <a:prstGeom prst="rect">
            <a:avLst/>
          </a:prstGeom>
          <a:noFill/>
        </p:spPr>
      </p:pic>
      <p:pic>
        <p:nvPicPr>
          <p:cNvPr id="304152" name="Picture 24" descr="35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62552" y="4508500"/>
            <a:ext cx="876300" cy="1066800"/>
          </a:xfrm>
          <a:prstGeom prst="rect">
            <a:avLst/>
          </a:prstGeom>
          <a:noFill/>
        </p:spPr>
      </p:pic>
      <p:sp>
        <p:nvSpPr>
          <p:cNvPr id="304153" name="Text Box 25"/>
          <p:cNvSpPr txBox="1">
            <a:spLocks noChangeArrowheads="1"/>
          </p:cNvSpPr>
          <p:nvPr/>
        </p:nvSpPr>
        <p:spPr bwMode="auto">
          <a:xfrm>
            <a:off x="1065340" y="1844675"/>
            <a:ext cx="4684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solidFill>
                  <a:schemeClr val="accent1"/>
                </a:solidFill>
                <a:latin typeface="Lucida Bright" pitchFamily="18" charset="0"/>
              </a:rPr>
              <a:t>Training examples of a person</a:t>
            </a:r>
          </a:p>
        </p:txBody>
      </p:sp>
      <p:sp>
        <p:nvSpPr>
          <p:cNvPr id="304154" name="Text Box 26"/>
          <p:cNvSpPr txBox="1">
            <a:spLocks noChangeArrowheads="1"/>
          </p:cNvSpPr>
          <p:nvPr/>
        </p:nvSpPr>
        <p:spPr bwMode="auto">
          <a:xfrm>
            <a:off x="1138365" y="3933825"/>
            <a:ext cx="1951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solidFill>
                  <a:schemeClr val="accent1"/>
                </a:solidFill>
                <a:latin typeface="Lucida Bright" pitchFamily="18" charset="0"/>
              </a:rPr>
              <a:t>Test images</a:t>
            </a:r>
          </a:p>
        </p:txBody>
      </p:sp>
      <p:sp>
        <p:nvSpPr>
          <p:cNvPr id="304155" name="Text Box 27"/>
          <p:cNvSpPr txBox="1">
            <a:spLocks noChangeArrowheads="1"/>
          </p:cNvSpPr>
          <p:nvPr/>
        </p:nvSpPr>
        <p:spPr bwMode="auto">
          <a:xfrm>
            <a:off x="5889752" y="5857892"/>
            <a:ext cx="33369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tr-TR" sz="1400" dirty="0">
                <a:solidFill>
                  <a:schemeClr val="accent1"/>
                </a:solidFill>
                <a:latin typeface="Lucida Bright" pitchFamily="18" charset="0"/>
              </a:rPr>
              <a:t>ORL dataset,</a:t>
            </a:r>
          </a:p>
          <a:p>
            <a:r>
              <a:rPr lang="tr-TR" sz="1400" dirty="0">
                <a:solidFill>
                  <a:schemeClr val="accent1"/>
                </a:solidFill>
                <a:latin typeface="Lucida Bright" pitchFamily="18" charset="0"/>
              </a:rPr>
              <a:t>AT&amp;T Laboratories, Cambridge UK</a:t>
            </a:r>
          </a:p>
        </p:txBody>
      </p:sp>
    </p:spTree>
    <p:extLst>
      <p:ext uri="{BB962C8B-B14F-4D97-AF65-F5344CB8AC3E}">
        <p14:creationId xmlns:p14="http://schemas.microsoft.com/office/powerpoint/2010/main" val="1064979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>
          <a:xfrm>
            <a:off x="995040" y="457200"/>
            <a:ext cx="8229600" cy="667544"/>
          </a:xfrm>
        </p:spPr>
        <p:txBody>
          <a:bodyPr>
            <a:normAutofit fontScale="90000"/>
          </a:bodyPr>
          <a:lstStyle/>
          <a:p>
            <a:r>
              <a:rPr lang="tr-TR" dirty="0"/>
              <a:t>Regression</a:t>
            </a:r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95040" y="1600200"/>
            <a:ext cx="4038600" cy="4525963"/>
          </a:xfrm>
        </p:spPr>
        <p:txBody>
          <a:bodyPr/>
          <a:lstStyle/>
          <a:p>
            <a:r>
              <a:rPr lang="tr-TR" dirty="0"/>
              <a:t>Example: Price of a used car</a:t>
            </a:r>
          </a:p>
          <a:p>
            <a:r>
              <a:rPr lang="tr-TR" i="1" dirty="0"/>
              <a:t>x </a:t>
            </a:r>
            <a:r>
              <a:rPr lang="tr-TR" dirty="0"/>
              <a:t>: car attributes</a:t>
            </a:r>
          </a:p>
          <a:p>
            <a:pPr>
              <a:buFont typeface="Wingdings" pitchFamily="2" charset="2"/>
              <a:buNone/>
            </a:pPr>
            <a:r>
              <a:rPr lang="tr-TR" dirty="0"/>
              <a:t>	</a:t>
            </a:r>
            <a:r>
              <a:rPr lang="tr-TR" i="1" dirty="0"/>
              <a:t>y </a:t>
            </a:r>
            <a:r>
              <a:rPr lang="tr-TR" dirty="0"/>
              <a:t>: price</a:t>
            </a:r>
          </a:p>
          <a:p>
            <a:pPr>
              <a:buFont typeface="Wingdings" pitchFamily="2" charset="2"/>
              <a:buNone/>
            </a:pPr>
            <a:r>
              <a:rPr lang="tr-TR" dirty="0"/>
              <a:t>		</a:t>
            </a:r>
            <a:r>
              <a:rPr lang="tr-TR" i="1" dirty="0"/>
              <a:t>y </a:t>
            </a:r>
            <a:r>
              <a:rPr lang="tr-TR" dirty="0"/>
              <a:t>= </a:t>
            </a:r>
            <a:r>
              <a:rPr lang="tr-TR" i="1" dirty="0"/>
              <a:t>g </a:t>
            </a:r>
            <a:r>
              <a:rPr lang="tr-TR" dirty="0"/>
              <a:t>(</a:t>
            </a:r>
            <a:r>
              <a:rPr lang="tr-TR" i="1" dirty="0"/>
              <a:t>x </a:t>
            </a:r>
            <a:r>
              <a:rPr lang="tr-TR" dirty="0"/>
              <a:t>| </a:t>
            </a:r>
            <a:r>
              <a:rPr lang="tr-TR" i="1" dirty="0">
                <a:latin typeface="Symbol" pitchFamily="18" charset="2"/>
              </a:rPr>
              <a:t>q </a:t>
            </a:r>
            <a:r>
              <a:rPr lang="tr-TR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tr-TR" dirty="0"/>
              <a:t>	</a:t>
            </a:r>
            <a:r>
              <a:rPr lang="tr-TR" i="1" dirty="0"/>
              <a:t>g </a:t>
            </a:r>
            <a:r>
              <a:rPr lang="tr-TR" dirty="0"/>
              <a:t>( ) model,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latin typeface="Symbol" pitchFamily="18" charset="2"/>
              </a:rPr>
              <a:t>	</a:t>
            </a:r>
            <a:r>
              <a:rPr lang="tr-TR" i="1" dirty="0">
                <a:latin typeface="Symbol" pitchFamily="18" charset="2"/>
              </a:rPr>
              <a:t> q </a:t>
            </a:r>
            <a:r>
              <a:rPr lang="tr-TR" dirty="0"/>
              <a:t>parameters</a:t>
            </a:r>
          </a:p>
        </p:txBody>
      </p:sp>
      <p:pic>
        <p:nvPicPr>
          <p:cNvPr id="90118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749800" y="1628800"/>
            <a:ext cx="4546600" cy="4375150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6252840" y="6305550"/>
            <a:ext cx="2895600" cy="476250"/>
          </a:xfrm>
        </p:spPr>
        <p:txBody>
          <a:bodyPr/>
          <a:lstStyle/>
          <a:p>
            <a:fld id="{B25A429E-EC32-4435-B6D9-2C358E91B0C4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6765603" y="2779713"/>
            <a:ext cx="1444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solidFill>
                  <a:schemeClr val="accent1"/>
                </a:solidFill>
                <a:latin typeface="+mn-lt"/>
              </a:rPr>
              <a:t>y </a:t>
            </a:r>
            <a:r>
              <a:rPr lang="tr-TR" sz="2400" dirty="0">
                <a:solidFill>
                  <a:schemeClr val="accent1"/>
                </a:solidFill>
                <a:latin typeface="+mn-lt"/>
              </a:rPr>
              <a:t>= </a:t>
            </a:r>
            <a:r>
              <a:rPr lang="tr-TR" sz="2400" i="1" dirty="0">
                <a:solidFill>
                  <a:schemeClr val="accent1"/>
                </a:solidFill>
                <a:latin typeface="+mn-lt"/>
              </a:rPr>
              <a:t>wx</a:t>
            </a:r>
            <a:r>
              <a:rPr lang="tr-TR" sz="2400" dirty="0">
                <a:solidFill>
                  <a:schemeClr val="accent1"/>
                </a:solidFill>
                <a:latin typeface="+mn-lt"/>
              </a:rPr>
              <a:t>+</a:t>
            </a:r>
            <a:r>
              <a:rPr lang="tr-TR" sz="2400" i="1" dirty="0">
                <a:solidFill>
                  <a:schemeClr val="accent1"/>
                </a:solidFill>
                <a:latin typeface="+mn-lt"/>
              </a:rPr>
              <a:t>w</a:t>
            </a:r>
            <a:r>
              <a:rPr lang="tr-TR" sz="2400" baseline="-25000" dirty="0">
                <a:solidFill>
                  <a:schemeClr val="accent1"/>
                </a:solidFill>
                <a:latin typeface="+mn-lt"/>
              </a:rPr>
              <a:t>0</a:t>
            </a:r>
            <a:endParaRPr lang="en-GB" sz="2400" baseline="-250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9143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609600"/>
            <a:ext cx="83058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>
                <a:solidFill>
                  <a:schemeClr val="accent2"/>
                </a:solidFill>
              </a:rPr>
              <a:t>  Traditional Programming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b="1" dirty="0">
                <a:solidFill>
                  <a:schemeClr val="accent2"/>
                </a:solidFill>
              </a:rPr>
              <a:t>  Machine Learning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3657600" y="1600200"/>
            <a:ext cx="2667000" cy="1524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/>
              <a:t>Computer</a:t>
            </a:r>
          </a:p>
        </p:txBody>
      </p:sp>
      <p:sp>
        <p:nvSpPr>
          <p:cNvPr id="8196" name="Line 6"/>
          <p:cNvSpPr>
            <a:spLocks noChangeShapeType="1"/>
          </p:cNvSpPr>
          <p:nvPr/>
        </p:nvSpPr>
        <p:spPr bwMode="auto">
          <a:xfrm>
            <a:off x="2743200" y="20574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Line 7"/>
          <p:cNvSpPr>
            <a:spLocks noChangeShapeType="1"/>
          </p:cNvSpPr>
          <p:nvPr/>
        </p:nvSpPr>
        <p:spPr bwMode="auto">
          <a:xfrm>
            <a:off x="2743200" y="2743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8"/>
          <p:cNvSpPr>
            <a:spLocks noChangeShapeType="1"/>
          </p:cNvSpPr>
          <p:nvPr/>
        </p:nvSpPr>
        <p:spPr bwMode="auto">
          <a:xfrm>
            <a:off x="6324600" y="22860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Text Box 10"/>
          <p:cNvSpPr txBox="1">
            <a:spLocks noChangeArrowheads="1"/>
          </p:cNvSpPr>
          <p:nvPr/>
        </p:nvSpPr>
        <p:spPr bwMode="auto">
          <a:xfrm>
            <a:off x="1660525" y="1692275"/>
            <a:ext cx="104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Data</a:t>
            </a:r>
          </a:p>
        </p:txBody>
      </p:sp>
      <p:sp>
        <p:nvSpPr>
          <p:cNvPr id="8200" name="Text Box 11"/>
          <p:cNvSpPr txBox="1">
            <a:spLocks noChangeArrowheads="1"/>
          </p:cNvSpPr>
          <p:nvPr/>
        </p:nvSpPr>
        <p:spPr bwMode="auto">
          <a:xfrm>
            <a:off x="990600" y="2362200"/>
            <a:ext cx="1739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Program</a:t>
            </a:r>
          </a:p>
        </p:txBody>
      </p:sp>
      <p:sp>
        <p:nvSpPr>
          <p:cNvPr id="8201" name="Text Box 12"/>
          <p:cNvSpPr txBox="1">
            <a:spLocks noChangeArrowheads="1"/>
          </p:cNvSpPr>
          <p:nvPr/>
        </p:nvSpPr>
        <p:spPr bwMode="auto">
          <a:xfrm>
            <a:off x="7086600" y="1981200"/>
            <a:ext cx="140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Output</a:t>
            </a:r>
          </a:p>
        </p:txBody>
      </p:sp>
      <p:sp>
        <p:nvSpPr>
          <p:cNvPr id="8202" name="Rectangle 19"/>
          <p:cNvSpPr>
            <a:spLocks noChangeArrowheads="1"/>
          </p:cNvSpPr>
          <p:nvPr/>
        </p:nvSpPr>
        <p:spPr bwMode="auto">
          <a:xfrm>
            <a:off x="3733800" y="4419600"/>
            <a:ext cx="2667000" cy="1524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/>
              <a:t>Computer</a:t>
            </a:r>
          </a:p>
        </p:txBody>
      </p:sp>
      <p:sp>
        <p:nvSpPr>
          <p:cNvPr id="8203" name="Line 20"/>
          <p:cNvSpPr>
            <a:spLocks noChangeShapeType="1"/>
          </p:cNvSpPr>
          <p:nvPr/>
        </p:nvSpPr>
        <p:spPr bwMode="auto">
          <a:xfrm>
            <a:off x="2819400" y="4876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21"/>
          <p:cNvSpPr>
            <a:spLocks noChangeShapeType="1"/>
          </p:cNvSpPr>
          <p:nvPr/>
        </p:nvSpPr>
        <p:spPr bwMode="auto">
          <a:xfrm>
            <a:off x="2819400" y="55626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22"/>
          <p:cNvSpPr>
            <a:spLocks noChangeShapeType="1"/>
          </p:cNvSpPr>
          <p:nvPr/>
        </p:nvSpPr>
        <p:spPr bwMode="auto">
          <a:xfrm>
            <a:off x="6400800" y="5105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Text Box 23"/>
          <p:cNvSpPr txBox="1">
            <a:spLocks noChangeArrowheads="1"/>
          </p:cNvSpPr>
          <p:nvPr/>
        </p:nvSpPr>
        <p:spPr bwMode="auto">
          <a:xfrm>
            <a:off x="1736725" y="4511675"/>
            <a:ext cx="104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Data</a:t>
            </a:r>
          </a:p>
        </p:txBody>
      </p:sp>
      <p:sp>
        <p:nvSpPr>
          <p:cNvPr id="8207" name="Text Box 24"/>
          <p:cNvSpPr txBox="1">
            <a:spLocks noChangeArrowheads="1"/>
          </p:cNvSpPr>
          <p:nvPr/>
        </p:nvSpPr>
        <p:spPr bwMode="auto">
          <a:xfrm>
            <a:off x="1371600" y="5257800"/>
            <a:ext cx="140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Output</a:t>
            </a:r>
          </a:p>
        </p:txBody>
      </p:sp>
      <p:sp>
        <p:nvSpPr>
          <p:cNvPr id="8208" name="Text Box 25"/>
          <p:cNvSpPr txBox="1">
            <a:spLocks noChangeArrowheads="1"/>
          </p:cNvSpPr>
          <p:nvPr/>
        </p:nvSpPr>
        <p:spPr bwMode="auto">
          <a:xfrm>
            <a:off x="7162800" y="4800600"/>
            <a:ext cx="1739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223438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Magic?</a:t>
            </a:r>
            <a:r>
              <a:rPr lang="en-US" altLang="en-US"/>
              <a:t> 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600200"/>
            <a:ext cx="44958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/>
              <a:t>No, more like gardening</a:t>
            </a:r>
          </a:p>
          <a:p>
            <a:pPr eaLnBrk="1" hangingPunct="1">
              <a:buFontTx/>
              <a:buNone/>
            </a:pPr>
            <a:endParaRPr lang="en-US" altLang="en-US" sz="2800" b="1"/>
          </a:p>
          <a:p>
            <a:pPr eaLnBrk="1" hangingPunct="1"/>
            <a:r>
              <a:rPr lang="en-US" altLang="en-US" sz="2800" b="1">
                <a:solidFill>
                  <a:srgbClr val="FFCC00"/>
                </a:solidFill>
              </a:rPr>
              <a:t>Seeds</a:t>
            </a:r>
            <a:r>
              <a:rPr lang="en-US" altLang="en-US" sz="2800"/>
              <a:t> = Algorithms</a:t>
            </a:r>
          </a:p>
          <a:p>
            <a:pPr eaLnBrk="1" hangingPunct="1"/>
            <a:r>
              <a:rPr lang="en-US" altLang="en-US" sz="2800" b="1">
                <a:solidFill>
                  <a:srgbClr val="996633"/>
                </a:solidFill>
              </a:rPr>
              <a:t>Nutrients</a:t>
            </a:r>
            <a:r>
              <a:rPr lang="en-US" altLang="en-US" sz="2800"/>
              <a:t> = Data</a:t>
            </a:r>
          </a:p>
          <a:p>
            <a:pPr eaLnBrk="1" hangingPunct="1"/>
            <a:r>
              <a:rPr lang="en-US" altLang="en-US" sz="2800" b="1">
                <a:solidFill>
                  <a:srgbClr val="FF3300"/>
                </a:solidFill>
              </a:rPr>
              <a:t>Gardener</a:t>
            </a:r>
            <a:r>
              <a:rPr lang="en-US" altLang="en-US" sz="2800"/>
              <a:t> = You</a:t>
            </a:r>
          </a:p>
          <a:p>
            <a:pPr eaLnBrk="1" hangingPunct="1"/>
            <a:r>
              <a:rPr lang="en-US" altLang="en-US" sz="2800" b="1">
                <a:solidFill>
                  <a:srgbClr val="33CC33"/>
                </a:solidFill>
              </a:rPr>
              <a:t>Plants</a:t>
            </a:r>
            <a:r>
              <a:rPr lang="en-US" altLang="en-US" sz="2800"/>
              <a:t> = Programs</a:t>
            </a:r>
          </a:p>
        </p:txBody>
      </p:sp>
      <p:pic>
        <p:nvPicPr>
          <p:cNvPr id="9220" name="Picture 6" descr="natural_organic_gardeni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91175" y="1524000"/>
            <a:ext cx="3351213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972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Sample Applications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Self-driving cars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Voice recognition, machine translation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Robotics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Web search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Computational biology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Finance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E-commerce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Space exploration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Information extraction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Social networks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Debugging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[Your favorite area]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13854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ML in a Nutshell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Tens of thousands of machine learning algorithms</a:t>
            </a:r>
          </a:p>
          <a:p>
            <a:pPr eaLnBrk="1" hangingPunct="1"/>
            <a:r>
              <a:rPr lang="en-US" altLang="en-US"/>
              <a:t>Hundreds new every year</a:t>
            </a:r>
          </a:p>
          <a:p>
            <a:pPr eaLnBrk="1" hangingPunct="1"/>
            <a:r>
              <a:rPr lang="en-US" altLang="en-US"/>
              <a:t>Every machine learning algorithm has three components:</a:t>
            </a:r>
          </a:p>
          <a:p>
            <a:pPr lvl="1" eaLnBrk="1" hangingPunct="1"/>
            <a:r>
              <a:rPr lang="en-US" altLang="en-US" b="1"/>
              <a:t>Representation</a:t>
            </a:r>
          </a:p>
          <a:p>
            <a:pPr lvl="1" eaLnBrk="1" hangingPunct="1"/>
            <a:r>
              <a:rPr lang="en-US" altLang="en-US" b="1"/>
              <a:t>Evaluation</a:t>
            </a:r>
          </a:p>
          <a:p>
            <a:pPr lvl="1" eaLnBrk="1" hangingPunct="1"/>
            <a:r>
              <a:rPr lang="en-US" altLang="en-US" b="1"/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4191477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Representation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Decision trees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Sets of rules / Logic programs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Instances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Graphical models (Bayes/Markov nets)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Neural networks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Support vector machines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Model ensembles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646984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Evaluation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Accuracy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Precision and recall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Squared error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Likelihood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Posterior probability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Cost / Utility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Margin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Entropy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K-L divergence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9812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Optimization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Combinatorial optimization</a:t>
            </a:r>
          </a:p>
          <a:p>
            <a:pPr lvl="1" eaLnBrk="1" hangingPunct="1"/>
            <a:r>
              <a:rPr lang="en-US" altLang="en-US"/>
              <a:t>E.g.: Greedy search</a:t>
            </a:r>
          </a:p>
          <a:p>
            <a:pPr eaLnBrk="1" hangingPunct="1"/>
            <a:r>
              <a:rPr lang="en-US" altLang="en-US"/>
              <a:t>Convex optimization</a:t>
            </a:r>
          </a:p>
          <a:p>
            <a:pPr lvl="1" eaLnBrk="1" hangingPunct="1"/>
            <a:r>
              <a:rPr lang="en-US" altLang="en-US"/>
              <a:t>E.g.: Gradient descent</a:t>
            </a:r>
          </a:p>
          <a:p>
            <a:pPr eaLnBrk="1" hangingPunct="1"/>
            <a:r>
              <a:rPr lang="en-US" altLang="en-US"/>
              <a:t>Constrained optimization</a:t>
            </a:r>
          </a:p>
          <a:p>
            <a:pPr lvl="1" eaLnBrk="1" hangingPunct="1"/>
            <a:r>
              <a:rPr lang="en-US" altLang="en-US"/>
              <a:t>E.g.: Linear programming</a:t>
            </a:r>
          </a:p>
        </p:txBody>
      </p:sp>
    </p:spTree>
    <p:extLst>
      <p:ext uri="{BB962C8B-B14F-4D97-AF65-F5344CB8AC3E}">
        <p14:creationId xmlns:p14="http://schemas.microsoft.com/office/powerpoint/2010/main" val="26526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26920" y="274638"/>
            <a:ext cx="749808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What We’ll Cover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8512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Supervised learning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Decision tree induction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Rule induction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Instance-based learning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Bayesian learning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Neural networks (deep learning)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Support vector machines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Model ensembles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Learning theory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Unsupervised learning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Clustering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Dimensionality reduction</a:t>
            </a:r>
          </a:p>
          <a:p>
            <a:pPr>
              <a:lnSpc>
                <a:spcPct val="80000"/>
              </a:lnSpc>
            </a:pPr>
            <a:r>
              <a:rPr lang="en-US" altLang="zh-CN" sz="2800" dirty="0"/>
              <a:t>Deep learning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Reinforcement learning</a:t>
            </a:r>
          </a:p>
          <a:p>
            <a:pPr>
              <a:lnSpc>
                <a:spcPct val="80000"/>
              </a:lnSpc>
            </a:pPr>
            <a:r>
              <a:rPr lang="en-US" altLang="en-US" sz="2800" dirty="0">
                <a:highlight>
                  <a:srgbClr val="FFFF00"/>
                </a:highlight>
              </a:rPr>
              <a:t>LLM learning and reasoning</a:t>
            </a:r>
          </a:p>
        </p:txBody>
      </p:sp>
    </p:spTree>
    <p:extLst>
      <p:ext uri="{BB962C8B-B14F-4D97-AF65-F5344CB8AC3E}">
        <p14:creationId xmlns:p14="http://schemas.microsoft.com/office/powerpoint/2010/main" val="509769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3120" y="274638"/>
            <a:ext cx="749808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ML in Practice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4712" y="1447800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Understanding domain, prior knowledge, and goals</a:t>
            </a:r>
          </a:p>
          <a:p>
            <a:pPr eaLnBrk="1" hangingPunct="1"/>
            <a:r>
              <a:rPr lang="en-US" altLang="en-US" dirty="0"/>
              <a:t>Data integration, selection, cleaning,</a:t>
            </a:r>
            <a:br>
              <a:rPr lang="en-US" altLang="en-US" dirty="0"/>
            </a:br>
            <a:r>
              <a:rPr lang="en-US" altLang="en-US" dirty="0"/>
              <a:t>pre-processing, etc.</a:t>
            </a:r>
          </a:p>
          <a:p>
            <a:pPr eaLnBrk="1" hangingPunct="1"/>
            <a:r>
              <a:rPr lang="en-US" altLang="en-US" dirty="0"/>
              <a:t>Learning models</a:t>
            </a:r>
          </a:p>
          <a:p>
            <a:pPr eaLnBrk="1" hangingPunct="1"/>
            <a:r>
              <a:rPr lang="en-US" altLang="en-US" dirty="0"/>
              <a:t>Interpreting results</a:t>
            </a:r>
          </a:p>
          <a:p>
            <a:pPr eaLnBrk="1" hangingPunct="1"/>
            <a:r>
              <a:rPr lang="en-US" altLang="en-US" dirty="0"/>
              <a:t>Consolidating and deploying discovered knowledge</a:t>
            </a:r>
          </a:p>
          <a:p>
            <a:pPr eaLnBrk="1" hangingPunct="1"/>
            <a:r>
              <a:rPr lang="en-US" altLang="en-US" dirty="0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3227292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machine learning framework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 lnSpcReduction="10000"/>
          </a:bodyPr>
          <a:lstStyle/>
          <a:p>
            <a:r>
              <a:rPr lang="en-US" altLang="en-US" sz="2400"/>
              <a:t>Apply a prediction function to a feature representation of the image to get the desired output:</a:t>
            </a:r>
            <a:br>
              <a:rPr lang="en-US" altLang="en-US" sz="2400"/>
            </a:br>
            <a:endParaRPr lang="en-US" altLang="en-US" sz="2400"/>
          </a:p>
          <a:p>
            <a:pPr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			</a:t>
            </a:r>
            <a:r>
              <a:rPr lang="en-US" altLang="en-US" sz="6000">
                <a:solidFill>
                  <a:srgbClr val="0000FF"/>
                </a:solidFill>
              </a:rPr>
              <a:t>f(    ) = “apple”</a:t>
            </a:r>
          </a:p>
          <a:p>
            <a:pPr>
              <a:buFontTx/>
              <a:buNone/>
            </a:pPr>
            <a:r>
              <a:rPr lang="en-US" altLang="en-US" sz="6000">
                <a:solidFill>
                  <a:srgbClr val="0000FF"/>
                </a:solidFill>
              </a:rPr>
              <a:t>			f(    ) = “tomato”</a:t>
            </a:r>
          </a:p>
          <a:p>
            <a:pPr>
              <a:buFontTx/>
              <a:buNone/>
            </a:pPr>
            <a:r>
              <a:rPr lang="en-US" altLang="en-US" sz="6000">
                <a:solidFill>
                  <a:srgbClr val="0000FF"/>
                </a:solidFill>
              </a:rPr>
              <a:t>			f(    ) = “cow”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pic>
        <p:nvPicPr>
          <p:cNvPr id="532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505200"/>
            <a:ext cx="762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572000"/>
            <a:ext cx="774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715000"/>
            <a:ext cx="774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090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machine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 fontScale="92500" lnSpcReduction="10000"/>
          </a:bodyPr>
          <a:lstStyle/>
          <a:p>
            <a:pPr algn="ctr">
              <a:buFontTx/>
              <a:buNone/>
            </a:pPr>
            <a:r>
              <a:rPr lang="en-US" altLang="en-US" sz="6000">
                <a:solidFill>
                  <a:srgbClr val="0000FF"/>
                </a:solidFill>
              </a:rPr>
              <a:t>y = f(</a:t>
            </a:r>
            <a:r>
              <a:rPr lang="en-US" altLang="en-US" sz="6000" b="1">
                <a:solidFill>
                  <a:srgbClr val="0000FF"/>
                </a:solidFill>
              </a:rPr>
              <a:t>x</a:t>
            </a:r>
            <a:r>
              <a:rPr lang="en-US" altLang="en-US" sz="6000">
                <a:solidFill>
                  <a:srgbClr val="0000FF"/>
                </a:solidFill>
              </a:rPr>
              <a:t>)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  <a:p>
            <a:r>
              <a:rPr lang="en-US" altLang="en-US" sz="2400" b="1"/>
              <a:t>Training: </a:t>
            </a:r>
            <a:r>
              <a:rPr lang="en-US" altLang="en-US" sz="2400"/>
              <a:t>given a </a:t>
            </a:r>
            <a:r>
              <a:rPr lang="en-US" altLang="en-US" sz="2400" i="1"/>
              <a:t>training set </a:t>
            </a:r>
            <a:r>
              <a:rPr lang="en-US" altLang="en-US" sz="2400"/>
              <a:t>of labeled examples</a:t>
            </a:r>
            <a:r>
              <a:rPr lang="en-US" altLang="en-US" sz="2400" i="1"/>
              <a:t> </a:t>
            </a:r>
            <a:r>
              <a:rPr lang="en-US" altLang="en-US" sz="2400">
                <a:solidFill>
                  <a:srgbClr val="0000FF"/>
                </a:solidFill>
              </a:rPr>
              <a:t>{(</a:t>
            </a:r>
            <a:r>
              <a:rPr lang="en-US" altLang="en-US" sz="2400" b="1">
                <a:solidFill>
                  <a:srgbClr val="0000FF"/>
                </a:solidFill>
              </a:rPr>
              <a:t>x</a:t>
            </a:r>
            <a:r>
              <a:rPr lang="en-US" altLang="en-US" sz="2400" baseline="-25000">
                <a:solidFill>
                  <a:srgbClr val="0000FF"/>
                </a:solidFill>
              </a:rPr>
              <a:t>1</a:t>
            </a:r>
            <a:r>
              <a:rPr lang="en-US" altLang="en-US" sz="2400">
                <a:solidFill>
                  <a:srgbClr val="0000FF"/>
                </a:solidFill>
              </a:rPr>
              <a:t>,y</a:t>
            </a:r>
            <a:r>
              <a:rPr lang="en-US" altLang="en-US" sz="2400" baseline="-25000">
                <a:solidFill>
                  <a:srgbClr val="0000FF"/>
                </a:solidFill>
              </a:rPr>
              <a:t>1</a:t>
            </a:r>
            <a:r>
              <a:rPr lang="en-US" altLang="en-US" sz="2400">
                <a:solidFill>
                  <a:srgbClr val="0000FF"/>
                </a:solidFill>
              </a:rPr>
              <a:t>), …, (</a:t>
            </a:r>
            <a:r>
              <a:rPr lang="en-US" altLang="en-US" sz="2400" b="1">
                <a:solidFill>
                  <a:srgbClr val="0000FF"/>
                </a:solidFill>
              </a:rPr>
              <a:t>x</a:t>
            </a:r>
            <a:r>
              <a:rPr lang="en-US" altLang="en-US" sz="2400" baseline="-25000">
                <a:solidFill>
                  <a:srgbClr val="0000FF"/>
                </a:solidFill>
              </a:rPr>
              <a:t>N</a:t>
            </a:r>
            <a:r>
              <a:rPr lang="en-US" altLang="en-US" sz="2400">
                <a:solidFill>
                  <a:srgbClr val="0000FF"/>
                </a:solidFill>
              </a:rPr>
              <a:t>,y</a:t>
            </a:r>
            <a:r>
              <a:rPr lang="en-US" altLang="en-US" sz="2400" baseline="-25000">
                <a:solidFill>
                  <a:srgbClr val="0000FF"/>
                </a:solidFill>
              </a:rPr>
              <a:t>N</a:t>
            </a:r>
            <a:r>
              <a:rPr lang="en-US" altLang="en-US" sz="2400">
                <a:solidFill>
                  <a:srgbClr val="0000FF"/>
                </a:solidFill>
              </a:rPr>
              <a:t>)}</a:t>
            </a:r>
            <a:r>
              <a:rPr lang="en-US" altLang="en-US" sz="2400"/>
              <a:t>, estimate the prediction function </a:t>
            </a:r>
            <a:r>
              <a:rPr lang="en-US" altLang="en-US" sz="2400">
                <a:solidFill>
                  <a:srgbClr val="0000FF"/>
                </a:solidFill>
              </a:rPr>
              <a:t>f </a:t>
            </a:r>
            <a:r>
              <a:rPr lang="en-US" altLang="en-US" sz="2400"/>
              <a:t>by minimizing the prediction error on the training set</a:t>
            </a:r>
          </a:p>
          <a:p>
            <a:r>
              <a:rPr lang="en-US" altLang="en-US" sz="2400" b="1"/>
              <a:t>Testing:</a:t>
            </a:r>
            <a:r>
              <a:rPr lang="en-US" altLang="en-US" sz="2400"/>
              <a:t> apply </a:t>
            </a:r>
            <a:r>
              <a:rPr lang="en-US" altLang="en-US" sz="2400">
                <a:solidFill>
                  <a:srgbClr val="0000FF"/>
                </a:solidFill>
              </a:rPr>
              <a:t>f</a:t>
            </a:r>
            <a:r>
              <a:rPr lang="en-US" altLang="en-US" sz="2400"/>
              <a:t> to a never before seen </a:t>
            </a:r>
            <a:r>
              <a:rPr lang="en-US" altLang="en-US" sz="2400" i="1"/>
              <a:t>test example</a:t>
            </a:r>
            <a:r>
              <a:rPr lang="en-US" altLang="en-US" sz="2400"/>
              <a:t> </a:t>
            </a:r>
            <a:r>
              <a:rPr lang="en-US" altLang="en-US" sz="2400" b="1">
                <a:solidFill>
                  <a:srgbClr val="0000FF"/>
                </a:solidFill>
              </a:rPr>
              <a:t>x</a:t>
            </a:r>
            <a:r>
              <a:rPr lang="en-US" altLang="en-US" sz="2400"/>
              <a:t> and output the predicted value </a:t>
            </a:r>
            <a:r>
              <a:rPr lang="en-US" altLang="en-US" sz="2400">
                <a:solidFill>
                  <a:srgbClr val="0000FF"/>
                </a:solidFill>
              </a:rPr>
              <a:t>y = f(</a:t>
            </a:r>
            <a:r>
              <a:rPr lang="en-US" altLang="en-US" sz="2400" b="1">
                <a:solidFill>
                  <a:srgbClr val="0000FF"/>
                </a:solidFill>
              </a:rPr>
              <a:t>x</a:t>
            </a:r>
            <a:r>
              <a:rPr lang="en-US" altLang="en-US" sz="2400">
                <a:solidFill>
                  <a:srgbClr val="0000FF"/>
                </a:solidFill>
              </a:rPr>
              <a:t>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3240088" y="2933700"/>
            <a:ext cx="684212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4381501" y="2933700"/>
            <a:ext cx="685800" cy="31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5334000" y="2590800"/>
            <a:ext cx="9144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3" name="TextBox 8"/>
          <p:cNvSpPr txBox="1">
            <a:spLocks noChangeArrowheads="1"/>
          </p:cNvSpPr>
          <p:nvPr/>
        </p:nvSpPr>
        <p:spPr bwMode="auto">
          <a:xfrm>
            <a:off x="3213100" y="3276600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55304" name="TextBox 9"/>
          <p:cNvSpPr txBox="1">
            <a:spLocks noChangeArrowheads="1"/>
          </p:cNvSpPr>
          <p:nvPr/>
        </p:nvSpPr>
        <p:spPr bwMode="auto">
          <a:xfrm>
            <a:off x="3822700" y="3276600"/>
            <a:ext cx="1892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prediction function</a:t>
            </a:r>
          </a:p>
        </p:txBody>
      </p:sp>
      <p:sp>
        <p:nvSpPr>
          <p:cNvPr id="55305" name="TextBox 10"/>
          <p:cNvSpPr txBox="1">
            <a:spLocks noChangeArrowheads="1"/>
          </p:cNvSpPr>
          <p:nvPr/>
        </p:nvSpPr>
        <p:spPr bwMode="auto">
          <a:xfrm>
            <a:off x="5499100" y="3276600"/>
            <a:ext cx="1511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Image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9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7315200" y="5562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Prediction</a:t>
            </a:r>
          </a:p>
        </p:txBody>
      </p:sp>
      <p:sp>
        <p:nvSpPr>
          <p:cNvPr id="5734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3"/>
          </a:xfrm>
        </p:spPr>
        <p:txBody>
          <a:bodyPr/>
          <a:lstStyle/>
          <a:p>
            <a:r>
              <a:rPr lang="en-US" altLang="en-US"/>
              <a:t>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990600"/>
            <a:ext cx="1600200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Training Labels</a:t>
            </a:r>
          </a:p>
        </p:txBody>
      </p:sp>
      <p:grpSp>
        <p:nvGrpSpPr>
          <p:cNvPr id="57349" name="Group 12"/>
          <p:cNvGrpSpPr>
            <a:grpSpLocks/>
          </p:cNvGrpSpPr>
          <p:nvPr/>
        </p:nvGrpSpPr>
        <p:grpSpPr bwMode="auto">
          <a:xfrm>
            <a:off x="76200" y="1570038"/>
            <a:ext cx="2438400" cy="3078162"/>
            <a:chOff x="228600" y="1417320"/>
            <a:chExt cx="2438400" cy="2849880"/>
          </a:xfrm>
        </p:grpSpPr>
        <p:sp>
          <p:nvSpPr>
            <p:cNvPr id="57368" name="TextBox 7"/>
            <p:cNvSpPr txBox="1">
              <a:spLocks noChangeArrowheads="1"/>
            </p:cNvSpPr>
            <p:nvPr/>
          </p:nvSpPr>
          <p:spPr bwMode="auto">
            <a:xfrm>
              <a:off x="533400" y="1417320"/>
              <a:ext cx="18288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Training Images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28600" y="1448185"/>
              <a:ext cx="2438400" cy="28190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410200" y="2438400"/>
            <a:ext cx="1371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57351" name="TextBox 13"/>
          <p:cNvSpPr txBox="1">
            <a:spLocks noChangeArrowheads="1"/>
          </p:cNvSpPr>
          <p:nvPr/>
        </p:nvSpPr>
        <p:spPr bwMode="auto">
          <a:xfrm>
            <a:off x="552450" y="838200"/>
            <a:ext cx="1581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438400"/>
            <a:ext cx="15240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Image 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90800" y="27432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00600" y="27432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 rot="5400000">
            <a:off x="5821363" y="19812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0" y="5562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Image Features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133600" y="58674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254" name="TextBox 20"/>
          <p:cNvSpPr txBox="1">
            <a:spLocks noChangeArrowheads="1"/>
          </p:cNvSpPr>
          <p:nvPr/>
        </p:nvSpPr>
        <p:spPr bwMode="auto">
          <a:xfrm>
            <a:off x="620713" y="4800600"/>
            <a:ext cx="1436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</a:rPr>
              <a:t>Testing</a:t>
            </a:r>
          </a:p>
        </p:txBody>
      </p:sp>
      <p:sp>
        <p:nvSpPr>
          <p:cNvPr id="10255" name="TextBox 21"/>
          <p:cNvSpPr txBox="1">
            <a:spLocks noChangeArrowheads="1"/>
          </p:cNvSpPr>
          <p:nvPr/>
        </p:nvSpPr>
        <p:spPr bwMode="auto">
          <a:xfrm>
            <a:off x="457200" y="6396038"/>
            <a:ext cx="168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Test Image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58000" y="27432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43800" y="2438400"/>
            <a:ext cx="15240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Learned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1600" y="5562600"/>
            <a:ext cx="1752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000000"/>
                </a:solidFill>
              </a:rPr>
              <a:t>Learned model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72000" y="58674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4600" y="6581775"/>
            <a:ext cx="28194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D.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Hoiem</a:t>
            </a: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 and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6934200" y="58674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73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22383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638800"/>
            <a:ext cx="8001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41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0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10254" grpId="0"/>
      <p:bldP spid="10255" grpId="0"/>
      <p:bldP spid="23" grpId="0" animBg="1"/>
      <p:bldP spid="24" grpId="0" animBg="1"/>
      <p:bldP spid="25" grpId="0" animBg="1"/>
      <p:bldP spid="26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Raw pixels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/>
              <a:t>Histograms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GIST descriptors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/>
              <a:t>…</a:t>
            </a:r>
          </a:p>
        </p:txBody>
      </p:sp>
      <p:pic>
        <p:nvPicPr>
          <p:cNvPr id="4" name="Picture 2" descr="C:\Documents and Settings\Derek Hoiem\My Documents\Classes\Spring10 - Computer Vision\figs\child_in_fiel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63" y="2043113"/>
            <a:ext cx="2446337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2" t="12444" r="33333" b="43111"/>
          <a:stretch>
            <a:fillRect/>
          </a:stretch>
        </p:blipFill>
        <p:spPr bwMode="auto">
          <a:xfrm>
            <a:off x="6781800" y="1981200"/>
            <a:ext cx="20796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2" descr="0681_gist_photoshopp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038600"/>
            <a:ext cx="22415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38600"/>
            <a:ext cx="238918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47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Classifiers: Nearest neighbor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495800"/>
            <a:ext cx="8686800" cy="1325563"/>
          </a:xfrm>
        </p:spPr>
        <p:txBody>
          <a:bodyPr>
            <a:normAutofit fontScale="77500" lnSpcReduction="20000"/>
          </a:bodyPr>
          <a:lstStyle/>
          <a:p>
            <a:pPr>
              <a:buFontTx/>
              <a:buNone/>
            </a:pPr>
            <a:r>
              <a:rPr lang="en-US" altLang="en-US">
                <a:solidFill>
                  <a:srgbClr val="0000FF"/>
                </a:solidFill>
              </a:rPr>
              <a:t>f(</a:t>
            </a:r>
            <a:r>
              <a:rPr lang="en-US" altLang="en-US" b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) = label of the training example nearest to </a:t>
            </a:r>
            <a:r>
              <a:rPr lang="en-US" altLang="en-US" b="1">
                <a:solidFill>
                  <a:srgbClr val="0000FF"/>
                </a:solidFill>
              </a:rPr>
              <a:t>x</a:t>
            </a:r>
          </a:p>
          <a:p>
            <a:endParaRPr lang="en-US" altLang="en-US" sz="2400"/>
          </a:p>
          <a:p>
            <a:r>
              <a:rPr lang="en-US" altLang="en-US" sz="2400"/>
              <a:t>All we need is a distance function for our inputs</a:t>
            </a:r>
          </a:p>
          <a:p>
            <a:r>
              <a:rPr lang="en-US" altLang="en-US" sz="2400"/>
              <a:t>No training required!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800" y="1828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514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76600" y="1752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2200" y="3276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33800" y="2971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81400" y="3733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791200" y="2057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29200" y="27432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791200" y="31242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76800" y="1676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57800" y="22860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876800" y="3581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657600" y="2235200"/>
            <a:ext cx="106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</a:rPr>
              <a:t>Test example</a:t>
            </a:r>
          </a:p>
        </p:txBody>
      </p:sp>
      <p:sp>
        <p:nvSpPr>
          <p:cNvPr id="61457" name="TextBox 18"/>
          <p:cNvSpPr txBox="1">
            <a:spLocks noChangeArrowheads="1"/>
          </p:cNvSpPr>
          <p:nvPr/>
        </p:nvSpPr>
        <p:spPr bwMode="auto">
          <a:xfrm>
            <a:off x="990600" y="2286000"/>
            <a:ext cx="1295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</a:rPr>
              <a:t>Training examples from class 1</a:t>
            </a:r>
          </a:p>
        </p:txBody>
      </p:sp>
      <p:sp>
        <p:nvSpPr>
          <p:cNvPr id="61458" name="TextBox 19"/>
          <p:cNvSpPr txBox="1">
            <a:spLocks noChangeArrowheads="1"/>
          </p:cNvSpPr>
          <p:nvPr/>
        </p:nvSpPr>
        <p:spPr bwMode="auto">
          <a:xfrm>
            <a:off x="6248400" y="2133600"/>
            <a:ext cx="1295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Training examples from class 2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16200000" flipV="1">
            <a:off x="3352800" y="2057400"/>
            <a:ext cx="381000" cy="228600"/>
          </a:xfrm>
          <a:prstGeom prst="straightConnector1">
            <a:avLst/>
          </a:prstGeom>
          <a:ln w="25400">
            <a:solidFill>
              <a:srgbClr val="0000FF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3505200" y="2209800"/>
            <a:ext cx="304800" cy="3048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6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Classifiers: Linear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800600"/>
            <a:ext cx="8686800" cy="1325563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Find a </a:t>
            </a:r>
            <a:r>
              <a:rPr lang="en-US" altLang="en-US" i="1"/>
              <a:t>linear function </a:t>
            </a:r>
            <a:r>
              <a:rPr lang="en-US" altLang="en-US"/>
              <a:t>to separate the classes:</a:t>
            </a:r>
          </a:p>
          <a:p>
            <a:endParaRPr lang="en-US" altLang="en-US" sz="1200"/>
          </a:p>
          <a:p>
            <a:pPr algn="ctr">
              <a:buFontTx/>
              <a:buNone/>
            </a:pPr>
            <a:r>
              <a:rPr lang="en-US" altLang="en-US">
                <a:solidFill>
                  <a:srgbClr val="0000FF"/>
                </a:solidFill>
              </a:rPr>
              <a:t>	f(</a:t>
            </a:r>
            <a:r>
              <a:rPr lang="en-US" altLang="en-US" b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) = sgn(</a:t>
            </a:r>
            <a:r>
              <a:rPr lang="en-US" altLang="en-US" b="1">
                <a:solidFill>
                  <a:srgbClr val="0000FF"/>
                </a:solidFill>
              </a:rPr>
              <a:t>w 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 </a:t>
            </a:r>
            <a:r>
              <a:rPr lang="en-US" altLang="en-US" b="1">
                <a:solidFill>
                  <a:srgbClr val="0000FF"/>
                </a:solidFill>
              </a:rPr>
              <a:t>x </a:t>
            </a:r>
            <a:r>
              <a:rPr lang="en-US" altLang="en-US">
                <a:solidFill>
                  <a:srgbClr val="0000FF"/>
                </a:solidFill>
              </a:rPr>
              <a:t>+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800" y="1828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514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76600" y="1752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2200" y="32766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33800" y="2971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81400" y="3733800"/>
            <a:ext cx="228600" cy="22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791200" y="2057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29200" y="27432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791200" y="31242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76800" y="1676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57800" y="22860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876800" y="3581400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rot="16200000" flipH="1">
            <a:off x="2667000" y="2590800"/>
            <a:ext cx="3276600" cy="533400"/>
          </a:xfrm>
          <a:prstGeom prst="line">
            <a:avLst/>
          </a:prstGeom>
          <a:ln w="38100">
            <a:solidFill>
              <a:srgbClr val="CC00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35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Many classifiers to choose from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/>
              <a:t>SVM</a:t>
            </a:r>
          </a:p>
          <a:p>
            <a:r>
              <a:rPr lang="en-US" altLang="en-US" sz="2800"/>
              <a:t>Neural networks</a:t>
            </a:r>
          </a:p>
          <a:p>
            <a:r>
              <a:rPr lang="en-US" altLang="en-US" sz="2800"/>
              <a:t>Naïve Bayes</a:t>
            </a:r>
          </a:p>
          <a:p>
            <a:r>
              <a:rPr lang="en-US" altLang="en-US" sz="2800"/>
              <a:t>Bayesian network</a:t>
            </a:r>
          </a:p>
          <a:p>
            <a:r>
              <a:rPr lang="en-US" altLang="en-US" sz="2800"/>
              <a:t>Logistic regression</a:t>
            </a:r>
          </a:p>
          <a:p>
            <a:r>
              <a:rPr lang="en-US" altLang="en-US" sz="2800"/>
              <a:t>Randomized Forests</a:t>
            </a:r>
          </a:p>
          <a:p>
            <a:r>
              <a:rPr lang="en-US" altLang="en-US" sz="2800"/>
              <a:t>Boosted Decision Trees</a:t>
            </a:r>
          </a:p>
          <a:p>
            <a:r>
              <a:rPr lang="en-US" altLang="en-US" sz="2800"/>
              <a:t>K-nearest neighbor</a:t>
            </a:r>
          </a:p>
          <a:p>
            <a:r>
              <a:rPr lang="en-US" altLang="en-US" sz="2800"/>
              <a:t>RBMs</a:t>
            </a:r>
          </a:p>
          <a:p>
            <a:r>
              <a:rPr lang="en-US" altLang="en-US" sz="2800"/>
              <a:t>Etc.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24400" y="1676400"/>
            <a:ext cx="3821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Which is the best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81775"/>
            <a:ext cx="1668463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Arial" charset="0"/>
                <a:cs typeface="+mn-cs"/>
              </a:rPr>
              <a:t>Slide credit: D. </a:t>
            </a:r>
            <a:r>
              <a:rPr lang="en-US" sz="1200" dirty="0" err="1">
                <a:solidFill>
                  <a:prstClr val="white">
                    <a:lumMod val="65000"/>
                  </a:prstClr>
                </a:solidFill>
                <a:latin typeface="Arial" charset="0"/>
                <a:cs typeface="+mn-cs"/>
              </a:rPr>
              <a:t>Hoiem</a:t>
            </a:r>
            <a:endParaRPr lang="en-US" sz="1200" dirty="0">
              <a:solidFill>
                <a:prstClr val="white">
                  <a:lumMod val="65000"/>
                </a:prst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566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16"/>
          <p:cNvSpPr>
            <a:spLocks noGrp="1"/>
          </p:cNvSpPr>
          <p:nvPr>
            <p:ph idx="1"/>
          </p:nvPr>
        </p:nvSpPr>
        <p:spPr>
          <a:xfrm>
            <a:off x="762000" y="838200"/>
            <a:ext cx="8229600" cy="5287963"/>
          </a:xfrm>
        </p:spPr>
        <p:txBody>
          <a:bodyPr/>
          <a:lstStyle/>
          <a:p>
            <a:r>
              <a:rPr lang="en-US" altLang="en-US" sz="2400"/>
              <a:t>Images in the training set must be annotated with the “correct answer” that the model is expected to produce</a:t>
            </a:r>
          </a:p>
        </p:txBody>
      </p:sp>
      <p:pic>
        <p:nvPicPr>
          <p:cNvPr id="66563" name="Picture 4" descr="00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2389188"/>
            <a:ext cx="6175375" cy="431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3397" name="Text Box 5"/>
          <p:cNvSpPr txBox="1">
            <a:spLocks noChangeArrowheads="1"/>
          </p:cNvSpPr>
          <p:nvPr/>
        </p:nvSpPr>
        <p:spPr bwMode="auto">
          <a:xfrm>
            <a:off x="3352800" y="1885950"/>
            <a:ext cx="2606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rgbClr val="000000"/>
                </a:solidFill>
              </a:rPr>
              <a:t>Contains a motorbike</a:t>
            </a:r>
            <a:endParaRPr lang="en-US" altLang="en-US" sz="2000">
              <a:solidFill>
                <a:srgbClr val="000000"/>
              </a:solidFill>
            </a:endParaRPr>
          </a:p>
        </p:txBody>
      </p:sp>
      <p:sp>
        <p:nvSpPr>
          <p:cNvPr id="443398" name="Rectangle 6"/>
          <p:cNvSpPr>
            <a:spLocks noChangeArrowheads="1"/>
          </p:cNvSpPr>
          <p:nvPr/>
        </p:nvSpPr>
        <p:spPr bwMode="auto">
          <a:xfrm>
            <a:off x="2647950" y="3363913"/>
            <a:ext cx="4062413" cy="2925762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3399" name="Freeform 7"/>
          <p:cNvSpPr>
            <a:spLocks/>
          </p:cNvSpPr>
          <p:nvPr/>
        </p:nvSpPr>
        <p:spPr bwMode="auto">
          <a:xfrm>
            <a:off x="2644775" y="3503613"/>
            <a:ext cx="4100513" cy="2798762"/>
          </a:xfrm>
          <a:custGeom>
            <a:avLst/>
            <a:gdLst>
              <a:gd name="T0" fmla="*/ 2147483646 w 1211"/>
              <a:gd name="T1" fmla="*/ 2147483646 h 827"/>
              <a:gd name="T2" fmla="*/ 2147483646 w 1211"/>
              <a:gd name="T3" fmla="*/ 2147483646 h 827"/>
              <a:gd name="T4" fmla="*/ 2147483646 w 1211"/>
              <a:gd name="T5" fmla="*/ 2147483646 h 827"/>
              <a:gd name="T6" fmla="*/ 2147483646 w 1211"/>
              <a:gd name="T7" fmla="*/ 2147483646 h 827"/>
              <a:gd name="T8" fmla="*/ 2147483646 w 1211"/>
              <a:gd name="T9" fmla="*/ 2147483646 h 827"/>
              <a:gd name="T10" fmla="*/ 2147483646 w 1211"/>
              <a:gd name="T11" fmla="*/ 2147483646 h 827"/>
              <a:gd name="T12" fmla="*/ 2147483646 w 1211"/>
              <a:gd name="T13" fmla="*/ 2147483646 h 827"/>
              <a:gd name="T14" fmla="*/ 2147483646 w 1211"/>
              <a:gd name="T15" fmla="*/ 2147483646 h 827"/>
              <a:gd name="T16" fmla="*/ 2147483646 w 1211"/>
              <a:gd name="T17" fmla="*/ 2147483646 h 827"/>
              <a:gd name="T18" fmla="*/ 2147483646 w 1211"/>
              <a:gd name="T19" fmla="*/ 2147483646 h 827"/>
              <a:gd name="T20" fmla="*/ 2147483646 w 1211"/>
              <a:gd name="T21" fmla="*/ 2147483646 h 827"/>
              <a:gd name="T22" fmla="*/ 2147483646 w 1211"/>
              <a:gd name="T23" fmla="*/ 2147483646 h 827"/>
              <a:gd name="T24" fmla="*/ 2147483646 w 1211"/>
              <a:gd name="T25" fmla="*/ 2147483646 h 827"/>
              <a:gd name="T26" fmla="*/ 2147483646 w 1211"/>
              <a:gd name="T27" fmla="*/ 2147483646 h 827"/>
              <a:gd name="T28" fmla="*/ 2147483646 w 1211"/>
              <a:gd name="T29" fmla="*/ 2147483646 h 827"/>
              <a:gd name="T30" fmla="*/ 2147483646 w 1211"/>
              <a:gd name="T31" fmla="*/ 2147483646 h 827"/>
              <a:gd name="T32" fmla="*/ 2147483646 w 1211"/>
              <a:gd name="T33" fmla="*/ 2147483646 h 827"/>
              <a:gd name="T34" fmla="*/ 2147483646 w 1211"/>
              <a:gd name="T35" fmla="*/ 2147483646 h 827"/>
              <a:gd name="T36" fmla="*/ 2147483646 w 1211"/>
              <a:gd name="T37" fmla="*/ 2147483646 h 827"/>
              <a:gd name="T38" fmla="*/ 2147483646 w 1211"/>
              <a:gd name="T39" fmla="*/ 2147483646 h 827"/>
              <a:gd name="T40" fmla="*/ 2147483646 w 1211"/>
              <a:gd name="T41" fmla="*/ 2147483646 h 827"/>
              <a:gd name="T42" fmla="*/ 2147483646 w 1211"/>
              <a:gd name="T43" fmla="*/ 2147483646 h 827"/>
              <a:gd name="T44" fmla="*/ 2147483646 w 1211"/>
              <a:gd name="T45" fmla="*/ 2147483646 h 827"/>
              <a:gd name="T46" fmla="*/ 2147483646 w 1211"/>
              <a:gd name="T47" fmla="*/ 2147483646 h 827"/>
              <a:gd name="T48" fmla="*/ 2147483646 w 1211"/>
              <a:gd name="T49" fmla="*/ 2147483646 h 827"/>
              <a:gd name="T50" fmla="*/ 2147483646 w 1211"/>
              <a:gd name="T51" fmla="*/ 2147483646 h 827"/>
              <a:gd name="T52" fmla="*/ 2147483646 w 1211"/>
              <a:gd name="T53" fmla="*/ 2147483646 h 827"/>
              <a:gd name="T54" fmla="*/ 2147483646 w 1211"/>
              <a:gd name="T55" fmla="*/ 2147483646 h 827"/>
              <a:gd name="T56" fmla="*/ 2147483646 w 1211"/>
              <a:gd name="T57" fmla="*/ 2147483646 h 827"/>
              <a:gd name="T58" fmla="*/ 2147483646 w 1211"/>
              <a:gd name="T59" fmla="*/ 2147483646 h 827"/>
              <a:gd name="T60" fmla="*/ 2147483646 w 1211"/>
              <a:gd name="T61" fmla="*/ 2147483646 h 827"/>
              <a:gd name="T62" fmla="*/ 2147483646 w 1211"/>
              <a:gd name="T63" fmla="*/ 2147483646 h 827"/>
              <a:gd name="T64" fmla="*/ 2147483646 w 1211"/>
              <a:gd name="T65" fmla="*/ 2147483646 h 827"/>
              <a:gd name="T66" fmla="*/ 2147483646 w 1211"/>
              <a:gd name="T67" fmla="*/ 2147483646 h 827"/>
              <a:gd name="T68" fmla="*/ 2147483646 w 1211"/>
              <a:gd name="T69" fmla="*/ 2147483646 h 827"/>
              <a:gd name="T70" fmla="*/ 2147483646 w 1211"/>
              <a:gd name="T71" fmla="*/ 2147483646 h 827"/>
              <a:gd name="T72" fmla="*/ 2147483646 w 1211"/>
              <a:gd name="T73" fmla="*/ 2147483646 h 827"/>
              <a:gd name="T74" fmla="*/ 2147483646 w 1211"/>
              <a:gd name="T75" fmla="*/ 2147483646 h 827"/>
              <a:gd name="T76" fmla="*/ 2147483646 w 1211"/>
              <a:gd name="T77" fmla="*/ 2147483646 h 827"/>
              <a:gd name="T78" fmla="*/ 2147483646 w 1211"/>
              <a:gd name="T79" fmla="*/ 2147483646 h 827"/>
              <a:gd name="T80" fmla="*/ 2147483646 w 1211"/>
              <a:gd name="T81" fmla="*/ 2147483646 h 827"/>
              <a:gd name="T82" fmla="*/ 2147483646 w 1211"/>
              <a:gd name="T83" fmla="*/ 2147483646 h 82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211"/>
              <a:gd name="T127" fmla="*/ 0 h 827"/>
              <a:gd name="T128" fmla="*/ 1211 w 1211"/>
              <a:gd name="T129" fmla="*/ 827 h 82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211" h="827">
                <a:moveTo>
                  <a:pt x="99" y="138"/>
                </a:moveTo>
                <a:cubicBezTo>
                  <a:pt x="121" y="139"/>
                  <a:pt x="133" y="142"/>
                  <a:pt x="156" y="144"/>
                </a:cubicBezTo>
                <a:cubicBezTo>
                  <a:pt x="163" y="149"/>
                  <a:pt x="169" y="150"/>
                  <a:pt x="177" y="153"/>
                </a:cubicBezTo>
                <a:cubicBezTo>
                  <a:pt x="184" y="158"/>
                  <a:pt x="192" y="158"/>
                  <a:pt x="201" y="159"/>
                </a:cubicBezTo>
                <a:cubicBezTo>
                  <a:pt x="209" y="163"/>
                  <a:pt x="216" y="167"/>
                  <a:pt x="225" y="169"/>
                </a:cubicBezTo>
                <a:cubicBezTo>
                  <a:pt x="243" y="183"/>
                  <a:pt x="269" y="171"/>
                  <a:pt x="291" y="175"/>
                </a:cubicBezTo>
                <a:cubicBezTo>
                  <a:pt x="304" y="191"/>
                  <a:pt x="331" y="187"/>
                  <a:pt x="349" y="187"/>
                </a:cubicBezTo>
                <a:cubicBezTo>
                  <a:pt x="360" y="192"/>
                  <a:pt x="369" y="192"/>
                  <a:pt x="382" y="193"/>
                </a:cubicBezTo>
                <a:cubicBezTo>
                  <a:pt x="390" y="196"/>
                  <a:pt x="389" y="201"/>
                  <a:pt x="393" y="208"/>
                </a:cubicBezTo>
                <a:cubicBezTo>
                  <a:pt x="396" y="223"/>
                  <a:pt x="404" y="229"/>
                  <a:pt x="418" y="231"/>
                </a:cubicBezTo>
                <a:cubicBezTo>
                  <a:pt x="424" y="235"/>
                  <a:pt x="425" y="238"/>
                  <a:pt x="432" y="240"/>
                </a:cubicBezTo>
                <a:cubicBezTo>
                  <a:pt x="438" y="246"/>
                  <a:pt x="447" y="252"/>
                  <a:pt x="456" y="253"/>
                </a:cubicBezTo>
                <a:cubicBezTo>
                  <a:pt x="461" y="255"/>
                  <a:pt x="466" y="256"/>
                  <a:pt x="471" y="258"/>
                </a:cubicBezTo>
                <a:cubicBezTo>
                  <a:pt x="489" y="257"/>
                  <a:pt x="508" y="259"/>
                  <a:pt x="526" y="256"/>
                </a:cubicBezTo>
                <a:cubicBezTo>
                  <a:pt x="528" y="256"/>
                  <a:pt x="525" y="252"/>
                  <a:pt x="525" y="250"/>
                </a:cubicBezTo>
                <a:cubicBezTo>
                  <a:pt x="525" y="243"/>
                  <a:pt x="526" y="244"/>
                  <a:pt x="532" y="240"/>
                </a:cubicBezTo>
                <a:cubicBezTo>
                  <a:pt x="536" y="234"/>
                  <a:pt x="541" y="228"/>
                  <a:pt x="546" y="222"/>
                </a:cubicBezTo>
                <a:cubicBezTo>
                  <a:pt x="550" y="201"/>
                  <a:pt x="570" y="170"/>
                  <a:pt x="588" y="159"/>
                </a:cubicBezTo>
                <a:cubicBezTo>
                  <a:pt x="595" y="148"/>
                  <a:pt x="603" y="146"/>
                  <a:pt x="616" y="144"/>
                </a:cubicBezTo>
                <a:cubicBezTo>
                  <a:pt x="624" y="141"/>
                  <a:pt x="629" y="139"/>
                  <a:pt x="636" y="135"/>
                </a:cubicBezTo>
                <a:cubicBezTo>
                  <a:pt x="641" y="128"/>
                  <a:pt x="648" y="125"/>
                  <a:pt x="655" y="120"/>
                </a:cubicBezTo>
                <a:cubicBezTo>
                  <a:pt x="659" y="114"/>
                  <a:pt x="661" y="115"/>
                  <a:pt x="667" y="111"/>
                </a:cubicBezTo>
                <a:cubicBezTo>
                  <a:pt x="682" y="86"/>
                  <a:pt x="726" y="95"/>
                  <a:pt x="748" y="94"/>
                </a:cubicBezTo>
                <a:cubicBezTo>
                  <a:pt x="756" y="93"/>
                  <a:pt x="754" y="90"/>
                  <a:pt x="759" y="84"/>
                </a:cubicBezTo>
                <a:cubicBezTo>
                  <a:pt x="761" y="72"/>
                  <a:pt x="764" y="62"/>
                  <a:pt x="765" y="49"/>
                </a:cubicBezTo>
                <a:cubicBezTo>
                  <a:pt x="765" y="40"/>
                  <a:pt x="761" y="15"/>
                  <a:pt x="774" y="12"/>
                </a:cubicBezTo>
                <a:cubicBezTo>
                  <a:pt x="779" y="9"/>
                  <a:pt x="783" y="7"/>
                  <a:pt x="789" y="6"/>
                </a:cubicBezTo>
                <a:cubicBezTo>
                  <a:pt x="797" y="0"/>
                  <a:pt x="800" y="1"/>
                  <a:pt x="811" y="0"/>
                </a:cubicBezTo>
                <a:cubicBezTo>
                  <a:pt x="837" y="1"/>
                  <a:pt x="855" y="4"/>
                  <a:pt x="879" y="9"/>
                </a:cubicBezTo>
                <a:cubicBezTo>
                  <a:pt x="881" y="50"/>
                  <a:pt x="900" y="27"/>
                  <a:pt x="927" y="24"/>
                </a:cubicBezTo>
                <a:cubicBezTo>
                  <a:pt x="938" y="21"/>
                  <a:pt x="949" y="20"/>
                  <a:pt x="960" y="18"/>
                </a:cubicBezTo>
                <a:cubicBezTo>
                  <a:pt x="964" y="18"/>
                  <a:pt x="969" y="17"/>
                  <a:pt x="972" y="19"/>
                </a:cubicBezTo>
                <a:cubicBezTo>
                  <a:pt x="979" y="25"/>
                  <a:pt x="968" y="31"/>
                  <a:pt x="981" y="34"/>
                </a:cubicBezTo>
                <a:cubicBezTo>
                  <a:pt x="991" y="33"/>
                  <a:pt x="1000" y="32"/>
                  <a:pt x="1006" y="24"/>
                </a:cubicBezTo>
                <a:cubicBezTo>
                  <a:pt x="1014" y="14"/>
                  <a:pt x="1008" y="6"/>
                  <a:pt x="1023" y="3"/>
                </a:cubicBezTo>
                <a:cubicBezTo>
                  <a:pt x="1036" y="4"/>
                  <a:pt x="1031" y="8"/>
                  <a:pt x="1041" y="10"/>
                </a:cubicBezTo>
                <a:cubicBezTo>
                  <a:pt x="1048" y="16"/>
                  <a:pt x="1049" y="17"/>
                  <a:pt x="1053" y="25"/>
                </a:cubicBezTo>
                <a:cubicBezTo>
                  <a:pt x="1055" y="34"/>
                  <a:pt x="1059" y="40"/>
                  <a:pt x="1062" y="48"/>
                </a:cubicBezTo>
                <a:cubicBezTo>
                  <a:pt x="1064" y="58"/>
                  <a:pt x="1063" y="76"/>
                  <a:pt x="1053" y="81"/>
                </a:cubicBezTo>
                <a:cubicBezTo>
                  <a:pt x="1039" y="109"/>
                  <a:pt x="1061" y="147"/>
                  <a:pt x="1042" y="172"/>
                </a:cubicBezTo>
                <a:cubicBezTo>
                  <a:pt x="1045" y="182"/>
                  <a:pt x="1044" y="185"/>
                  <a:pt x="1053" y="190"/>
                </a:cubicBezTo>
                <a:cubicBezTo>
                  <a:pt x="1057" y="198"/>
                  <a:pt x="1058" y="205"/>
                  <a:pt x="1062" y="213"/>
                </a:cubicBezTo>
                <a:cubicBezTo>
                  <a:pt x="1063" y="224"/>
                  <a:pt x="1065" y="230"/>
                  <a:pt x="1071" y="238"/>
                </a:cubicBezTo>
                <a:cubicBezTo>
                  <a:pt x="1071" y="252"/>
                  <a:pt x="1070" y="275"/>
                  <a:pt x="1077" y="289"/>
                </a:cubicBezTo>
                <a:cubicBezTo>
                  <a:pt x="1073" y="333"/>
                  <a:pt x="1056" y="324"/>
                  <a:pt x="1015" y="328"/>
                </a:cubicBezTo>
                <a:cubicBezTo>
                  <a:pt x="1011" y="330"/>
                  <a:pt x="1006" y="331"/>
                  <a:pt x="1002" y="333"/>
                </a:cubicBezTo>
                <a:cubicBezTo>
                  <a:pt x="995" y="343"/>
                  <a:pt x="984" y="344"/>
                  <a:pt x="973" y="348"/>
                </a:cubicBezTo>
                <a:cubicBezTo>
                  <a:pt x="967" y="357"/>
                  <a:pt x="975" y="365"/>
                  <a:pt x="984" y="367"/>
                </a:cubicBezTo>
                <a:cubicBezTo>
                  <a:pt x="993" y="372"/>
                  <a:pt x="985" y="366"/>
                  <a:pt x="990" y="384"/>
                </a:cubicBezTo>
                <a:cubicBezTo>
                  <a:pt x="993" y="394"/>
                  <a:pt x="1010" y="396"/>
                  <a:pt x="1018" y="397"/>
                </a:cubicBezTo>
                <a:cubicBezTo>
                  <a:pt x="1031" y="402"/>
                  <a:pt x="1053" y="402"/>
                  <a:pt x="1068" y="403"/>
                </a:cubicBezTo>
                <a:cubicBezTo>
                  <a:pt x="1075" y="406"/>
                  <a:pt x="1083" y="408"/>
                  <a:pt x="1090" y="409"/>
                </a:cubicBezTo>
                <a:cubicBezTo>
                  <a:pt x="1101" y="414"/>
                  <a:pt x="1092" y="409"/>
                  <a:pt x="1101" y="417"/>
                </a:cubicBezTo>
                <a:cubicBezTo>
                  <a:pt x="1104" y="419"/>
                  <a:pt x="1110" y="424"/>
                  <a:pt x="1110" y="424"/>
                </a:cubicBezTo>
                <a:cubicBezTo>
                  <a:pt x="1117" y="436"/>
                  <a:pt x="1128" y="438"/>
                  <a:pt x="1135" y="450"/>
                </a:cubicBezTo>
                <a:cubicBezTo>
                  <a:pt x="1146" y="445"/>
                  <a:pt x="1149" y="449"/>
                  <a:pt x="1155" y="459"/>
                </a:cubicBezTo>
                <a:cubicBezTo>
                  <a:pt x="1157" y="471"/>
                  <a:pt x="1153" y="481"/>
                  <a:pt x="1167" y="484"/>
                </a:cubicBezTo>
                <a:cubicBezTo>
                  <a:pt x="1173" y="487"/>
                  <a:pt x="1178" y="489"/>
                  <a:pt x="1185" y="490"/>
                </a:cubicBezTo>
                <a:cubicBezTo>
                  <a:pt x="1182" y="497"/>
                  <a:pt x="1185" y="497"/>
                  <a:pt x="1188" y="504"/>
                </a:cubicBezTo>
                <a:cubicBezTo>
                  <a:pt x="1193" y="536"/>
                  <a:pt x="1199" y="568"/>
                  <a:pt x="1204" y="600"/>
                </a:cubicBezTo>
                <a:cubicBezTo>
                  <a:pt x="1204" y="613"/>
                  <a:pt x="1211" y="694"/>
                  <a:pt x="1191" y="709"/>
                </a:cubicBezTo>
                <a:cubicBezTo>
                  <a:pt x="1188" y="718"/>
                  <a:pt x="1182" y="723"/>
                  <a:pt x="1177" y="730"/>
                </a:cubicBezTo>
                <a:cubicBezTo>
                  <a:pt x="1176" y="737"/>
                  <a:pt x="1171" y="743"/>
                  <a:pt x="1165" y="747"/>
                </a:cubicBezTo>
                <a:cubicBezTo>
                  <a:pt x="1161" y="753"/>
                  <a:pt x="1158" y="755"/>
                  <a:pt x="1152" y="759"/>
                </a:cubicBezTo>
                <a:cubicBezTo>
                  <a:pt x="1147" y="768"/>
                  <a:pt x="1141" y="776"/>
                  <a:pt x="1132" y="781"/>
                </a:cubicBezTo>
                <a:cubicBezTo>
                  <a:pt x="1129" y="795"/>
                  <a:pt x="1116" y="797"/>
                  <a:pt x="1104" y="799"/>
                </a:cubicBezTo>
                <a:cubicBezTo>
                  <a:pt x="1096" y="802"/>
                  <a:pt x="1089" y="803"/>
                  <a:pt x="1080" y="804"/>
                </a:cubicBezTo>
                <a:cubicBezTo>
                  <a:pt x="1034" y="827"/>
                  <a:pt x="987" y="819"/>
                  <a:pt x="951" y="792"/>
                </a:cubicBezTo>
                <a:cubicBezTo>
                  <a:pt x="948" y="784"/>
                  <a:pt x="941" y="782"/>
                  <a:pt x="934" y="778"/>
                </a:cubicBezTo>
                <a:cubicBezTo>
                  <a:pt x="927" y="769"/>
                  <a:pt x="918" y="761"/>
                  <a:pt x="907" y="759"/>
                </a:cubicBezTo>
                <a:cubicBezTo>
                  <a:pt x="900" y="748"/>
                  <a:pt x="887" y="744"/>
                  <a:pt x="880" y="733"/>
                </a:cubicBezTo>
                <a:cubicBezTo>
                  <a:pt x="876" y="726"/>
                  <a:pt x="871" y="720"/>
                  <a:pt x="867" y="714"/>
                </a:cubicBezTo>
                <a:cubicBezTo>
                  <a:pt x="862" y="707"/>
                  <a:pt x="856" y="691"/>
                  <a:pt x="856" y="691"/>
                </a:cubicBezTo>
                <a:cubicBezTo>
                  <a:pt x="855" y="686"/>
                  <a:pt x="853" y="681"/>
                  <a:pt x="852" y="676"/>
                </a:cubicBezTo>
                <a:cubicBezTo>
                  <a:pt x="851" y="663"/>
                  <a:pt x="850" y="650"/>
                  <a:pt x="850" y="637"/>
                </a:cubicBezTo>
                <a:cubicBezTo>
                  <a:pt x="848" y="586"/>
                  <a:pt x="850" y="583"/>
                  <a:pt x="835" y="613"/>
                </a:cubicBezTo>
                <a:cubicBezTo>
                  <a:pt x="834" y="617"/>
                  <a:pt x="821" y="638"/>
                  <a:pt x="816" y="639"/>
                </a:cubicBezTo>
                <a:cubicBezTo>
                  <a:pt x="812" y="640"/>
                  <a:pt x="808" y="640"/>
                  <a:pt x="804" y="640"/>
                </a:cubicBezTo>
                <a:cubicBezTo>
                  <a:pt x="798" y="642"/>
                  <a:pt x="794" y="644"/>
                  <a:pt x="790" y="649"/>
                </a:cubicBezTo>
                <a:cubicBezTo>
                  <a:pt x="787" y="663"/>
                  <a:pt x="792" y="645"/>
                  <a:pt x="784" y="657"/>
                </a:cubicBezTo>
                <a:cubicBezTo>
                  <a:pt x="783" y="659"/>
                  <a:pt x="784" y="661"/>
                  <a:pt x="783" y="663"/>
                </a:cubicBezTo>
                <a:cubicBezTo>
                  <a:pt x="779" y="672"/>
                  <a:pt x="766" y="680"/>
                  <a:pt x="757" y="682"/>
                </a:cubicBezTo>
                <a:cubicBezTo>
                  <a:pt x="733" y="694"/>
                  <a:pt x="669" y="689"/>
                  <a:pt x="639" y="691"/>
                </a:cubicBezTo>
                <a:cubicBezTo>
                  <a:pt x="626" y="696"/>
                  <a:pt x="611" y="695"/>
                  <a:pt x="598" y="696"/>
                </a:cubicBezTo>
                <a:cubicBezTo>
                  <a:pt x="598" y="698"/>
                  <a:pt x="590" y="742"/>
                  <a:pt x="606" y="745"/>
                </a:cubicBezTo>
                <a:cubicBezTo>
                  <a:pt x="613" y="748"/>
                  <a:pt x="612" y="754"/>
                  <a:pt x="615" y="760"/>
                </a:cubicBezTo>
                <a:cubicBezTo>
                  <a:pt x="617" y="777"/>
                  <a:pt x="612" y="784"/>
                  <a:pt x="607" y="799"/>
                </a:cubicBezTo>
                <a:cubicBezTo>
                  <a:pt x="583" y="798"/>
                  <a:pt x="568" y="802"/>
                  <a:pt x="546" y="805"/>
                </a:cubicBezTo>
                <a:cubicBezTo>
                  <a:pt x="534" y="809"/>
                  <a:pt x="520" y="803"/>
                  <a:pt x="508" y="801"/>
                </a:cubicBezTo>
                <a:cubicBezTo>
                  <a:pt x="499" y="794"/>
                  <a:pt x="489" y="791"/>
                  <a:pt x="478" y="789"/>
                </a:cubicBezTo>
                <a:cubicBezTo>
                  <a:pt x="475" y="787"/>
                  <a:pt x="472" y="786"/>
                  <a:pt x="469" y="783"/>
                </a:cubicBezTo>
                <a:cubicBezTo>
                  <a:pt x="466" y="780"/>
                  <a:pt x="462" y="774"/>
                  <a:pt x="462" y="774"/>
                </a:cubicBezTo>
                <a:cubicBezTo>
                  <a:pt x="464" y="765"/>
                  <a:pt x="482" y="766"/>
                  <a:pt x="490" y="765"/>
                </a:cubicBezTo>
                <a:cubicBezTo>
                  <a:pt x="495" y="764"/>
                  <a:pt x="500" y="765"/>
                  <a:pt x="504" y="762"/>
                </a:cubicBezTo>
                <a:cubicBezTo>
                  <a:pt x="514" y="754"/>
                  <a:pt x="495" y="759"/>
                  <a:pt x="510" y="756"/>
                </a:cubicBezTo>
                <a:cubicBezTo>
                  <a:pt x="518" y="752"/>
                  <a:pt x="527" y="742"/>
                  <a:pt x="531" y="733"/>
                </a:cubicBezTo>
                <a:cubicBezTo>
                  <a:pt x="537" y="695"/>
                  <a:pt x="536" y="663"/>
                  <a:pt x="496" y="660"/>
                </a:cubicBezTo>
                <a:cubicBezTo>
                  <a:pt x="487" y="653"/>
                  <a:pt x="482" y="654"/>
                  <a:pt x="469" y="652"/>
                </a:cubicBezTo>
                <a:cubicBezTo>
                  <a:pt x="459" y="653"/>
                  <a:pt x="432" y="647"/>
                  <a:pt x="424" y="660"/>
                </a:cubicBezTo>
                <a:cubicBezTo>
                  <a:pt x="422" y="671"/>
                  <a:pt x="411" y="690"/>
                  <a:pt x="402" y="697"/>
                </a:cubicBezTo>
                <a:cubicBezTo>
                  <a:pt x="390" y="717"/>
                  <a:pt x="373" y="732"/>
                  <a:pt x="357" y="748"/>
                </a:cubicBezTo>
                <a:cubicBezTo>
                  <a:pt x="351" y="754"/>
                  <a:pt x="342" y="764"/>
                  <a:pt x="334" y="766"/>
                </a:cubicBezTo>
                <a:cubicBezTo>
                  <a:pt x="329" y="769"/>
                  <a:pt x="323" y="768"/>
                  <a:pt x="318" y="771"/>
                </a:cubicBezTo>
                <a:cubicBezTo>
                  <a:pt x="269" y="770"/>
                  <a:pt x="256" y="766"/>
                  <a:pt x="219" y="762"/>
                </a:cubicBezTo>
                <a:cubicBezTo>
                  <a:pt x="214" y="760"/>
                  <a:pt x="211" y="757"/>
                  <a:pt x="205" y="756"/>
                </a:cubicBezTo>
                <a:cubicBezTo>
                  <a:pt x="197" y="752"/>
                  <a:pt x="189" y="747"/>
                  <a:pt x="181" y="742"/>
                </a:cubicBezTo>
                <a:cubicBezTo>
                  <a:pt x="175" y="734"/>
                  <a:pt x="163" y="727"/>
                  <a:pt x="156" y="720"/>
                </a:cubicBezTo>
                <a:cubicBezTo>
                  <a:pt x="153" y="717"/>
                  <a:pt x="145" y="711"/>
                  <a:pt x="145" y="711"/>
                </a:cubicBezTo>
                <a:cubicBezTo>
                  <a:pt x="143" y="703"/>
                  <a:pt x="121" y="674"/>
                  <a:pt x="114" y="669"/>
                </a:cubicBezTo>
                <a:cubicBezTo>
                  <a:pt x="111" y="662"/>
                  <a:pt x="109" y="659"/>
                  <a:pt x="103" y="655"/>
                </a:cubicBezTo>
                <a:cubicBezTo>
                  <a:pt x="99" y="634"/>
                  <a:pt x="106" y="664"/>
                  <a:pt x="97" y="645"/>
                </a:cubicBezTo>
                <a:cubicBezTo>
                  <a:pt x="92" y="634"/>
                  <a:pt x="96" y="620"/>
                  <a:pt x="91" y="609"/>
                </a:cubicBezTo>
                <a:cubicBezTo>
                  <a:pt x="90" y="602"/>
                  <a:pt x="88" y="594"/>
                  <a:pt x="85" y="588"/>
                </a:cubicBezTo>
                <a:cubicBezTo>
                  <a:pt x="82" y="552"/>
                  <a:pt x="85" y="518"/>
                  <a:pt x="93" y="483"/>
                </a:cubicBezTo>
                <a:cubicBezTo>
                  <a:pt x="90" y="465"/>
                  <a:pt x="83" y="463"/>
                  <a:pt x="66" y="460"/>
                </a:cubicBezTo>
                <a:cubicBezTo>
                  <a:pt x="57" y="455"/>
                  <a:pt x="47" y="449"/>
                  <a:pt x="37" y="445"/>
                </a:cubicBezTo>
                <a:cubicBezTo>
                  <a:pt x="32" y="438"/>
                  <a:pt x="27" y="431"/>
                  <a:pt x="19" y="426"/>
                </a:cubicBezTo>
                <a:cubicBezTo>
                  <a:pt x="14" y="417"/>
                  <a:pt x="12" y="408"/>
                  <a:pt x="6" y="400"/>
                </a:cubicBezTo>
                <a:cubicBezTo>
                  <a:pt x="4" y="394"/>
                  <a:pt x="1" y="391"/>
                  <a:pt x="0" y="385"/>
                </a:cubicBezTo>
                <a:cubicBezTo>
                  <a:pt x="1" y="378"/>
                  <a:pt x="2" y="376"/>
                  <a:pt x="9" y="373"/>
                </a:cubicBezTo>
                <a:cubicBezTo>
                  <a:pt x="20" y="358"/>
                  <a:pt x="70" y="364"/>
                  <a:pt x="73" y="364"/>
                </a:cubicBezTo>
                <a:cubicBezTo>
                  <a:pt x="91" y="362"/>
                  <a:pt x="82" y="360"/>
                  <a:pt x="93" y="351"/>
                </a:cubicBezTo>
                <a:cubicBezTo>
                  <a:pt x="97" y="324"/>
                  <a:pt x="103" y="294"/>
                  <a:pt x="91" y="270"/>
                </a:cubicBezTo>
                <a:cubicBezTo>
                  <a:pt x="90" y="264"/>
                  <a:pt x="89" y="262"/>
                  <a:pt x="84" y="258"/>
                </a:cubicBezTo>
                <a:cubicBezTo>
                  <a:pt x="83" y="228"/>
                  <a:pt x="82" y="198"/>
                  <a:pt x="82" y="168"/>
                </a:cubicBezTo>
                <a:cubicBezTo>
                  <a:pt x="82" y="157"/>
                  <a:pt x="81" y="143"/>
                  <a:pt x="93" y="141"/>
                </a:cubicBezTo>
                <a:cubicBezTo>
                  <a:pt x="94" y="134"/>
                  <a:pt x="95" y="132"/>
                  <a:pt x="102" y="133"/>
                </a:cubicBezTo>
                <a:cubicBezTo>
                  <a:pt x="100" y="143"/>
                  <a:pt x="101" y="145"/>
                  <a:pt x="99" y="138"/>
                </a:cubicBezTo>
                <a:close/>
              </a:path>
            </a:pathLst>
          </a:custGeom>
          <a:noFill/>
          <a:ln w="317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3401" name="AutoShape 9"/>
          <p:cNvSpPr>
            <a:spLocks noChangeArrowheads="1"/>
          </p:cNvSpPr>
          <p:nvPr/>
        </p:nvSpPr>
        <p:spPr bwMode="auto">
          <a:xfrm>
            <a:off x="3298825" y="5313363"/>
            <a:ext cx="487363" cy="488950"/>
          </a:xfrm>
          <a:prstGeom prst="plus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3402" name="AutoShape 10"/>
          <p:cNvSpPr>
            <a:spLocks noChangeArrowheads="1"/>
          </p:cNvSpPr>
          <p:nvPr/>
        </p:nvSpPr>
        <p:spPr bwMode="auto">
          <a:xfrm>
            <a:off x="5899150" y="5313363"/>
            <a:ext cx="487363" cy="488950"/>
          </a:xfrm>
          <a:prstGeom prst="plus">
            <a:avLst>
              <a:gd name="adj" fmla="val 25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3403" name="AutoShape 11"/>
          <p:cNvSpPr>
            <a:spLocks noChangeArrowheads="1"/>
          </p:cNvSpPr>
          <p:nvPr/>
        </p:nvSpPr>
        <p:spPr bwMode="auto">
          <a:xfrm>
            <a:off x="2973388" y="4014788"/>
            <a:ext cx="487362" cy="487362"/>
          </a:xfrm>
          <a:prstGeom prst="plus">
            <a:avLst>
              <a:gd name="adj" fmla="val 25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3404" name="AutoShape 12"/>
          <p:cNvSpPr>
            <a:spLocks noChangeArrowheads="1"/>
          </p:cNvSpPr>
          <p:nvPr/>
        </p:nvSpPr>
        <p:spPr bwMode="auto">
          <a:xfrm>
            <a:off x="5573713" y="3851275"/>
            <a:ext cx="487362" cy="487363"/>
          </a:xfrm>
          <a:prstGeom prst="plus">
            <a:avLst>
              <a:gd name="adj" fmla="val 25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3405" name="AutoShape 13"/>
          <p:cNvSpPr>
            <a:spLocks noChangeArrowheads="1"/>
          </p:cNvSpPr>
          <p:nvPr/>
        </p:nvSpPr>
        <p:spPr bwMode="auto">
          <a:xfrm>
            <a:off x="4435475" y="4989513"/>
            <a:ext cx="487363" cy="487362"/>
          </a:xfrm>
          <a:prstGeom prst="plus">
            <a:avLst>
              <a:gd name="adj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66572" name="Title 15"/>
          <p:cNvSpPr>
            <a:spLocks noGrp="1"/>
          </p:cNvSpPr>
          <p:nvPr>
            <p:ph type="title"/>
          </p:nvPr>
        </p:nvSpPr>
        <p:spPr>
          <a:xfrm>
            <a:off x="1293812" y="134642"/>
            <a:ext cx="6934200" cy="7159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Recognition task and supervision</a:t>
            </a:r>
          </a:p>
        </p:txBody>
      </p:sp>
    </p:spTree>
    <p:extLst>
      <p:ext uri="{BB962C8B-B14F-4D97-AF65-F5344CB8AC3E}">
        <p14:creationId xmlns:p14="http://schemas.microsoft.com/office/powerpoint/2010/main" val="306883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7" grpId="0"/>
      <p:bldP spid="443398" grpId="0" animBg="1"/>
      <p:bldP spid="443401" grpId="0" animBg="1"/>
      <p:bldP spid="443402" grpId="0" animBg="1"/>
      <p:bldP spid="443403" grpId="0" animBg="1"/>
      <p:bldP spid="443404" grpId="0" animBg="1"/>
      <p:bldP spid="44340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graphicFrame>
        <p:nvGraphicFramePr>
          <p:cNvPr id="6861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09588" y="304800"/>
          <a:ext cx="8177212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1733333" imgH="7326984" progId="">
                  <p:embed/>
                </p:oleObj>
              </mc:Choice>
              <mc:Fallback>
                <p:oleObj name="Image" r:id="rId3" imgW="11733333" imgH="7326984" progId="">
                  <p:embed/>
                  <p:pic>
                    <p:nvPicPr>
                      <p:cNvPr id="686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04800"/>
                        <a:ext cx="8177212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Text Box 7"/>
          <p:cNvSpPr txBox="1">
            <a:spLocks noChangeArrowheads="1"/>
          </p:cNvSpPr>
          <p:nvPr/>
        </p:nvSpPr>
        <p:spPr bwMode="auto">
          <a:xfrm>
            <a:off x="1279525" y="5218113"/>
            <a:ext cx="158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Unsupervised</a:t>
            </a:r>
          </a:p>
        </p:txBody>
      </p:sp>
      <p:sp>
        <p:nvSpPr>
          <p:cNvPr id="68613" name="Text Box 8"/>
          <p:cNvSpPr txBox="1">
            <a:spLocks noChangeArrowheads="1"/>
          </p:cNvSpPr>
          <p:nvPr/>
        </p:nvSpPr>
        <p:spPr bwMode="auto">
          <a:xfrm>
            <a:off x="3505200" y="5195888"/>
            <a:ext cx="225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“Weakly” supervised</a:t>
            </a:r>
          </a:p>
        </p:txBody>
      </p:sp>
      <p:sp>
        <p:nvSpPr>
          <p:cNvPr id="68614" name="Text Box 9"/>
          <p:cNvSpPr txBox="1">
            <a:spLocks noChangeArrowheads="1"/>
          </p:cNvSpPr>
          <p:nvPr/>
        </p:nvSpPr>
        <p:spPr bwMode="auto">
          <a:xfrm>
            <a:off x="6378575" y="5181600"/>
            <a:ext cx="185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Fully supervised</a:t>
            </a:r>
          </a:p>
        </p:txBody>
      </p:sp>
      <p:sp>
        <p:nvSpPr>
          <p:cNvPr id="727050" name="AutoShape 10"/>
          <p:cNvSpPr>
            <a:spLocks/>
          </p:cNvSpPr>
          <p:nvPr/>
        </p:nvSpPr>
        <p:spPr bwMode="auto">
          <a:xfrm rot="5400000">
            <a:off x="5715000" y="3810000"/>
            <a:ext cx="381000" cy="4038600"/>
          </a:xfrm>
          <a:prstGeom prst="rightBrace">
            <a:avLst>
              <a:gd name="adj1" fmla="val 8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727051" name="Text Box 11"/>
          <p:cNvSpPr txBox="1">
            <a:spLocks noChangeArrowheads="1"/>
          </p:cNvSpPr>
          <p:nvPr/>
        </p:nvSpPr>
        <p:spPr bwMode="auto">
          <a:xfrm>
            <a:off x="4495800" y="6056313"/>
            <a:ext cx="287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Definition depends on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62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50" grpId="0" animBg="1"/>
      <p:bldP spid="72705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930275" y="76200"/>
            <a:ext cx="8229600" cy="868363"/>
          </a:xfrm>
        </p:spPr>
        <p:txBody>
          <a:bodyPr/>
          <a:lstStyle/>
          <a:p>
            <a:r>
              <a:rPr lang="en-US" altLang="en-US"/>
              <a:t>Generalization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854075" y="5486400"/>
            <a:ext cx="8458200" cy="91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How well does a learned model generalize from the data it was trained on to a new test set?</a:t>
            </a:r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1066800"/>
            <a:ext cx="42291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1066800"/>
            <a:ext cx="609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Box 6"/>
          <p:cNvSpPr txBox="1">
            <a:spLocks noChangeArrowheads="1"/>
          </p:cNvSpPr>
          <p:nvPr/>
        </p:nvSpPr>
        <p:spPr bwMode="auto">
          <a:xfrm>
            <a:off x="2301875" y="4724400"/>
            <a:ext cx="2933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Training set (labels known)</a:t>
            </a:r>
          </a:p>
        </p:txBody>
      </p:sp>
      <p:sp>
        <p:nvSpPr>
          <p:cNvPr id="70663" name="TextBox 7"/>
          <p:cNvSpPr txBox="1">
            <a:spLocks noChangeArrowheads="1"/>
          </p:cNvSpPr>
          <p:nvPr/>
        </p:nvSpPr>
        <p:spPr bwMode="auto">
          <a:xfrm>
            <a:off x="6418263" y="4724400"/>
            <a:ext cx="2665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Test set (labels unknown)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8275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561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4"/>
          <p:cNvSpPr>
            <a:spLocks noGrp="1"/>
          </p:cNvSpPr>
          <p:nvPr>
            <p:ph type="title"/>
          </p:nvPr>
        </p:nvSpPr>
        <p:spPr>
          <a:xfrm>
            <a:off x="1082675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Generalization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idx="1"/>
          </p:nvPr>
        </p:nvSpPr>
        <p:spPr>
          <a:xfrm>
            <a:off x="1082675" y="838200"/>
            <a:ext cx="8305800" cy="5287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Components of generalization error </a:t>
            </a:r>
          </a:p>
          <a:p>
            <a:pPr lvl="1" eaLnBrk="1" hangingPunct="1"/>
            <a:r>
              <a:rPr lang="en-US" altLang="en-US" sz="2000" b="1"/>
              <a:t>Bias:</a:t>
            </a:r>
            <a:r>
              <a:rPr lang="en-US" altLang="en-US" sz="2000"/>
              <a:t> how much the average model over all training sets differ from the true model?</a:t>
            </a:r>
          </a:p>
          <a:p>
            <a:pPr lvl="2" eaLnBrk="1" hangingPunct="1"/>
            <a:r>
              <a:rPr lang="en-US" altLang="en-US" sz="2000"/>
              <a:t>Error due to inaccurate assumptions/simplifications made by the model</a:t>
            </a:r>
          </a:p>
          <a:p>
            <a:pPr lvl="1" eaLnBrk="1" hangingPunct="1"/>
            <a:r>
              <a:rPr lang="en-US" altLang="en-US" sz="2000" b="1"/>
              <a:t>Variance:</a:t>
            </a:r>
            <a:r>
              <a:rPr lang="en-US" altLang="en-US" sz="2000"/>
              <a:t> how much models estimated from different training sets differ from each other</a:t>
            </a:r>
          </a:p>
          <a:p>
            <a:pPr eaLnBrk="1" hangingPunct="1"/>
            <a:r>
              <a:rPr lang="en-US" altLang="en-US" sz="2400" b="1"/>
              <a:t>Underfitting:</a:t>
            </a:r>
            <a:r>
              <a:rPr lang="en-US" altLang="en-US" sz="2400"/>
              <a:t> model is too “simple” to represent all the relevant class characteristics</a:t>
            </a:r>
          </a:p>
          <a:p>
            <a:pPr lvl="1" eaLnBrk="1" hangingPunct="1"/>
            <a:r>
              <a:rPr lang="en-US" altLang="en-US" sz="2000"/>
              <a:t>High bias and low variance</a:t>
            </a:r>
          </a:p>
          <a:p>
            <a:pPr lvl="1" eaLnBrk="1" hangingPunct="1"/>
            <a:r>
              <a:rPr lang="en-US" altLang="en-US" sz="2000"/>
              <a:t>High training error and high test error</a:t>
            </a:r>
          </a:p>
          <a:p>
            <a:pPr eaLnBrk="1" hangingPunct="1"/>
            <a:r>
              <a:rPr lang="en-US" altLang="en-US" sz="2400" b="1"/>
              <a:t>Overfitting:</a:t>
            </a:r>
            <a:r>
              <a:rPr lang="en-US" altLang="en-US" sz="2400"/>
              <a:t> model is too “complex” and fits irrelevant characteristics (noise) in the data</a:t>
            </a:r>
          </a:p>
          <a:p>
            <a:pPr lvl="1" eaLnBrk="1" hangingPunct="1"/>
            <a:r>
              <a:rPr lang="en-US" altLang="en-US" sz="2000"/>
              <a:t>Low bias and high variance</a:t>
            </a:r>
          </a:p>
          <a:p>
            <a:pPr lvl="1" eaLnBrk="1" hangingPunct="1"/>
            <a:r>
              <a:rPr lang="en-US" altLang="en-US" sz="2000"/>
              <a:t>Low training error and high test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40675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  <a:latin typeface="Arial" charset="0"/>
                <a:cs typeface="+mn-cs"/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25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Current Machine Learning Research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Representation</a:t>
            </a:r>
          </a:p>
          <a:p>
            <a:pPr lvl="1"/>
            <a:r>
              <a:rPr lang="en-US" altLang="en-US" sz="2000"/>
              <a:t>data sequences</a:t>
            </a:r>
          </a:p>
          <a:p>
            <a:pPr lvl="1"/>
            <a:r>
              <a:rPr lang="en-US" altLang="en-US" sz="2000"/>
              <a:t>spatial/temporal data</a:t>
            </a:r>
          </a:p>
          <a:p>
            <a:pPr lvl="1"/>
            <a:r>
              <a:rPr lang="en-US" altLang="en-US" sz="2000"/>
              <a:t>probabilistic relational models</a:t>
            </a:r>
          </a:p>
          <a:p>
            <a:pPr lvl="1"/>
            <a:r>
              <a:rPr lang="en-US" altLang="en-US" sz="2000"/>
              <a:t>…</a:t>
            </a:r>
          </a:p>
          <a:p>
            <a:r>
              <a:rPr lang="en-US" altLang="en-US" sz="2400"/>
              <a:t>Approaches</a:t>
            </a:r>
          </a:p>
          <a:p>
            <a:pPr lvl="1"/>
            <a:r>
              <a:rPr lang="en-US" altLang="en-US" sz="2000"/>
              <a:t>ensemble methods</a:t>
            </a:r>
          </a:p>
          <a:p>
            <a:pPr lvl="1"/>
            <a:r>
              <a:rPr lang="en-US" altLang="en-US" sz="2000"/>
              <a:t>cost-sensitive learning</a:t>
            </a:r>
          </a:p>
          <a:p>
            <a:pPr lvl="1"/>
            <a:r>
              <a:rPr lang="en-US" altLang="en-US" sz="2000"/>
              <a:t>active learning</a:t>
            </a:r>
          </a:p>
          <a:p>
            <a:pPr lvl="1"/>
            <a:r>
              <a:rPr lang="en-US" altLang="en-US" sz="2000"/>
              <a:t>semi-supervised learning</a:t>
            </a:r>
          </a:p>
          <a:p>
            <a:pPr lvl="1"/>
            <a:r>
              <a:rPr lang="en-US" altLang="en-US" sz="2000"/>
              <a:t>collective classification</a:t>
            </a:r>
          </a:p>
          <a:p>
            <a:pPr lvl="1"/>
            <a:r>
              <a:rPr lang="en-US" altLang="en-US" sz="200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11371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5 startup companies that use machine learning, and tell us why it is interesting</a:t>
            </a:r>
          </a:p>
          <a:p>
            <a:r>
              <a:rPr lang="en-US" dirty="0" err="1"/>
              <a:t>Techcrunch.com</a:t>
            </a:r>
            <a:endParaRPr lang="en-US" dirty="0"/>
          </a:p>
          <a:p>
            <a:r>
              <a:rPr lang="en-US" dirty="0" err="1"/>
              <a:t>Crunchbase.com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13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Resources: Datasets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F4C409-C017-451C-B236-E185BBA6E0E4}" type="slidenum">
              <a:rPr lang="tr-TR" smtClean="0"/>
              <a:pPr/>
              <a:t>47</a:t>
            </a:fld>
            <a:endParaRPr lang="tr-TR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UCI Repository: </a:t>
            </a:r>
            <a:r>
              <a:rPr lang="tr-TR" sz="2000" dirty="0">
                <a:solidFill>
                  <a:srgbClr val="3333FF"/>
                </a:solidFill>
                <a:hlinkClick r:id="rId2"/>
              </a:rPr>
              <a:t>http://www.ics.uci.edu/~mlearn/MLRepository.html</a:t>
            </a:r>
            <a:endParaRPr lang="tr-TR" sz="2000" dirty="0">
              <a:solidFill>
                <a:srgbClr val="3333FF"/>
              </a:solidFill>
            </a:endParaRPr>
          </a:p>
          <a:p>
            <a:r>
              <a:rPr lang="tr-TR" dirty="0"/>
              <a:t>Statlib: </a:t>
            </a:r>
            <a:r>
              <a:rPr lang="tr-TR" sz="2000" dirty="0">
                <a:hlinkClick r:id="rId3"/>
              </a:rPr>
              <a:t>http://lib.stat.cmu.edu/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415340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Resources: Journals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F4C409-C017-451C-B236-E185BBA6E0E4}" type="slidenum">
              <a:rPr lang="tr-TR" smtClean="0"/>
              <a:pPr/>
              <a:t>48</a:t>
            </a:fld>
            <a:endParaRPr lang="tr-TR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Journal of Machine Learning Research </a:t>
            </a:r>
            <a:r>
              <a:rPr lang="tr-TR" dirty="0">
                <a:hlinkClick r:id="rId2"/>
              </a:rPr>
              <a:t>www.jmlr.org</a:t>
            </a:r>
            <a:endParaRPr lang="tr-TR" dirty="0"/>
          </a:p>
          <a:p>
            <a:r>
              <a:rPr lang="tr-TR" dirty="0"/>
              <a:t>Machine Learning </a:t>
            </a:r>
          </a:p>
          <a:p>
            <a:r>
              <a:rPr lang="tr-TR" dirty="0"/>
              <a:t>Neural Computation</a:t>
            </a:r>
          </a:p>
          <a:p>
            <a:r>
              <a:rPr lang="tr-TR" dirty="0"/>
              <a:t>Neural Networks</a:t>
            </a:r>
          </a:p>
          <a:p>
            <a:r>
              <a:rPr lang="tr-TR" dirty="0"/>
              <a:t>IEEE Trans on Neural Networks and Learning Systems</a:t>
            </a:r>
          </a:p>
          <a:p>
            <a:r>
              <a:rPr lang="tr-TR" dirty="0"/>
              <a:t>IEEE Trans on Pattern Analysis and Machine Intelligence</a:t>
            </a:r>
          </a:p>
          <a:p>
            <a:r>
              <a:rPr lang="tr-TR" dirty="0"/>
              <a:t>Journals on Statistics/Data Mining/Signal Processing/Natural Language Processing/Bioinformatics/...</a:t>
            </a:r>
          </a:p>
        </p:txBody>
      </p:sp>
    </p:spTree>
    <p:extLst>
      <p:ext uri="{BB962C8B-B14F-4D97-AF65-F5344CB8AC3E}">
        <p14:creationId xmlns:p14="http://schemas.microsoft.com/office/powerpoint/2010/main" val="29176994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Resources: Conferences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F4C409-C017-451C-B236-E185BBA6E0E4}" type="slidenum">
              <a:rPr lang="tr-TR" smtClean="0"/>
              <a:pPr/>
              <a:t>49</a:t>
            </a:fld>
            <a:endParaRPr lang="tr-TR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/>
              <a:t>International Conference on Learning Representations (ICLR)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CVPR/ICCV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International Conference on Machine Learning (ICML) 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European Conference on Machine Learning (ECML)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Neural Information Processing Systems (NIPS)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Uncertainty in Artificial Intelligence (UAI)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Computational Learning Theory (COLT)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International Conference on Artificial Neural Networks (ICANN) 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International Conference on AI &amp; Statistics (AISTATS)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International Conference on Pattern Recognition (ICPR)</a:t>
            </a:r>
          </a:p>
          <a:p>
            <a:pPr>
              <a:lnSpc>
                <a:spcPct val="80000"/>
              </a:lnSpc>
            </a:pPr>
            <a:r>
              <a:rPr lang="tr-TR" sz="24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17164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9009</TotalTime>
  <Words>1978</Words>
  <Application>Microsoft Macintosh PowerPoint</Application>
  <PresentationFormat>On-screen Show (4:3)</PresentationFormat>
  <Paragraphs>449</Paragraphs>
  <Slides>49</Slides>
  <Notes>15</Notes>
  <HiddenSlides>0</HiddenSlides>
  <MMClips>1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宋体</vt:lpstr>
      <vt:lpstr>Times</vt:lpstr>
      <vt:lpstr>Arial</vt:lpstr>
      <vt:lpstr>Calibri</vt:lpstr>
      <vt:lpstr>Gill Sans MT</vt:lpstr>
      <vt:lpstr>Lucida Bright</vt:lpstr>
      <vt:lpstr>Roboto</vt:lpstr>
      <vt:lpstr>Symbol</vt:lpstr>
      <vt:lpstr>Verdana</vt:lpstr>
      <vt:lpstr>Wingdings</vt:lpstr>
      <vt:lpstr>Wingdings 2</vt:lpstr>
      <vt:lpstr>Solstice</vt:lpstr>
      <vt:lpstr>Image</vt:lpstr>
      <vt:lpstr>CSCE883 Machine Learning</vt:lpstr>
      <vt:lpstr>About Hu</vt:lpstr>
      <vt:lpstr>Objectives of CSCE883</vt:lpstr>
      <vt:lpstr>Syllabus</vt:lpstr>
      <vt:lpstr>The deep learning revolution</vt:lpstr>
      <vt:lpstr>The AI revolution:  The Big Picture</vt:lpstr>
      <vt:lpstr>What is Deep Learning?</vt:lpstr>
      <vt:lpstr>How it works: CNN+Backpropagation Algorithm</vt:lpstr>
      <vt:lpstr>Breakthroughs by Deep Learning</vt:lpstr>
      <vt:lpstr>AI in China startups</vt:lpstr>
      <vt:lpstr>AI companies</vt:lpstr>
      <vt:lpstr>US startups</vt:lpstr>
      <vt:lpstr>Keywords in AI/Computer Vision</vt:lpstr>
      <vt:lpstr>What is Learning?</vt:lpstr>
      <vt:lpstr>How human/animal learns?</vt:lpstr>
      <vt:lpstr>So What Is Machine Learning?</vt:lpstr>
      <vt:lpstr>Why Machine Learning?</vt:lpstr>
      <vt:lpstr>Related Fields</vt:lpstr>
      <vt:lpstr>Types of Learning</vt:lpstr>
      <vt:lpstr>Inductive Learning</vt:lpstr>
      <vt:lpstr>PowerPoint Presentation</vt:lpstr>
      <vt:lpstr>Classification: Applications</vt:lpstr>
      <vt:lpstr>Face Recognition</vt:lpstr>
      <vt:lpstr>Regression</vt:lpstr>
      <vt:lpstr>PowerPoint Presentation</vt:lpstr>
      <vt:lpstr>Magic? </vt:lpstr>
      <vt:lpstr>Sample Applications</vt:lpstr>
      <vt:lpstr>ML in a Nutshell</vt:lpstr>
      <vt:lpstr>Representation</vt:lpstr>
      <vt:lpstr>Evaluation</vt:lpstr>
      <vt:lpstr>Optimization</vt:lpstr>
      <vt:lpstr>What We’ll Cover</vt:lpstr>
      <vt:lpstr>ML in Practice</vt:lpstr>
      <vt:lpstr>The machine learning framework</vt:lpstr>
      <vt:lpstr>The machine learning framework</vt:lpstr>
      <vt:lpstr>Steps</vt:lpstr>
      <vt:lpstr>Features</vt:lpstr>
      <vt:lpstr>Classifiers: Nearest neighbor</vt:lpstr>
      <vt:lpstr>Classifiers: Linear</vt:lpstr>
      <vt:lpstr>Many classifiers to choose from</vt:lpstr>
      <vt:lpstr>Recognition task and supervision</vt:lpstr>
      <vt:lpstr>PowerPoint Presentation</vt:lpstr>
      <vt:lpstr>Generalization</vt:lpstr>
      <vt:lpstr>Generalization</vt:lpstr>
      <vt:lpstr>Current Machine Learning Research</vt:lpstr>
      <vt:lpstr>Take home homework</vt:lpstr>
      <vt:lpstr>Resources: Datasets</vt:lpstr>
      <vt:lpstr>Resources: Journals</vt:lpstr>
      <vt:lpstr>Resources: Conferences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109</cp:revision>
  <dcterms:created xsi:type="dcterms:W3CDTF">2016-01-10T23:57:09Z</dcterms:created>
  <dcterms:modified xsi:type="dcterms:W3CDTF">2026-08-18T16:39:40Z</dcterms:modified>
</cp:coreProperties>
</file>