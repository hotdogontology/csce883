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handoutMasterIdLst>
    <p:handoutMasterId r:id="rId52"/>
  </p:handoutMasterIdLst>
  <p:sldIdLst>
    <p:sldId id="256" r:id="rId2"/>
    <p:sldId id="409" r:id="rId3"/>
    <p:sldId id="410" r:id="rId4"/>
    <p:sldId id="411" r:id="rId5"/>
    <p:sldId id="412" r:id="rId6"/>
    <p:sldId id="413" r:id="rId7"/>
    <p:sldId id="414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425" r:id="rId23"/>
    <p:sldId id="426" r:id="rId24"/>
    <p:sldId id="397" r:id="rId25"/>
    <p:sldId id="398" r:id="rId26"/>
    <p:sldId id="427" r:id="rId27"/>
    <p:sldId id="433" r:id="rId28"/>
    <p:sldId id="434" r:id="rId29"/>
    <p:sldId id="399" r:id="rId30"/>
    <p:sldId id="431" r:id="rId31"/>
    <p:sldId id="432" r:id="rId32"/>
    <p:sldId id="422" r:id="rId33"/>
    <p:sldId id="423" r:id="rId34"/>
    <p:sldId id="435" r:id="rId35"/>
    <p:sldId id="424" r:id="rId36"/>
    <p:sldId id="400" r:id="rId37"/>
    <p:sldId id="401" r:id="rId38"/>
    <p:sldId id="402" r:id="rId39"/>
    <p:sldId id="403" r:id="rId40"/>
    <p:sldId id="404" r:id="rId41"/>
    <p:sldId id="428" r:id="rId42"/>
    <p:sldId id="405" r:id="rId43"/>
    <p:sldId id="406" r:id="rId44"/>
    <p:sldId id="407" r:id="rId45"/>
    <p:sldId id="408" r:id="rId46"/>
    <p:sldId id="326" r:id="rId47"/>
    <p:sldId id="429" r:id="rId48"/>
    <p:sldId id="430" r:id="rId49"/>
    <p:sldId id="354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17" d="100"/>
          <a:sy n="117" d="100"/>
        </p:scale>
        <p:origin x="192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2727"/>
    </p:cViewPr>
  </p:sorterViewPr>
  <p:notesViewPr>
    <p:cSldViewPr>
      <p:cViewPr varScale="1">
        <p:scale>
          <a:sx n="72" d="100"/>
          <a:sy n="72" d="100"/>
        </p:scale>
        <p:origin x="2502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8DDF0-2F1A-4496-8269-66CEE088B180}" type="datetimeFigureOut">
              <a:rPr lang="en-US" smtClean="0"/>
              <a:t>9/19/24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CAF37-003C-47AF-8570-21AA25E6F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17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39702-A297-4D89-83BF-BB47F00D9574}" type="datetimeFigureOut">
              <a:rPr lang="en-US" smtClean="0"/>
              <a:t>9/19/24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3DB24-E602-421D-9DCF-EE074627A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5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FC516D-9CCD-43AB-9661-CFA3F09347C3}" type="slidenum">
              <a:rPr lang="en-GB" altLang="en-US" smtClean="0"/>
              <a:pPr/>
              <a:t>15</a:t>
            </a:fld>
            <a:endParaRPr lang="en-GB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584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FDE97B-8504-429A-A2C7-1E70CC098BB1}" type="slidenum">
              <a:rPr lang="en-GB" altLang="en-US" smtClean="0"/>
              <a:pPr/>
              <a:t>16</a:t>
            </a:fld>
            <a:endParaRPr lang="en-GB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573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C3DB24-E602-421D-9DCF-EE074627AF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52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99C3109D-626F-4B87-B607-773472FB1702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1719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D9C910F-95E2-44E4-84AE-A7A1028AFFDD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2971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2AD2982-C8A2-46B9-B5BF-2CA42BE54529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2473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2010 Introduction to Machine Learning 2e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8125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1E02EA1-D2B5-4355-B372-290AC846D86A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233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B29A02C-F697-497B-BDAB-6F177ED506DB}" type="datetimeFigureOut">
              <a:rPr lang="en-US" smtClean="0"/>
              <a:t>9/19/24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C2368F1-EE48-4505-B4A7-1B24316B652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7.wmf"/><Relationship Id="rId10" Type="http://schemas.openxmlformats.org/officeDocument/2006/relationships/image" Target="../media/image20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the-best-classification-metric-youve-never-heard-of-the-matthews-correlation-coefficient-3bf50a2f3e9a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859302"/>
          </a:xfrm>
        </p:spPr>
        <p:txBody>
          <a:bodyPr/>
          <a:lstStyle/>
          <a:p>
            <a:r>
              <a:rPr lang="en-US" dirty="0"/>
              <a:t>CSCE</a:t>
            </a:r>
            <a:r>
              <a:rPr lang="en-US" altLang="zh-CN" dirty="0"/>
              <a:t>883</a:t>
            </a:r>
            <a:r>
              <a:rPr lang="en-US" dirty="0"/>
              <a:t> </a:t>
            </a:r>
            <a:r>
              <a:rPr lang="en-US" altLang="zh-CN" dirty="0"/>
              <a:t>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038600"/>
            <a:ext cx="7406640" cy="2362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Lecture 3  </a:t>
            </a:r>
            <a:r>
              <a:rPr lang="en-US" dirty="0" err="1"/>
              <a:t>Bayes+Evaluation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Jianjun Hu</a:t>
            </a:r>
          </a:p>
          <a:p>
            <a:pPr algn="ctr"/>
            <a:r>
              <a:rPr lang="en-US" dirty="0"/>
              <a:t>Department of Computer Science &amp; Engineering</a:t>
            </a:r>
          </a:p>
          <a:p>
            <a:pPr algn="ctr"/>
            <a:r>
              <a:rPr lang="en-US" dirty="0"/>
              <a:t>University of South Carolina</a:t>
            </a:r>
          </a:p>
        </p:txBody>
      </p:sp>
      <p:pic>
        <p:nvPicPr>
          <p:cNvPr id="11266" name="Picture 2" descr="Image result for university of south carolina 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676400"/>
            <a:ext cx="3578225" cy="201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344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60648"/>
            <a:ext cx="8229600" cy="864096"/>
          </a:xfrm>
        </p:spPr>
        <p:txBody>
          <a:bodyPr>
            <a:normAutofit/>
          </a:bodyPr>
          <a:lstStyle/>
          <a:p>
            <a:r>
              <a:rPr lang="tr-TR" dirty="0"/>
              <a:t>Classification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524000"/>
            <a:ext cx="7643813" cy="3886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tr-TR" dirty="0">
                <a:solidFill>
                  <a:schemeClr val="tx2"/>
                </a:solidFill>
                <a:latin typeface="+mj-lt"/>
              </a:rPr>
              <a:t>Credit scoring: Inputs are income and savings.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tr-TR" dirty="0">
                <a:solidFill>
                  <a:schemeClr val="tx2"/>
                </a:solidFill>
                <a:latin typeface="+mj-lt"/>
              </a:rPr>
              <a:t>		Output is low-risk vs high-risk</a:t>
            </a:r>
          </a:p>
          <a:p>
            <a:pPr>
              <a:lnSpc>
                <a:spcPct val="80000"/>
              </a:lnSpc>
            </a:pPr>
            <a:r>
              <a:rPr lang="tr-TR" dirty="0">
                <a:solidFill>
                  <a:schemeClr val="tx2"/>
                </a:solidFill>
                <a:latin typeface="+mj-lt"/>
              </a:rPr>
              <a:t>Input: 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x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= [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,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baseline="-25000" dirty="0">
                <a:solidFill>
                  <a:schemeClr val="tx2"/>
                </a:solidFill>
                <a:latin typeface="+mj-lt"/>
              </a:rPr>
              <a:t>2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]</a:t>
            </a:r>
            <a:r>
              <a:rPr lang="tr-TR" i="1" baseline="30000" dirty="0">
                <a:solidFill>
                  <a:schemeClr val="tx2"/>
                </a:solidFill>
                <a:latin typeface="+mj-lt"/>
              </a:rPr>
              <a:t>T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,Output: C Î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{0,1}</a:t>
            </a:r>
          </a:p>
          <a:p>
            <a:pPr>
              <a:lnSpc>
                <a:spcPct val="80000"/>
              </a:lnSpc>
            </a:pPr>
            <a:r>
              <a:rPr lang="tr-TR" dirty="0">
                <a:solidFill>
                  <a:schemeClr val="tx2"/>
                </a:solidFill>
                <a:latin typeface="+mj-lt"/>
              </a:rPr>
              <a:t>Prediction: 	</a:t>
            </a:r>
          </a:p>
        </p:txBody>
      </p:sp>
      <p:graphicFrame>
        <p:nvGraphicFramePr>
          <p:cNvPr id="138250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2057400" y="4343400"/>
          <a:ext cx="5994400" cy="230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3320" imgH="1180800" progId="Equation.3">
                  <p:embed/>
                </p:oleObj>
              </mc:Choice>
              <mc:Fallback>
                <p:oleObj name="Equation" r:id="rId2" imgW="3073320" imgH="1180800" progId="Equation.3">
                  <p:embed/>
                  <p:pic>
                    <p:nvPicPr>
                      <p:cNvPr id="1382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343400"/>
                        <a:ext cx="5994400" cy="2303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191573" y="6237288"/>
            <a:ext cx="2133600" cy="457200"/>
          </a:xfrm>
        </p:spPr>
        <p:txBody>
          <a:bodyPr/>
          <a:lstStyle/>
          <a:p>
            <a:fld id="{FC7A9BB6-0795-496E-A2D0-7546A1AF2870}" type="slidenum">
              <a:rPr lang="tr-TR">
                <a:latin typeface="+mj-lt"/>
              </a:rPr>
              <a:pPr/>
              <a:t>2</a:t>
            </a:fld>
            <a:endParaRPr lang="tr-TR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284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Bayes’ Rule</a:t>
            </a:r>
          </a:p>
        </p:txBody>
      </p:sp>
      <p:graphicFrame>
        <p:nvGraphicFramePr>
          <p:cNvPr id="137241" name="Object 2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036888" y="2492375"/>
          <a:ext cx="3284537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19040" progId="Equation.3">
                  <p:embed/>
                </p:oleObj>
              </mc:Choice>
              <mc:Fallback>
                <p:oleObj name="Equation" r:id="rId2" imgW="1409400" imgH="419040" progId="Equation.3">
                  <p:embed/>
                  <p:pic>
                    <p:nvPicPr>
                      <p:cNvPr id="13724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2492375"/>
                        <a:ext cx="3284537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3" name="Object 2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57275" y="4365625"/>
          <a:ext cx="6669088" cy="154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7320" imgH="660240" progId="Equation.3">
                  <p:embed/>
                </p:oleObj>
              </mc:Choice>
              <mc:Fallback>
                <p:oleObj name="Equation" r:id="rId4" imgW="2857320" imgH="660240" progId="Equation.3">
                  <p:embed/>
                  <p:pic>
                    <p:nvPicPr>
                      <p:cNvPr id="13724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4365625"/>
                        <a:ext cx="6669088" cy="1541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 5"/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/>
          </a:bodyPr>
          <a:lstStyle/>
          <a:p>
            <a:fld id="{677507B4-FC13-4347-893B-755CC9BA2349}" type="slidenum">
              <a:rPr lang="tr-TR">
                <a:solidFill>
                  <a:schemeClr val="tx2"/>
                </a:solidFill>
                <a:latin typeface="+mj-lt"/>
              </a:rPr>
              <a:pPr/>
              <a:t>3</a:t>
            </a:fld>
            <a:endParaRPr lang="tr-TR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1476375" y="2060575"/>
            <a:ext cx="1368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tr-TR" sz="2000" i="1">
                <a:solidFill>
                  <a:schemeClr val="tx2"/>
                </a:solidFill>
                <a:latin typeface="+mj-lt"/>
              </a:rPr>
              <a:t>posterior</a:t>
            </a:r>
          </a:p>
        </p:txBody>
      </p:sp>
      <p:cxnSp>
        <p:nvCxnSpPr>
          <p:cNvPr id="137223" name="AutoShape 7"/>
          <p:cNvCxnSpPr>
            <a:cxnSpLocks noChangeShapeType="1"/>
          </p:cNvCxnSpPr>
          <p:nvPr/>
        </p:nvCxnSpPr>
        <p:spPr bwMode="auto">
          <a:xfrm rot="16200000" flipH="1">
            <a:off x="2368550" y="2536825"/>
            <a:ext cx="409575" cy="46672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37224" name="Text Box 8"/>
          <p:cNvSpPr txBox="1">
            <a:spLocks noChangeArrowheads="1"/>
          </p:cNvSpPr>
          <p:nvPr/>
        </p:nvSpPr>
        <p:spPr bwMode="auto">
          <a:xfrm>
            <a:off x="5219700" y="1665288"/>
            <a:ext cx="11780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000" i="1" dirty="0">
                <a:solidFill>
                  <a:schemeClr val="tx2"/>
                </a:solidFill>
                <a:latin typeface="+mj-lt"/>
              </a:rPr>
              <a:t>likelihood</a:t>
            </a:r>
          </a:p>
        </p:txBody>
      </p:sp>
      <p:sp>
        <p:nvSpPr>
          <p:cNvPr id="137225" name="Text Box 9"/>
          <p:cNvSpPr txBox="1">
            <a:spLocks noChangeArrowheads="1"/>
          </p:cNvSpPr>
          <p:nvPr/>
        </p:nvSpPr>
        <p:spPr bwMode="auto">
          <a:xfrm>
            <a:off x="3995738" y="1665288"/>
            <a:ext cx="683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000" i="1">
                <a:solidFill>
                  <a:schemeClr val="tx2"/>
                </a:solidFill>
                <a:latin typeface="+mj-lt"/>
              </a:rPr>
              <a:t>prior</a:t>
            </a:r>
          </a:p>
        </p:txBody>
      </p:sp>
      <p:sp>
        <p:nvSpPr>
          <p:cNvPr id="137226" name="Text Box 10"/>
          <p:cNvSpPr txBox="1">
            <a:spLocks noChangeArrowheads="1"/>
          </p:cNvSpPr>
          <p:nvPr/>
        </p:nvSpPr>
        <p:spPr bwMode="auto">
          <a:xfrm>
            <a:off x="5148263" y="3860800"/>
            <a:ext cx="10903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000" i="1">
                <a:solidFill>
                  <a:schemeClr val="tx2"/>
                </a:solidFill>
                <a:latin typeface="+mj-lt"/>
              </a:rPr>
              <a:t>evidence</a:t>
            </a:r>
          </a:p>
        </p:txBody>
      </p:sp>
      <p:sp>
        <p:nvSpPr>
          <p:cNvPr id="137229" name="Line 13"/>
          <p:cNvSpPr>
            <a:spLocks noChangeShapeType="1"/>
          </p:cNvSpPr>
          <p:nvPr/>
        </p:nvSpPr>
        <p:spPr bwMode="auto">
          <a:xfrm flipH="1" flipV="1">
            <a:off x="5435600" y="3500438"/>
            <a:ext cx="21590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7230" name="Line 14"/>
          <p:cNvSpPr>
            <a:spLocks noChangeShapeType="1"/>
          </p:cNvSpPr>
          <p:nvPr/>
        </p:nvSpPr>
        <p:spPr bwMode="auto">
          <a:xfrm>
            <a:off x="4500563" y="2133600"/>
            <a:ext cx="2159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7231" name="Line 15"/>
          <p:cNvSpPr>
            <a:spLocks noChangeShapeType="1"/>
          </p:cNvSpPr>
          <p:nvPr/>
        </p:nvSpPr>
        <p:spPr bwMode="auto">
          <a:xfrm flipH="1">
            <a:off x="5795963" y="2133600"/>
            <a:ext cx="144462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0" y="360836"/>
            <a:ext cx="141922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8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60648"/>
            <a:ext cx="8229600" cy="867524"/>
          </a:xfrm>
        </p:spPr>
        <p:txBody>
          <a:bodyPr>
            <a:normAutofit/>
          </a:bodyPr>
          <a:lstStyle/>
          <a:p>
            <a:r>
              <a:rPr lang="tr-TR" dirty="0"/>
              <a:t>Bayes’ Rule: </a:t>
            </a:r>
            <a:r>
              <a:rPr lang="tr-TR" i="1" dirty="0"/>
              <a:t>K</a:t>
            </a:r>
            <a:r>
              <a:rPr lang="tr-TR" dirty="0"/>
              <a:t>&gt;2 Classes</a:t>
            </a:r>
          </a:p>
        </p:txBody>
      </p:sp>
      <p:graphicFrame>
        <p:nvGraphicFramePr>
          <p:cNvPr id="139281" name="Object 17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210123" y="1928813"/>
          <a:ext cx="3768725" cy="239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1041120" progId="Equation.3">
                  <p:embed/>
                </p:oleObj>
              </mc:Choice>
              <mc:Fallback>
                <p:oleObj name="Equation" r:id="rId2" imgW="1638000" imgH="1041120" progId="Equation.3">
                  <p:embed/>
                  <p:pic>
                    <p:nvPicPr>
                      <p:cNvPr id="1392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0123" y="1928813"/>
                        <a:ext cx="3768725" cy="2395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85" name="Object 2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00473" y="4484688"/>
          <a:ext cx="4959350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360" imgH="660240" progId="Equation.3">
                  <p:embed/>
                </p:oleObj>
              </mc:Choice>
              <mc:Fallback>
                <p:oleObj name="Equation" r:id="rId4" imgW="2349360" imgH="660240" progId="Equation.3">
                  <p:embed/>
                  <p:pic>
                    <p:nvPicPr>
                      <p:cNvPr id="1392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473" y="4484688"/>
                        <a:ext cx="4959350" cy="139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55848" y="0"/>
            <a:ext cx="0" cy="0"/>
          </a:xfrm>
        </p:spPr>
        <p:txBody>
          <a:bodyPr>
            <a:normAutofit fontScale="25000" lnSpcReduction="20000"/>
          </a:bodyPr>
          <a:lstStyle/>
          <a:p>
            <a:fld id="{55B3E897-6897-4F6B-B827-8D748011E4DF}" type="slidenum">
              <a:rPr lang="tr-TR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94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6235" y="260648"/>
            <a:ext cx="8075240" cy="936104"/>
          </a:xfrm>
        </p:spPr>
        <p:txBody>
          <a:bodyPr>
            <a:normAutofit/>
          </a:bodyPr>
          <a:lstStyle/>
          <a:p>
            <a:r>
              <a:rPr lang="tr-TR" dirty="0"/>
              <a:t>Losses and Risks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31875" y="1919288"/>
            <a:ext cx="7715250" cy="3608388"/>
          </a:xfrm>
        </p:spPr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Actions: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α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 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Loss of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α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when the state is C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k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: λ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ik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Expected risk (Duda and Hart, 1973)</a:t>
            </a:r>
          </a:p>
        </p:txBody>
      </p:sp>
      <p:graphicFrame>
        <p:nvGraphicFramePr>
          <p:cNvPr id="140296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2917825" y="3559175"/>
          <a:ext cx="4381500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600" imgH="660240" progId="Equation.3">
                  <p:embed/>
                </p:oleObj>
              </mc:Choice>
              <mc:Fallback>
                <p:oleObj name="Equation" r:id="rId2" imgW="2298600" imgH="660240" progId="Equation.3">
                  <p:embed/>
                  <p:pic>
                    <p:nvPicPr>
                      <p:cNvPr id="1402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3559175"/>
                        <a:ext cx="4381500" cy="1258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162800" y="6237288"/>
            <a:ext cx="2133600" cy="457200"/>
          </a:xfrm>
        </p:spPr>
        <p:txBody>
          <a:bodyPr/>
          <a:lstStyle/>
          <a:p>
            <a:fld id="{F2B55A17-3ACB-4EBD-84FB-B5DB317F51E3}" type="slidenum">
              <a:rPr lang="tr-TR">
                <a:solidFill>
                  <a:schemeClr val="tx2"/>
                </a:solidFill>
              </a:rPr>
              <a:pPr/>
              <a:t>5</a:t>
            </a:fld>
            <a:endParaRPr lang="tr-TR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52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34616" y="260648"/>
            <a:ext cx="8085584" cy="864096"/>
          </a:xfrm>
        </p:spPr>
        <p:txBody>
          <a:bodyPr>
            <a:normAutofit/>
          </a:bodyPr>
          <a:lstStyle/>
          <a:p>
            <a:r>
              <a:rPr lang="tr-TR" dirty="0"/>
              <a:t>Losses and Risks: 0/1 Loss</a:t>
            </a:r>
          </a:p>
        </p:txBody>
      </p:sp>
      <p:graphicFrame>
        <p:nvGraphicFramePr>
          <p:cNvPr id="141327" name="Object 1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837631" y="1649413"/>
          <a:ext cx="2065338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457200" progId="Equation.3">
                  <p:embed/>
                </p:oleObj>
              </mc:Choice>
              <mc:Fallback>
                <p:oleObj name="Equation" r:id="rId2" imgW="914400" imgH="457200" progId="Equation.3">
                  <p:embed/>
                  <p:pic>
                    <p:nvPicPr>
                      <p:cNvPr id="1413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7631" y="1649413"/>
                        <a:ext cx="2065338" cy="1033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9" name="Object 1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847156" y="2727325"/>
          <a:ext cx="3490913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1015920" progId="Equation.3">
                  <p:embed/>
                </p:oleObj>
              </mc:Choice>
              <mc:Fallback>
                <p:oleObj name="Equation" r:id="rId4" imgW="1460160" imgH="1015920" progId="Equation.3">
                  <p:embed/>
                  <p:pic>
                    <p:nvPicPr>
                      <p:cNvPr id="1413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156" y="2727325"/>
                        <a:ext cx="3490913" cy="2428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523056" y="0"/>
            <a:ext cx="0" cy="0"/>
          </a:xfrm>
        </p:spPr>
        <p:txBody>
          <a:bodyPr>
            <a:normAutofit fontScale="25000" lnSpcReduction="20000"/>
          </a:bodyPr>
          <a:lstStyle/>
          <a:p>
            <a:fld id="{DC89A4EB-B6A0-4D6E-A1AA-1C1C5AB94CC9}" type="slidenum">
              <a:rPr lang="tr-TR"/>
              <a:pPr/>
              <a:t>6</a:t>
            </a:fld>
            <a:endParaRPr lang="tr-TR"/>
          </a:p>
        </p:txBody>
      </p:sp>
      <p:sp>
        <p:nvSpPr>
          <p:cNvPr id="141322" name="Text Box 10"/>
          <p:cNvSpPr txBox="1">
            <a:spLocks noChangeArrowheads="1"/>
          </p:cNvSpPr>
          <p:nvPr/>
        </p:nvSpPr>
        <p:spPr bwMode="auto">
          <a:xfrm>
            <a:off x="1350144" y="5445125"/>
            <a:ext cx="63881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For minimum risk, choose the most probable class</a:t>
            </a:r>
          </a:p>
        </p:txBody>
      </p:sp>
    </p:spTree>
    <p:extLst>
      <p:ext uri="{BB962C8B-B14F-4D97-AF65-F5344CB8AC3E}">
        <p14:creationId xmlns:p14="http://schemas.microsoft.com/office/powerpoint/2010/main" val="2147548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32656"/>
            <a:ext cx="8229600" cy="828660"/>
          </a:xfrm>
        </p:spPr>
        <p:txBody>
          <a:bodyPr/>
          <a:lstStyle/>
          <a:p>
            <a:r>
              <a:rPr lang="tr-TR" dirty="0"/>
              <a:t>Losses and Risks: Reject</a:t>
            </a:r>
            <a:endParaRPr lang="en-GB" dirty="0"/>
          </a:p>
        </p:txBody>
      </p:sp>
      <p:graphicFrame>
        <p:nvGraphicFramePr>
          <p:cNvPr id="195593" name="Object 9"/>
          <p:cNvGraphicFramePr>
            <a:graphicFrameLocks noGrp="1" noChangeAspect="1"/>
          </p:cNvGraphicFramePr>
          <p:nvPr>
            <p:ph sz="half" idx="1"/>
          </p:nvPr>
        </p:nvGraphicFramePr>
        <p:xfrm>
          <a:off x="1737940" y="1698625"/>
          <a:ext cx="3495675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711000" progId="Equation.3">
                  <p:embed/>
                </p:oleObj>
              </mc:Choice>
              <mc:Fallback>
                <p:oleObj name="Equation" r:id="rId2" imgW="1942920" imgH="711000" progId="Equation.3">
                  <p:embed/>
                  <p:pic>
                    <p:nvPicPr>
                      <p:cNvPr id="1955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940" y="1698625"/>
                        <a:ext cx="3495675" cy="1279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5" name="Object 1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69778" y="3068638"/>
          <a:ext cx="4629150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787320" progId="Equation.3">
                  <p:embed/>
                </p:oleObj>
              </mc:Choice>
              <mc:Fallback>
                <p:oleObj name="Equation" r:id="rId4" imgW="2057400" imgH="787320" progId="Equation.3">
                  <p:embed/>
                  <p:pic>
                    <p:nvPicPr>
                      <p:cNvPr id="19559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778" y="3068638"/>
                        <a:ext cx="4629150" cy="177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97" name="Object 1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747465" y="5211763"/>
          <a:ext cx="657383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19440" imgH="431640" progId="Equation.3">
                  <p:embed/>
                </p:oleObj>
              </mc:Choice>
              <mc:Fallback>
                <p:oleObj name="Equation" r:id="rId6" imgW="3619440" imgH="431640" progId="Equation.3">
                  <p:embed/>
                  <p:pic>
                    <p:nvPicPr>
                      <p:cNvPr id="1955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465" y="5211763"/>
                        <a:ext cx="6573838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195765" y="6237288"/>
            <a:ext cx="2133600" cy="457200"/>
          </a:xfrm>
        </p:spPr>
        <p:txBody>
          <a:bodyPr/>
          <a:lstStyle/>
          <a:p>
            <a:fld id="{12EBC060-DC25-4AE6-9E32-CE653105CAC8}" type="slidenum">
              <a:rPr lang="tr-TR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2520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274320"/>
            <a:ext cx="7498080" cy="1143000"/>
          </a:xfrm>
        </p:spPr>
        <p:txBody>
          <a:bodyPr/>
          <a:lstStyle/>
          <a:p>
            <a:r>
              <a:rPr lang="tr-TR" dirty="0"/>
              <a:t>Different Losses and Reject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372600" y="6305550"/>
            <a:ext cx="457200" cy="476250"/>
          </a:xfrm>
        </p:spPr>
        <p:txBody>
          <a:bodyPr>
            <a:normAutofit/>
          </a:bodyPr>
          <a:lstStyle/>
          <a:p>
            <a:fld id="{DEA39193-5921-4115-BC9E-B1007AB57D92}" type="slidenum">
              <a:rPr lang="tr-TR" smtClean="0"/>
              <a:pPr/>
              <a:t>8</a:t>
            </a:fld>
            <a:endParaRPr lang="tr-TR"/>
          </a:p>
        </p:txBody>
      </p:sp>
      <p:pic>
        <p:nvPicPr>
          <p:cNvPr id="429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0712" y="1556792"/>
            <a:ext cx="6273899" cy="5014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10472" y="2060848"/>
            <a:ext cx="1846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Equal losses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8464" y="3717032"/>
            <a:ext cx="222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Unequal losses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480" y="5229200"/>
            <a:ext cx="1658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With reject</a:t>
            </a:r>
          </a:p>
        </p:txBody>
      </p:sp>
    </p:spTree>
    <p:extLst>
      <p:ext uri="{BB962C8B-B14F-4D97-AF65-F5344CB8AC3E}">
        <p14:creationId xmlns:p14="http://schemas.microsoft.com/office/powerpoint/2010/main" val="3001961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045654" y="246943"/>
            <a:ext cx="8157592" cy="828660"/>
          </a:xfrm>
        </p:spPr>
        <p:txBody>
          <a:bodyPr/>
          <a:lstStyle/>
          <a:p>
            <a:r>
              <a:rPr lang="tr-TR" dirty="0"/>
              <a:t>Discriminant Functions</a:t>
            </a:r>
          </a:p>
        </p:txBody>
      </p:sp>
      <p:graphicFrame>
        <p:nvGraphicFramePr>
          <p:cNvPr id="143385" name="Object 2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6731000" y="1628775"/>
          <a:ext cx="193833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203040" progId="Equation.3">
                  <p:embed/>
                </p:oleObj>
              </mc:Choice>
              <mc:Fallback>
                <p:oleObj name="Equation" r:id="rId2" imgW="965160" imgH="203040" progId="Equation.3">
                  <p:embed/>
                  <p:pic>
                    <p:nvPicPr>
                      <p:cNvPr id="14338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1628775"/>
                        <a:ext cx="1938338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87" name="Object 2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43000" y="1332055"/>
          <a:ext cx="39814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320" imgH="203040" progId="Equation.3">
                  <p:embed/>
                </p:oleObj>
              </mc:Choice>
              <mc:Fallback>
                <p:oleObj name="Equation" r:id="rId4" imgW="1930320" imgH="203040" progId="Equation.3">
                  <p:embed/>
                  <p:pic>
                    <p:nvPicPr>
                      <p:cNvPr id="14338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332055"/>
                        <a:ext cx="398145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0" name="Object 3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414462" y="4556452"/>
          <a:ext cx="35607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560" imgH="203040" progId="Equation.3">
                  <p:embed/>
                </p:oleObj>
              </mc:Choice>
              <mc:Fallback>
                <p:oleObj name="Equation" r:id="rId6" imgW="1663560" imgH="203040" progId="Equation.3">
                  <p:embed/>
                  <p:pic>
                    <p:nvPicPr>
                      <p:cNvPr id="14339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2" y="4556452"/>
                        <a:ext cx="3560763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2" name="Object 32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1454150" y="1967055"/>
          <a:ext cx="2640013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711000" progId="Equation.3">
                  <p:embed/>
                </p:oleObj>
              </mc:Choice>
              <mc:Fallback>
                <p:oleObj name="Equation" r:id="rId8" imgW="1307880" imgH="711000" progId="Equation.3">
                  <p:embed/>
                  <p:pic>
                    <p:nvPicPr>
                      <p:cNvPr id="14339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1967055"/>
                        <a:ext cx="2640013" cy="1435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511925" y="6237288"/>
            <a:ext cx="2133600" cy="457200"/>
          </a:xfrm>
        </p:spPr>
        <p:txBody>
          <a:bodyPr/>
          <a:lstStyle/>
          <a:p>
            <a:fld id="{8527197F-4566-49A5-BA65-1BE1B3EB2E8B}" type="slidenum">
              <a:rPr lang="tr-TR"/>
              <a:pPr/>
              <a:t>9</a:t>
            </a:fld>
            <a:endParaRPr lang="tr-TR"/>
          </a:p>
        </p:txBody>
      </p:sp>
      <p:pic>
        <p:nvPicPr>
          <p:cNvPr id="143372" name="Picture 1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567238" y="1989138"/>
            <a:ext cx="4500562" cy="408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3373" name="Line 13"/>
          <p:cNvSpPr>
            <a:spLocks noChangeShapeType="1"/>
          </p:cNvSpPr>
          <p:nvPr/>
        </p:nvSpPr>
        <p:spPr bwMode="auto">
          <a:xfrm flipH="1">
            <a:off x="7519988" y="2060575"/>
            <a:ext cx="2889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43374" name="Line 14"/>
          <p:cNvSpPr>
            <a:spLocks noChangeShapeType="1"/>
          </p:cNvSpPr>
          <p:nvPr/>
        </p:nvSpPr>
        <p:spPr bwMode="auto">
          <a:xfrm>
            <a:off x="7880350" y="2060575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tr-TR"/>
          </a:p>
        </p:txBody>
      </p:sp>
      <p:sp>
        <p:nvSpPr>
          <p:cNvPr id="143389" name="Text Box 29"/>
          <p:cNvSpPr txBox="1">
            <a:spLocks noChangeArrowheads="1"/>
          </p:cNvSpPr>
          <p:nvPr/>
        </p:nvSpPr>
        <p:spPr bwMode="auto">
          <a:xfrm>
            <a:off x="1143000" y="3764290"/>
            <a:ext cx="37000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sz="2400" i="1" dirty="0">
                <a:latin typeface="+mj-lt"/>
              </a:rPr>
              <a:t>K</a:t>
            </a:r>
            <a:r>
              <a:rPr lang="tr-TR" sz="2400" dirty="0">
                <a:latin typeface="+mj-lt"/>
              </a:rPr>
              <a:t> </a:t>
            </a:r>
            <a:r>
              <a:rPr lang="tr-TR" sz="2400" dirty="0">
                <a:solidFill>
                  <a:schemeClr val="accent1"/>
                </a:solidFill>
                <a:latin typeface="+mj-lt"/>
              </a:rPr>
              <a:t>decision regions </a:t>
            </a:r>
            <a:r>
              <a:rPr lang="tr-TR" sz="2400" dirty="0">
                <a:latin typeface="Lucida Calligraphy" pitchFamily="66" charset="0"/>
              </a:rPr>
              <a:t>R</a:t>
            </a:r>
            <a:r>
              <a:rPr lang="tr-TR" sz="2400" baseline="-25000" dirty="0">
                <a:latin typeface="Lucida Bright" pitchFamily="18" charset="0"/>
              </a:rPr>
              <a:t>1</a:t>
            </a:r>
            <a:r>
              <a:rPr lang="tr-TR" sz="2400" dirty="0">
                <a:latin typeface="Lucida Bright" pitchFamily="18" charset="0"/>
              </a:rPr>
              <a:t>,...,</a:t>
            </a:r>
            <a:r>
              <a:rPr lang="tr-TR" sz="2400" dirty="0">
                <a:latin typeface="Lucida Calligraphy" pitchFamily="66" charset="0"/>
              </a:rPr>
              <a:t>R</a:t>
            </a:r>
            <a:r>
              <a:rPr lang="tr-TR" sz="2400" i="1" baseline="-25000" dirty="0">
                <a:latin typeface="Lucida Bright" pitchFamily="18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777563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6235" y="260648"/>
            <a:ext cx="8075240" cy="936104"/>
          </a:xfrm>
        </p:spPr>
        <p:txBody>
          <a:bodyPr>
            <a:normAutofit/>
          </a:bodyPr>
          <a:lstStyle/>
          <a:p>
            <a:r>
              <a:rPr lang="tr-TR" i="1" dirty="0"/>
              <a:t>K</a:t>
            </a:r>
            <a:r>
              <a:rPr lang="tr-TR" dirty="0"/>
              <a:t>=2 Classes</a:t>
            </a:r>
            <a:endParaRPr lang="en-GB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31875" y="1981200"/>
            <a:ext cx="7859713" cy="3968750"/>
          </a:xfrm>
        </p:spPr>
        <p:txBody>
          <a:bodyPr/>
          <a:lstStyle/>
          <a:p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Dichotomizer (</a:t>
            </a:r>
            <a:r>
              <a:rPr lang="tr-TR" sz="28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K</a:t>
            </a:r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=2) vs Polychotomizer (</a:t>
            </a:r>
            <a:r>
              <a:rPr lang="tr-TR" sz="28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K</a:t>
            </a:r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&gt;2)</a:t>
            </a:r>
          </a:p>
          <a:p>
            <a:r>
              <a:rPr lang="tr-TR" sz="28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g</a:t>
            </a:r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tr-TR" sz="2800" b="1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) = </a:t>
            </a:r>
            <a:r>
              <a:rPr lang="tr-TR" sz="28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g</a:t>
            </a:r>
            <a:r>
              <a:rPr lang="tr-TR" sz="2800" baseline="-25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tr-TR" sz="2800" b="1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) – </a:t>
            </a:r>
            <a:r>
              <a:rPr lang="tr-TR" sz="28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g</a:t>
            </a:r>
            <a:r>
              <a:rPr lang="tr-TR" sz="2800" baseline="-25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tr-TR" sz="2800" b="1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endParaRPr lang="tr-TR" sz="28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endParaRPr lang="tr-TR" sz="28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endParaRPr lang="tr-TR" sz="28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tr-TR" sz="28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Log odds:</a:t>
            </a:r>
            <a:r>
              <a:rPr lang="tr-TR" sz="2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endParaRPr lang="en-GB" sz="28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164875" name="Object 1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52763" y="3086100"/>
          <a:ext cx="274637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457200" progId="Equation.3">
                  <p:embed/>
                </p:oleObj>
              </mc:Choice>
              <mc:Fallback>
                <p:oleObj name="Equation" r:id="rId2" imgW="1473120" imgH="457200" progId="Equation.3">
                  <p:embed/>
                  <p:pic>
                    <p:nvPicPr>
                      <p:cNvPr id="1648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3086100"/>
                        <a:ext cx="2746375" cy="852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77" name="Object 1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33725" y="4581526"/>
          <a:ext cx="1724918" cy="994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431640" progId="Equation.3">
                  <p:embed/>
                </p:oleObj>
              </mc:Choice>
              <mc:Fallback>
                <p:oleObj name="Equation" r:id="rId4" imgW="749160" imgH="431640" progId="Equation.3">
                  <p:embed/>
                  <p:pic>
                    <p:nvPicPr>
                      <p:cNvPr id="1648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4581526"/>
                        <a:ext cx="1724918" cy="9942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162800" y="6237288"/>
            <a:ext cx="2133600" cy="457200"/>
          </a:xfrm>
        </p:spPr>
        <p:txBody>
          <a:bodyPr/>
          <a:lstStyle/>
          <a:p>
            <a:fld id="{8D10CBB3-1A3C-4451-952A-321AA564EB22}" type="slidenum">
              <a:rPr lang="tr-TR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5649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62435" y="332656"/>
            <a:ext cx="8075240" cy="739552"/>
          </a:xfrm>
        </p:spPr>
        <p:txBody>
          <a:bodyPr>
            <a:noAutofit/>
          </a:bodyPr>
          <a:lstStyle/>
          <a:p>
            <a:r>
              <a:rPr lang="tr-TR" dirty="0"/>
              <a:t>Utility Theory</a:t>
            </a:r>
            <a:r>
              <a:rPr lang="en-US" dirty="0"/>
              <a:t> </a:t>
            </a:r>
            <a:r>
              <a:rPr lang="en-US" sz="3200" dirty="0"/>
              <a:t>(in Reinforcement </a:t>
            </a:r>
            <a:r>
              <a:rPr lang="en-US" altLang="zh-CN" sz="3200" dirty="0"/>
              <a:t>learning)</a:t>
            </a:r>
            <a:endParaRPr lang="tr-TR" sz="3200" dirty="0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08075" y="1981200"/>
            <a:ext cx="7786688" cy="3968750"/>
          </a:xfrm>
        </p:spPr>
        <p:txBody>
          <a:bodyPr/>
          <a:lstStyle/>
          <a:p>
            <a:r>
              <a:rPr lang="tr-TR" dirty="0">
                <a:solidFill>
                  <a:schemeClr val="tx2"/>
                </a:solidFill>
                <a:latin typeface="+mj-lt"/>
              </a:rPr>
              <a:t>Prob of state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k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given exidence 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: P 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(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S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k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|</a:t>
            </a:r>
            <a:r>
              <a:rPr lang="tr-TR" b="1" i="1" dirty="0">
                <a:solidFill>
                  <a:schemeClr val="tx2"/>
                </a:solidFill>
                <a:latin typeface="+mj-lt"/>
              </a:rPr>
              <a:t>x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)</a:t>
            </a: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Utility of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α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</a:t>
            </a:r>
            <a:r>
              <a:rPr lang="tr-TR" dirty="0">
                <a:solidFill>
                  <a:schemeClr val="tx2"/>
                </a:solidFill>
                <a:latin typeface="+mj-lt"/>
              </a:rPr>
              <a:t> when state is </a:t>
            </a:r>
            <a:r>
              <a:rPr lang="tr-TR" i="1" dirty="0">
                <a:solidFill>
                  <a:schemeClr val="tx2"/>
                </a:solidFill>
                <a:latin typeface="+mj-lt"/>
              </a:rPr>
              <a:t>k: U</a:t>
            </a:r>
            <a:r>
              <a:rPr lang="tr-TR" i="1" baseline="-25000" dirty="0">
                <a:solidFill>
                  <a:schemeClr val="tx2"/>
                </a:solidFill>
                <a:latin typeface="+mj-lt"/>
              </a:rPr>
              <a:t>ik</a:t>
            </a:r>
            <a:endParaRPr lang="tr-TR" i="1" dirty="0">
              <a:solidFill>
                <a:schemeClr val="tx2"/>
              </a:solidFill>
              <a:latin typeface="+mj-lt"/>
            </a:endParaRPr>
          </a:p>
          <a:p>
            <a:r>
              <a:rPr lang="tr-TR" dirty="0">
                <a:solidFill>
                  <a:schemeClr val="tx2"/>
                </a:solidFill>
                <a:latin typeface="+mj-lt"/>
              </a:rPr>
              <a:t>Expected utility:</a:t>
            </a:r>
          </a:p>
        </p:txBody>
      </p:sp>
      <p:graphicFrame>
        <p:nvGraphicFramePr>
          <p:cNvPr id="144394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2286000" y="4255294"/>
          <a:ext cx="48514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634680" progId="Equation.3">
                  <p:embed/>
                </p:oleObj>
              </mc:Choice>
              <mc:Fallback>
                <p:oleObj name="Equation" r:id="rId2" imgW="2514600" imgH="634680" progId="Equation.3">
                  <p:embed/>
                  <p:pic>
                    <p:nvPicPr>
                      <p:cNvPr id="1443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255294"/>
                        <a:ext cx="4851400" cy="1225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239000" y="6237288"/>
            <a:ext cx="2133600" cy="457200"/>
          </a:xfrm>
        </p:spPr>
        <p:txBody>
          <a:bodyPr/>
          <a:lstStyle/>
          <a:p>
            <a:fld id="{7F3220C6-2917-4B35-9280-2B4C30EB3D2E}" type="slidenum">
              <a:rPr lang="tr-TR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7406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/>
              <a:t>Model Selection &amp; Generalization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8D26EC8-C52F-40DA-B769-489166C0D70A}" type="slidenum">
              <a:rPr lang="tr-TR"/>
              <a:pPr/>
              <a:t>12</a:t>
            </a:fld>
            <a:endParaRPr lang="tr-TR"/>
          </a:p>
        </p:txBody>
      </p:sp>
      <p:sp>
        <p:nvSpPr>
          <p:cNvPr id="1249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Learning is an </a:t>
            </a:r>
            <a:r>
              <a:rPr lang="tr-TR" dirty="0">
                <a:solidFill>
                  <a:schemeClr val="accent1"/>
                </a:solidFill>
              </a:rPr>
              <a:t>ill-posed problem</a:t>
            </a:r>
            <a:r>
              <a:rPr lang="tr-TR" dirty="0">
                <a:solidFill>
                  <a:schemeClr val="bg2"/>
                </a:solidFill>
              </a:rPr>
              <a:t>;</a:t>
            </a:r>
            <a:r>
              <a:rPr lang="tr-TR" dirty="0"/>
              <a:t> data is not sufficient to find a unique solution</a:t>
            </a:r>
          </a:p>
          <a:p>
            <a:r>
              <a:rPr lang="tr-TR" dirty="0"/>
              <a:t>The need for </a:t>
            </a:r>
            <a:r>
              <a:rPr lang="tr-TR" dirty="0">
                <a:solidFill>
                  <a:schemeClr val="accent1"/>
                </a:solidFill>
              </a:rPr>
              <a:t>inductive bias</a:t>
            </a:r>
            <a:r>
              <a:rPr lang="tr-TR" dirty="0">
                <a:solidFill>
                  <a:schemeClr val="bg2"/>
                </a:solidFill>
              </a:rPr>
              <a:t>,</a:t>
            </a:r>
            <a:r>
              <a:rPr lang="tr-TR" dirty="0">
                <a:solidFill>
                  <a:schemeClr val="hlink"/>
                </a:solidFill>
              </a:rPr>
              <a:t> </a:t>
            </a:r>
            <a:r>
              <a:rPr lang="tr-TR" dirty="0"/>
              <a:t>assumptions about </a:t>
            </a:r>
            <a:r>
              <a:rPr lang="tr-TR" dirty="0">
                <a:latin typeface="Lucida Calligraphy" pitchFamily="66" charset="0"/>
              </a:rPr>
              <a:t>H</a:t>
            </a:r>
            <a:endParaRPr lang="tr-TR" dirty="0">
              <a:solidFill>
                <a:schemeClr val="hlink"/>
              </a:solidFill>
              <a:latin typeface="Lucida Calligraphy" pitchFamily="66" charset="0"/>
            </a:endParaRPr>
          </a:p>
          <a:p>
            <a:r>
              <a:rPr lang="tr-TR" dirty="0">
                <a:solidFill>
                  <a:schemeClr val="accent1"/>
                </a:solidFill>
              </a:rPr>
              <a:t>Generalization: </a:t>
            </a:r>
            <a:r>
              <a:rPr lang="tr-TR" dirty="0"/>
              <a:t>How well a model performs on new data</a:t>
            </a:r>
          </a:p>
          <a:p>
            <a:r>
              <a:rPr lang="tr-TR" dirty="0"/>
              <a:t>Overfitting: </a:t>
            </a:r>
            <a:r>
              <a:rPr lang="tr-TR" dirty="0">
                <a:latin typeface="Lucida Calligraphy" pitchFamily="66" charset="0"/>
              </a:rPr>
              <a:t>H</a:t>
            </a:r>
            <a:r>
              <a:rPr lang="tr-TR" dirty="0"/>
              <a:t> more complex than </a:t>
            </a:r>
            <a:r>
              <a:rPr lang="tr-TR" i="1" dirty="0"/>
              <a:t>C</a:t>
            </a:r>
            <a:r>
              <a:rPr lang="tr-TR" dirty="0"/>
              <a:t> or </a:t>
            </a:r>
            <a:r>
              <a:rPr lang="tr-TR" i="1" dirty="0"/>
              <a:t>f </a:t>
            </a:r>
          </a:p>
          <a:p>
            <a:r>
              <a:rPr lang="tr-TR" dirty="0"/>
              <a:t>Underfitting: </a:t>
            </a:r>
            <a:r>
              <a:rPr lang="tr-TR" dirty="0">
                <a:latin typeface="Lucida Calligraphy" pitchFamily="66" charset="0"/>
              </a:rPr>
              <a:t>H</a:t>
            </a:r>
            <a:r>
              <a:rPr lang="tr-TR" dirty="0"/>
              <a:t> less complex than </a:t>
            </a:r>
            <a:r>
              <a:rPr lang="tr-TR" i="1" dirty="0"/>
              <a:t>C</a:t>
            </a:r>
            <a:r>
              <a:rPr lang="tr-TR" dirty="0"/>
              <a:t> or </a:t>
            </a:r>
            <a:r>
              <a:rPr lang="tr-TR" i="1" dirty="0"/>
              <a:t>f</a:t>
            </a:r>
            <a:endParaRPr lang="tr-TR" i="1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143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Triple Trade-Off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83AD753-33B0-45DC-B91F-EDFAACD52824}" type="slidenum">
              <a:rPr lang="tr-TR"/>
              <a:pPr/>
              <a:t>13</a:t>
            </a:fld>
            <a:endParaRPr lang="tr-TR"/>
          </a:p>
        </p:txBody>
      </p:sp>
      <p:sp>
        <p:nvSpPr>
          <p:cNvPr id="1259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8313" y="1989138"/>
            <a:ext cx="8229600" cy="3886200"/>
          </a:xfrm>
        </p:spPr>
        <p:txBody>
          <a:bodyPr/>
          <a:lstStyle/>
          <a:p>
            <a:pPr marL="609600" indent="-609600"/>
            <a:r>
              <a:rPr lang="tr-TR"/>
              <a:t>There is a trade-off between three factors (Dietterich, 2003):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tr-TR" sz="2400"/>
              <a:t>Complexity of </a:t>
            </a:r>
            <a:r>
              <a:rPr lang="tr-TR" sz="2400">
                <a:latin typeface="Lucida Calligraphy" pitchFamily="66" charset="0"/>
              </a:rPr>
              <a:t>H</a:t>
            </a:r>
            <a:r>
              <a:rPr lang="tr-TR" sz="2400" i="1"/>
              <a:t>, c </a:t>
            </a:r>
            <a:r>
              <a:rPr lang="tr-TR" sz="2400"/>
              <a:t>(</a:t>
            </a:r>
            <a:r>
              <a:rPr lang="tr-TR" sz="2400">
                <a:latin typeface="Lucida Calligraphy" pitchFamily="66" charset="0"/>
              </a:rPr>
              <a:t>H</a:t>
            </a:r>
            <a:r>
              <a:rPr lang="tr-TR" sz="2400"/>
              <a:t>),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tr-TR" sz="2400"/>
              <a:t>Training set size, </a:t>
            </a:r>
            <a:r>
              <a:rPr lang="tr-TR" sz="2400" i="1"/>
              <a:t>N, </a:t>
            </a:r>
            <a:endParaRPr lang="tr-TR" sz="2400"/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tr-TR" sz="2400"/>
              <a:t>Generalization error, </a:t>
            </a:r>
            <a:r>
              <a:rPr lang="tr-TR" sz="2400" i="1"/>
              <a:t>E</a:t>
            </a:r>
            <a:r>
              <a:rPr lang="tr-TR" sz="2400"/>
              <a:t>, on new data</a:t>
            </a:r>
          </a:p>
          <a:p>
            <a:pPr marL="609600" indent="-609600">
              <a:buFont typeface="Wingdings" pitchFamily="2" charset="2"/>
              <a:buChar char="¨"/>
            </a:pPr>
            <a:r>
              <a:rPr lang="tr-TR"/>
              <a:t>As </a:t>
            </a:r>
            <a:r>
              <a:rPr lang="tr-TR" i="1"/>
              <a:t>N</a:t>
            </a:r>
            <a:r>
              <a:rPr lang="tr-TR">
                <a:latin typeface="Symbol" pitchFamily="18" charset="2"/>
              </a:rPr>
              <a:t>­, </a:t>
            </a:r>
            <a:r>
              <a:rPr lang="tr-TR" i="1"/>
              <a:t>E</a:t>
            </a:r>
            <a:r>
              <a:rPr lang="tr-TR">
                <a:latin typeface="Symbol" pitchFamily="18" charset="2"/>
              </a:rPr>
              <a:t>¯</a:t>
            </a:r>
            <a:endParaRPr lang="tr-TR"/>
          </a:p>
          <a:p>
            <a:pPr marL="609600" indent="-609600">
              <a:buFont typeface="Wingdings" pitchFamily="2" charset="2"/>
              <a:buChar char="¨"/>
            </a:pPr>
            <a:r>
              <a:rPr lang="tr-TR"/>
              <a:t>As </a:t>
            </a:r>
            <a:r>
              <a:rPr lang="tr-TR" i="1"/>
              <a:t>c </a:t>
            </a:r>
            <a:r>
              <a:rPr lang="tr-TR"/>
              <a:t>(</a:t>
            </a:r>
            <a:r>
              <a:rPr lang="tr-TR">
                <a:latin typeface="Lucida Calligraphy" pitchFamily="66" charset="0"/>
              </a:rPr>
              <a:t>H</a:t>
            </a:r>
            <a:r>
              <a:rPr lang="tr-TR"/>
              <a:t>)</a:t>
            </a:r>
            <a:r>
              <a:rPr lang="tr-TR">
                <a:latin typeface="Symbol" pitchFamily="18" charset="2"/>
              </a:rPr>
              <a:t>­, </a:t>
            </a:r>
            <a:r>
              <a:rPr lang="tr-TR"/>
              <a:t>first </a:t>
            </a:r>
            <a:r>
              <a:rPr lang="tr-TR" i="1"/>
              <a:t>E</a:t>
            </a:r>
            <a:r>
              <a:rPr lang="tr-TR">
                <a:latin typeface="Symbol" pitchFamily="18" charset="2"/>
              </a:rPr>
              <a:t>¯ </a:t>
            </a:r>
            <a:r>
              <a:rPr lang="tr-TR"/>
              <a:t>and then </a:t>
            </a:r>
            <a:r>
              <a:rPr lang="tr-TR" i="1"/>
              <a:t>E</a:t>
            </a:r>
            <a:r>
              <a:rPr lang="tr-TR">
                <a:latin typeface="Symbol" pitchFamily="18" charset="2"/>
              </a:rPr>
              <a:t>­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2249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Classifiers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793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1143000" y="457200"/>
            <a:ext cx="7467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>
                <a:latin typeface="Arial" panose="020B0604020202020204" pitchFamily="34" charset="0"/>
              </a:rPr>
              <a:t>Evaluating classification algorithms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1219200" y="1447800"/>
            <a:ext cx="73152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altLang="en-US" sz="2800">
                <a:latin typeface="Arial" panose="020B0604020202020204" pitchFamily="34" charset="0"/>
              </a:rPr>
              <a:t> You have designed a new classifier.</a:t>
            </a:r>
          </a:p>
          <a:p>
            <a:pPr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altLang="en-US" sz="2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altLang="en-US" sz="2800">
                <a:latin typeface="Arial" panose="020B0604020202020204" pitchFamily="34" charset="0"/>
              </a:rPr>
              <a:t>You give it to me, and I try it on my image 	dataset</a:t>
            </a:r>
          </a:p>
          <a:p>
            <a:pPr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altLang="en-US" sz="2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601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143000" y="457200"/>
            <a:ext cx="7467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>
                <a:latin typeface="Arial" panose="020B0604020202020204" pitchFamily="34" charset="0"/>
              </a:rPr>
              <a:t>Evaluating classification algorithms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219200" y="1447800"/>
            <a:ext cx="73152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altLang="en-US" sz="2800">
                <a:latin typeface="Arial" panose="020B0604020202020204" pitchFamily="34" charset="0"/>
              </a:rPr>
              <a:t>I tell you that it achieved 95% accuracy on 	my data.</a:t>
            </a:r>
          </a:p>
          <a:p>
            <a:pPr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GB" altLang="en-US" sz="2800">
              <a:latin typeface="Arial" panose="020B0604020202020204" pitchFamily="34" charset="0"/>
            </a:endParaRPr>
          </a:p>
          <a:p>
            <a:pPr>
              <a:spcBef>
                <a:spcPct val="5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GB" altLang="en-US" sz="2800">
                <a:latin typeface="Arial" panose="020B0604020202020204" pitchFamily="34" charset="0"/>
              </a:rPr>
              <a:t> Is your technique a success?</a:t>
            </a:r>
            <a:endParaRPr lang="en-US" altLang="en-US" sz="2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130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Types of errors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But suppose that</a:t>
            </a:r>
          </a:p>
          <a:p>
            <a:pPr lvl="1" eaLnBrk="1" hangingPunct="1"/>
            <a:r>
              <a:rPr lang="en-GB" altLang="en-US"/>
              <a:t>The 95% is the correctly classified pixels</a:t>
            </a:r>
          </a:p>
          <a:p>
            <a:pPr lvl="1" eaLnBrk="1" hangingPunct="1"/>
            <a:r>
              <a:rPr lang="en-GB" altLang="en-US"/>
              <a:t>Only 5% of the pixels are actually edges</a:t>
            </a:r>
          </a:p>
          <a:p>
            <a:pPr lvl="1" eaLnBrk="1" hangingPunct="1"/>
            <a:r>
              <a:rPr lang="en-GB" altLang="en-US"/>
              <a:t>It misses all the edge pixels</a:t>
            </a:r>
          </a:p>
          <a:p>
            <a:pPr lvl="1" eaLnBrk="1" hangingPunct="1"/>
            <a:endParaRPr lang="en-GB" altLang="en-US"/>
          </a:p>
          <a:p>
            <a:pPr eaLnBrk="1" hangingPunct="1"/>
            <a:r>
              <a:rPr lang="en-GB" altLang="en-US"/>
              <a:t>How do we count the effect of different types of error?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68F595-C040-4848-9482-CE93A628E6D1}"/>
              </a:ext>
            </a:extLst>
          </p:cNvPr>
          <p:cNvSpPr/>
          <p:nvPr/>
        </p:nvSpPr>
        <p:spPr>
          <a:xfrm>
            <a:off x="5715000" y="3478768"/>
            <a:ext cx="23217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92929"/>
                </a:solidFill>
                <a:latin typeface="medium-content-serif-font"/>
              </a:rPr>
              <a:t>class imbalance affects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444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Types of errors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2200" y="2057400"/>
            <a:ext cx="5486400" cy="1219200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GB" altLang="en-US" sz="2800" b="1"/>
              <a:t>Prediction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GB" altLang="en-US" sz="2800" b="1"/>
              <a:t>Edge            Not edge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sz="2800" b="1"/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/>
          </a:p>
        </p:txBody>
      </p:sp>
      <p:graphicFrame>
        <p:nvGraphicFramePr>
          <p:cNvPr id="1061" name="Group 37"/>
          <p:cNvGraphicFramePr>
            <a:graphicFrameLocks noGrp="1"/>
          </p:cNvGraphicFramePr>
          <p:nvPr/>
        </p:nvGraphicFramePr>
        <p:xfrm>
          <a:off x="2590800" y="3200400"/>
          <a:ext cx="4800600" cy="26162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08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Positive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Negative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Positive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Negative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7839" name="Text Box 36"/>
          <p:cNvSpPr txBox="1">
            <a:spLocks noChangeArrowheads="1"/>
          </p:cNvSpPr>
          <p:nvPr/>
        </p:nvSpPr>
        <p:spPr bwMode="auto">
          <a:xfrm rot="10800000">
            <a:off x="1371600" y="3200400"/>
            <a:ext cx="1096963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en-US" sz="1800" b="1">
                <a:latin typeface="Arial" panose="020B0604020202020204" pitchFamily="34" charset="0"/>
              </a:rPr>
              <a:t>Ground Truth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 b="1">
                <a:latin typeface="Arial" panose="020B0604020202020204" pitchFamily="34" charset="0"/>
              </a:rPr>
              <a:t>Not Edge    Edge</a:t>
            </a:r>
          </a:p>
        </p:txBody>
      </p:sp>
      <p:sp>
        <p:nvSpPr>
          <p:cNvPr id="77840" name="Text Box 38"/>
          <p:cNvSpPr txBox="1">
            <a:spLocks noChangeArrowheads="1"/>
          </p:cNvSpPr>
          <p:nvPr/>
        </p:nvSpPr>
        <p:spPr bwMode="auto">
          <a:xfrm>
            <a:off x="1371600" y="160020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825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"/>
          <p:cNvSpPr>
            <a:spLocks noChangeArrowheads="1"/>
          </p:cNvSpPr>
          <p:nvPr/>
        </p:nvSpPr>
        <p:spPr bwMode="auto">
          <a:xfrm>
            <a:off x="533400" y="144780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1800" u="sng">
              <a:latin typeface="Arial" panose="020B0604020202020204" pitchFamily="34" charset="0"/>
            </a:endParaRPr>
          </a:p>
        </p:txBody>
      </p:sp>
      <p:sp>
        <p:nvSpPr>
          <p:cNvPr id="78851" name="Text Box 6"/>
          <p:cNvSpPr txBox="1">
            <a:spLocks noChangeArrowheads="1"/>
          </p:cNvSpPr>
          <p:nvPr/>
        </p:nvSpPr>
        <p:spPr bwMode="auto">
          <a:xfrm>
            <a:off x="3048000" y="1905000"/>
            <a:ext cx="434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3600">
                <a:latin typeface="Arial" panose="020B0604020202020204" pitchFamily="34" charset="0"/>
              </a:rPr>
              <a:t>True  Positive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78852" name="Text Box 7"/>
          <p:cNvSpPr txBox="1">
            <a:spLocks noChangeArrowheads="1"/>
          </p:cNvSpPr>
          <p:nvPr/>
        </p:nvSpPr>
        <p:spPr bwMode="auto">
          <a:xfrm>
            <a:off x="1295400" y="533400"/>
            <a:ext cx="7467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Two parts to each:  whether you got it correct or not, and what you guessed.  For example for a particular pixel, our guess might be labelled…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8853" name="Text Box 8"/>
          <p:cNvSpPr txBox="1">
            <a:spLocks noChangeArrowheads="1"/>
          </p:cNvSpPr>
          <p:nvPr/>
        </p:nvSpPr>
        <p:spPr bwMode="auto">
          <a:xfrm>
            <a:off x="1143000" y="2743200"/>
            <a:ext cx="2971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Did we get it correct? True, we did get it correct.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8854" name="Rectangle 10"/>
          <p:cNvSpPr>
            <a:spLocks noChangeArrowheads="1"/>
          </p:cNvSpPr>
          <p:nvPr/>
        </p:nvSpPr>
        <p:spPr bwMode="auto">
          <a:xfrm>
            <a:off x="3048000" y="1981200"/>
            <a:ext cx="10668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8855" name="Rectangle 11"/>
          <p:cNvSpPr>
            <a:spLocks noChangeArrowheads="1"/>
          </p:cNvSpPr>
          <p:nvPr/>
        </p:nvSpPr>
        <p:spPr bwMode="auto">
          <a:xfrm>
            <a:off x="4191000" y="1981200"/>
            <a:ext cx="18288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8856" name="Line 12"/>
          <p:cNvSpPr>
            <a:spLocks noChangeShapeType="1"/>
          </p:cNvSpPr>
          <p:nvPr/>
        </p:nvSpPr>
        <p:spPr bwMode="auto">
          <a:xfrm flipH="1">
            <a:off x="2971800" y="2514600"/>
            <a:ext cx="4572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7" name="Line 13"/>
          <p:cNvSpPr>
            <a:spLocks noChangeShapeType="1"/>
          </p:cNvSpPr>
          <p:nvPr/>
        </p:nvSpPr>
        <p:spPr bwMode="auto">
          <a:xfrm>
            <a:off x="5029200" y="2514600"/>
            <a:ext cx="68580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8" name="Text Box 14"/>
          <p:cNvSpPr txBox="1">
            <a:spLocks noChangeArrowheads="1"/>
          </p:cNvSpPr>
          <p:nvPr/>
        </p:nvSpPr>
        <p:spPr bwMode="auto">
          <a:xfrm>
            <a:off x="3048000" y="4800600"/>
            <a:ext cx="434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3600">
                <a:latin typeface="Arial" panose="020B0604020202020204" pitchFamily="34" charset="0"/>
              </a:rPr>
              <a:t>False  Negative</a:t>
            </a: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78859" name="Text Box 15"/>
          <p:cNvSpPr txBox="1">
            <a:spLocks noChangeArrowheads="1"/>
          </p:cNvSpPr>
          <p:nvPr/>
        </p:nvSpPr>
        <p:spPr bwMode="auto">
          <a:xfrm>
            <a:off x="1219200" y="5699125"/>
            <a:ext cx="3505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Did we get it correct?         False, we did not get it correct.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8860" name="Rectangle 17"/>
          <p:cNvSpPr>
            <a:spLocks noChangeArrowheads="1"/>
          </p:cNvSpPr>
          <p:nvPr/>
        </p:nvSpPr>
        <p:spPr bwMode="auto">
          <a:xfrm>
            <a:off x="3048000" y="4876800"/>
            <a:ext cx="1295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8861" name="Rectangle 18"/>
          <p:cNvSpPr>
            <a:spLocks noChangeArrowheads="1"/>
          </p:cNvSpPr>
          <p:nvPr/>
        </p:nvSpPr>
        <p:spPr bwMode="auto">
          <a:xfrm>
            <a:off x="4419600" y="4876800"/>
            <a:ext cx="2057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8862" name="Line 19"/>
          <p:cNvSpPr>
            <a:spLocks noChangeShapeType="1"/>
          </p:cNvSpPr>
          <p:nvPr/>
        </p:nvSpPr>
        <p:spPr bwMode="auto">
          <a:xfrm flipH="1">
            <a:off x="2971800" y="5410200"/>
            <a:ext cx="4572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3" name="Line 20"/>
          <p:cNvSpPr>
            <a:spLocks noChangeShapeType="1"/>
          </p:cNvSpPr>
          <p:nvPr/>
        </p:nvSpPr>
        <p:spPr bwMode="auto">
          <a:xfrm>
            <a:off x="5029200" y="5410200"/>
            <a:ext cx="68580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64" name="Rectangle 21"/>
          <p:cNvSpPr>
            <a:spLocks noChangeArrowheads="1"/>
          </p:cNvSpPr>
          <p:nvPr/>
        </p:nvSpPr>
        <p:spPr bwMode="auto">
          <a:xfrm>
            <a:off x="1398588" y="4022725"/>
            <a:ext cx="6373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or maybe it was labelled as one of the others, maybe…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8865" name="Text Box 9"/>
          <p:cNvSpPr txBox="1">
            <a:spLocks noChangeArrowheads="1"/>
          </p:cNvSpPr>
          <p:nvPr/>
        </p:nvSpPr>
        <p:spPr bwMode="auto">
          <a:xfrm>
            <a:off x="5334000" y="2743200"/>
            <a:ext cx="3657600" cy="701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What did we say?                   We said ‘positive’, i.e. edge.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8866" name="Text Box 16"/>
          <p:cNvSpPr txBox="1">
            <a:spLocks noChangeArrowheads="1"/>
          </p:cNvSpPr>
          <p:nvPr/>
        </p:nvSpPr>
        <p:spPr bwMode="auto">
          <a:xfrm>
            <a:off x="5410200" y="5638800"/>
            <a:ext cx="3733800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What did we say?                   We said ‘negative, i.e. not edge.</a:t>
            </a:r>
            <a:endParaRPr lang="en-US" altLang="en-US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727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Sensitivity and Specificity</a:t>
            </a:r>
          </a:p>
        </p:txBody>
      </p:sp>
      <p:sp>
        <p:nvSpPr>
          <p:cNvPr id="79875" name="Rectangle 4"/>
          <p:cNvSpPr>
            <a:spLocks noChangeArrowheads="1"/>
          </p:cNvSpPr>
          <p:nvPr/>
        </p:nvSpPr>
        <p:spPr bwMode="auto">
          <a:xfrm>
            <a:off x="1219200" y="1433513"/>
            <a:ext cx="7696200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Count up the total number of each label (TP, FP, TN, FN) over a large dataset. In ROC analysis, we use two statistics: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9876" name="Text Box 5"/>
          <p:cNvSpPr txBox="1">
            <a:spLocks noChangeArrowheads="1"/>
          </p:cNvSpPr>
          <p:nvPr/>
        </p:nvSpPr>
        <p:spPr bwMode="auto">
          <a:xfrm>
            <a:off x="1143000" y="2955925"/>
            <a:ext cx="281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Sensitivity</a:t>
            </a:r>
            <a:r>
              <a:rPr lang="en-GB" altLang="en-US" sz="2000">
                <a:latin typeface="Arial" panose="020B0604020202020204" pitchFamily="34" charset="0"/>
              </a:rPr>
              <a:t> = 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9877" name="Text Box 6"/>
          <p:cNvSpPr txBox="1">
            <a:spLocks noChangeArrowheads="1"/>
          </p:cNvSpPr>
          <p:nvPr/>
        </p:nvSpPr>
        <p:spPr bwMode="auto">
          <a:xfrm>
            <a:off x="3048000" y="272732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TP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9878" name="Line 7"/>
          <p:cNvSpPr>
            <a:spLocks noChangeShapeType="1"/>
          </p:cNvSpPr>
          <p:nvPr/>
        </p:nvSpPr>
        <p:spPr bwMode="auto">
          <a:xfrm>
            <a:off x="2819400" y="31083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9" name="Rectangle 8"/>
          <p:cNvSpPr>
            <a:spLocks noChangeArrowheads="1"/>
          </p:cNvSpPr>
          <p:nvPr/>
        </p:nvSpPr>
        <p:spPr bwMode="auto">
          <a:xfrm>
            <a:off x="2819400" y="3181350"/>
            <a:ext cx="996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TP+FN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9880" name="Text Box 9"/>
          <p:cNvSpPr txBox="1">
            <a:spLocks noChangeArrowheads="1"/>
          </p:cNvSpPr>
          <p:nvPr/>
        </p:nvSpPr>
        <p:spPr bwMode="auto">
          <a:xfrm>
            <a:off x="1143000" y="5165725"/>
            <a:ext cx="281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Specificity</a:t>
            </a:r>
            <a:r>
              <a:rPr lang="en-GB" altLang="en-US" sz="2000">
                <a:latin typeface="Arial" panose="020B0604020202020204" pitchFamily="34" charset="0"/>
              </a:rPr>
              <a:t> = 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9881" name="Text Box 10"/>
          <p:cNvSpPr txBox="1">
            <a:spLocks noChangeArrowheads="1"/>
          </p:cNvSpPr>
          <p:nvPr/>
        </p:nvSpPr>
        <p:spPr bwMode="auto">
          <a:xfrm>
            <a:off x="3048000" y="493712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TN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9882" name="Line 11"/>
          <p:cNvSpPr>
            <a:spLocks noChangeShapeType="1"/>
          </p:cNvSpPr>
          <p:nvPr/>
        </p:nvSpPr>
        <p:spPr bwMode="auto">
          <a:xfrm>
            <a:off x="2819400" y="531812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83" name="Rectangle 12"/>
          <p:cNvSpPr>
            <a:spLocks noChangeArrowheads="1"/>
          </p:cNvSpPr>
          <p:nvPr/>
        </p:nvSpPr>
        <p:spPr bwMode="auto">
          <a:xfrm>
            <a:off x="2819400" y="5391150"/>
            <a:ext cx="996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TN+FP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9884" name="Text Box 13"/>
          <p:cNvSpPr txBox="1">
            <a:spLocks noChangeArrowheads="1"/>
          </p:cNvSpPr>
          <p:nvPr/>
        </p:nvSpPr>
        <p:spPr bwMode="auto">
          <a:xfrm>
            <a:off x="4191000" y="2743200"/>
            <a:ext cx="46482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Can be thought of as the likelihood of spotting a positive case when presented with one.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Or… the proportion of edges we find.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79885" name="Rectangle 14"/>
          <p:cNvSpPr>
            <a:spLocks noChangeArrowheads="1"/>
          </p:cNvSpPr>
          <p:nvPr/>
        </p:nvSpPr>
        <p:spPr bwMode="auto">
          <a:xfrm>
            <a:off x="4267200" y="4800600"/>
            <a:ext cx="457200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Can be thought of as the likelihood of spotting a negative case when presented with one.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Or… the proportion of non-edges that we find</a:t>
            </a:r>
            <a:endParaRPr lang="en-US" altLang="en-US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327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4"/>
          <p:cNvSpPr txBox="1">
            <a:spLocks noChangeArrowheads="1"/>
          </p:cNvSpPr>
          <p:nvPr/>
        </p:nvSpPr>
        <p:spPr bwMode="auto">
          <a:xfrm>
            <a:off x="1143000" y="930275"/>
            <a:ext cx="373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Sensitivity =                       = ? 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0899" name="Text Box 5"/>
          <p:cNvSpPr txBox="1">
            <a:spLocks noChangeArrowheads="1"/>
          </p:cNvSpPr>
          <p:nvPr/>
        </p:nvSpPr>
        <p:spPr bwMode="auto">
          <a:xfrm>
            <a:off x="3048000" y="70167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TP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0900" name="Line 6"/>
          <p:cNvSpPr>
            <a:spLocks noChangeShapeType="1"/>
          </p:cNvSpPr>
          <p:nvPr/>
        </p:nvSpPr>
        <p:spPr bwMode="auto">
          <a:xfrm>
            <a:off x="2819400" y="108267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1" name="Rectangle 7"/>
          <p:cNvSpPr>
            <a:spLocks noChangeArrowheads="1"/>
          </p:cNvSpPr>
          <p:nvPr/>
        </p:nvSpPr>
        <p:spPr bwMode="auto">
          <a:xfrm>
            <a:off x="2819400" y="1155700"/>
            <a:ext cx="996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TP+FN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0902" name="Text Box 8"/>
          <p:cNvSpPr txBox="1">
            <a:spLocks noChangeArrowheads="1"/>
          </p:cNvSpPr>
          <p:nvPr/>
        </p:nvSpPr>
        <p:spPr bwMode="auto">
          <a:xfrm>
            <a:off x="5105400" y="914400"/>
            <a:ext cx="3581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Specificity =                       =  ? 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0903" name="Text Box 9"/>
          <p:cNvSpPr txBox="1">
            <a:spLocks noChangeArrowheads="1"/>
          </p:cNvSpPr>
          <p:nvPr/>
        </p:nvSpPr>
        <p:spPr bwMode="auto">
          <a:xfrm>
            <a:off x="7010400" y="6858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TN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0904" name="Line 10"/>
          <p:cNvSpPr>
            <a:spLocks noChangeShapeType="1"/>
          </p:cNvSpPr>
          <p:nvPr/>
        </p:nvSpPr>
        <p:spPr bwMode="auto">
          <a:xfrm>
            <a:off x="6781800" y="1066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05" name="Rectangle 11"/>
          <p:cNvSpPr>
            <a:spLocks noChangeArrowheads="1"/>
          </p:cNvSpPr>
          <p:nvPr/>
        </p:nvSpPr>
        <p:spPr bwMode="auto">
          <a:xfrm>
            <a:off x="6781800" y="1139825"/>
            <a:ext cx="996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TN+FP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0906" name="Rectangle 12"/>
          <p:cNvSpPr>
            <a:spLocks noChangeArrowheads="1"/>
          </p:cNvSpPr>
          <p:nvPr/>
        </p:nvSpPr>
        <p:spPr bwMode="auto">
          <a:xfrm>
            <a:off x="4572000" y="4038600"/>
            <a:ext cx="1371600" cy="9302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0907" name="Rectangle 13"/>
          <p:cNvSpPr>
            <a:spLocks noChangeArrowheads="1"/>
          </p:cNvSpPr>
          <p:nvPr/>
        </p:nvSpPr>
        <p:spPr bwMode="auto">
          <a:xfrm>
            <a:off x="3048000" y="4038600"/>
            <a:ext cx="1524000" cy="9302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0908" name="Text Box 14"/>
          <p:cNvSpPr txBox="1">
            <a:spLocks noChangeArrowheads="1"/>
          </p:cNvSpPr>
          <p:nvPr/>
        </p:nvSpPr>
        <p:spPr bwMode="auto">
          <a:xfrm>
            <a:off x="3505200" y="2209800"/>
            <a:ext cx="2057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Prediction</a:t>
            </a:r>
            <a:endParaRPr lang="en-US" altLang="en-US" sz="2000" b="1">
              <a:latin typeface="Arial" panose="020B0604020202020204" pitchFamily="34" charset="0"/>
            </a:endParaRPr>
          </a:p>
        </p:txBody>
      </p:sp>
      <p:sp>
        <p:nvSpPr>
          <p:cNvPr id="80909" name="Text Box 15"/>
          <p:cNvSpPr txBox="1">
            <a:spLocks noChangeArrowheads="1"/>
          </p:cNvSpPr>
          <p:nvPr/>
        </p:nvSpPr>
        <p:spPr bwMode="auto">
          <a:xfrm>
            <a:off x="1295400" y="3505200"/>
            <a:ext cx="144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Ground Truth</a:t>
            </a:r>
            <a:endParaRPr lang="en-US" altLang="en-US" sz="2000" b="1">
              <a:latin typeface="Arial" panose="020B0604020202020204" pitchFamily="34" charset="0"/>
            </a:endParaRPr>
          </a:p>
        </p:txBody>
      </p:sp>
      <p:sp>
        <p:nvSpPr>
          <p:cNvPr id="80910" name="Text Box 16"/>
          <p:cNvSpPr txBox="1">
            <a:spLocks noChangeArrowheads="1"/>
          </p:cNvSpPr>
          <p:nvPr/>
        </p:nvSpPr>
        <p:spPr bwMode="auto">
          <a:xfrm>
            <a:off x="2514600" y="3292475"/>
            <a:ext cx="68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b="1">
                <a:latin typeface="Arial" panose="020B0604020202020204" pitchFamily="34" charset="0"/>
              </a:rPr>
              <a:t>1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80911" name="Rectangle 17"/>
          <p:cNvSpPr>
            <a:spLocks noChangeArrowheads="1"/>
          </p:cNvSpPr>
          <p:nvPr/>
        </p:nvSpPr>
        <p:spPr bwMode="auto">
          <a:xfrm>
            <a:off x="3609975" y="255270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b="1">
                <a:latin typeface="Arial" panose="020B0604020202020204" pitchFamily="34" charset="0"/>
              </a:rPr>
              <a:t>1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80912" name="Rectangle 18"/>
          <p:cNvSpPr>
            <a:spLocks noChangeArrowheads="1"/>
          </p:cNvSpPr>
          <p:nvPr/>
        </p:nvSpPr>
        <p:spPr bwMode="auto">
          <a:xfrm>
            <a:off x="5181600" y="2568575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b="1">
                <a:latin typeface="Arial" panose="020B0604020202020204" pitchFamily="34" charset="0"/>
              </a:rPr>
              <a:t>0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80913" name="Rectangle 19"/>
          <p:cNvSpPr>
            <a:spLocks noChangeArrowheads="1"/>
          </p:cNvSpPr>
          <p:nvPr/>
        </p:nvSpPr>
        <p:spPr bwMode="auto">
          <a:xfrm>
            <a:off x="2514600" y="415290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b="1">
                <a:latin typeface="Arial" panose="020B0604020202020204" pitchFamily="34" charset="0"/>
              </a:rPr>
              <a:t>0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80914" name="Rectangle 20"/>
          <p:cNvSpPr>
            <a:spLocks noChangeArrowheads="1"/>
          </p:cNvSpPr>
          <p:nvPr/>
        </p:nvSpPr>
        <p:spPr bwMode="auto">
          <a:xfrm>
            <a:off x="4572000" y="3124200"/>
            <a:ext cx="1371600" cy="9302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0915" name="Rectangle 21"/>
          <p:cNvSpPr>
            <a:spLocks noChangeArrowheads="1"/>
          </p:cNvSpPr>
          <p:nvPr/>
        </p:nvSpPr>
        <p:spPr bwMode="auto">
          <a:xfrm>
            <a:off x="3048000" y="3124200"/>
            <a:ext cx="1524000" cy="9302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0916" name="Text Box 22"/>
          <p:cNvSpPr txBox="1">
            <a:spLocks noChangeArrowheads="1"/>
          </p:cNvSpPr>
          <p:nvPr/>
        </p:nvSpPr>
        <p:spPr bwMode="auto">
          <a:xfrm>
            <a:off x="3505200" y="3352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60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0917" name="Text Box 23"/>
          <p:cNvSpPr txBox="1">
            <a:spLocks noChangeArrowheads="1"/>
          </p:cNvSpPr>
          <p:nvPr/>
        </p:nvSpPr>
        <p:spPr bwMode="auto">
          <a:xfrm>
            <a:off x="5029200" y="3352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30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0918" name="Text Box 24"/>
          <p:cNvSpPr txBox="1">
            <a:spLocks noChangeArrowheads="1"/>
          </p:cNvSpPr>
          <p:nvPr/>
        </p:nvSpPr>
        <p:spPr bwMode="auto">
          <a:xfrm>
            <a:off x="5029200" y="4267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20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0919" name="Text Box 25"/>
          <p:cNvSpPr txBox="1">
            <a:spLocks noChangeArrowheads="1"/>
          </p:cNvSpPr>
          <p:nvPr/>
        </p:nvSpPr>
        <p:spPr bwMode="auto">
          <a:xfrm>
            <a:off x="3505200" y="4267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80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0920" name="Text Box 26"/>
          <p:cNvSpPr txBox="1">
            <a:spLocks noChangeArrowheads="1"/>
          </p:cNvSpPr>
          <p:nvPr/>
        </p:nvSpPr>
        <p:spPr bwMode="auto">
          <a:xfrm>
            <a:off x="6324600" y="4038600"/>
            <a:ext cx="2362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80+20 = 100 cases in the dataset were class 0 (non-edge)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0921" name="Text Box 27"/>
          <p:cNvSpPr txBox="1">
            <a:spLocks noChangeArrowheads="1"/>
          </p:cNvSpPr>
          <p:nvPr/>
        </p:nvSpPr>
        <p:spPr bwMode="auto">
          <a:xfrm>
            <a:off x="6324600" y="3048000"/>
            <a:ext cx="2819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60+30 = 90 cases in the dataset were class 1 (edge)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0922" name="Rectangle 28"/>
          <p:cNvSpPr>
            <a:spLocks noChangeArrowheads="1"/>
          </p:cNvSpPr>
          <p:nvPr/>
        </p:nvSpPr>
        <p:spPr bwMode="auto">
          <a:xfrm>
            <a:off x="5638800" y="5318125"/>
            <a:ext cx="3200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90+100 = 190 examples (pixels) in the data overall</a:t>
            </a:r>
            <a:endParaRPr lang="en-US" altLang="en-US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21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7286-0709-3D4F-A065-9A90C53A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Precision and Recall &amp;</a:t>
            </a:r>
            <a:r>
              <a:rPr lang="en-US" b="1" dirty="0">
                <a:effectLst/>
              </a:rPr>
              <a:t>F1-score</a:t>
            </a:r>
            <a:endParaRPr lang="en-US" dirty="0"/>
          </a:p>
        </p:txBody>
      </p:sp>
      <p:pic>
        <p:nvPicPr>
          <p:cNvPr id="5" name="Picture 2" descr="Confusion Matric(TPR,FPR,FNR,TNR), Precision, Recall, F1-Score | by  Namratesh Shrivastav | Data Driven Investor | Medium">
            <a:extLst>
              <a:ext uri="{FF2B5EF4-FFF2-40B4-BE49-F238E27FC236}">
                <a16:creationId xmlns:a16="http://schemas.microsoft.com/office/drawing/2014/main" id="{38F95325-6218-064D-9BF5-1710438DFB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06954"/>
            <a:ext cx="7499350" cy="224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611CFA-86CA-7B47-A45B-1037640C6B6F}"/>
              </a:ext>
            </a:extLst>
          </p:cNvPr>
          <p:cNvSpPr/>
          <p:nvPr/>
        </p:nvSpPr>
        <p:spPr>
          <a:xfrm>
            <a:off x="1905000" y="479403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92929"/>
                </a:solidFill>
                <a:latin typeface="medium-content-serif-font"/>
              </a:rPr>
              <a:t>Precision, recall and F1 use only three of the values in the confusion matrix: TP, FP, and FN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434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3B359-CB2B-3B4F-B0CF-200D6C2C5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MCC</a:t>
            </a:r>
          </a:p>
        </p:txBody>
      </p:sp>
      <p:pic>
        <p:nvPicPr>
          <p:cNvPr id="5" name="Picture 2" descr="Matthews Correlation Coefficient is The Best Classification Metric You've  Never Heard Of | by Boaz Shmueli | Towards Data Science">
            <a:extLst>
              <a:ext uri="{FF2B5EF4-FFF2-40B4-BE49-F238E27FC236}">
                <a16:creationId xmlns:a16="http://schemas.microsoft.com/office/drawing/2014/main" id="{BE0C2281-31E3-B840-B8C9-15E4FED1BE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95400"/>
            <a:ext cx="7499350" cy="113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9BD6A86-819E-EE47-AD5F-7AAB3E72E175}"/>
              </a:ext>
            </a:extLst>
          </p:cNvPr>
          <p:cNvSpPr/>
          <p:nvPr/>
        </p:nvSpPr>
        <p:spPr>
          <a:xfrm>
            <a:off x="2133600" y="245980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92929"/>
                </a:solidFill>
                <a:latin typeface="medium-content-title-font"/>
                <a:hlinkClick r:id="rId3"/>
              </a:rPr>
              <a:t>Matthews Correlation Coefficient i</a:t>
            </a:r>
            <a:r>
              <a:rPr lang="en-US" dirty="0">
                <a:solidFill>
                  <a:srgbClr val="292929"/>
                </a:solidFill>
                <a:latin typeface="medium-content-title-font"/>
                <a:hlinkClick r:id="rId3"/>
              </a:rPr>
              <a:t>s The Best Classification Metric You’ve Never Heard Of</a:t>
            </a:r>
            <a:endParaRPr lang="en-US" b="0" i="0" dirty="0">
              <a:solidFill>
                <a:srgbClr val="292929"/>
              </a:solidFill>
              <a:effectLst/>
              <a:latin typeface="medium-content-title-font"/>
            </a:endParaRPr>
          </a:p>
        </p:txBody>
      </p:sp>
      <p:pic>
        <p:nvPicPr>
          <p:cNvPr id="48132" name="Picture 4" descr="Image for post">
            <a:extLst>
              <a:ext uri="{FF2B5EF4-FFF2-40B4-BE49-F238E27FC236}">
                <a16:creationId xmlns:a16="http://schemas.microsoft.com/office/drawing/2014/main" id="{3794AF74-D94A-EA4F-9032-D97ADC5D2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88" y="4038600"/>
            <a:ext cx="8686800" cy="204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339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ROC space</a:t>
            </a:r>
          </a:p>
        </p:txBody>
      </p:sp>
      <p:sp>
        <p:nvSpPr>
          <p:cNvPr id="81923" name="Line 4"/>
          <p:cNvSpPr>
            <a:spLocks noChangeShapeType="1"/>
          </p:cNvSpPr>
          <p:nvPr/>
        </p:nvSpPr>
        <p:spPr bwMode="auto">
          <a:xfrm flipH="1" flipV="1">
            <a:off x="3733800" y="2344738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4" name="Line 5"/>
          <p:cNvSpPr>
            <a:spLocks noChangeShapeType="1"/>
          </p:cNvSpPr>
          <p:nvPr/>
        </p:nvSpPr>
        <p:spPr bwMode="auto">
          <a:xfrm flipV="1">
            <a:off x="3733800" y="5316538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5" name="Text Box 6"/>
          <p:cNvSpPr txBox="1">
            <a:spLocks noChangeArrowheads="1"/>
          </p:cNvSpPr>
          <p:nvPr/>
        </p:nvSpPr>
        <p:spPr bwMode="auto">
          <a:xfrm>
            <a:off x="4343400" y="5468938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 b="1">
                <a:latin typeface="Arial" panose="020B0604020202020204" pitchFamily="34" charset="0"/>
              </a:rPr>
              <a:t>1 - Specificity</a:t>
            </a:r>
            <a:endParaRPr lang="en-US" altLang="en-US" sz="1800" b="1">
              <a:latin typeface="Arial" panose="020B0604020202020204" pitchFamily="34" charset="0"/>
            </a:endParaRPr>
          </a:p>
        </p:txBody>
      </p:sp>
      <p:sp>
        <p:nvSpPr>
          <p:cNvPr id="81926" name="Text Box 7"/>
          <p:cNvSpPr txBox="1">
            <a:spLocks noChangeArrowheads="1"/>
          </p:cNvSpPr>
          <p:nvPr/>
        </p:nvSpPr>
        <p:spPr bwMode="auto">
          <a:xfrm>
            <a:off x="1905000" y="3505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 b="1">
                <a:latin typeface="Arial" panose="020B0604020202020204" pitchFamily="34" charset="0"/>
              </a:rPr>
              <a:t>Sensitivity</a:t>
            </a:r>
            <a:endParaRPr lang="en-US" altLang="en-US" sz="1800" b="1">
              <a:latin typeface="Arial" panose="020B0604020202020204" pitchFamily="34" charset="0"/>
            </a:endParaRPr>
          </a:p>
        </p:txBody>
      </p:sp>
      <p:sp>
        <p:nvSpPr>
          <p:cNvPr id="81927" name="Text Box 8"/>
          <p:cNvSpPr txBox="1">
            <a:spLocks noChangeArrowheads="1"/>
          </p:cNvSpPr>
          <p:nvPr/>
        </p:nvSpPr>
        <p:spPr bwMode="auto">
          <a:xfrm>
            <a:off x="6019800" y="2878138"/>
            <a:ext cx="2819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 i="1">
                <a:latin typeface="Arial" panose="020B0604020202020204" pitchFamily="34" charset="0"/>
              </a:rPr>
              <a:t>This is edge detector B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28" name="Line 9"/>
          <p:cNvSpPr>
            <a:spLocks noChangeShapeType="1"/>
          </p:cNvSpPr>
          <p:nvPr/>
        </p:nvSpPr>
        <p:spPr bwMode="auto">
          <a:xfrm flipH="1" flipV="1">
            <a:off x="5334000" y="3106738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29" name="Text Box 10"/>
          <p:cNvSpPr txBox="1">
            <a:spLocks noChangeArrowheads="1"/>
          </p:cNvSpPr>
          <p:nvPr/>
        </p:nvSpPr>
        <p:spPr bwMode="auto">
          <a:xfrm>
            <a:off x="4953000" y="2116138"/>
            <a:ext cx="2819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 i="1">
                <a:latin typeface="Arial" panose="020B0604020202020204" pitchFamily="34" charset="0"/>
              </a:rPr>
              <a:t>This is edge detector A</a:t>
            </a:r>
            <a:endParaRPr lang="en-US" altLang="en-US" sz="1800" b="1" i="1">
              <a:latin typeface="Arial" panose="020B0604020202020204" pitchFamily="34" charset="0"/>
            </a:endParaRPr>
          </a:p>
        </p:txBody>
      </p:sp>
      <p:sp>
        <p:nvSpPr>
          <p:cNvPr id="81930" name="Line 11"/>
          <p:cNvSpPr>
            <a:spLocks noChangeShapeType="1"/>
          </p:cNvSpPr>
          <p:nvPr/>
        </p:nvSpPr>
        <p:spPr bwMode="auto">
          <a:xfrm flipH="1">
            <a:off x="4648200" y="2497138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1" name="Line 12"/>
          <p:cNvSpPr>
            <a:spLocks noChangeShapeType="1"/>
          </p:cNvSpPr>
          <p:nvPr/>
        </p:nvSpPr>
        <p:spPr bwMode="auto">
          <a:xfrm flipV="1">
            <a:off x="4495800" y="2801938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2" name="Line 13"/>
          <p:cNvSpPr>
            <a:spLocks noChangeShapeType="1"/>
          </p:cNvSpPr>
          <p:nvPr/>
        </p:nvSpPr>
        <p:spPr bwMode="auto">
          <a:xfrm flipV="1">
            <a:off x="5181600" y="3106738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3" name="Line 14"/>
          <p:cNvSpPr>
            <a:spLocks noChangeShapeType="1"/>
          </p:cNvSpPr>
          <p:nvPr/>
        </p:nvSpPr>
        <p:spPr bwMode="auto">
          <a:xfrm>
            <a:off x="5181600" y="3259138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4" name="Line 15"/>
          <p:cNvSpPr>
            <a:spLocks noChangeShapeType="1"/>
          </p:cNvSpPr>
          <p:nvPr/>
        </p:nvSpPr>
        <p:spPr bwMode="auto">
          <a:xfrm flipH="1">
            <a:off x="3657600" y="3106738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5" name="Rectangle 16"/>
          <p:cNvSpPr>
            <a:spLocks noChangeArrowheads="1"/>
          </p:cNvSpPr>
          <p:nvPr/>
        </p:nvSpPr>
        <p:spPr bwMode="auto">
          <a:xfrm>
            <a:off x="3200400" y="2114550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Arial" panose="020B0604020202020204" pitchFamily="34" charset="0"/>
              </a:rPr>
              <a:t>1.0</a:t>
            </a:r>
            <a:endParaRPr lang="en-US" altLang="en-US" sz="1800" i="1">
              <a:latin typeface="Arial" panose="020B0604020202020204" pitchFamily="34" charset="0"/>
            </a:endParaRPr>
          </a:p>
        </p:txBody>
      </p:sp>
      <p:sp>
        <p:nvSpPr>
          <p:cNvPr id="81936" name="Rectangle 17"/>
          <p:cNvSpPr>
            <a:spLocks noChangeArrowheads="1"/>
          </p:cNvSpPr>
          <p:nvPr/>
        </p:nvSpPr>
        <p:spPr bwMode="auto">
          <a:xfrm>
            <a:off x="3352800" y="532923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Arial" panose="020B0604020202020204" pitchFamily="34" charset="0"/>
              </a:rPr>
              <a:t>0.0</a:t>
            </a:r>
            <a:endParaRPr lang="en-US" altLang="en-US" sz="1800" i="1">
              <a:latin typeface="Arial" panose="020B0604020202020204" pitchFamily="34" charset="0"/>
            </a:endParaRPr>
          </a:p>
        </p:txBody>
      </p:sp>
      <p:sp>
        <p:nvSpPr>
          <p:cNvPr id="81937" name="Rectangle 18"/>
          <p:cNvSpPr>
            <a:spLocks noChangeArrowheads="1"/>
          </p:cNvSpPr>
          <p:nvPr/>
        </p:nvSpPr>
        <p:spPr bwMode="auto">
          <a:xfrm>
            <a:off x="6629400" y="5329238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i="1">
                <a:latin typeface="Arial" panose="020B0604020202020204" pitchFamily="34" charset="0"/>
              </a:rPr>
              <a:t>1.0</a:t>
            </a:r>
            <a:endParaRPr lang="en-US" altLang="en-US" sz="1800" i="1">
              <a:latin typeface="Arial" panose="020B0604020202020204" pitchFamily="34" charset="0"/>
            </a:endParaRPr>
          </a:p>
        </p:txBody>
      </p:sp>
      <p:sp>
        <p:nvSpPr>
          <p:cNvPr id="81938" name="Line 19"/>
          <p:cNvSpPr>
            <a:spLocks noChangeShapeType="1"/>
          </p:cNvSpPr>
          <p:nvPr/>
        </p:nvSpPr>
        <p:spPr bwMode="auto">
          <a:xfrm flipV="1">
            <a:off x="2743200" y="5715000"/>
            <a:ext cx="1524000" cy="19685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39" name="Text Box 20"/>
          <p:cNvSpPr txBox="1">
            <a:spLocks noChangeArrowheads="1"/>
          </p:cNvSpPr>
          <p:nvPr/>
        </p:nvSpPr>
        <p:spPr bwMode="auto">
          <a:xfrm>
            <a:off x="1828800" y="56388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800">
                <a:latin typeface="Arial" panose="020B0604020202020204" pitchFamily="34" charset="0"/>
              </a:rPr>
              <a:t>Note</a:t>
            </a:r>
            <a:endParaRPr lang="en-US" altLang="en-US" sz="2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177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ROC Curve</a:t>
            </a:r>
          </a:p>
        </p:txBody>
      </p:sp>
      <p:sp>
        <p:nvSpPr>
          <p:cNvPr id="82947" name="Rectangle 4"/>
          <p:cNvSpPr>
            <a:spLocks noChangeArrowheads="1"/>
          </p:cNvSpPr>
          <p:nvPr/>
        </p:nvSpPr>
        <p:spPr bwMode="auto">
          <a:xfrm>
            <a:off x="1295400" y="1584325"/>
            <a:ext cx="8458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Draw a ‘convex hull’ around many points:</a:t>
            </a:r>
          </a:p>
          <a:p>
            <a:pPr>
              <a:spcBef>
                <a:spcPct val="50000"/>
              </a:spcBef>
              <a:buFontTx/>
              <a:buNone/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2948" name="Line 5"/>
          <p:cNvSpPr>
            <a:spLocks noChangeShapeType="1"/>
          </p:cNvSpPr>
          <p:nvPr/>
        </p:nvSpPr>
        <p:spPr bwMode="auto">
          <a:xfrm flipH="1" flipV="1">
            <a:off x="2743200" y="2498725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49" name="Line 6"/>
          <p:cNvSpPr>
            <a:spLocks noChangeShapeType="1"/>
          </p:cNvSpPr>
          <p:nvPr/>
        </p:nvSpPr>
        <p:spPr bwMode="auto">
          <a:xfrm flipV="1">
            <a:off x="2743200" y="5470525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0" name="Text Box 7"/>
          <p:cNvSpPr txBox="1">
            <a:spLocks noChangeArrowheads="1"/>
          </p:cNvSpPr>
          <p:nvPr/>
        </p:nvSpPr>
        <p:spPr bwMode="auto">
          <a:xfrm>
            <a:off x="3276600" y="5622925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1 - Specificity</a:t>
            </a:r>
            <a:endParaRPr lang="en-US" altLang="en-US" sz="2000" b="1">
              <a:latin typeface="Arial" panose="020B0604020202020204" pitchFamily="34" charset="0"/>
            </a:endParaRPr>
          </a:p>
        </p:txBody>
      </p:sp>
      <p:sp>
        <p:nvSpPr>
          <p:cNvPr id="82951" name="Text Box 8"/>
          <p:cNvSpPr txBox="1">
            <a:spLocks noChangeArrowheads="1"/>
          </p:cNvSpPr>
          <p:nvPr/>
        </p:nvSpPr>
        <p:spPr bwMode="auto">
          <a:xfrm>
            <a:off x="1219200" y="3489325"/>
            <a:ext cx="1600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Sensitivity</a:t>
            </a:r>
            <a:endParaRPr lang="en-US" altLang="en-US" sz="2000" b="1">
              <a:latin typeface="Arial" panose="020B0604020202020204" pitchFamily="34" charset="0"/>
            </a:endParaRPr>
          </a:p>
        </p:txBody>
      </p:sp>
      <p:sp>
        <p:nvSpPr>
          <p:cNvPr id="82952" name="Line 9"/>
          <p:cNvSpPr>
            <a:spLocks noChangeShapeType="1"/>
          </p:cNvSpPr>
          <p:nvPr/>
        </p:nvSpPr>
        <p:spPr bwMode="auto">
          <a:xfrm flipV="1">
            <a:off x="2819400" y="3870325"/>
            <a:ext cx="30480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3" name="Line 10"/>
          <p:cNvSpPr>
            <a:spLocks noChangeShapeType="1"/>
          </p:cNvSpPr>
          <p:nvPr/>
        </p:nvSpPr>
        <p:spPr bwMode="auto">
          <a:xfrm flipV="1">
            <a:off x="3124200" y="3108325"/>
            <a:ext cx="609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4" name="Line 11"/>
          <p:cNvSpPr>
            <a:spLocks noChangeShapeType="1"/>
          </p:cNvSpPr>
          <p:nvPr/>
        </p:nvSpPr>
        <p:spPr bwMode="auto">
          <a:xfrm flipV="1">
            <a:off x="3733800" y="2955925"/>
            <a:ext cx="2286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5" name="Line 12"/>
          <p:cNvSpPr>
            <a:spLocks noChangeShapeType="1"/>
          </p:cNvSpPr>
          <p:nvPr/>
        </p:nvSpPr>
        <p:spPr bwMode="auto">
          <a:xfrm flipV="1">
            <a:off x="4495800" y="2651125"/>
            <a:ext cx="3810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6" name="Line 13"/>
          <p:cNvSpPr>
            <a:spLocks noChangeShapeType="1"/>
          </p:cNvSpPr>
          <p:nvPr/>
        </p:nvSpPr>
        <p:spPr bwMode="auto">
          <a:xfrm flipV="1">
            <a:off x="4953000" y="2574925"/>
            <a:ext cx="3048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7" name="Line 14"/>
          <p:cNvSpPr>
            <a:spLocks noChangeShapeType="1"/>
          </p:cNvSpPr>
          <p:nvPr/>
        </p:nvSpPr>
        <p:spPr bwMode="auto">
          <a:xfrm flipV="1">
            <a:off x="5334000" y="2498725"/>
            <a:ext cx="5334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8" name="Line 15"/>
          <p:cNvSpPr>
            <a:spLocks noChangeShapeType="1"/>
          </p:cNvSpPr>
          <p:nvPr/>
        </p:nvSpPr>
        <p:spPr bwMode="auto">
          <a:xfrm flipV="1">
            <a:off x="3962400" y="2727325"/>
            <a:ext cx="5334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9" name="Line 16"/>
          <p:cNvSpPr>
            <a:spLocks noChangeShapeType="1"/>
          </p:cNvSpPr>
          <p:nvPr/>
        </p:nvSpPr>
        <p:spPr bwMode="auto">
          <a:xfrm flipV="1">
            <a:off x="3962400" y="3413125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0" name="Line 17"/>
          <p:cNvSpPr>
            <a:spLocks noChangeShapeType="1"/>
          </p:cNvSpPr>
          <p:nvPr/>
        </p:nvSpPr>
        <p:spPr bwMode="auto">
          <a:xfrm flipV="1">
            <a:off x="4343400" y="3336925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1" name="Line 18"/>
          <p:cNvSpPr>
            <a:spLocks noChangeShapeType="1"/>
          </p:cNvSpPr>
          <p:nvPr/>
        </p:nvSpPr>
        <p:spPr bwMode="auto">
          <a:xfrm flipV="1">
            <a:off x="3657600" y="3794125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2" name="Text Box 19"/>
          <p:cNvSpPr txBox="1">
            <a:spLocks noChangeArrowheads="1"/>
          </p:cNvSpPr>
          <p:nvPr/>
        </p:nvSpPr>
        <p:spPr bwMode="auto">
          <a:xfrm>
            <a:off x="5181600" y="3565525"/>
            <a:ext cx="2209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This point is not on the convex hull.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2963" name="Line 20"/>
          <p:cNvSpPr>
            <a:spLocks noChangeShapeType="1"/>
          </p:cNvSpPr>
          <p:nvPr/>
        </p:nvSpPr>
        <p:spPr bwMode="auto">
          <a:xfrm flipH="1" flipV="1">
            <a:off x="4495800" y="3413125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4" name="Line 21"/>
          <p:cNvSpPr>
            <a:spLocks noChangeShapeType="1"/>
          </p:cNvSpPr>
          <p:nvPr/>
        </p:nvSpPr>
        <p:spPr bwMode="auto">
          <a:xfrm>
            <a:off x="3276600" y="1965325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5" name="Text Box 22"/>
          <p:cNvSpPr txBox="1">
            <a:spLocks noChangeArrowheads="1"/>
          </p:cNvSpPr>
          <p:nvPr/>
        </p:nvSpPr>
        <p:spPr bwMode="auto">
          <a:xfrm>
            <a:off x="7086600" y="4784725"/>
            <a:ext cx="18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563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DCCB-9C7A-A24A-AA4F-77DB6D6D2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curve.  AUC</a:t>
            </a:r>
          </a:p>
        </p:txBody>
      </p:sp>
      <p:pic>
        <p:nvPicPr>
          <p:cNvPr id="5" name="Picture 2" descr="How to Use ROC Curves and Precision-Recall Curves for Classification in  Python">
            <a:extLst>
              <a:ext uri="{FF2B5EF4-FFF2-40B4-BE49-F238E27FC236}">
                <a16:creationId xmlns:a16="http://schemas.microsoft.com/office/drawing/2014/main" id="{B137312F-544D-9949-8B8E-73C7371348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775" y="1657350"/>
            <a:ext cx="5842000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D13235-03C7-FE40-AF26-BA2623EA6FCC}"/>
              </a:ext>
            </a:extLst>
          </p:cNvPr>
          <p:cNvSpPr/>
          <p:nvPr/>
        </p:nvSpPr>
        <p:spPr>
          <a:xfrm>
            <a:off x="1435608" y="14176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True Positive Rate = True Positives / (True Positives + False Negatives)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50DCAE-061E-7348-A174-27499691E9B6}"/>
              </a:ext>
            </a:extLst>
          </p:cNvPr>
          <p:cNvSpPr/>
          <p:nvPr/>
        </p:nvSpPr>
        <p:spPr>
          <a:xfrm>
            <a:off x="2898648" y="619078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False Positive Rate = False Positives / (False Positives + True Negatives)</a:t>
            </a:r>
          </a:p>
        </p:txBody>
      </p:sp>
    </p:spTree>
    <p:extLst>
      <p:ext uri="{BB962C8B-B14F-4D97-AF65-F5344CB8AC3E}">
        <p14:creationId xmlns:p14="http://schemas.microsoft.com/office/powerpoint/2010/main" val="4034904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E0DC-FC3D-91E9-F9C5-A802089AC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7106" name="Picture 2" descr="ROC curves and area under curve (AUC). | Download Scientific Diagram">
            <a:extLst>
              <a:ext uri="{FF2B5EF4-FFF2-40B4-BE49-F238E27FC236}">
                <a16:creationId xmlns:a16="http://schemas.microsoft.com/office/drawing/2014/main" id="{24FE4F24-F617-9AC2-259F-90567B2CE0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338" y="457199"/>
            <a:ext cx="7368062" cy="621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898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F6AA-10AA-1951-73F7-CC9AB5BE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8130" name="Picture 2" descr="[object Object]">
            <a:extLst>
              <a:ext uri="{FF2B5EF4-FFF2-40B4-BE49-F238E27FC236}">
                <a16:creationId xmlns:a16="http://schemas.microsoft.com/office/drawing/2014/main" id="{157DD735-AB79-2A51-94CD-4122878170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775" y="1828800"/>
            <a:ext cx="50800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140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ROC Analysis</a:t>
            </a:r>
          </a:p>
        </p:txBody>
      </p:sp>
      <p:sp>
        <p:nvSpPr>
          <p:cNvPr id="83971" name="Line 6"/>
          <p:cNvSpPr>
            <a:spLocks noChangeShapeType="1"/>
          </p:cNvSpPr>
          <p:nvPr/>
        </p:nvSpPr>
        <p:spPr bwMode="auto">
          <a:xfrm flipH="1" flipV="1">
            <a:off x="2286000" y="16764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2" name="Line 7"/>
          <p:cNvSpPr>
            <a:spLocks noChangeShapeType="1"/>
          </p:cNvSpPr>
          <p:nvPr/>
        </p:nvSpPr>
        <p:spPr bwMode="auto">
          <a:xfrm flipV="1">
            <a:off x="2286000" y="46482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3" name="Text Box 8"/>
          <p:cNvSpPr txBox="1">
            <a:spLocks noChangeArrowheads="1"/>
          </p:cNvSpPr>
          <p:nvPr/>
        </p:nvSpPr>
        <p:spPr bwMode="auto">
          <a:xfrm>
            <a:off x="3124200" y="4724400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1 - specificity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3974" name="Text Box 9"/>
          <p:cNvSpPr txBox="1">
            <a:spLocks noChangeArrowheads="1"/>
          </p:cNvSpPr>
          <p:nvPr/>
        </p:nvSpPr>
        <p:spPr bwMode="auto">
          <a:xfrm>
            <a:off x="1143000" y="2667000"/>
            <a:ext cx="1447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sensitivity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3975" name="Line 10"/>
          <p:cNvSpPr>
            <a:spLocks noChangeShapeType="1"/>
          </p:cNvSpPr>
          <p:nvPr/>
        </p:nvSpPr>
        <p:spPr bwMode="auto">
          <a:xfrm flipV="1">
            <a:off x="2362200" y="2438400"/>
            <a:ext cx="22860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6" name="Line 11"/>
          <p:cNvSpPr>
            <a:spLocks noChangeShapeType="1"/>
          </p:cNvSpPr>
          <p:nvPr/>
        </p:nvSpPr>
        <p:spPr bwMode="auto">
          <a:xfrm flipV="1">
            <a:off x="2590800" y="2057400"/>
            <a:ext cx="381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7" name="Line 12"/>
          <p:cNvSpPr>
            <a:spLocks noChangeShapeType="1"/>
          </p:cNvSpPr>
          <p:nvPr/>
        </p:nvSpPr>
        <p:spPr bwMode="auto">
          <a:xfrm flipV="1">
            <a:off x="2971800" y="1905000"/>
            <a:ext cx="3810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8" name="Line 13"/>
          <p:cNvSpPr>
            <a:spLocks noChangeShapeType="1"/>
          </p:cNvSpPr>
          <p:nvPr/>
        </p:nvSpPr>
        <p:spPr bwMode="auto">
          <a:xfrm flipV="1">
            <a:off x="4038600" y="1676400"/>
            <a:ext cx="4572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9" name="Line 14"/>
          <p:cNvSpPr>
            <a:spLocks noChangeShapeType="1"/>
          </p:cNvSpPr>
          <p:nvPr/>
        </p:nvSpPr>
        <p:spPr bwMode="auto">
          <a:xfrm flipV="1">
            <a:off x="4495800" y="1676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80" name="Line 15"/>
          <p:cNvSpPr>
            <a:spLocks noChangeShapeType="1"/>
          </p:cNvSpPr>
          <p:nvPr/>
        </p:nvSpPr>
        <p:spPr bwMode="auto">
          <a:xfrm flipV="1">
            <a:off x="3352800" y="1752600"/>
            <a:ext cx="6858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81" name="Text Box 16"/>
          <p:cNvSpPr txBox="1">
            <a:spLocks noChangeArrowheads="1"/>
          </p:cNvSpPr>
          <p:nvPr/>
        </p:nvSpPr>
        <p:spPr bwMode="auto">
          <a:xfrm>
            <a:off x="6096000" y="4572000"/>
            <a:ext cx="18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3600">
              <a:latin typeface="Arial" panose="020B0604020202020204" pitchFamily="34" charset="0"/>
            </a:endParaRPr>
          </a:p>
        </p:txBody>
      </p:sp>
      <p:sp>
        <p:nvSpPr>
          <p:cNvPr id="83982" name="Line 17"/>
          <p:cNvSpPr>
            <a:spLocks noChangeShapeType="1"/>
          </p:cNvSpPr>
          <p:nvPr/>
        </p:nvSpPr>
        <p:spPr bwMode="auto">
          <a:xfrm flipV="1">
            <a:off x="2362200" y="1676400"/>
            <a:ext cx="3200400" cy="2895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83" name="Text Box 18"/>
          <p:cNvSpPr txBox="1">
            <a:spLocks noChangeArrowheads="1"/>
          </p:cNvSpPr>
          <p:nvPr/>
        </p:nvSpPr>
        <p:spPr bwMode="auto">
          <a:xfrm>
            <a:off x="5638800" y="1524000"/>
            <a:ext cx="3276600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All the optimal detectors lie on the convex hull.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Which of these is best depends on the ratio of edges to non-edges, and  the different cost of misclassification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000">
                <a:latin typeface="Arial" panose="020B0604020202020204" pitchFamily="34" charset="0"/>
              </a:rPr>
              <a:t>Any detector on this side can lead to a better detector by flipping its output.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3984" name="Line 19"/>
          <p:cNvSpPr>
            <a:spLocks noChangeShapeType="1"/>
          </p:cNvSpPr>
          <p:nvPr/>
        </p:nvSpPr>
        <p:spPr bwMode="auto">
          <a:xfrm flipH="1" flipV="1">
            <a:off x="4572000" y="38862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85" name="Rectangle 20"/>
          <p:cNvSpPr>
            <a:spLocks noChangeArrowheads="1"/>
          </p:cNvSpPr>
          <p:nvPr/>
        </p:nvSpPr>
        <p:spPr bwMode="auto">
          <a:xfrm>
            <a:off x="990600" y="5486400"/>
            <a:ext cx="8077200" cy="12001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b="1" u="sng">
                <a:latin typeface="Arial" panose="020B0604020202020204" pitchFamily="34" charset="0"/>
              </a:rPr>
              <a:t>Take-home point :</a:t>
            </a:r>
            <a:r>
              <a:rPr lang="en-GB" altLang="en-US" sz="1800">
                <a:latin typeface="Arial" panose="020B0604020202020204" pitchFamily="34" charset="0"/>
              </a:rPr>
              <a:t> You should always quote sensitivity and specificity for your algorithm, if possible plotting an ROC graph.  Remember also though, </a:t>
            </a:r>
            <a:r>
              <a:rPr lang="en-GB" altLang="en-US" sz="1800" u="sng">
                <a:latin typeface="Arial" panose="020B0604020202020204" pitchFamily="34" charset="0"/>
              </a:rPr>
              <a:t>any</a:t>
            </a:r>
            <a:r>
              <a:rPr lang="en-GB" altLang="en-US" sz="1800">
                <a:latin typeface="Arial" panose="020B0604020202020204" pitchFamily="34" charset="0"/>
              </a:rPr>
              <a:t> statistic you quote should be an average over a suitable range of tests for your algorithm.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3986" name="Line 21"/>
          <p:cNvSpPr>
            <a:spLocks noChangeShapeType="1"/>
          </p:cNvSpPr>
          <p:nvPr/>
        </p:nvSpPr>
        <p:spPr bwMode="auto">
          <a:xfrm flipV="1">
            <a:off x="4419600" y="3794125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17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7DB2-164A-7D64-BD15-A58983E4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effectLst/>
              </a:rPr>
              <a:t>Compute Area Under the Receiver Operating Characteristic Curve (ROC AUC) from prediction scores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26275-01B0-EE62-BFD6-D8438BE2E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ffectLst/>
              </a:rPr>
              <a:t>sklearn.metrics.</a:t>
            </a:r>
            <a:r>
              <a:rPr lang="en-US" b="1" dirty="0" err="1">
                <a:effectLst/>
              </a:rPr>
              <a:t>roc_auc_score</a:t>
            </a:r>
            <a:r>
              <a:rPr lang="en-US" dirty="0">
                <a:effectLst/>
              </a:rPr>
              <a:t>(</a:t>
            </a:r>
            <a:r>
              <a:rPr lang="en-US" i="1" dirty="0" err="1">
                <a:effectLst/>
              </a:rPr>
              <a:t>y_true</a:t>
            </a:r>
            <a:r>
              <a:rPr lang="en-US" dirty="0"/>
              <a:t>, </a:t>
            </a:r>
            <a:r>
              <a:rPr lang="en-US" i="1" dirty="0" err="1">
                <a:effectLst/>
              </a:rPr>
              <a:t>y_score</a:t>
            </a:r>
            <a:r>
              <a:rPr lang="en-US" dirty="0"/>
              <a:t>, </a:t>
            </a:r>
            <a:r>
              <a:rPr lang="en-US" b="0" i="1" dirty="0">
                <a:effectLst/>
              </a:rPr>
              <a:t>*</a:t>
            </a:r>
            <a:r>
              <a:rPr lang="en-US" dirty="0"/>
              <a:t>, </a:t>
            </a:r>
            <a:r>
              <a:rPr lang="en-US" i="1" dirty="0">
                <a:effectLst/>
              </a:rPr>
              <a:t>average</a:t>
            </a:r>
            <a:r>
              <a:rPr lang="en-US" b="0" i="1" dirty="0">
                <a:effectLst/>
              </a:rPr>
              <a:t>='macro'</a:t>
            </a:r>
            <a:r>
              <a:rPr lang="en-US" dirty="0"/>
              <a:t>, </a:t>
            </a:r>
            <a:r>
              <a:rPr lang="en-US" i="1" dirty="0" err="1">
                <a:effectLst/>
              </a:rPr>
              <a:t>sample_weight</a:t>
            </a:r>
            <a:r>
              <a:rPr lang="en-US" b="0" i="1" dirty="0">
                <a:effectLst/>
              </a:rPr>
              <a:t>=None</a:t>
            </a:r>
            <a:r>
              <a:rPr lang="en-US" dirty="0"/>
              <a:t>, </a:t>
            </a:r>
            <a:r>
              <a:rPr lang="en-US" i="1" dirty="0" err="1">
                <a:effectLst/>
              </a:rPr>
              <a:t>max_fpr</a:t>
            </a:r>
            <a:r>
              <a:rPr lang="en-US" b="0" i="1" dirty="0">
                <a:effectLst/>
              </a:rPr>
              <a:t>=None</a:t>
            </a:r>
            <a:r>
              <a:rPr lang="en-US" dirty="0"/>
              <a:t>, </a:t>
            </a:r>
            <a:r>
              <a:rPr lang="en-US" i="1" dirty="0" err="1">
                <a:effectLst/>
              </a:rPr>
              <a:t>multi_class</a:t>
            </a:r>
            <a:r>
              <a:rPr lang="en-US" b="0" i="1" dirty="0">
                <a:effectLst/>
              </a:rPr>
              <a:t>='raise'</a:t>
            </a:r>
            <a:r>
              <a:rPr lang="en-US" dirty="0"/>
              <a:t>, </a:t>
            </a:r>
            <a:r>
              <a:rPr lang="en-US" i="1" dirty="0">
                <a:effectLst/>
              </a:rPr>
              <a:t>labels</a:t>
            </a:r>
            <a:r>
              <a:rPr lang="en-US" b="0" i="1" dirty="0">
                <a:effectLst/>
              </a:rPr>
              <a:t>=None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Note: this implementation can be used with binary, multiclass and multilabel classification, but some restrictions apply (see Parameters).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4044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157A-9594-1205-D078-7B3C17C9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B276275-AA36-0F23-37C1-B5B11EA9F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1462292"/>
            <a:ext cx="7499350" cy="4771615"/>
          </a:xfrm>
        </p:spPr>
      </p:pic>
    </p:spTree>
    <p:extLst>
      <p:ext uri="{BB962C8B-B14F-4D97-AF65-F5344CB8AC3E}">
        <p14:creationId xmlns:p14="http://schemas.microsoft.com/office/powerpoint/2010/main" val="3273159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Classification Performances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430" y="1447800"/>
            <a:ext cx="693069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4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Regression Metrics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668" y="2743200"/>
            <a:ext cx="7912782" cy="210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98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FE52-30DB-925A-4265-E2EE53DE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9154" name="Picture 2" descr="What Really is R2-Score in Linear Regression? | by Benjamin ...">
            <a:extLst>
              <a:ext uri="{FF2B5EF4-FFF2-40B4-BE49-F238E27FC236}">
                <a16:creationId xmlns:a16="http://schemas.microsoft.com/office/drawing/2014/main" id="{732A988B-E7A3-092D-69B5-3991C2AA22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00" y="1586791"/>
            <a:ext cx="7499350" cy="45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218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Clustering Metrics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0" y="2587147"/>
            <a:ext cx="7499350" cy="25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5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Holdout estimation </a:t>
            </a:r>
            <a:br>
              <a:rPr lang="en-US" altLang="en-US" dirty="0"/>
            </a:br>
            <a:r>
              <a:rPr lang="en-US" altLang="en-US" dirty="0"/>
              <a:t>(random splitting)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848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What to do if the amount of data is limited?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</a:t>
            </a:r>
            <a:r>
              <a:rPr lang="en-US" altLang="en-US" sz="2800" i="1" dirty="0"/>
              <a:t>holdout</a:t>
            </a:r>
            <a:r>
              <a:rPr lang="en-US" altLang="en-US" sz="2800" dirty="0"/>
              <a:t> method reserves a certain amount for testing and uses the remainder for training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marL="457200" lvl="1" indent="0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ym typeface="Wingdings" panose="05000000000000000000" pitchFamily="2" charset="2"/>
              </a:rPr>
              <a:t></a:t>
            </a:r>
            <a:r>
              <a:rPr lang="en-US" altLang="en-US" sz="2400" dirty="0"/>
              <a:t>Usually: one third for testing, the rest for training</a:t>
            </a:r>
          </a:p>
        </p:txBody>
      </p:sp>
    </p:spTree>
    <p:extLst>
      <p:ext uri="{BB962C8B-B14F-4D97-AF65-F5344CB8AC3E}">
        <p14:creationId xmlns:p14="http://schemas.microsoft.com/office/powerpoint/2010/main" val="1910825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Holdout estimation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848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Problem: the samples might not be representative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Example: class might be missing in the test data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Advanced version uses </a:t>
            </a:r>
            <a:r>
              <a:rPr lang="en-US" altLang="en-US" sz="2800" i="1"/>
              <a:t>stratification</a:t>
            </a:r>
            <a:endParaRPr lang="en-US" altLang="en-US" sz="28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Ensures that each class is represented with approximately equal proportions in both subsets</a:t>
            </a:r>
          </a:p>
        </p:txBody>
      </p:sp>
    </p:spTree>
    <p:extLst>
      <p:ext uri="{BB962C8B-B14F-4D97-AF65-F5344CB8AC3E}">
        <p14:creationId xmlns:p14="http://schemas.microsoft.com/office/powerpoint/2010/main" val="17281057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Repeated holdout method</a:t>
            </a:r>
          </a:p>
        </p:txBody>
      </p:sp>
      <p:sp>
        <p:nvSpPr>
          <p:cNvPr id="131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7543800" cy="41148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/>
              <a:t>Repeat process with different subsamples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800" dirty="0">
                <a:sym typeface="Wingdings" pitchFamily="2" charset="2"/>
              </a:rPr>
              <a:t> more reliable</a:t>
            </a:r>
            <a:endParaRPr lang="en-US" sz="2800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800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In each iteration, a certain proportion is randomly selected for training (possibly with </a:t>
            </a:r>
            <a:r>
              <a:rPr lang="en-US" sz="2400" dirty="0" err="1"/>
              <a:t>stratificiation</a:t>
            </a:r>
            <a:r>
              <a:rPr lang="en-US" sz="2400" dirty="0"/>
              <a:t>)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sz="2400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/>
              <a:t>The error rates on the different iterations are averaged to yield an overall error rate</a:t>
            </a:r>
          </a:p>
        </p:txBody>
      </p:sp>
    </p:spTree>
    <p:extLst>
      <p:ext uri="{BB962C8B-B14F-4D97-AF65-F5344CB8AC3E}">
        <p14:creationId xmlns:p14="http://schemas.microsoft.com/office/powerpoint/2010/main" val="652036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Repeated holdout method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7543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Still not optimum: the different test sets overlap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Can we prevent overlapping?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Of course!</a:t>
            </a:r>
          </a:p>
        </p:txBody>
      </p:sp>
    </p:spTree>
    <p:extLst>
      <p:ext uri="{BB962C8B-B14F-4D97-AF65-F5344CB8AC3E}">
        <p14:creationId xmlns:p14="http://schemas.microsoft.com/office/powerpoint/2010/main" val="26944341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Cross-validation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i="1"/>
              <a:t>Cross-validation</a:t>
            </a:r>
            <a:r>
              <a:rPr lang="en-US" altLang="en-US" sz="2800"/>
              <a:t> avoids overlapping test sets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First step: split data into </a:t>
            </a:r>
            <a:r>
              <a:rPr lang="en-US" altLang="en-US" sz="2400" i="1"/>
              <a:t>k</a:t>
            </a:r>
            <a:r>
              <a:rPr lang="en-US" altLang="en-US" sz="2400"/>
              <a:t> subsets of equal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Second step: use each subset in turn for testing, the remainder for training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Called </a:t>
            </a:r>
            <a:r>
              <a:rPr lang="en-US" altLang="en-US" sz="2800" i="1"/>
              <a:t>k-fold cross-validation</a:t>
            </a: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3243313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A6A5-7C9E-D446-B2FB-37BC88BB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pic>
        <p:nvPicPr>
          <p:cNvPr id="5" name="Picture 2" descr="3.1. Cross-validation: evaluating estimator performance — scikit-learn  0.23.2 documentation">
            <a:extLst>
              <a:ext uri="{FF2B5EF4-FFF2-40B4-BE49-F238E27FC236}">
                <a16:creationId xmlns:a16="http://schemas.microsoft.com/office/drawing/2014/main" id="{5729E90C-5417-8A45-BFEB-E0761E1933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1485900"/>
            <a:ext cx="6659033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750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Cross-validation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Often the subsets are stratified before the cross-validation is performed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error estimates are averaged to yield an overall error estimate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2953490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on cross-validation</a:t>
            </a:r>
          </a:p>
        </p:txBody>
      </p:sp>
      <p:sp>
        <p:nvSpPr>
          <p:cNvPr id="131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447800"/>
            <a:ext cx="7696200" cy="41148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Standard method for evaluation: stratified ten-fold cross-validation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Why ten?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Empirical evidence supports this as a good choice to get an accurate estimate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There is also some theoretical evidence for this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Stratification reduces the estimate’s variance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Even better: repeated stratified cross-validation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E.g. ten-fold cross-validation is repeated ten times and results are averaged (reduces the variance)</a:t>
            </a:r>
          </a:p>
        </p:txBody>
      </p:sp>
    </p:spTree>
    <p:extLst>
      <p:ext uri="{BB962C8B-B14F-4D97-AF65-F5344CB8AC3E}">
        <p14:creationId xmlns:p14="http://schemas.microsoft.com/office/powerpoint/2010/main" val="22603379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Leave-One-Out cross-validation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Leave-One-Out:</a:t>
            </a:r>
            <a:br>
              <a:rPr lang="en-US" altLang="en-US" sz="2800"/>
            </a:br>
            <a:r>
              <a:rPr lang="en-US" altLang="en-US" sz="2800"/>
              <a:t>a particular form of cross-validation:</a:t>
            </a:r>
          </a:p>
          <a:p>
            <a:pPr lvl="1" eaLnBrk="1" hangingPunct="1"/>
            <a:r>
              <a:rPr lang="en-US" altLang="en-US" sz="2400"/>
              <a:t>Set number of folds to number of training instances</a:t>
            </a:r>
          </a:p>
          <a:p>
            <a:pPr lvl="1" eaLnBrk="1" hangingPunct="1"/>
            <a:r>
              <a:rPr lang="en-US" altLang="en-US" sz="2400"/>
              <a:t>I.e., for </a:t>
            </a:r>
            <a:r>
              <a:rPr lang="en-US" altLang="en-US" sz="2400" i="1"/>
              <a:t>n</a:t>
            </a:r>
            <a:r>
              <a:rPr lang="en-US" altLang="en-US" sz="2400"/>
              <a:t> training instances, build classifier </a:t>
            </a:r>
            <a:r>
              <a:rPr lang="en-US" altLang="en-US" sz="2400" i="1"/>
              <a:t>n</a:t>
            </a:r>
            <a:r>
              <a:rPr lang="en-US" altLang="en-US" sz="2400"/>
              <a:t> times</a:t>
            </a:r>
          </a:p>
          <a:p>
            <a:pPr eaLnBrk="1" hangingPunct="1"/>
            <a:r>
              <a:rPr lang="en-US" altLang="en-US" sz="2800"/>
              <a:t>Makes best use of the data</a:t>
            </a:r>
          </a:p>
          <a:p>
            <a:pPr eaLnBrk="1" hangingPunct="1"/>
            <a:r>
              <a:rPr lang="en-US" altLang="en-US" sz="2800"/>
              <a:t>Involves no random subsampling </a:t>
            </a:r>
          </a:p>
          <a:p>
            <a:pPr eaLnBrk="1" hangingPunct="1"/>
            <a:r>
              <a:rPr lang="en-US" altLang="en-US" sz="2800"/>
              <a:t>Very computationally expensive</a:t>
            </a:r>
          </a:p>
          <a:p>
            <a:pPr lvl="1" eaLnBrk="1" hangingPunct="1"/>
            <a:r>
              <a:rPr lang="en-US" altLang="en-US" sz="2400"/>
              <a:t>(exception: NN)</a:t>
            </a:r>
          </a:p>
        </p:txBody>
      </p:sp>
    </p:spTree>
    <p:extLst>
      <p:ext uri="{BB962C8B-B14F-4D97-AF65-F5344CB8AC3E}">
        <p14:creationId xmlns:p14="http://schemas.microsoft.com/office/powerpoint/2010/main" val="22296741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93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Leave-One-Out-CV and stratification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Disadvantage of Leave-One-Out-CV: stratification is not possible</a:t>
            </a:r>
          </a:p>
          <a:p>
            <a:pPr lvl="1" eaLnBrk="1" hangingPunct="1"/>
            <a:r>
              <a:rPr lang="en-US" altLang="en-US" sz="2400"/>
              <a:t>It </a:t>
            </a:r>
            <a:r>
              <a:rPr lang="en-US" altLang="en-US" sz="2400" i="1"/>
              <a:t>guarantees</a:t>
            </a:r>
            <a:r>
              <a:rPr lang="en-US" altLang="en-US" sz="2400"/>
              <a:t> a non-stratified sample because there is only one instance in the test set!</a:t>
            </a:r>
          </a:p>
          <a:p>
            <a:pPr eaLnBrk="1" hangingPunct="1"/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0782908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Cross-Validation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8DC725E-4115-4786-8A56-EA4079F6953E}" type="slidenum">
              <a:rPr lang="tr-TR"/>
              <a:pPr/>
              <a:t>46</a:t>
            </a:fld>
            <a:endParaRPr lang="tr-TR"/>
          </a:p>
        </p:txBody>
      </p:sp>
      <p:sp>
        <p:nvSpPr>
          <p:cNvPr id="1269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/>
              <a:t>To estimate generalization error, we need data unseen during training. We split the data as</a:t>
            </a:r>
          </a:p>
          <a:p>
            <a:pPr lvl="1"/>
            <a:r>
              <a:rPr lang="tr-TR" sz="2400"/>
              <a:t>Training set (50%)</a:t>
            </a:r>
          </a:p>
          <a:p>
            <a:pPr lvl="1"/>
            <a:r>
              <a:rPr lang="tr-TR" sz="2400"/>
              <a:t>Validation set (25%)</a:t>
            </a:r>
          </a:p>
          <a:p>
            <a:pPr lvl="1"/>
            <a:r>
              <a:rPr lang="tr-TR" sz="2400"/>
              <a:t>Test (publication) set (25%)</a:t>
            </a:r>
          </a:p>
          <a:p>
            <a:r>
              <a:rPr lang="tr-TR"/>
              <a:t>Resampling when there is few data</a:t>
            </a:r>
          </a:p>
        </p:txBody>
      </p:sp>
    </p:spTree>
    <p:extLst>
      <p:ext uri="{BB962C8B-B14F-4D97-AF65-F5344CB8AC3E}">
        <p14:creationId xmlns:p14="http://schemas.microsoft.com/office/powerpoint/2010/main" val="5410073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C025-94DE-A24A-A799-65EAF11F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of Hold-out and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54371-4D74-9E49-A600-EDB2245A2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high redundancy or similarity among training samples leads to over-estimation of </a:t>
            </a:r>
            <a:r>
              <a:rPr lang="en-US" dirty="0" err="1"/>
              <a:t>performance</a:t>
            </a:r>
            <a:r>
              <a:rPr lang="en-US" dirty="0" err="1">
                <a:sym typeface="Wingdings" pitchFamily="2" charset="2"/>
              </a:rPr>
              <a:t>Low</a:t>
            </a:r>
            <a:r>
              <a:rPr lang="en-US" dirty="0">
                <a:sym typeface="Wingdings" pitchFamily="2" charset="2"/>
              </a:rPr>
              <a:t> performance on extrapolation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388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FAC6-9918-3E4A-B743-11BFCA89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extrapolation performance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065A70-0C77-7D4F-8F3E-56D5CFA37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080" y="1447800"/>
            <a:ext cx="483339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51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i="1" dirty="0">
                <a:solidFill>
                  <a:srgbClr val="FF0000"/>
                </a:solidFill>
              </a:rPr>
              <a:t>http://www.cmpe.boun.edu.tr/~ethem/i2ml3e</a:t>
            </a:r>
          </a:p>
          <a:p>
            <a:pPr fontAlgn="ctr"/>
            <a:r>
              <a:rPr lang="en-US" dirty="0"/>
              <a:t>https://users.cs.fiu.edu/~taoli/class/CAP4770-F10/class08.ppt</a:t>
            </a:r>
          </a:p>
          <a:p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02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21165</TotalTime>
  <Words>1470</Words>
  <Application>Microsoft Macintosh PowerPoint</Application>
  <PresentationFormat>On-screen Show (4:3)</PresentationFormat>
  <Paragraphs>244</Paragraphs>
  <Slides>49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2" baseType="lpstr">
      <vt:lpstr>medium-content-serif-font</vt:lpstr>
      <vt:lpstr>medium-content-title-font</vt:lpstr>
      <vt:lpstr>Arial</vt:lpstr>
      <vt:lpstr>Calibri</vt:lpstr>
      <vt:lpstr>Gill Sans MT</vt:lpstr>
      <vt:lpstr>Lucida Bright</vt:lpstr>
      <vt:lpstr>Lucida Calligraphy</vt:lpstr>
      <vt:lpstr>Symbol</vt:lpstr>
      <vt:lpstr>Verdana</vt:lpstr>
      <vt:lpstr>Wingdings</vt:lpstr>
      <vt:lpstr>Wingdings 2</vt:lpstr>
      <vt:lpstr>Solstice</vt:lpstr>
      <vt:lpstr>Equation</vt:lpstr>
      <vt:lpstr>CSCE883 Machine Learning</vt:lpstr>
      <vt:lpstr>Classification</vt:lpstr>
      <vt:lpstr>Bayes’ Rule</vt:lpstr>
      <vt:lpstr>Bayes’ Rule: K&gt;2 Classes</vt:lpstr>
      <vt:lpstr>Losses and Risks</vt:lpstr>
      <vt:lpstr>Losses and Risks: 0/1 Loss</vt:lpstr>
      <vt:lpstr>Losses and Risks: Reject</vt:lpstr>
      <vt:lpstr>Different Losses and Reject</vt:lpstr>
      <vt:lpstr>Discriminant Functions</vt:lpstr>
      <vt:lpstr>K=2 Classes</vt:lpstr>
      <vt:lpstr>Utility Theory (in Reinforcement learning)</vt:lpstr>
      <vt:lpstr>Model Selection &amp; Generalization</vt:lpstr>
      <vt:lpstr>Triple Trade-Off</vt:lpstr>
      <vt:lpstr>Evaluation of Classifiers</vt:lpstr>
      <vt:lpstr>PowerPoint Presentation</vt:lpstr>
      <vt:lpstr>PowerPoint Presentation</vt:lpstr>
      <vt:lpstr>Types of errors</vt:lpstr>
      <vt:lpstr>Types of errors</vt:lpstr>
      <vt:lpstr>PowerPoint Presentation</vt:lpstr>
      <vt:lpstr>Sensitivity and Specificity</vt:lpstr>
      <vt:lpstr>PowerPoint Presentation</vt:lpstr>
      <vt:lpstr>Precision and Recall &amp;F1-score</vt:lpstr>
      <vt:lpstr>MCC</vt:lpstr>
      <vt:lpstr>The ROC space</vt:lpstr>
      <vt:lpstr>The ROC Curve</vt:lpstr>
      <vt:lpstr>ROC curve.  AUC</vt:lpstr>
      <vt:lpstr>PowerPoint Presentation</vt:lpstr>
      <vt:lpstr>PowerPoint Presentation</vt:lpstr>
      <vt:lpstr>ROC Analysis</vt:lpstr>
      <vt:lpstr>Compute Area Under the Receiver Operating Characteristic Curve (ROC AUC) from prediction scores</vt:lpstr>
      <vt:lpstr>PowerPoint Presentation</vt:lpstr>
      <vt:lpstr>Classification Performances</vt:lpstr>
      <vt:lpstr>Regression Metrics</vt:lpstr>
      <vt:lpstr>PowerPoint Presentation</vt:lpstr>
      <vt:lpstr>Clustering Metrics</vt:lpstr>
      <vt:lpstr>Holdout estimation  (random splitting)</vt:lpstr>
      <vt:lpstr>Holdout estimation</vt:lpstr>
      <vt:lpstr>Repeated holdout method</vt:lpstr>
      <vt:lpstr>Repeated holdout method</vt:lpstr>
      <vt:lpstr>Cross-validation</vt:lpstr>
      <vt:lpstr>K-fold cross-validation</vt:lpstr>
      <vt:lpstr>Cross-validation</vt:lpstr>
      <vt:lpstr>More on cross-validation</vt:lpstr>
      <vt:lpstr>Leave-One-Out cross-validation</vt:lpstr>
      <vt:lpstr>Leave-One-Out-CV and stratification</vt:lpstr>
      <vt:lpstr>Cross-Validation</vt:lpstr>
      <vt:lpstr>Limitation of Hold-out and CV</vt:lpstr>
      <vt:lpstr>Low extrapolation performance</vt:lpstr>
      <vt:lpstr>Acknowledgements</vt:lpstr>
    </vt:vector>
  </TitlesOfParts>
  <Company>University of South Carolina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jianjunh</dc:creator>
  <cp:lastModifiedBy>Hu, Jianjun</cp:lastModifiedBy>
  <cp:revision>146</cp:revision>
  <dcterms:created xsi:type="dcterms:W3CDTF">2016-01-10T23:57:09Z</dcterms:created>
  <dcterms:modified xsi:type="dcterms:W3CDTF">2024-09-19T17:14:32Z</dcterms:modified>
</cp:coreProperties>
</file>