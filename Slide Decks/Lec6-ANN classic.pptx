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4"/>
  </p:notesMasterIdLst>
  <p:handoutMasterIdLst>
    <p:handoutMasterId r:id="rId75"/>
  </p:handoutMasterIdLst>
  <p:sldIdLst>
    <p:sldId id="256" r:id="rId2"/>
    <p:sldId id="356" r:id="rId3"/>
    <p:sldId id="357" r:id="rId4"/>
    <p:sldId id="364" r:id="rId5"/>
    <p:sldId id="363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83" r:id="rId25"/>
    <p:sldId id="384" r:id="rId26"/>
    <p:sldId id="386" r:id="rId27"/>
    <p:sldId id="388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0" r:id="rId37"/>
    <p:sldId id="401" r:id="rId38"/>
    <p:sldId id="402" r:id="rId39"/>
    <p:sldId id="403" r:id="rId40"/>
    <p:sldId id="435" r:id="rId41"/>
    <p:sldId id="404" r:id="rId42"/>
    <p:sldId id="405" r:id="rId43"/>
    <p:sldId id="406" r:id="rId44"/>
    <p:sldId id="407" r:id="rId45"/>
    <p:sldId id="408" r:id="rId46"/>
    <p:sldId id="409" r:id="rId47"/>
    <p:sldId id="410" r:id="rId48"/>
    <p:sldId id="411" r:id="rId49"/>
    <p:sldId id="412" r:id="rId50"/>
    <p:sldId id="413" r:id="rId51"/>
    <p:sldId id="414" r:id="rId52"/>
    <p:sldId id="415" r:id="rId53"/>
    <p:sldId id="416" r:id="rId54"/>
    <p:sldId id="417" r:id="rId55"/>
    <p:sldId id="418" r:id="rId56"/>
    <p:sldId id="419" r:id="rId57"/>
    <p:sldId id="420" r:id="rId58"/>
    <p:sldId id="421" r:id="rId59"/>
    <p:sldId id="422" r:id="rId60"/>
    <p:sldId id="423" r:id="rId61"/>
    <p:sldId id="424" r:id="rId62"/>
    <p:sldId id="425" r:id="rId63"/>
    <p:sldId id="426" r:id="rId64"/>
    <p:sldId id="427" r:id="rId65"/>
    <p:sldId id="428" r:id="rId66"/>
    <p:sldId id="429" r:id="rId67"/>
    <p:sldId id="430" r:id="rId68"/>
    <p:sldId id="431" r:id="rId69"/>
    <p:sldId id="432" r:id="rId70"/>
    <p:sldId id="433" r:id="rId71"/>
    <p:sldId id="434" r:id="rId72"/>
    <p:sldId id="354" r:id="rId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17" d="100"/>
          <a:sy n="117" d="100"/>
        </p:scale>
        <p:origin x="192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502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8DDF0-2F1A-4496-8269-66CEE088B180}" type="datetimeFigureOut">
              <a:rPr lang="en-US" smtClean="0"/>
              <a:t>9/19/24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CAF37-003C-47AF-8570-21AA25E6F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17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39702-A297-4D89-83BF-BB47F00D9574}" type="datetimeFigureOut">
              <a:rPr lang="en-US" smtClean="0"/>
              <a:t>9/19/24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3DB24-E602-421D-9DCF-EE074627A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5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C3DB24-E602-421D-9DCF-EE074627AF4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12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00200"/>
            <a:ext cx="3810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027D80-DFD6-43C9-B354-A4A7A15A4F9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67533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00200"/>
            <a:ext cx="3810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38100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24300"/>
            <a:ext cx="38100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CC62CF-D940-492C-A996-D899D1BE2AE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54470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8C65EC-9BCF-4B09-9A3D-04D2AC67E7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544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B4A018-C859-4497-92C7-53FFA23D16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91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Online/ANN%20Handwriting%20Recognizer.htm" TargetMode="External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audio" Target="../media/audio3.wav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adsabs.harvard.edu/abs/1986Natur.323..533R" TargetMode="External"/><Relationship Id="rId2" Type="http://schemas.openxmlformats.org/officeDocument/2006/relationships/hyperlink" Target="https://en.wikipedia.org/wiki/Bibcode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1038%2F323533a0" TargetMode="External"/><Relationship Id="rId4" Type="http://schemas.openxmlformats.org/officeDocument/2006/relationships/hyperlink" Target="https://en.wikipedia.org/wiki/Digital_object_identifier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oleObject" Target="../embeddings/oleObject3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34.wmf"/><Relationship Id="rId18" Type="http://schemas.openxmlformats.org/officeDocument/2006/relationships/oleObject" Target="../embeddings/oleObject12.bin"/><Relationship Id="rId3" Type="http://schemas.openxmlformats.org/officeDocument/2006/relationships/image" Target="../media/image29.wmf"/><Relationship Id="rId21" Type="http://schemas.openxmlformats.org/officeDocument/2006/relationships/oleObject" Target="../embeddings/oleObject14.bin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36.wmf"/><Relationship Id="rId2" Type="http://schemas.openxmlformats.org/officeDocument/2006/relationships/oleObject" Target="../embeddings/oleObject4.bin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5" Type="http://schemas.openxmlformats.org/officeDocument/2006/relationships/image" Target="../media/image35.wmf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37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10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9.png"/><Relationship Id="rId4" Type="http://schemas.openxmlformats.org/officeDocument/2006/relationships/oleObject" Target="../embeddings/oleObject16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19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26.bin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48.png"/><Relationship Id="rId5" Type="http://schemas.openxmlformats.org/officeDocument/2006/relationships/image" Target="../media/image45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27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oleObject" Target="../embeddings/oleObject34.bin"/><Relationship Id="rId18" Type="http://schemas.openxmlformats.org/officeDocument/2006/relationships/image" Target="../media/image56.wmf"/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37.bin"/><Relationship Id="rId2" Type="http://schemas.openxmlformats.org/officeDocument/2006/relationships/oleObject" Target="../embeddings/oleObject28.bin"/><Relationship Id="rId16" Type="http://schemas.openxmlformats.org/officeDocument/2006/relationships/oleObject" Target="../embeddings/oleObject3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0.bin"/><Relationship Id="rId11" Type="http://schemas.openxmlformats.org/officeDocument/2006/relationships/oleObject" Target="../embeddings/oleObject33.bin"/><Relationship Id="rId5" Type="http://schemas.openxmlformats.org/officeDocument/2006/relationships/image" Target="../media/image51.wmf"/><Relationship Id="rId15" Type="http://schemas.openxmlformats.org/officeDocument/2006/relationships/image" Target="../media/image55.wmf"/><Relationship Id="rId10" Type="http://schemas.openxmlformats.org/officeDocument/2006/relationships/image" Target="../media/image53.png"/><Relationship Id="rId4" Type="http://schemas.openxmlformats.org/officeDocument/2006/relationships/oleObject" Target="../embeddings/oleObject29.bin"/><Relationship Id="rId9" Type="http://schemas.openxmlformats.org/officeDocument/2006/relationships/oleObject" Target="../embeddings/oleObject32.bin"/><Relationship Id="rId14" Type="http://schemas.openxmlformats.org/officeDocument/2006/relationships/oleObject" Target="../embeddings/oleObject3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61.wmf"/><Relationship Id="rId3" Type="http://schemas.openxmlformats.org/officeDocument/2006/relationships/image" Target="../media/image53.png"/><Relationship Id="rId7" Type="http://schemas.openxmlformats.org/officeDocument/2006/relationships/image" Target="../media/image58.png"/><Relationship Id="rId12" Type="http://schemas.openxmlformats.org/officeDocument/2006/relationships/oleObject" Target="../embeddings/oleObject43.bin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60.png"/><Relationship Id="rId5" Type="http://schemas.openxmlformats.org/officeDocument/2006/relationships/image" Target="../media/image57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3.png"/><Relationship Id="rId4" Type="http://schemas.openxmlformats.org/officeDocument/2006/relationships/oleObject" Target="../embeddings/oleObject45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7.png"/><Relationship Id="rId4" Type="http://schemas.openxmlformats.org/officeDocument/2006/relationships/oleObject" Target="../embeddings/oleObject48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png"/><Relationship Id="rId4" Type="http://schemas.openxmlformats.org/officeDocument/2006/relationships/oleObject" Target="../embeddings/oleObject50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72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image" Target="../media/image74.wmf"/><Relationship Id="rId7" Type="http://schemas.openxmlformats.org/officeDocument/2006/relationships/image" Target="../media/image76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55.bin"/><Relationship Id="rId9" Type="http://schemas.openxmlformats.org/officeDocument/2006/relationships/image" Target="../media/image77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82.wmf"/><Relationship Id="rId5" Type="http://schemas.openxmlformats.org/officeDocument/2006/relationships/image" Target="../media/image79.w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81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4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wmf"/><Relationship Id="rId4" Type="http://schemas.openxmlformats.org/officeDocument/2006/relationships/oleObject" Target="../embeddings/oleObject65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image" Target="../media/image87.png"/><Relationship Id="rId7" Type="http://schemas.openxmlformats.org/officeDocument/2006/relationships/image" Target="../media/image89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88.png"/><Relationship Id="rId4" Type="http://schemas.openxmlformats.org/officeDocument/2006/relationships/oleObject" Target="../embeddings/oleObject67.bin"/><Relationship Id="rId9" Type="http://schemas.openxmlformats.org/officeDocument/2006/relationships/image" Target="../media/image90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3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92.wmf"/><Relationship Id="rId4" Type="http://schemas.openxmlformats.org/officeDocument/2006/relationships/oleObject" Target="../embeddings/oleObject71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3" Type="http://schemas.openxmlformats.org/officeDocument/2006/relationships/image" Target="../media/image94.wmf"/><Relationship Id="rId7" Type="http://schemas.openxmlformats.org/officeDocument/2006/relationships/image" Target="../media/image96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95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97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oleObject" Target="../embeddings/oleObject79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image" Target="../media/image101.wmf"/><Relationship Id="rId7" Type="http://schemas.openxmlformats.org/officeDocument/2006/relationships/oleObject" Target="../embeddings/oleObject83.bin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102.wmf"/><Relationship Id="rId4" Type="http://schemas.openxmlformats.org/officeDocument/2006/relationships/oleObject" Target="../embeddings/oleObject81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859302"/>
          </a:xfrm>
        </p:spPr>
        <p:txBody>
          <a:bodyPr/>
          <a:lstStyle/>
          <a:p>
            <a:r>
              <a:rPr lang="en-US" dirty="0"/>
              <a:t>CSCE</a:t>
            </a:r>
            <a:r>
              <a:rPr lang="en-US" altLang="zh-CN" dirty="0"/>
              <a:t>883</a:t>
            </a:r>
            <a:r>
              <a:rPr lang="en-US" dirty="0"/>
              <a:t> </a:t>
            </a:r>
            <a:r>
              <a:rPr lang="en-US" altLang="zh-CN" dirty="0"/>
              <a:t>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038600"/>
            <a:ext cx="7406640" cy="23622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Lecture 6 </a:t>
            </a:r>
            <a:r>
              <a:rPr lang="en-US" altLang="zh-CN" dirty="0"/>
              <a:t>Neural Networks and Deep Learning </a:t>
            </a:r>
            <a:endParaRPr lang="en-US" dirty="0"/>
          </a:p>
          <a:p>
            <a:pPr algn="ctr"/>
            <a:r>
              <a:rPr lang="en-US" dirty="0"/>
              <a:t>Jianjun Hu</a:t>
            </a:r>
          </a:p>
          <a:p>
            <a:pPr algn="ctr"/>
            <a:r>
              <a:rPr lang="en-US" dirty="0"/>
              <a:t>Department of Computer Science &amp; Engineering</a:t>
            </a:r>
          </a:p>
          <a:p>
            <a:pPr algn="ctr"/>
            <a:r>
              <a:rPr lang="en-US" dirty="0"/>
              <a:t>University of South Carolina</a:t>
            </a:r>
          </a:p>
        </p:txBody>
      </p:sp>
      <p:pic>
        <p:nvPicPr>
          <p:cNvPr id="11266" name="Picture 2" descr="Image result for university of south carolina 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76400"/>
            <a:ext cx="3578225" cy="201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344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222375" y="0"/>
            <a:ext cx="7772400" cy="1143000"/>
          </a:xfrm>
        </p:spPr>
        <p:txBody>
          <a:bodyPr/>
          <a:lstStyle/>
          <a:p>
            <a:r>
              <a:rPr lang="en-GB" altLang="en-US" dirty="0"/>
              <a:t>Artificial Neural Networks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125538"/>
            <a:ext cx="7772400" cy="5399087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GB" altLang="en-US" dirty="0"/>
              <a:t>What are Neural Networks?</a:t>
            </a:r>
          </a:p>
          <a:p>
            <a:pPr eaLnBrk="1" hangingPunct="1"/>
            <a:r>
              <a:rPr lang="en-GB" altLang="en-US" dirty="0"/>
              <a:t>Biological Neural Networks</a:t>
            </a:r>
          </a:p>
          <a:p>
            <a:pPr eaLnBrk="1" hangingPunct="1"/>
            <a:r>
              <a:rPr lang="en-GB" altLang="en-US" dirty="0"/>
              <a:t>ANN – The basics</a:t>
            </a:r>
          </a:p>
          <a:p>
            <a:pPr eaLnBrk="1" hangingPunct="1"/>
            <a:r>
              <a:rPr lang="en-GB" altLang="en-US" dirty="0"/>
              <a:t>Feed forward net</a:t>
            </a:r>
          </a:p>
          <a:p>
            <a:pPr eaLnBrk="1" hangingPunct="1"/>
            <a:r>
              <a:rPr lang="en-GB" altLang="en-US" dirty="0"/>
              <a:t>Training-Back propagation algorithm</a:t>
            </a:r>
          </a:p>
          <a:p>
            <a:pPr eaLnBrk="1" hangingPunct="1"/>
            <a:r>
              <a:rPr lang="en-GB" altLang="en-US" dirty="0"/>
              <a:t>Example – Voice recognition</a:t>
            </a:r>
          </a:p>
          <a:p>
            <a:pPr eaLnBrk="1" hangingPunct="1"/>
            <a:r>
              <a:rPr lang="en-GB" altLang="en-US" dirty="0"/>
              <a:t>Applications – Feed forward nets</a:t>
            </a:r>
          </a:p>
          <a:p>
            <a:pPr eaLnBrk="1" hangingPunct="1"/>
            <a:r>
              <a:rPr lang="en-GB" altLang="en-US" dirty="0" err="1"/>
              <a:t>Recurrency</a:t>
            </a:r>
            <a:endParaRPr lang="en-GB" altLang="en-US" dirty="0"/>
          </a:p>
          <a:p>
            <a:pPr eaLnBrk="1" hangingPunct="1"/>
            <a:r>
              <a:rPr lang="en-GB" altLang="en-US" dirty="0"/>
              <a:t>Elman nets</a:t>
            </a:r>
          </a:p>
          <a:p>
            <a:pPr eaLnBrk="1" hangingPunct="1"/>
            <a:r>
              <a:rPr lang="en-GB" altLang="en-US" dirty="0"/>
              <a:t>Hopfield nets</a:t>
            </a:r>
          </a:p>
          <a:p>
            <a:pPr eaLnBrk="1" hangingPunct="1"/>
            <a:r>
              <a:rPr lang="en-GB" altLang="en-US" dirty="0"/>
              <a:t>Central Pattern Generators</a:t>
            </a:r>
          </a:p>
          <a:p>
            <a:pPr eaLnBrk="1" hangingPunct="1"/>
            <a:r>
              <a:rPr lang="en-GB" alt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23461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22120" y="274638"/>
            <a:ext cx="7498080" cy="1143000"/>
          </a:xfrm>
        </p:spPr>
        <p:txBody>
          <a:bodyPr/>
          <a:lstStyle/>
          <a:p>
            <a:pPr eaLnBrk="1" hangingPunct="1"/>
            <a:r>
              <a:rPr lang="en-GB" altLang="en-US"/>
              <a:t>What are Neural Networks?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2312" y="1600200"/>
            <a:ext cx="7772400" cy="4953000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GB" altLang="en-US"/>
              <a:t>Models of the brain and nervous system</a:t>
            </a:r>
          </a:p>
          <a:p>
            <a:pPr eaLnBrk="1" hangingPunct="1"/>
            <a:r>
              <a:rPr lang="en-GB" altLang="en-US"/>
              <a:t>Highly parallel</a:t>
            </a:r>
          </a:p>
          <a:p>
            <a:pPr lvl="1" eaLnBrk="1" hangingPunct="1"/>
            <a:r>
              <a:rPr lang="en-GB" altLang="en-US"/>
              <a:t>Process information much more like the brain than a serial computer</a:t>
            </a:r>
          </a:p>
          <a:p>
            <a:pPr eaLnBrk="1" hangingPunct="1"/>
            <a:r>
              <a:rPr lang="en-GB" altLang="en-US"/>
              <a:t>Learning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Very simple principles</a:t>
            </a:r>
          </a:p>
          <a:p>
            <a:pPr eaLnBrk="1" hangingPunct="1"/>
            <a:r>
              <a:rPr lang="en-GB" altLang="en-US"/>
              <a:t>Very complex behaviours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Applications</a:t>
            </a:r>
          </a:p>
          <a:p>
            <a:pPr lvl="1" eaLnBrk="1" hangingPunct="1"/>
            <a:r>
              <a:rPr lang="en-GB" altLang="en-US"/>
              <a:t>As powerful problem solvers</a:t>
            </a:r>
          </a:p>
          <a:p>
            <a:pPr lvl="1" eaLnBrk="1" hangingPunct="1"/>
            <a:r>
              <a:rPr lang="en-GB" altLang="en-US"/>
              <a:t>As biological models</a:t>
            </a:r>
          </a:p>
        </p:txBody>
      </p:sp>
    </p:spTree>
    <p:extLst>
      <p:ext uri="{BB962C8B-B14F-4D97-AF65-F5344CB8AC3E}">
        <p14:creationId xmlns:p14="http://schemas.microsoft.com/office/powerpoint/2010/main" val="216554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pPr eaLnBrk="1" hangingPunct="1"/>
            <a:r>
              <a:rPr lang="en-GB" altLang="en-US"/>
              <a:t>Neurone vs. Node</a:t>
            </a:r>
          </a:p>
          <a:p>
            <a:pPr eaLnBrk="1" hangingPunct="1"/>
            <a:endParaRPr lang="en-GB" altLang="en-US"/>
          </a:p>
        </p:txBody>
      </p:sp>
      <p:pic>
        <p:nvPicPr>
          <p:cNvPr id="11267" name="Picture 4" descr="bio neur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/>
          <a:stretch>
            <a:fillRect/>
          </a:stretch>
        </p:blipFill>
        <p:spPr bwMode="auto">
          <a:xfrm>
            <a:off x="1371600" y="1390650"/>
            <a:ext cx="449580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6" descr="no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4"/>
          <a:stretch>
            <a:fillRect/>
          </a:stretch>
        </p:blipFill>
        <p:spPr bwMode="auto">
          <a:xfrm>
            <a:off x="1600200" y="3810000"/>
            <a:ext cx="4857750" cy="283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0"/>
            <a:ext cx="350520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12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ANNs – The basics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ANNs incorporate the two fundamental components of biological neural nets:</a:t>
            </a:r>
          </a:p>
          <a:p>
            <a:pPr eaLnBrk="1" hangingPunct="1"/>
            <a:endParaRPr lang="en-GB" altLang="en-US" sz="3600"/>
          </a:p>
        </p:txBody>
      </p:sp>
      <p:pic>
        <p:nvPicPr>
          <p:cNvPr id="10244" name="Picture 5" descr="ANN stru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25" t="10390" r="11765" b="10947"/>
          <a:stretch>
            <a:fillRect/>
          </a:stretch>
        </p:blipFill>
        <p:spPr bwMode="auto">
          <a:xfrm>
            <a:off x="4889772" y="2757377"/>
            <a:ext cx="403860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Text Box 6"/>
          <p:cNvSpPr txBox="1">
            <a:spLocks noChangeArrowheads="1"/>
          </p:cNvSpPr>
          <p:nvPr/>
        </p:nvSpPr>
        <p:spPr bwMode="auto">
          <a:xfrm>
            <a:off x="1222248" y="3352800"/>
            <a:ext cx="39624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AutoNum type="arabicPeriod"/>
            </a:pPr>
            <a:r>
              <a:rPr lang="en-GB" altLang="en-US" sz="2800" dirty="0"/>
              <a:t> Neurones (nodes)</a:t>
            </a:r>
          </a:p>
          <a:p>
            <a:pPr algn="l" eaLnBrk="1" hangingPunct="1">
              <a:spcBef>
                <a:spcPct val="50000"/>
              </a:spcBef>
              <a:buFontTx/>
              <a:buAutoNum type="arabicPeriod"/>
            </a:pPr>
            <a:r>
              <a:rPr lang="en-GB" altLang="en-US" sz="2800" dirty="0"/>
              <a:t> Synapses (weights)</a:t>
            </a:r>
          </a:p>
        </p:txBody>
      </p:sp>
    </p:spTree>
    <p:extLst>
      <p:ext uri="{BB962C8B-B14F-4D97-AF65-F5344CB8AC3E}">
        <p14:creationId xmlns:p14="http://schemas.microsoft.com/office/powerpoint/2010/main" val="2525458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en-GB" altLang="en-US"/>
              <a:t>Structure of a node: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143000" y="388620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GB" altLang="en-US" sz="2400" dirty="0"/>
              <a:t>Squashing function limits node output:</a:t>
            </a:r>
          </a:p>
          <a:p>
            <a:pPr lvl="1" algn="l" eaLnBrk="1" hangingPunct="1">
              <a:buFontTx/>
              <a:buChar char="-"/>
            </a:pPr>
            <a:endParaRPr lang="en-GB" altLang="en-US" sz="2400" dirty="0"/>
          </a:p>
        </p:txBody>
      </p:sp>
      <p:pic>
        <p:nvPicPr>
          <p:cNvPr id="12292" name="Picture 5" descr="sigmoi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495800"/>
            <a:ext cx="3429000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293" name="Group 7"/>
          <p:cNvGrpSpPr>
            <a:grpSpLocks/>
          </p:cNvGrpSpPr>
          <p:nvPr/>
        </p:nvGrpSpPr>
        <p:grpSpPr bwMode="auto">
          <a:xfrm>
            <a:off x="2133600" y="1066800"/>
            <a:ext cx="4144963" cy="2422525"/>
            <a:chOff x="1344" y="672"/>
            <a:chExt cx="2611" cy="1526"/>
          </a:xfrm>
        </p:grpSpPr>
        <p:pic>
          <p:nvPicPr>
            <p:cNvPr id="12294" name="Picture 4" descr="nod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2" y="672"/>
              <a:ext cx="2563" cy="1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5" name="Rectangle 6"/>
            <p:cNvSpPr>
              <a:spLocks noChangeArrowheads="1"/>
            </p:cNvSpPr>
            <p:nvPr/>
          </p:nvSpPr>
          <p:spPr bwMode="auto">
            <a:xfrm>
              <a:off x="1344" y="1728"/>
              <a:ext cx="1008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01761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pPr eaLnBrk="1" hangingPunct="1"/>
            <a:r>
              <a:rPr lang="en-GB" altLang="en-US"/>
              <a:t>Synapse vs. weight</a:t>
            </a:r>
          </a:p>
        </p:txBody>
      </p:sp>
      <p:pic>
        <p:nvPicPr>
          <p:cNvPr id="13315" name="Picture 4" descr="bio synap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"/>
          <a:stretch>
            <a:fillRect/>
          </a:stretch>
        </p:blipFill>
        <p:spPr bwMode="auto">
          <a:xfrm>
            <a:off x="2286000" y="1219200"/>
            <a:ext cx="4572000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5" descr="weigh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495800"/>
            <a:ext cx="42513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859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b="0"/>
              <a:t>Feed-forward nets</a:t>
            </a:r>
          </a:p>
        </p:txBody>
      </p:sp>
      <p:pic>
        <p:nvPicPr>
          <p:cNvPr id="14339" name="Picture 3" descr="ANN stru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1" r="12852"/>
          <a:stretch>
            <a:fillRect/>
          </a:stretch>
        </p:blipFill>
        <p:spPr bwMode="auto">
          <a:xfrm>
            <a:off x="4973638" y="1196975"/>
            <a:ext cx="4321175" cy="513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230313" y="2349500"/>
            <a:ext cx="4103687" cy="307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en-US" sz="1600"/>
              <a:t> Information flow is unidirectional</a:t>
            </a:r>
          </a:p>
          <a:p>
            <a:pPr lvl="1" algn="l" eaLnBrk="1" hangingPunct="1">
              <a:spcBef>
                <a:spcPct val="50000"/>
              </a:spcBef>
            </a:pPr>
            <a:r>
              <a:rPr lang="en-GB" altLang="en-US" sz="1400"/>
              <a:t> Data is presented to </a:t>
            </a:r>
            <a:r>
              <a:rPr lang="en-GB" altLang="en-US" sz="1400" i="1"/>
              <a:t>Input layer</a:t>
            </a:r>
          </a:p>
          <a:p>
            <a:pPr lvl="1" algn="l" eaLnBrk="1" hangingPunct="1">
              <a:spcBef>
                <a:spcPct val="50000"/>
              </a:spcBef>
            </a:pPr>
            <a:r>
              <a:rPr lang="en-GB" altLang="en-US" sz="1400"/>
              <a:t> Passed on to </a:t>
            </a:r>
            <a:r>
              <a:rPr lang="en-GB" altLang="en-US" sz="1400" i="1"/>
              <a:t>Hidden Layer</a:t>
            </a:r>
          </a:p>
          <a:p>
            <a:pPr lvl="1" algn="l" eaLnBrk="1" hangingPunct="1">
              <a:spcBef>
                <a:spcPct val="50000"/>
              </a:spcBef>
            </a:pPr>
            <a:r>
              <a:rPr lang="en-GB" altLang="en-US" sz="1400"/>
              <a:t> Passed on to </a:t>
            </a:r>
            <a:r>
              <a:rPr lang="en-GB" altLang="en-US" sz="1400" i="1"/>
              <a:t>Output layer</a:t>
            </a:r>
          </a:p>
          <a:p>
            <a:pPr lvl="1" algn="l" eaLnBrk="1" hangingPunct="1">
              <a:spcBef>
                <a:spcPct val="50000"/>
              </a:spcBef>
            </a:pPr>
            <a:endParaRPr lang="en-GB" altLang="en-US" sz="1400"/>
          </a:p>
          <a:p>
            <a:pPr algn="l" eaLnBrk="1" hangingPunct="1">
              <a:spcBef>
                <a:spcPct val="50000"/>
              </a:spcBef>
            </a:pPr>
            <a:r>
              <a:rPr lang="en-GB" altLang="en-US" sz="1600"/>
              <a:t> Information is distributed</a:t>
            </a:r>
          </a:p>
          <a:p>
            <a:pPr algn="l" eaLnBrk="1" hangingPunct="1">
              <a:spcBef>
                <a:spcPct val="50000"/>
              </a:spcBef>
            </a:pPr>
            <a:endParaRPr lang="en-GB" altLang="en-US" sz="1600"/>
          </a:p>
          <a:p>
            <a:pPr algn="l" eaLnBrk="1" hangingPunct="1">
              <a:spcBef>
                <a:spcPct val="50000"/>
              </a:spcBef>
            </a:pPr>
            <a:r>
              <a:rPr lang="en-GB" altLang="en-US" sz="1600"/>
              <a:t> Information processing is parallel</a:t>
            </a:r>
          </a:p>
          <a:p>
            <a:pPr algn="l" eaLnBrk="1" hangingPunct="1">
              <a:spcBef>
                <a:spcPct val="50000"/>
              </a:spcBef>
            </a:pPr>
            <a:endParaRPr lang="en-GB" altLang="en-US" sz="1600"/>
          </a:p>
        </p:txBody>
      </p:sp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1085850" y="2133600"/>
            <a:ext cx="3600450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1157288" y="2276475"/>
            <a:ext cx="3455987" cy="28813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1157288" y="5734050"/>
            <a:ext cx="38163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1000"/>
              <a:t>Internal representation (interpretation) of data</a:t>
            </a:r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 flipV="1">
            <a:off x="4613275" y="4868863"/>
            <a:ext cx="2305050" cy="8651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25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62037" y="609600"/>
            <a:ext cx="7772400" cy="4876800"/>
          </a:xfrm>
        </p:spPr>
        <p:txBody>
          <a:bodyPr/>
          <a:lstStyle/>
          <a:p>
            <a:pPr eaLnBrk="1" hangingPunct="1"/>
            <a:r>
              <a:rPr lang="en-GB" altLang="en-US" sz="2800"/>
              <a:t>Feeding data through the net:</a:t>
            </a:r>
          </a:p>
          <a:p>
            <a:pPr eaLnBrk="1" hangingPunct="1"/>
            <a:endParaRPr lang="en-GB" altLang="en-US" sz="2800"/>
          </a:p>
          <a:p>
            <a:pPr eaLnBrk="1" hangingPunct="1"/>
            <a:endParaRPr lang="en-GB" altLang="en-US" sz="2800"/>
          </a:p>
          <a:p>
            <a:pPr eaLnBrk="1" hangingPunct="1"/>
            <a:endParaRPr lang="en-GB" altLang="en-US" sz="2800"/>
          </a:p>
          <a:p>
            <a:pPr eaLnBrk="1" hangingPunct="1"/>
            <a:endParaRPr lang="en-GB" altLang="en-US" sz="2800"/>
          </a:p>
          <a:p>
            <a:pPr eaLnBrk="1" hangingPunct="1"/>
            <a:endParaRPr lang="en-GB" altLang="en-US" sz="2800"/>
          </a:p>
          <a:p>
            <a:pPr eaLnBrk="1" hangingPunct="1"/>
            <a:endParaRPr lang="en-GB" altLang="en-US" sz="2800"/>
          </a:p>
          <a:p>
            <a:pPr eaLnBrk="1" hangingPunct="1">
              <a:buFontTx/>
              <a:buNone/>
            </a:pPr>
            <a:r>
              <a:rPr lang="en-GB" altLang="en-US">
                <a:cs typeface="Times New Roman" panose="02020603050405020304" pitchFamily="18" charset="0"/>
              </a:rPr>
              <a:t>(1 </a:t>
            </a:r>
            <a:r>
              <a:rPr lang="en-GB" altLang="en-US"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GB" altLang="en-US">
                <a:cs typeface="Times New Roman" panose="02020603050405020304" pitchFamily="18" charset="0"/>
              </a:rPr>
              <a:t> 0.25) + (0.5 </a:t>
            </a:r>
            <a:r>
              <a:rPr lang="en-GB" altLang="en-US"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GB" altLang="en-US">
                <a:cs typeface="Times New Roman" panose="02020603050405020304" pitchFamily="18" charset="0"/>
              </a:rPr>
              <a:t> (-1.5)) = 0.25 + (-0.75)   =  - </a:t>
            </a:r>
            <a:r>
              <a:rPr lang="en-GB" altLang="en-US" b="1">
                <a:cs typeface="Times New Roman" panose="02020603050405020304" pitchFamily="18" charset="0"/>
              </a:rPr>
              <a:t>0.5</a:t>
            </a:r>
            <a:r>
              <a:rPr lang="en-GB" altLang="en-US" sz="2800"/>
              <a:t> </a:t>
            </a:r>
          </a:p>
        </p:txBody>
      </p:sp>
      <p:pic>
        <p:nvPicPr>
          <p:cNvPr id="15363" name="Picture 3" descr="ANNexam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00" b="24667"/>
          <a:stretch>
            <a:fillRect/>
          </a:stretch>
        </p:blipFill>
        <p:spPr bwMode="auto">
          <a:xfrm>
            <a:off x="2662237" y="1295400"/>
            <a:ext cx="4114800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4267200" y="3167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4267200" y="3167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4267200" y="3167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5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473077"/>
              </p:ext>
            </p:extLst>
          </p:nvPr>
        </p:nvGraphicFramePr>
        <p:xfrm>
          <a:off x="3881437" y="5562600"/>
          <a:ext cx="22098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16000" imgH="393700" progId="Equation.3">
                  <p:embed/>
                </p:oleObj>
              </mc:Choice>
              <mc:Fallback>
                <p:oleObj r:id="rId3" imgW="1016000" imgH="393700" progId="Equation.3">
                  <p:embed/>
                  <p:pic>
                    <p:nvPicPr>
                      <p:cNvPr id="153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437" y="5562600"/>
                        <a:ext cx="220980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1809750" y="5762625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/>
              <a:t>Squashing:</a:t>
            </a:r>
          </a:p>
        </p:txBody>
      </p:sp>
    </p:spTree>
    <p:extLst>
      <p:ext uri="{BB962C8B-B14F-4D97-AF65-F5344CB8AC3E}">
        <p14:creationId xmlns:p14="http://schemas.microsoft.com/office/powerpoint/2010/main" val="582912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6172200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GB" altLang="en-US"/>
              <a:t>Data is presented to the network in the form of activations in the input layer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Examples</a:t>
            </a:r>
          </a:p>
          <a:p>
            <a:pPr lvl="1" eaLnBrk="1" hangingPunct="1"/>
            <a:r>
              <a:rPr lang="en-GB" altLang="en-US"/>
              <a:t>Pixel intensity (for pictures)</a:t>
            </a:r>
          </a:p>
          <a:p>
            <a:pPr lvl="1" eaLnBrk="1" hangingPunct="1"/>
            <a:r>
              <a:rPr lang="en-GB" altLang="en-US"/>
              <a:t>Molecule concentrations (for artificial nose)</a:t>
            </a:r>
          </a:p>
          <a:p>
            <a:pPr lvl="1" eaLnBrk="1" hangingPunct="1"/>
            <a:r>
              <a:rPr lang="en-GB" altLang="en-US"/>
              <a:t>Share prices (for stock market prediction)</a:t>
            </a:r>
          </a:p>
          <a:p>
            <a:pPr lvl="1" eaLnBrk="1" hangingPunct="1"/>
            <a:endParaRPr lang="en-GB" altLang="en-US"/>
          </a:p>
          <a:p>
            <a:pPr eaLnBrk="1" hangingPunct="1"/>
            <a:r>
              <a:rPr lang="en-GB" altLang="en-US"/>
              <a:t>Data usually requires preprocessing</a:t>
            </a:r>
          </a:p>
          <a:p>
            <a:pPr lvl="1" eaLnBrk="1" hangingPunct="1"/>
            <a:r>
              <a:rPr lang="en-GB" altLang="en-US"/>
              <a:t>Analogous to senses in biology</a:t>
            </a:r>
          </a:p>
          <a:p>
            <a:pPr lvl="1" eaLnBrk="1" hangingPunct="1"/>
            <a:endParaRPr lang="en-GB" altLang="en-US"/>
          </a:p>
          <a:p>
            <a:pPr eaLnBrk="1" hangingPunct="1"/>
            <a:r>
              <a:rPr lang="en-GB" altLang="en-US"/>
              <a:t>How to represent more abstract data, e.g. a name?</a:t>
            </a:r>
          </a:p>
          <a:p>
            <a:pPr lvl="1" eaLnBrk="1" hangingPunct="1"/>
            <a:r>
              <a:rPr lang="en-GB" altLang="en-US"/>
              <a:t>Choose a pattern, e.g.</a:t>
            </a:r>
          </a:p>
          <a:p>
            <a:pPr lvl="2" eaLnBrk="1" hangingPunct="1"/>
            <a:r>
              <a:rPr lang="en-GB" altLang="en-US"/>
              <a:t>0-0-1 for “Chris”</a:t>
            </a:r>
          </a:p>
          <a:p>
            <a:pPr lvl="2" eaLnBrk="1" hangingPunct="1"/>
            <a:r>
              <a:rPr lang="en-GB" altLang="en-US"/>
              <a:t>0-1-0 for “Becky”</a:t>
            </a:r>
          </a:p>
          <a:p>
            <a:pPr lvl="2" eaLnBrk="1" hangingPunct="1"/>
            <a:endParaRPr lang="en-GB" altLang="en-US"/>
          </a:p>
          <a:p>
            <a:pPr lvl="2" eaLnBrk="1" hangingPunct="1">
              <a:buFontTx/>
              <a:buNone/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0159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3163888"/>
          </a:xfrm>
        </p:spPr>
        <p:txBody>
          <a:bodyPr/>
          <a:lstStyle/>
          <a:p>
            <a:pPr eaLnBrk="1" hangingPunct="1"/>
            <a:r>
              <a:rPr lang="en-GB" altLang="en-US"/>
              <a:t>Weight settings determine the behaviour of a network</a:t>
            </a:r>
          </a:p>
          <a:p>
            <a:pPr eaLnBrk="1" hangingPunct="1"/>
            <a:endParaRPr lang="en-GB" altLang="en-US"/>
          </a:p>
          <a:p>
            <a:pPr eaLnBrk="1" hangingPunct="1">
              <a:buFontTx/>
              <a:buNone/>
            </a:pPr>
            <a:r>
              <a:rPr lang="en-GB" altLang="en-US"/>
              <a:t>	</a:t>
            </a:r>
            <a:r>
              <a:rPr lang="en-GB" altLang="en-US">
                <a:sym typeface="Wingdings" panose="05000000000000000000" pitchFamily="2" charset="2"/>
              </a:rPr>
              <a:t> How can we find the right weights?</a:t>
            </a:r>
          </a:p>
        </p:txBody>
      </p:sp>
    </p:spTree>
    <p:extLst>
      <p:ext uri="{BB962C8B-B14F-4D97-AF65-F5344CB8AC3E}">
        <p14:creationId xmlns:p14="http://schemas.microsoft.com/office/powerpoint/2010/main" val="2741363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66800" y="533400"/>
            <a:ext cx="7772400" cy="3581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b="1" dirty="0"/>
              <a:t>Training the Network - Learning</a:t>
            </a:r>
            <a:endParaRPr lang="en-GB" altLang="en-US" sz="2000" dirty="0"/>
          </a:p>
          <a:p>
            <a:pPr eaLnBrk="1" hangingPunct="1"/>
            <a:endParaRPr lang="en-GB" altLang="en-US" sz="2000" dirty="0"/>
          </a:p>
          <a:p>
            <a:pPr eaLnBrk="1" hangingPunct="1"/>
            <a:r>
              <a:rPr lang="en-GB" altLang="en-US" sz="2000" dirty="0"/>
              <a:t>Backpropagation</a:t>
            </a:r>
          </a:p>
          <a:p>
            <a:pPr lvl="1" eaLnBrk="1" hangingPunct="1"/>
            <a:r>
              <a:rPr lang="en-GB" altLang="en-US" sz="1800" dirty="0"/>
              <a:t>Requires training set (input / output pairs)</a:t>
            </a:r>
          </a:p>
          <a:p>
            <a:pPr lvl="1" eaLnBrk="1" hangingPunct="1"/>
            <a:r>
              <a:rPr lang="en-GB" altLang="en-US" sz="1800" dirty="0"/>
              <a:t>Starts with small random weights</a:t>
            </a:r>
          </a:p>
          <a:p>
            <a:pPr lvl="1" eaLnBrk="1" hangingPunct="1"/>
            <a:r>
              <a:rPr lang="en-GB" altLang="en-US" sz="1800" dirty="0"/>
              <a:t>Error is used to adjust weights (supervised learning)</a:t>
            </a:r>
          </a:p>
          <a:p>
            <a:pPr lvl="1" eaLnBrk="1" hangingPunct="1">
              <a:buFontTx/>
              <a:buNone/>
            </a:pPr>
            <a:r>
              <a:rPr lang="en-GB" altLang="en-US" sz="1800" dirty="0">
                <a:sym typeface="Wingdings" panose="05000000000000000000" pitchFamily="2" charset="2"/>
              </a:rPr>
              <a:t> Gradient descent on error landscape</a:t>
            </a:r>
            <a:endParaRPr lang="en-GB" altLang="en-US" sz="1800" dirty="0"/>
          </a:p>
          <a:p>
            <a:pPr eaLnBrk="1" hangingPunct="1"/>
            <a:endParaRPr lang="en-GB" altLang="en-US" sz="2000" dirty="0"/>
          </a:p>
        </p:txBody>
      </p:sp>
      <p:pic>
        <p:nvPicPr>
          <p:cNvPr id="18435" name="Picture 3" descr="backprop_surfac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352800"/>
            <a:ext cx="3886200" cy="328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4421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bprop illustr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81000"/>
            <a:ext cx="762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2742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848600" cy="6019800"/>
          </a:xfrm>
        </p:spPr>
        <p:txBody>
          <a:bodyPr/>
          <a:lstStyle/>
          <a:p>
            <a:pPr eaLnBrk="1" hangingPunct="1"/>
            <a:r>
              <a:rPr lang="en-GB" altLang="en-US" sz="2000" b="1" dirty="0"/>
              <a:t>Advantages</a:t>
            </a:r>
          </a:p>
          <a:p>
            <a:pPr lvl="1" eaLnBrk="1" hangingPunct="1"/>
            <a:r>
              <a:rPr lang="en-GB" altLang="en-US" sz="1800" dirty="0"/>
              <a:t>It works!</a:t>
            </a:r>
          </a:p>
          <a:p>
            <a:pPr lvl="1" eaLnBrk="1" hangingPunct="1"/>
            <a:r>
              <a:rPr lang="en-GB" altLang="en-US" sz="1800" dirty="0"/>
              <a:t>Relatively fast</a:t>
            </a:r>
          </a:p>
          <a:p>
            <a:pPr lvl="1" eaLnBrk="1" hangingPunct="1"/>
            <a:endParaRPr lang="en-GB" altLang="en-US" sz="1800" dirty="0"/>
          </a:p>
          <a:p>
            <a:pPr eaLnBrk="1" hangingPunct="1"/>
            <a:r>
              <a:rPr lang="en-GB" altLang="en-US" sz="2000" b="1" dirty="0"/>
              <a:t>Downsides</a:t>
            </a:r>
          </a:p>
          <a:p>
            <a:pPr lvl="1" eaLnBrk="1" hangingPunct="1"/>
            <a:r>
              <a:rPr lang="en-GB" altLang="en-US" sz="1800" dirty="0"/>
              <a:t>Requires a training set</a:t>
            </a:r>
          </a:p>
          <a:p>
            <a:pPr lvl="1" eaLnBrk="1" hangingPunct="1"/>
            <a:r>
              <a:rPr lang="en-GB" altLang="en-US" sz="1800" dirty="0"/>
              <a:t>Can be slow</a:t>
            </a:r>
          </a:p>
          <a:p>
            <a:pPr lvl="1" eaLnBrk="1" hangingPunct="1"/>
            <a:r>
              <a:rPr lang="en-GB" altLang="en-US" sz="1800" dirty="0"/>
              <a:t>Probably not biologically realistic</a:t>
            </a:r>
          </a:p>
          <a:p>
            <a:pPr lvl="1" eaLnBrk="1" hangingPunct="1"/>
            <a:endParaRPr lang="en-GB" altLang="en-US" sz="1800" dirty="0"/>
          </a:p>
          <a:p>
            <a:pPr eaLnBrk="1" hangingPunct="1"/>
            <a:r>
              <a:rPr lang="en-GB" altLang="en-US" sz="2000" b="1" dirty="0"/>
              <a:t>Alternatives to Backpropagation</a:t>
            </a:r>
          </a:p>
          <a:p>
            <a:pPr lvl="1" eaLnBrk="1" hangingPunct="1"/>
            <a:r>
              <a:rPr lang="en-GB" altLang="en-US" sz="1800" dirty="0" err="1"/>
              <a:t>Hebbian</a:t>
            </a:r>
            <a:r>
              <a:rPr lang="en-GB" altLang="en-US" sz="1800" dirty="0"/>
              <a:t> learning</a:t>
            </a:r>
          </a:p>
          <a:p>
            <a:pPr lvl="2" eaLnBrk="1" hangingPunct="1"/>
            <a:r>
              <a:rPr lang="en-GB" altLang="en-US" sz="1600" dirty="0"/>
              <a:t>Not successful in feed-forward nets</a:t>
            </a:r>
          </a:p>
          <a:p>
            <a:pPr lvl="1" eaLnBrk="1" hangingPunct="1"/>
            <a:r>
              <a:rPr lang="en-GB" altLang="en-US" sz="1800" dirty="0"/>
              <a:t>Reinforcement learning</a:t>
            </a:r>
          </a:p>
          <a:p>
            <a:pPr lvl="2" eaLnBrk="1" hangingPunct="1"/>
            <a:r>
              <a:rPr lang="en-GB" altLang="en-US" sz="1600" dirty="0"/>
              <a:t>Only limited success</a:t>
            </a:r>
          </a:p>
          <a:p>
            <a:pPr lvl="1" eaLnBrk="1" hangingPunct="1"/>
            <a:r>
              <a:rPr lang="en-GB" altLang="en-US" sz="1800" dirty="0"/>
              <a:t>Artificial evolution</a:t>
            </a:r>
          </a:p>
          <a:p>
            <a:pPr lvl="2" eaLnBrk="1" hangingPunct="1"/>
            <a:r>
              <a:rPr lang="en-GB" altLang="en-US" sz="1600" dirty="0"/>
              <a:t>More general, but can be even slower than </a:t>
            </a:r>
            <a:r>
              <a:rPr lang="en-GB" altLang="en-US" sz="1600" dirty="0" err="1"/>
              <a:t>backprop</a:t>
            </a:r>
            <a:endParaRPr lang="en-GB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53042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Example: Voice Recognition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GB" altLang="en-US" dirty="0"/>
              <a:t>Task: Learn to discriminate between two different voices saying “Hello”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Data </a:t>
            </a:r>
          </a:p>
          <a:p>
            <a:pPr lvl="1" eaLnBrk="1" hangingPunct="1"/>
            <a:r>
              <a:rPr lang="en-GB" altLang="en-US" dirty="0"/>
              <a:t>Sources</a:t>
            </a:r>
          </a:p>
          <a:p>
            <a:pPr lvl="2" eaLnBrk="1" hangingPunct="1"/>
            <a:r>
              <a:rPr lang="en-GB" altLang="en-US" dirty="0"/>
              <a:t>Steve Simpson</a:t>
            </a:r>
          </a:p>
          <a:p>
            <a:pPr lvl="2" eaLnBrk="1" hangingPunct="1"/>
            <a:r>
              <a:rPr lang="en-GB" altLang="en-US" dirty="0"/>
              <a:t>David </a:t>
            </a:r>
            <a:r>
              <a:rPr lang="en-GB" altLang="en-US" dirty="0" err="1"/>
              <a:t>Raubenheimer</a:t>
            </a:r>
            <a:endParaRPr lang="en-GB" altLang="en-US" dirty="0"/>
          </a:p>
          <a:p>
            <a:pPr lvl="1" eaLnBrk="1" hangingPunct="1"/>
            <a:r>
              <a:rPr lang="en-GB" altLang="en-US" dirty="0"/>
              <a:t>Format</a:t>
            </a:r>
          </a:p>
          <a:p>
            <a:pPr lvl="2" eaLnBrk="1" hangingPunct="1"/>
            <a:r>
              <a:rPr lang="en-GB" altLang="en-US" dirty="0"/>
              <a:t>Frequency distribution (60 bins)</a:t>
            </a:r>
          </a:p>
          <a:p>
            <a:pPr lvl="2" eaLnBrk="1" hangingPunct="1"/>
            <a:r>
              <a:rPr lang="en-GB" altLang="en-US" dirty="0"/>
              <a:t>Analogy: cochlea</a:t>
            </a:r>
          </a:p>
        </p:txBody>
      </p:sp>
      <p:pic>
        <p:nvPicPr>
          <p:cNvPr id="21508" name="Picture 4" descr="shello acts horizo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248819"/>
            <a:ext cx="31242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Sound">
            <a:hlinkClick r:id="" action="ppaction://noaction">
              <a:snd r:embed="rId3" name="steve hellos.wav"/>
            </a:hlinkClick>
          </p:cNvPr>
          <p:cNvSpPr>
            <a:spLocks noEditPoints="1" noChangeArrowheads="1"/>
          </p:cNvSpPr>
          <p:nvPr/>
        </p:nvSpPr>
        <p:spPr bwMode="auto">
          <a:xfrm>
            <a:off x="4284663" y="3617913"/>
            <a:ext cx="287337" cy="315912"/>
          </a:xfrm>
          <a:custGeom>
            <a:avLst/>
            <a:gdLst>
              <a:gd name="T0" fmla="*/ 148511 w 21600"/>
              <a:gd name="T1" fmla="*/ 309462 h 21600"/>
              <a:gd name="T2" fmla="*/ 148511 w 21600"/>
              <a:gd name="T3" fmla="*/ 0 h 21600"/>
              <a:gd name="T4" fmla="*/ 0 w 21600"/>
              <a:gd name="T5" fmla="*/ 157956 h 21600"/>
              <a:gd name="T6" fmla="*/ 287337 w 21600"/>
              <a:gd name="T7" fmla="*/ 157956 h 21600"/>
              <a:gd name="T8" fmla="*/ 0 60000 65536"/>
              <a:gd name="T9" fmla="*/ 0 60000 65536"/>
              <a:gd name="T10" fmla="*/ 0 60000 65536"/>
              <a:gd name="T11" fmla="*/ 0 60000 65536"/>
              <a:gd name="T12" fmla="*/ 761 w 21600"/>
              <a:gd name="T13" fmla="*/ 22454 h 21600"/>
              <a:gd name="T14" fmla="*/ 21069 w 21600"/>
              <a:gd name="T15" fmla="*/ 28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510" name="Sound">
            <a:hlinkClick r:id="" action="ppaction://noaction">
              <a:snd r:embed="rId4" name="david hellos.wav"/>
            </a:hlinkClick>
          </p:cNvPr>
          <p:cNvSpPr>
            <a:spLocks noEditPoints="1" noChangeArrowheads="1"/>
          </p:cNvSpPr>
          <p:nvPr/>
        </p:nvSpPr>
        <p:spPr bwMode="auto">
          <a:xfrm>
            <a:off x="4284663" y="3976688"/>
            <a:ext cx="287337" cy="315912"/>
          </a:xfrm>
          <a:custGeom>
            <a:avLst/>
            <a:gdLst>
              <a:gd name="T0" fmla="*/ 148511 w 21600"/>
              <a:gd name="T1" fmla="*/ 309462 h 21600"/>
              <a:gd name="T2" fmla="*/ 148511 w 21600"/>
              <a:gd name="T3" fmla="*/ 0 h 21600"/>
              <a:gd name="T4" fmla="*/ 0 w 21600"/>
              <a:gd name="T5" fmla="*/ 157956 h 21600"/>
              <a:gd name="T6" fmla="*/ 287337 w 21600"/>
              <a:gd name="T7" fmla="*/ 157956 h 21600"/>
              <a:gd name="T8" fmla="*/ 0 60000 65536"/>
              <a:gd name="T9" fmla="*/ 0 60000 65536"/>
              <a:gd name="T10" fmla="*/ 0 60000 65536"/>
              <a:gd name="T11" fmla="*/ 0 60000 65536"/>
              <a:gd name="T12" fmla="*/ 761 w 21600"/>
              <a:gd name="T13" fmla="*/ 22454 h 21600"/>
              <a:gd name="T14" fmla="*/ 21069 w 21600"/>
              <a:gd name="T15" fmla="*/ 28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36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/>
            <a:r>
              <a:rPr lang="en-GB" altLang="en-US" dirty="0"/>
              <a:t>Network architecture</a:t>
            </a:r>
          </a:p>
          <a:p>
            <a:pPr lvl="1" eaLnBrk="1" hangingPunct="1"/>
            <a:r>
              <a:rPr lang="en-GB" altLang="en-US" dirty="0"/>
              <a:t>Feed forward network</a:t>
            </a:r>
          </a:p>
          <a:p>
            <a:pPr lvl="2" eaLnBrk="1" hangingPunct="1"/>
            <a:r>
              <a:rPr lang="en-GB" altLang="en-US" dirty="0"/>
              <a:t>60 input (one for each frequency bin)</a:t>
            </a:r>
          </a:p>
          <a:p>
            <a:pPr lvl="2" eaLnBrk="1" hangingPunct="1"/>
            <a:r>
              <a:rPr lang="en-GB" altLang="en-US" dirty="0"/>
              <a:t>6 hidden</a:t>
            </a:r>
          </a:p>
          <a:p>
            <a:pPr lvl="2" eaLnBrk="1" hangingPunct="1"/>
            <a:r>
              <a:rPr lang="en-GB" altLang="en-US" dirty="0"/>
              <a:t>2 output (0-1 for “Steve”, 1-0 for “David”)</a:t>
            </a:r>
          </a:p>
          <a:p>
            <a:pPr lvl="2" eaLnBrk="1" hangingPunct="1"/>
            <a:endParaRPr lang="en-GB" altLang="en-US" dirty="0"/>
          </a:p>
        </p:txBody>
      </p:sp>
      <p:pic>
        <p:nvPicPr>
          <p:cNvPr id="22531" name="Picture 4" descr="simrau n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048000"/>
            <a:ext cx="4214813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4599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pPr eaLnBrk="1" hangingPunct="1"/>
            <a:r>
              <a:rPr lang="en-GB" altLang="en-US"/>
              <a:t>Presenting the data</a:t>
            </a:r>
          </a:p>
        </p:txBody>
      </p:sp>
      <p:grpSp>
        <p:nvGrpSpPr>
          <p:cNvPr id="23555" name="Group 3"/>
          <p:cNvGrpSpPr>
            <a:grpSpLocks/>
          </p:cNvGrpSpPr>
          <p:nvPr/>
        </p:nvGrpSpPr>
        <p:grpSpPr bwMode="auto">
          <a:xfrm>
            <a:off x="1600200" y="1090613"/>
            <a:ext cx="4038600" cy="2338387"/>
            <a:chOff x="1008" y="687"/>
            <a:chExt cx="2544" cy="1473"/>
          </a:xfrm>
        </p:grpSpPr>
        <p:pic>
          <p:nvPicPr>
            <p:cNvPr id="23561" name="Picture 4" descr="shello acts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720"/>
              <a:ext cx="778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2" name="Picture 5" descr="simrau ne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2" y="687"/>
              <a:ext cx="1680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556" name="Group 6"/>
          <p:cNvGrpSpPr>
            <a:grpSpLocks/>
          </p:cNvGrpSpPr>
          <p:nvPr/>
        </p:nvGrpSpPr>
        <p:grpSpPr bwMode="auto">
          <a:xfrm>
            <a:off x="1600200" y="3962400"/>
            <a:ext cx="4019550" cy="2338388"/>
            <a:chOff x="1008" y="2496"/>
            <a:chExt cx="2532" cy="1473"/>
          </a:xfrm>
        </p:grpSpPr>
        <p:pic>
          <p:nvPicPr>
            <p:cNvPr id="23559" name="Picture 7" descr="simrau ne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0" y="2496"/>
              <a:ext cx="1680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0" name="Picture 8" descr="dhello act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2529"/>
              <a:ext cx="835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57" name="Text Box 9"/>
          <p:cNvSpPr txBox="1">
            <a:spLocks noChangeArrowheads="1"/>
          </p:cNvSpPr>
          <p:nvPr/>
        </p:nvSpPr>
        <p:spPr bwMode="auto">
          <a:xfrm>
            <a:off x="685800" y="914400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/>
              <a:t>Steve</a:t>
            </a:r>
          </a:p>
        </p:txBody>
      </p:sp>
      <p:sp>
        <p:nvSpPr>
          <p:cNvPr id="23558" name="Text Box 10"/>
          <p:cNvSpPr txBox="1">
            <a:spLocks noChangeArrowheads="1"/>
          </p:cNvSpPr>
          <p:nvPr/>
        </p:nvSpPr>
        <p:spPr bwMode="auto">
          <a:xfrm>
            <a:off x="609600" y="3824288"/>
            <a:ext cx="1143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/>
              <a:t>David</a:t>
            </a:r>
          </a:p>
        </p:txBody>
      </p:sp>
    </p:spTree>
    <p:extLst>
      <p:ext uri="{BB962C8B-B14F-4D97-AF65-F5344CB8AC3E}">
        <p14:creationId xmlns:p14="http://schemas.microsoft.com/office/powerpoint/2010/main" val="4161837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pPr eaLnBrk="1" hangingPunct="1"/>
            <a:r>
              <a:rPr lang="en-GB" altLang="en-US"/>
              <a:t>Presenting the data (untrained network)</a:t>
            </a:r>
          </a:p>
        </p:txBody>
      </p:sp>
      <p:grpSp>
        <p:nvGrpSpPr>
          <p:cNvPr id="24579" name="Group 3"/>
          <p:cNvGrpSpPr>
            <a:grpSpLocks/>
          </p:cNvGrpSpPr>
          <p:nvPr/>
        </p:nvGrpSpPr>
        <p:grpSpPr bwMode="auto">
          <a:xfrm>
            <a:off x="1600200" y="1090613"/>
            <a:ext cx="4038600" cy="2338387"/>
            <a:chOff x="1008" y="687"/>
            <a:chExt cx="2544" cy="1473"/>
          </a:xfrm>
        </p:grpSpPr>
        <p:pic>
          <p:nvPicPr>
            <p:cNvPr id="24589" name="Picture 4" descr="shello acts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720"/>
              <a:ext cx="778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0" name="Picture 5" descr="simrau ne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2" y="687"/>
              <a:ext cx="1680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4580" name="Group 6"/>
          <p:cNvGrpSpPr>
            <a:grpSpLocks/>
          </p:cNvGrpSpPr>
          <p:nvPr/>
        </p:nvGrpSpPr>
        <p:grpSpPr bwMode="auto">
          <a:xfrm>
            <a:off x="1600200" y="3962400"/>
            <a:ext cx="4019550" cy="2338388"/>
            <a:chOff x="1008" y="2496"/>
            <a:chExt cx="2532" cy="1473"/>
          </a:xfrm>
        </p:grpSpPr>
        <p:pic>
          <p:nvPicPr>
            <p:cNvPr id="24587" name="Picture 7" descr="simrau ne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0" y="2496"/>
              <a:ext cx="1680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8" name="Picture 8" descr="dhello act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2529"/>
              <a:ext cx="835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4581" name="Text Box 9"/>
          <p:cNvSpPr txBox="1">
            <a:spLocks noChangeArrowheads="1"/>
          </p:cNvSpPr>
          <p:nvPr/>
        </p:nvSpPr>
        <p:spPr bwMode="auto">
          <a:xfrm>
            <a:off x="685800" y="914400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/>
              <a:t>Steve</a:t>
            </a:r>
          </a:p>
        </p:txBody>
      </p:sp>
      <p:sp>
        <p:nvSpPr>
          <p:cNvPr id="24582" name="Text Box 10"/>
          <p:cNvSpPr txBox="1">
            <a:spLocks noChangeArrowheads="1"/>
          </p:cNvSpPr>
          <p:nvPr/>
        </p:nvSpPr>
        <p:spPr bwMode="auto">
          <a:xfrm>
            <a:off x="609600" y="3824288"/>
            <a:ext cx="1143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/>
              <a:t>David</a:t>
            </a:r>
          </a:p>
        </p:txBody>
      </p:sp>
      <p:sp>
        <p:nvSpPr>
          <p:cNvPr id="24583" name="Text Box 11"/>
          <p:cNvSpPr txBox="1">
            <a:spLocks noChangeArrowheads="1"/>
          </p:cNvSpPr>
          <p:nvPr/>
        </p:nvSpPr>
        <p:spPr bwMode="auto">
          <a:xfrm>
            <a:off x="5638800" y="158115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0.43</a:t>
            </a:r>
          </a:p>
        </p:txBody>
      </p:sp>
      <p:sp>
        <p:nvSpPr>
          <p:cNvPr id="24584" name="Text Box 12"/>
          <p:cNvSpPr txBox="1">
            <a:spLocks noChangeArrowheads="1"/>
          </p:cNvSpPr>
          <p:nvPr/>
        </p:nvSpPr>
        <p:spPr bwMode="auto">
          <a:xfrm>
            <a:off x="5638800" y="234315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0.26</a:t>
            </a:r>
          </a:p>
        </p:txBody>
      </p:sp>
      <p:sp>
        <p:nvSpPr>
          <p:cNvPr id="24585" name="Text Box 13"/>
          <p:cNvSpPr txBox="1">
            <a:spLocks noChangeArrowheads="1"/>
          </p:cNvSpPr>
          <p:nvPr/>
        </p:nvSpPr>
        <p:spPr bwMode="auto">
          <a:xfrm>
            <a:off x="5638800" y="4495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0.73</a:t>
            </a:r>
          </a:p>
        </p:txBody>
      </p:sp>
      <p:sp>
        <p:nvSpPr>
          <p:cNvPr id="24586" name="Text Box 14"/>
          <p:cNvSpPr txBox="1">
            <a:spLocks noChangeArrowheads="1"/>
          </p:cNvSpPr>
          <p:nvPr/>
        </p:nvSpPr>
        <p:spPr bwMode="auto">
          <a:xfrm>
            <a:off x="5638800" y="5257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0.55</a:t>
            </a:r>
          </a:p>
        </p:txBody>
      </p:sp>
    </p:spTree>
    <p:extLst>
      <p:ext uri="{BB962C8B-B14F-4D97-AF65-F5344CB8AC3E}">
        <p14:creationId xmlns:p14="http://schemas.microsoft.com/office/powerpoint/2010/main" val="1473069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pPr eaLnBrk="1" hangingPunct="1"/>
            <a:r>
              <a:rPr lang="en-GB" altLang="en-US"/>
              <a:t>Calculate error</a:t>
            </a:r>
          </a:p>
        </p:txBody>
      </p:sp>
      <p:grpSp>
        <p:nvGrpSpPr>
          <p:cNvPr id="25603" name="Group 3"/>
          <p:cNvGrpSpPr>
            <a:grpSpLocks/>
          </p:cNvGrpSpPr>
          <p:nvPr/>
        </p:nvGrpSpPr>
        <p:grpSpPr bwMode="auto">
          <a:xfrm>
            <a:off x="1600200" y="1090613"/>
            <a:ext cx="4038600" cy="2338387"/>
            <a:chOff x="1008" y="687"/>
            <a:chExt cx="2544" cy="1473"/>
          </a:xfrm>
        </p:grpSpPr>
        <p:pic>
          <p:nvPicPr>
            <p:cNvPr id="25613" name="Picture 4" descr="shello acts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720"/>
              <a:ext cx="778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14" name="Picture 5" descr="simrau ne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2" y="687"/>
              <a:ext cx="1680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04" name="Group 6"/>
          <p:cNvGrpSpPr>
            <a:grpSpLocks/>
          </p:cNvGrpSpPr>
          <p:nvPr/>
        </p:nvGrpSpPr>
        <p:grpSpPr bwMode="auto">
          <a:xfrm>
            <a:off x="1600200" y="3962400"/>
            <a:ext cx="4019550" cy="2338388"/>
            <a:chOff x="1008" y="2496"/>
            <a:chExt cx="2532" cy="1473"/>
          </a:xfrm>
        </p:grpSpPr>
        <p:pic>
          <p:nvPicPr>
            <p:cNvPr id="25611" name="Picture 7" descr="simrau ne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0" y="2496"/>
              <a:ext cx="1680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12" name="Picture 8" descr="dhello act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2529"/>
              <a:ext cx="835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605" name="Text Box 9"/>
          <p:cNvSpPr txBox="1">
            <a:spLocks noChangeArrowheads="1"/>
          </p:cNvSpPr>
          <p:nvPr/>
        </p:nvSpPr>
        <p:spPr bwMode="auto">
          <a:xfrm>
            <a:off x="685800" y="914400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/>
              <a:t>Steve</a:t>
            </a:r>
          </a:p>
        </p:txBody>
      </p:sp>
      <p:sp>
        <p:nvSpPr>
          <p:cNvPr id="25606" name="Text Box 10"/>
          <p:cNvSpPr txBox="1">
            <a:spLocks noChangeArrowheads="1"/>
          </p:cNvSpPr>
          <p:nvPr/>
        </p:nvSpPr>
        <p:spPr bwMode="auto">
          <a:xfrm>
            <a:off x="609600" y="3824288"/>
            <a:ext cx="1143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/>
              <a:t>David</a:t>
            </a:r>
          </a:p>
        </p:txBody>
      </p:sp>
      <p:sp>
        <p:nvSpPr>
          <p:cNvPr id="25607" name="Text Box 11"/>
          <p:cNvSpPr txBox="1">
            <a:spLocks noChangeArrowheads="1"/>
          </p:cNvSpPr>
          <p:nvPr/>
        </p:nvSpPr>
        <p:spPr bwMode="auto">
          <a:xfrm>
            <a:off x="5638800" y="1581150"/>
            <a:ext cx="327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0.43 – 0 	= 0.43</a:t>
            </a:r>
          </a:p>
        </p:txBody>
      </p:sp>
      <p:sp>
        <p:nvSpPr>
          <p:cNvPr id="25608" name="Text Box 12"/>
          <p:cNvSpPr txBox="1">
            <a:spLocks noChangeArrowheads="1"/>
          </p:cNvSpPr>
          <p:nvPr/>
        </p:nvSpPr>
        <p:spPr bwMode="auto">
          <a:xfrm>
            <a:off x="5638800" y="234315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0.26 –1	= 0.74</a:t>
            </a:r>
          </a:p>
        </p:txBody>
      </p:sp>
      <p:sp>
        <p:nvSpPr>
          <p:cNvPr id="25609" name="Text Box 13"/>
          <p:cNvSpPr txBox="1">
            <a:spLocks noChangeArrowheads="1"/>
          </p:cNvSpPr>
          <p:nvPr/>
        </p:nvSpPr>
        <p:spPr bwMode="auto">
          <a:xfrm>
            <a:off x="5638800" y="449580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0.73 – 1	= 0.27</a:t>
            </a:r>
          </a:p>
        </p:txBody>
      </p:sp>
      <p:sp>
        <p:nvSpPr>
          <p:cNvPr id="25610" name="Text Box 14"/>
          <p:cNvSpPr txBox="1">
            <a:spLocks noChangeArrowheads="1"/>
          </p:cNvSpPr>
          <p:nvPr/>
        </p:nvSpPr>
        <p:spPr bwMode="auto">
          <a:xfrm>
            <a:off x="5638800" y="525780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0.55 – 0	= 0.55</a:t>
            </a:r>
          </a:p>
        </p:txBody>
      </p:sp>
    </p:spTree>
    <p:extLst>
      <p:ext uri="{BB962C8B-B14F-4D97-AF65-F5344CB8AC3E}">
        <p14:creationId xmlns:p14="http://schemas.microsoft.com/office/powerpoint/2010/main" val="2735721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pPr eaLnBrk="1" hangingPunct="1"/>
            <a:r>
              <a:rPr lang="en-GB" altLang="en-US"/>
              <a:t>Backprop error and adjust weights</a:t>
            </a:r>
          </a:p>
          <a:p>
            <a:pPr eaLnBrk="1" hangingPunct="1"/>
            <a:endParaRPr lang="en-GB" altLang="en-US"/>
          </a:p>
        </p:txBody>
      </p:sp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1600200" y="1090613"/>
            <a:ext cx="4038600" cy="2338387"/>
            <a:chOff x="1008" y="687"/>
            <a:chExt cx="2544" cy="1473"/>
          </a:xfrm>
        </p:grpSpPr>
        <p:pic>
          <p:nvPicPr>
            <p:cNvPr id="26651" name="Picture 4" descr="shello acts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720"/>
              <a:ext cx="778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2" name="Picture 5" descr="simrau ne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2" y="687"/>
              <a:ext cx="1680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6628" name="Group 6"/>
          <p:cNvGrpSpPr>
            <a:grpSpLocks/>
          </p:cNvGrpSpPr>
          <p:nvPr/>
        </p:nvGrpSpPr>
        <p:grpSpPr bwMode="auto">
          <a:xfrm>
            <a:off x="1600200" y="3962400"/>
            <a:ext cx="4019550" cy="2338388"/>
            <a:chOff x="1008" y="2496"/>
            <a:chExt cx="2532" cy="1473"/>
          </a:xfrm>
        </p:grpSpPr>
        <p:pic>
          <p:nvPicPr>
            <p:cNvPr id="26649" name="Picture 7" descr="simrau ne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0" y="2496"/>
              <a:ext cx="1680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50" name="Picture 8" descr="dhello act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2529"/>
              <a:ext cx="835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629" name="Text Box 9"/>
          <p:cNvSpPr txBox="1">
            <a:spLocks noChangeArrowheads="1"/>
          </p:cNvSpPr>
          <p:nvPr/>
        </p:nvSpPr>
        <p:spPr bwMode="auto">
          <a:xfrm>
            <a:off x="685800" y="914400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/>
              <a:t>Steve</a:t>
            </a:r>
          </a:p>
        </p:txBody>
      </p:sp>
      <p:sp>
        <p:nvSpPr>
          <p:cNvPr id="26630" name="Text Box 10"/>
          <p:cNvSpPr txBox="1">
            <a:spLocks noChangeArrowheads="1"/>
          </p:cNvSpPr>
          <p:nvPr/>
        </p:nvSpPr>
        <p:spPr bwMode="auto">
          <a:xfrm>
            <a:off x="609600" y="3824288"/>
            <a:ext cx="1143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/>
              <a:t>David</a:t>
            </a:r>
          </a:p>
        </p:txBody>
      </p:sp>
      <p:sp>
        <p:nvSpPr>
          <p:cNvPr id="26631" name="Text Box 11"/>
          <p:cNvSpPr txBox="1">
            <a:spLocks noChangeArrowheads="1"/>
          </p:cNvSpPr>
          <p:nvPr/>
        </p:nvSpPr>
        <p:spPr bwMode="auto">
          <a:xfrm>
            <a:off x="5638800" y="1581150"/>
            <a:ext cx="327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0.43 – 0 	= 0.43</a:t>
            </a:r>
          </a:p>
        </p:txBody>
      </p:sp>
      <p:sp>
        <p:nvSpPr>
          <p:cNvPr id="26632" name="Text Box 12"/>
          <p:cNvSpPr txBox="1">
            <a:spLocks noChangeArrowheads="1"/>
          </p:cNvSpPr>
          <p:nvPr/>
        </p:nvSpPr>
        <p:spPr bwMode="auto">
          <a:xfrm>
            <a:off x="5638800" y="234315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0.26 – 1	= 0.74</a:t>
            </a:r>
          </a:p>
        </p:txBody>
      </p:sp>
      <p:sp>
        <p:nvSpPr>
          <p:cNvPr id="26633" name="Text Box 13"/>
          <p:cNvSpPr txBox="1">
            <a:spLocks noChangeArrowheads="1"/>
          </p:cNvSpPr>
          <p:nvPr/>
        </p:nvSpPr>
        <p:spPr bwMode="auto">
          <a:xfrm>
            <a:off x="5638800" y="449580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0.73 – 1	= 0.27</a:t>
            </a:r>
          </a:p>
        </p:txBody>
      </p:sp>
      <p:sp>
        <p:nvSpPr>
          <p:cNvPr id="26634" name="Text Box 14"/>
          <p:cNvSpPr txBox="1">
            <a:spLocks noChangeArrowheads="1"/>
          </p:cNvSpPr>
          <p:nvPr/>
        </p:nvSpPr>
        <p:spPr bwMode="auto">
          <a:xfrm>
            <a:off x="5638800" y="525780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0.55 – 0	= 0.55</a:t>
            </a:r>
          </a:p>
        </p:txBody>
      </p:sp>
      <p:sp>
        <p:nvSpPr>
          <p:cNvPr id="26635" name="Text Box 15"/>
          <p:cNvSpPr txBox="1">
            <a:spLocks noChangeArrowheads="1"/>
          </p:cNvSpPr>
          <p:nvPr/>
        </p:nvSpPr>
        <p:spPr bwMode="auto">
          <a:xfrm>
            <a:off x="6324600" y="31242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solidFill>
                  <a:srgbClr val="FF3300"/>
                </a:solidFill>
                <a:latin typeface="Times New Roman" panose="02020603050405020304" pitchFamily="18" charset="0"/>
              </a:rPr>
              <a:t>1.17</a:t>
            </a:r>
          </a:p>
        </p:txBody>
      </p:sp>
      <p:sp>
        <p:nvSpPr>
          <p:cNvPr id="26636" name="Line 16"/>
          <p:cNvSpPr>
            <a:spLocks noChangeShapeType="1"/>
          </p:cNvSpPr>
          <p:nvPr/>
        </p:nvSpPr>
        <p:spPr bwMode="auto">
          <a:xfrm>
            <a:off x="7543800" y="3048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7" name="Line 18"/>
          <p:cNvSpPr>
            <a:spLocks noChangeShapeType="1"/>
          </p:cNvSpPr>
          <p:nvPr/>
        </p:nvSpPr>
        <p:spPr bwMode="auto">
          <a:xfrm flipH="1" flipV="1">
            <a:off x="4800600" y="3048000"/>
            <a:ext cx="2743200" cy="304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8" name="Text Box 19"/>
          <p:cNvSpPr txBox="1">
            <a:spLocks noChangeArrowheads="1"/>
          </p:cNvSpPr>
          <p:nvPr/>
        </p:nvSpPr>
        <p:spPr bwMode="auto">
          <a:xfrm>
            <a:off x="6324600" y="60198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solidFill>
                  <a:srgbClr val="FF3300"/>
                </a:solidFill>
                <a:latin typeface="Times New Roman" panose="02020603050405020304" pitchFamily="18" charset="0"/>
              </a:rPr>
              <a:t>0.82</a:t>
            </a:r>
          </a:p>
        </p:txBody>
      </p:sp>
      <p:sp>
        <p:nvSpPr>
          <p:cNvPr id="26639" name="Line 20"/>
          <p:cNvSpPr>
            <a:spLocks noChangeShapeType="1"/>
          </p:cNvSpPr>
          <p:nvPr/>
        </p:nvSpPr>
        <p:spPr bwMode="auto">
          <a:xfrm>
            <a:off x="7543800" y="5943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0" name="Line 21"/>
          <p:cNvSpPr>
            <a:spLocks noChangeShapeType="1"/>
          </p:cNvSpPr>
          <p:nvPr/>
        </p:nvSpPr>
        <p:spPr bwMode="auto">
          <a:xfrm flipH="1" flipV="1">
            <a:off x="4800600" y="5943600"/>
            <a:ext cx="2743200" cy="304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1" name="Line 27"/>
          <p:cNvSpPr>
            <a:spLocks noChangeShapeType="1"/>
          </p:cNvSpPr>
          <p:nvPr/>
        </p:nvSpPr>
        <p:spPr bwMode="auto">
          <a:xfrm>
            <a:off x="5651500" y="1700213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2" name="Line 28"/>
          <p:cNvSpPr>
            <a:spLocks noChangeShapeType="1"/>
          </p:cNvSpPr>
          <p:nvPr/>
        </p:nvSpPr>
        <p:spPr bwMode="auto">
          <a:xfrm>
            <a:off x="6804025" y="1700213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3" name="Line 29"/>
          <p:cNvSpPr>
            <a:spLocks noChangeShapeType="1"/>
          </p:cNvSpPr>
          <p:nvPr/>
        </p:nvSpPr>
        <p:spPr bwMode="auto">
          <a:xfrm>
            <a:off x="5651500" y="243205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4" name="Line 30"/>
          <p:cNvSpPr>
            <a:spLocks noChangeShapeType="1"/>
          </p:cNvSpPr>
          <p:nvPr/>
        </p:nvSpPr>
        <p:spPr bwMode="auto">
          <a:xfrm>
            <a:off x="6781800" y="243205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5" name="Line 31"/>
          <p:cNvSpPr>
            <a:spLocks noChangeShapeType="1"/>
          </p:cNvSpPr>
          <p:nvPr/>
        </p:nvSpPr>
        <p:spPr bwMode="auto">
          <a:xfrm>
            <a:off x="5662613" y="459740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6" name="Line 32"/>
          <p:cNvSpPr>
            <a:spLocks noChangeShapeType="1"/>
          </p:cNvSpPr>
          <p:nvPr/>
        </p:nvSpPr>
        <p:spPr bwMode="auto">
          <a:xfrm>
            <a:off x="6792913" y="459263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7" name="Line 33"/>
          <p:cNvSpPr>
            <a:spLocks noChangeShapeType="1"/>
          </p:cNvSpPr>
          <p:nvPr/>
        </p:nvSpPr>
        <p:spPr bwMode="auto">
          <a:xfrm>
            <a:off x="6804025" y="537368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8" name="Line 34"/>
          <p:cNvSpPr>
            <a:spLocks noChangeShapeType="1"/>
          </p:cNvSpPr>
          <p:nvPr/>
        </p:nvSpPr>
        <p:spPr bwMode="auto">
          <a:xfrm>
            <a:off x="5651500" y="5373688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05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7772400" cy="5715000"/>
          </a:xfrm>
        </p:spPr>
        <p:txBody>
          <a:bodyPr/>
          <a:lstStyle/>
          <a:p>
            <a:pPr eaLnBrk="1" hangingPunct="1"/>
            <a:r>
              <a:rPr lang="en-GB" altLang="en-US"/>
              <a:t>Repeat process (sweep) for all training pairs</a:t>
            </a:r>
          </a:p>
          <a:p>
            <a:pPr lvl="1" eaLnBrk="1" hangingPunct="1"/>
            <a:r>
              <a:rPr lang="en-GB" altLang="en-US"/>
              <a:t>Present data</a:t>
            </a:r>
          </a:p>
          <a:p>
            <a:pPr lvl="1" eaLnBrk="1" hangingPunct="1"/>
            <a:r>
              <a:rPr lang="en-GB" altLang="en-US"/>
              <a:t>Calculate error</a:t>
            </a:r>
          </a:p>
          <a:p>
            <a:pPr lvl="1" eaLnBrk="1" hangingPunct="1"/>
            <a:r>
              <a:rPr lang="en-GB" altLang="en-US"/>
              <a:t>Backpropagate error</a:t>
            </a:r>
          </a:p>
          <a:p>
            <a:pPr lvl="1" eaLnBrk="1" hangingPunct="1"/>
            <a:r>
              <a:rPr lang="en-GB" altLang="en-US"/>
              <a:t>Adjust weights</a:t>
            </a:r>
          </a:p>
          <a:p>
            <a:pPr lvl="1" eaLnBrk="1" hangingPunct="1"/>
            <a:endParaRPr lang="en-GB" altLang="en-US"/>
          </a:p>
          <a:p>
            <a:pPr eaLnBrk="1" hangingPunct="1"/>
            <a:r>
              <a:rPr lang="en-GB" altLang="en-US"/>
              <a:t>Repeat process multiple times</a:t>
            </a:r>
          </a:p>
        </p:txBody>
      </p:sp>
      <p:pic>
        <p:nvPicPr>
          <p:cNvPr id="27651" name="Picture 4" descr="simrau error grap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505200"/>
            <a:ext cx="5334000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1320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43000" y="457200"/>
            <a:ext cx="7772400" cy="5638800"/>
          </a:xfrm>
        </p:spPr>
        <p:txBody>
          <a:bodyPr/>
          <a:lstStyle/>
          <a:p>
            <a:pPr eaLnBrk="1" hangingPunct="1"/>
            <a:r>
              <a:rPr lang="en-GB" altLang="en-US"/>
              <a:t>Presenting the data (trained network)</a:t>
            </a:r>
          </a:p>
        </p:txBody>
      </p:sp>
      <p:grpSp>
        <p:nvGrpSpPr>
          <p:cNvPr id="28675" name="Group 3"/>
          <p:cNvGrpSpPr>
            <a:grpSpLocks/>
          </p:cNvGrpSpPr>
          <p:nvPr/>
        </p:nvGrpSpPr>
        <p:grpSpPr bwMode="auto">
          <a:xfrm>
            <a:off x="2057400" y="1090613"/>
            <a:ext cx="4038600" cy="2338387"/>
            <a:chOff x="1008" y="687"/>
            <a:chExt cx="2544" cy="1473"/>
          </a:xfrm>
        </p:grpSpPr>
        <p:pic>
          <p:nvPicPr>
            <p:cNvPr id="28685" name="Picture 4" descr="shello acts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720"/>
              <a:ext cx="778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686" name="Picture 5" descr="simrau ne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2" y="687"/>
              <a:ext cx="1680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676" name="Group 6"/>
          <p:cNvGrpSpPr>
            <a:grpSpLocks/>
          </p:cNvGrpSpPr>
          <p:nvPr/>
        </p:nvGrpSpPr>
        <p:grpSpPr bwMode="auto">
          <a:xfrm>
            <a:off x="2057400" y="3962400"/>
            <a:ext cx="4019550" cy="2338388"/>
            <a:chOff x="1008" y="2496"/>
            <a:chExt cx="2532" cy="1473"/>
          </a:xfrm>
        </p:grpSpPr>
        <p:pic>
          <p:nvPicPr>
            <p:cNvPr id="28683" name="Picture 7" descr="simrau ne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0" y="2496"/>
              <a:ext cx="1680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684" name="Picture 8" descr="dhello act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2529"/>
              <a:ext cx="835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8677" name="Text Box 9"/>
          <p:cNvSpPr txBox="1">
            <a:spLocks noChangeArrowheads="1"/>
          </p:cNvSpPr>
          <p:nvPr/>
        </p:nvSpPr>
        <p:spPr bwMode="auto">
          <a:xfrm>
            <a:off x="1143000" y="914400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/>
              <a:t>Steve</a:t>
            </a:r>
          </a:p>
        </p:txBody>
      </p:sp>
      <p:sp>
        <p:nvSpPr>
          <p:cNvPr id="28678" name="Text Box 10"/>
          <p:cNvSpPr txBox="1">
            <a:spLocks noChangeArrowheads="1"/>
          </p:cNvSpPr>
          <p:nvPr/>
        </p:nvSpPr>
        <p:spPr bwMode="auto">
          <a:xfrm>
            <a:off x="1066800" y="3824288"/>
            <a:ext cx="1143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/>
              <a:t>David</a:t>
            </a:r>
          </a:p>
        </p:txBody>
      </p:sp>
      <p:sp>
        <p:nvSpPr>
          <p:cNvPr id="28679" name="Text Box 11"/>
          <p:cNvSpPr txBox="1">
            <a:spLocks noChangeArrowheads="1"/>
          </p:cNvSpPr>
          <p:nvPr/>
        </p:nvSpPr>
        <p:spPr bwMode="auto">
          <a:xfrm>
            <a:off x="6096000" y="158115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0.01</a:t>
            </a:r>
          </a:p>
        </p:txBody>
      </p:sp>
      <p:sp>
        <p:nvSpPr>
          <p:cNvPr id="28680" name="Text Box 12"/>
          <p:cNvSpPr txBox="1">
            <a:spLocks noChangeArrowheads="1"/>
          </p:cNvSpPr>
          <p:nvPr/>
        </p:nvSpPr>
        <p:spPr bwMode="auto">
          <a:xfrm>
            <a:off x="6096000" y="234315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0.99</a:t>
            </a:r>
          </a:p>
        </p:txBody>
      </p:sp>
      <p:sp>
        <p:nvSpPr>
          <p:cNvPr id="28681" name="Text Box 13"/>
          <p:cNvSpPr txBox="1">
            <a:spLocks noChangeArrowheads="1"/>
          </p:cNvSpPr>
          <p:nvPr/>
        </p:nvSpPr>
        <p:spPr bwMode="auto">
          <a:xfrm>
            <a:off x="6096000" y="4495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0.99</a:t>
            </a:r>
          </a:p>
        </p:txBody>
      </p:sp>
      <p:sp>
        <p:nvSpPr>
          <p:cNvPr id="28682" name="Text Box 14"/>
          <p:cNvSpPr txBox="1">
            <a:spLocks noChangeArrowheads="1"/>
          </p:cNvSpPr>
          <p:nvPr/>
        </p:nvSpPr>
        <p:spPr bwMode="auto">
          <a:xfrm>
            <a:off x="6096000" y="5257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0.01</a:t>
            </a:r>
          </a:p>
        </p:txBody>
      </p:sp>
    </p:spTree>
    <p:extLst>
      <p:ext uri="{BB962C8B-B14F-4D97-AF65-F5344CB8AC3E}">
        <p14:creationId xmlns:p14="http://schemas.microsoft.com/office/powerpoint/2010/main" val="4077488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8062913" cy="6140450"/>
          </a:xfrm>
        </p:spPr>
        <p:txBody>
          <a:bodyPr/>
          <a:lstStyle/>
          <a:p>
            <a:pPr eaLnBrk="1" hangingPunct="1"/>
            <a:r>
              <a:rPr lang="en-GB" altLang="en-US" dirty="0"/>
              <a:t>Results – Voice Recognition</a:t>
            </a:r>
          </a:p>
          <a:p>
            <a:pPr eaLnBrk="1" hangingPunct="1"/>
            <a:endParaRPr lang="en-GB" altLang="en-US" dirty="0"/>
          </a:p>
          <a:p>
            <a:pPr lvl="1" eaLnBrk="1" hangingPunct="1"/>
            <a:r>
              <a:rPr lang="en-GB" altLang="en-US" dirty="0"/>
              <a:t>Performance of trained network</a:t>
            </a:r>
          </a:p>
          <a:p>
            <a:pPr lvl="1" eaLnBrk="1" hangingPunct="1"/>
            <a:endParaRPr lang="en-GB" altLang="en-US" dirty="0"/>
          </a:p>
          <a:p>
            <a:pPr lvl="2" eaLnBrk="1" hangingPunct="1"/>
            <a:r>
              <a:rPr lang="en-GB" altLang="en-US" dirty="0"/>
              <a:t>Discrimination accuracy between known “</a:t>
            </a:r>
            <a:r>
              <a:rPr lang="en-GB" altLang="en-US" dirty="0" err="1"/>
              <a:t>Hello”s</a:t>
            </a:r>
            <a:endParaRPr lang="en-GB" altLang="en-US" dirty="0"/>
          </a:p>
          <a:p>
            <a:pPr lvl="3" eaLnBrk="1" hangingPunct="1"/>
            <a:r>
              <a:rPr lang="en-GB" altLang="en-US" u="sng" dirty="0"/>
              <a:t>100%</a:t>
            </a:r>
          </a:p>
          <a:p>
            <a:pPr lvl="3" eaLnBrk="1" hangingPunct="1"/>
            <a:endParaRPr lang="en-GB" altLang="en-US" u="sng" dirty="0"/>
          </a:p>
          <a:p>
            <a:pPr lvl="2" eaLnBrk="1" hangingPunct="1"/>
            <a:r>
              <a:rPr lang="en-GB" altLang="en-US" dirty="0"/>
              <a:t>Discrimination accuracy between new “</a:t>
            </a:r>
            <a:r>
              <a:rPr lang="en-GB" altLang="en-US" dirty="0" err="1"/>
              <a:t>Hello”’s</a:t>
            </a:r>
            <a:endParaRPr lang="en-GB" altLang="en-US" dirty="0"/>
          </a:p>
          <a:p>
            <a:pPr lvl="3" eaLnBrk="1" hangingPunct="1"/>
            <a:r>
              <a:rPr lang="en-GB" altLang="en-US" u="sng" dirty="0"/>
              <a:t>100%</a:t>
            </a:r>
          </a:p>
          <a:p>
            <a:pPr marL="82296" indent="0" eaLnBrk="1" hangingPunct="1">
              <a:buNone/>
            </a:pPr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86921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04813"/>
            <a:ext cx="7772400" cy="5691187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GB" altLang="en-US" dirty="0"/>
              <a:t>Results – Voice Recognition (</a:t>
            </a:r>
            <a:r>
              <a:rPr lang="en-GB" altLang="en-US" dirty="0" err="1"/>
              <a:t>ctnd</a:t>
            </a:r>
            <a:r>
              <a:rPr lang="en-GB" altLang="en-US" dirty="0"/>
              <a:t>.)</a:t>
            </a:r>
          </a:p>
          <a:p>
            <a:pPr eaLnBrk="1" hangingPunct="1"/>
            <a:endParaRPr lang="en-GB" altLang="en-US" dirty="0"/>
          </a:p>
          <a:p>
            <a:pPr lvl="1" eaLnBrk="1" hangingPunct="1"/>
            <a:r>
              <a:rPr lang="en-GB" altLang="en-US" dirty="0"/>
              <a:t>Network has learnt to generalise from original data</a:t>
            </a:r>
          </a:p>
          <a:p>
            <a:pPr lvl="1" eaLnBrk="1" hangingPunct="1"/>
            <a:endParaRPr lang="en-GB" altLang="en-US" dirty="0"/>
          </a:p>
          <a:p>
            <a:pPr lvl="1" eaLnBrk="1" hangingPunct="1"/>
            <a:r>
              <a:rPr lang="en-GB" altLang="en-US" dirty="0"/>
              <a:t>Networks with different weight settings can have same functionality</a:t>
            </a:r>
          </a:p>
          <a:p>
            <a:pPr lvl="1" eaLnBrk="1" hangingPunct="1"/>
            <a:endParaRPr lang="en-GB" altLang="en-US" dirty="0"/>
          </a:p>
          <a:p>
            <a:pPr lvl="1" eaLnBrk="1" hangingPunct="1"/>
            <a:r>
              <a:rPr lang="en-GB" altLang="en-US" dirty="0"/>
              <a:t>Trained networks ‘concentrate’ on lower frequencies</a:t>
            </a:r>
          </a:p>
          <a:p>
            <a:pPr lvl="1" eaLnBrk="1" hangingPunct="1"/>
            <a:endParaRPr lang="en-GB" altLang="en-US" dirty="0"/>
          </a:p>
          <a:p>
            <a:pPr lvl="1" eaLnBrk="1" hangingPunct="1"/>
            <a:r>
              <a:rPr lang="en-GB" altLang="en-US" dirty="0"/>
              <a:t>Network is robust against non-functioning nodes</a:t>
            </a:r>
          </a:p>
          <a:p>
            <a:pPr lvl="1" eaLnBrk="1" hangingPunct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553209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0600" y="609600"/>
            <a:ext cx="7772400" cy="5791200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GB" altLang="en-US" sz="2800" b="1"/>
              <a:t>Applications of Feed-forward nets</a:t>
            </a:r>
          </a:p>
          <a:p>
            <a:pPr lvl="1" eaLnBrk="1" hangingPunct="1"/>
            <a:r>
              <a:rPr lang="en-GB" altLang="en-US"/>
              <a:t>Pattern</a:t>
            </a:r>
            <a:r>
              <a:rPr lang="en-GB" altLang="en-US" sz="2400"/>
              <a:t> </a:t>
            </a:r>
            <a:r>
              <a:rPr lang="en-GB" altLang="en-US"/>
              <a:t>recognition</a:t>
            </a:r>
          </a:p>
          <a:p>
            <a:pPr lvl="2" eaLnBrk="1" hangingPunct="1"/>
            <a:r>
              <a:rPr lang="en-GB" altLang="en-US">
                <a:hlinkClick r:id="rId2" action="ppaction://hlinkfile"/>
              </a:rPr>
              <a:t>Character recognition</a:t>
            </a:r>
            <a:endParaRPr lang="en-GB" altLang="en-US"/>
          </a:p>
          <a:p>
            <a:pPr lvl="2" eaLnBrk="1" hangingPunct="1"/>
            <a:r>
              <a:rPr lang="en-GB" altLang="en-US"/>
              <a:t>Face Recognition</a:t>
            </a:r>
          </a:p>
          <a:p>
            <a:pPr lvl="2" eaLnBrk="1" hangingPunct="1"/>
            <a:endParaRPr lang="en-GB" altLang="en-US"/>
          </a:p>
          <a:p>
            <a:pPr lvl="1" eaLnBrk="1" hangingPunct="1"/>
            <a:r>
              <a:rPr lang="en-GB" altLang="en-US"/>
              <a:t>Sonar mine/rock recognition </a:t>
            </a:r>
            <a:r>
              <a:rPr lang="en-GB" altLang="en-US" sz="1200"/>
              <a:t>(Gorman &amp; Sejnowksi, 1988)</a:t>
            </a:r>
          </a:p>
          <a:p>
            <a:pPr lvl="1" eaLnBrk="1" hangingPunct="1">
              <a:buFontTx/>
              <a:buNone/>
            </a:pPr>
            <a:endParaRPr lang="en-GB" altLang="en-US"/>
          </a:p>
          <a:p>
            <a:pPr lvl="1" eaLnBrk="1" hangingPunct="1"/>
            <a:r>
              <a:rPr lang="en-GB" altLang="en-US"/>
              <a:t>Navigation of a car </a:t>
            </a:r>
            <a:r>
              <a:rPr lang="en-GB" altLang="en-US" sz="1200"/>
              <a:t>(Pomerleau, 1989)</a:t>
            </a:r>
            <a:endParaRPr lang="en-GB" altLang="en-US"/>
          </a:p>
          <a:p>
            <a:pPr lvl="1" eaLnBrk="1" hangingPunct="1"/>
            <a:endParaRPr lang="en-GB" altLang="en-US"/>
          </a:p>
          <a:p>
            <a:pPr lvl="1" eaLnBrk="1" hangingPunct="1"/>
            <a:r>
              <a:rPr lang="en-GB" altLang="en-US"/>
              <a:t>Stock-market prediction</a:t>
            </a:r>
          </a:p>
          <a:p>
            <a:pPr lvl="1" eaLnBrk="1" hangingPunct="1"/>
            <a:endParaRPr lang="en-GB" altLang="en-US"/>
          </a:p>
          <a:p>
            <a:pPr lvl="1" eaLnBrk="1" hangingPunct="1"/>
            <a:r>
              <a:rPr lang="en-GB" altLang="en-US"/>
              <a:t>Pronunciation (NETtalk)</a:t>
            </a:r>
          </a:p>
          <a:p>
            <a:pPr lvl="1" eaLnBrk="1" hangingPunct="1">
              <a:buFontTx/>
              <a:buNone/>
            </a:pPr>
            <a:r>
              <a:rPr lang="en-GB" altLang="en-US" sz="1200"/>
              <a:t>	(Sejnowksi &amp; Rosenberg, 1987)</a:t>
            </a:r>
            <a:endParaRPr lang="en-GB" altLang="en-US"/>
          </a:p>
        </p:txBody>
      </p:sp>
      <p:pic>
        <p:nvPicPr>
          <p:cNvPr id="31747" name="Picture 3" descr="nettal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5181600"/>
            <a:ext cx="3429000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Sound">
            <a:hlinkClick r:id="" action="ppaction://noaction">
              <a:snd r:embed="rId4" name="firstgrade1.wav"/>
            </a:hlinkClick>
          </p:cNvPr>
          <p:cNvSpPr>
            <a:spLocks noEditPoints="1" noChangeArrowheads="1"/>
          </p:cNvSpPr>
          <p:nvPr/>
        </p:nvSpPr>
        <p:spPr bwMode="auto">
          <a:xfrm>
            <a:off x="4660900" y="4797425"/>
            <a:ext cx="287338" cy="315913"/>
          </a:xfrm>
          <a:custGeom>
            <a:avLst/>
            <a:gdLst>
              <a:gd name="T0" fmla="*/ 148511 w 21600"/>
              <a:gd name="T1" fmla="*/ 309463 h 21600"/>
              <a:gd name="T2" fmla="*/ 148511 w 21600"/>
              <a:gd name="T3" fmla="*/ 0 h 21600"/>
              <a:gd name="T4" fmla="*/ 0 w 21600"/>
              <a:gd name="T5" fmla="*/ 157957 h 21600"/>
              <a:gd name="T6" fmla="*/ 287338 w 21600"/>
              <a:gd name="T7" fmla="*/ 15795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61 w 21600"/>
              <a:gd name="T13" fmla="*/ 22454 h 21600"/>
              <a:gd name="T14" fmla="*/ 21069 w 21600"/>
              <a:gd name="T15" fmla="*/ 28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749" name="Sound">
            <a:hlinkClick r:id="" action="ppaction://noaction">
              <a:snd r:embed="rId5" name="firstgrade2.wav"/>
            </a:hlinkClick>
          </p:cNvPr>
          <p:cNvSpPr>
            <a:spLocks noEditPoints="1" noChangeArrowheads="1"/>
          </p:cNvSpPr>
          <p:nvPr/>
        </p:nvSpPr>
        <p:spPr bwMode="auto">
          <a:xfrm>
            <a:off x="5164138" y="4797425"/>
            <a:ext cx="287337" cy="315913"/>
          </a:xfrm>
          <a:custGeom>
            <a:avLst/>
            <a:gdLst>
              <a:gd name="T0" fmla="*/ 148511 w 21600"/>
              <a:gd name="T1" fmla="*/ 309463 h 21600"/>
              <a:gd name="T2" fmla="*/ 148511 w 21600"/>
              <a:gd name="T3" fmla="*/ 0 h 21600"/>
              <a:gd name="T4" fmla="*/ 0 w 21600"/>
              <a:gd name="T5" fmla="*/ 157957 h 21600"/>
              <a:gd name="T6" fmla="*/ 287337 w 21600"/>
              <a:gd name="T7" fmla="*/ 15795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61 w 21600"/>
              <a:gd name="T13" fmla="*/ 22454 h 21600"/>
              <a:gd name="T14" fmla="*/ 21069 w 21600"/>
              <a:gd name="T15" fmla="*/ 28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50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Recurrent Networks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876800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GB" altLang="en-US"/>
              <a:t>Feed forward networks:</a:t>
            </a:r>
          </a:p>
          <a:p>
            <a:pPr lvl="1" eaLnBrk="1" hangingPunct="1"/>
            <a:r>
              <a:rPr lang="en-GB" altLang="en-US"/>
              <a:t>Information only flows one way</a:t>
            </a:r>
          </a:p>
          <a:p>
            <a:pPr lvl="1" eaLnBrk="1" hangingPunct="1"/>
            <a:r>
              <a:rPr lang="en-GB" altLang="en-US"/>
              <a:t>One input pattern produces one output</a:t>
            </a:r>
          </a:p>
          <a:p>
            <a:pPr lvl="1" eaLnBrk="1" hangingPunct="1"/>
            <a:r>
              <a:rPr lang="en-GB" altLang="en-US"/>
              <a:t>No sense of time (or memory of previous state)</a:t>
            </a:r>
          </a:p>
          <a:p>
            <a:pPr lvl="1" eaLnBrk="1" hangingPunct="1"/>
            <a:endParaRPr lang="en-GB" altLang="en-US"/>
          </a:p>
          <a:p>
            <a:pPr eaLnBrk="1" hangingPunct="1"/>
            <a:r>
              <a:rPr lang="en-GB" altLang="en-US"/>
              <a:t>Recurrency</a:t>
            </a:r>
          </a:p>
          <a:p>
            <a:pPr lvl="1" eaLnBrk="1" hangingPunct="1"/>
            <a:r>
              <a:rPr lang="en-GB" altLang="en-US"/>
              <a:t>Nodes connect back to other nodes or themselves</a:t>
            </a:r>
          </a:p>
          <a:p>
            <a:pPr lvl="1" eaLnBrk="1" hangingPunct="1"/>
            <a:r>
              <a:rPr lang="en-GB" altLang="en-US"/>
              <a:t>Information flow is multidirectional</a:t>
            </a:r>
          </a:p>
          <a:p>
            <a:pPr lvl="1" eaLnBrk="1" hangingPunct="1"/>
            <a:r>
              <a:rPr lang="en-GB" altLang="en-US"/>
              <a:t>Sense of time and memory of previous state(s)</a:t>
            </a:r>
          </a:p>
          <a:p>
            <a:pPr lvl="1" eaLnBrk="1" hangingPunct="1"/>
            <a:endParaRPr lang="en-GB" altLang="en-US"/>
          </a:p>
          <a:p>
            <a:pPr eaLnBrk="1" hangingPunct="1"/>
            <a:r>
              <a:rPr lang="en-GB" altLang="en-US"/>
              <a:t>Biological nervous systems show high levels of recurrency (but feed-forward structures exists too)</a:t>
            </a:r>
          </a:p>
        </p:txBody>
      </p:sp>
      <p:pic>
        <p:nvPicPr>
          <p:cNvPr id="33796" name="Picture 4" descr="ANN stru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76400"/>
            <a:ext cx="20574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6958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Hopfield Networks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4678363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1800"/>
              <a:t>Sub-type of recurrent neural nets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600"/>
              <a:t>Fully recurrent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600"/>
              <a:t>Weights are symmetric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600"/>
              <a:t>Nodes can only be </a:t>
            </a:r>
            <a:r>
              <a:rPr lang="en-GB" altLang="en-US" sz="1600" i="1"/>
              <a:t>on</a:t>
            </a:r>
            <a:r>
              <a:rPr lang="en-GB" altLang="en-US" sz="1600"/>
              <a:t> or </a:t>
            </a:r>
            <a:r>
              <a:rPr lang="en-GB" altLang="en-US" sz="1600" i="1"/>
              <a:t>off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600"/>
              <a:t>Random updating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1600"/>
          </a:p>
          <a:p>
            <a:pPr eaLnBrk="1" hangingPunct="1">
              <a:lnSpc>
                <a:spcPct val="90000"/>
              </a:lnSpc>
            </a:pPr>
            <a:r>
              <a:rPr lang="en-GB" altLang="en-US" sz="1800"/>
              <a:t>Learning: </a:t>
            </a:r>
            <a:r>
              <a:rPr lang="en-GB" altLang="en-US" sz="1800" b="1"/>
              <a:t>Hebb rule</a:t>
            </a:r>
            <a:r>
              <a:rPr lang="en-GB" altLang="en-US" sz="1800"/>
              <a:t> </a:t>
            </a:r>
            <a:r>
              <a:rPr lang="en-GB" altLang="en-US" sz="1200"/>
              <a:t>(cells that fire together wire together)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600"/>
              <a:t>Biological equivalent to LTP and LTD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1600"/>
          </a:p>
          <a:p>
            <a:pPr eaLnBrk="1" hangingPunct="1">
              <a:lnSpc>
                <a:spcPct val="90000"/>
              </a:lnSpc>
            </a:pPr>
            <a:r>
              <a:rPr lang="en-GB" altLang="en-US" sz="1800"/>
              <a:t>Can recall a memory, if presented with 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1800"/>
              <a:t>	corrupt or incomplete version</a:t>
            </a:r>
          </a:p>
          <a:p>
            <a:pPr eaLnBrk="1" hangingPunct="1">
              <a:lnSpc>
                <a:spcPct val="90000"/>
              </a:lnSpc>
            </a:pPr>
            <a:endParaRPr lang="en-GB" altLang="en-US" sz="1800"/>
          </a:p>
          <a:p>
            <a:pPr eaLnBrk="1" hangingPunct="1">
              <a:lnSpc>
                <a:spcPct val="90000"/>
              </a:lnSpc>
            </a:pPr>
            <a:endParaRPr lang="en-GB" altLang="en-US" sz="1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1800"/>
              <a:t>	</a:t>
            </a:r>
            <a:r>
              <a:rPr lang="en-GB" altLang="en-US" sz="1800">
                <a:sym typeface="Wingdings" panose="05000000000000000000" pitchFamily="2" charset="2"/>
              </a:rPr>
              <a:t>	</a:t>
            </a:r>
            <a:r>
              <a:rPr lang="en-GB" altLang="en-US" sz="1800" b="1">
                <a:sym typeface="Wingdings" panose="05000000000000000000" pitchFamily="2" charset="2"/>
              </a:rPr>
              <a:t>auto-associative</a:t>
            </a:r>
            <a:r>
              <a:rPr lang="en-GB" altLang="en-US" sz="1800">
                <a:sym typeface="Wingdings" panose="05000000000000000000" pitchFamily="2" charset="2"/>
              </a:rPr>
              <a:t> 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1800">
                <a:sym typeface="Wingdings" panose="05000000000000000000" pitchFamily="2" charset="2"/>
              </a:rPr>
              <a:t>		</a:t>
            </a:r>
            <a:r>
              <a:rPr lang="en-GB" altLang="en-US" sz="1800" b="1">
                <a:sym typeface="Wingdings" panose="05000000000000000000" pitchFamily="2" charset="2"/>
              </a:rPr>
              <a:t>content-addressable memory</a:t>
            </a:r>
            <a:endParaRPr lang="en-GB" altLang="en-US" sz="1800" b="1"/>
          </a:p>
        </p:txBody>
      </p:sp>
      <p:pic>
        <p:nvPicPr>
          <p:cNvPr id="35844" name="Picture 4" descr="hopfield ap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3500438"/>
            <a:ext cx="2292350" cy="303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08625" y="836613"/>
            <a:ext cx="2233613" cy="2165350"/>
          </a:xfrm>
          <a:noFill/>
        </p:spPr>
      </p:pic>
    </p:spTree>
    <p:extLst>
      <p:ext uri="{BB962C8B-B14F-4D97-AF65-F5344CB8AC3E}">
        <p14:creationId xmlns:p14="http://schemas.microsoft.com/office/powerpoint/2010/main" val="2188075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2390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Recap – Neural Networks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4822825" cy="5257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GB" altLang="en-US" sz="1600"/>
              <a:t>Components – biological plausibility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Neurone / node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Synapse / weight</a:t>
            </a:r>
          </a:p>
          <a:p>
            <a:pPr eaLnBrk="1" hangingPunct="1">
              <a:lnSpc>
                <a:spcPct val="80000"/>
              </a:lnSpc>
            </a:pPr>
            <a:endParaRPr lang="en-GB" altLang="en-US" sz="1600"/>
          </a:p>
          <a:p>
            <a:pPr eaLnBrk="1" hangingPunct="1">
              <a:lnSpc>
                <a:spcPct val="80000"/>
              </a:lnSpc>
            </a:pPr>
            <a:endParaRPr lang="en-GB" altLang="en-US" sz="1600"/>
          </a:p>
          <a:p>
            <a:pPr eaLnBrk="1" hangingPunct="1">
              <a:lnSpc>
                <a:spcPct val="80000"/>
              </a:lnSpc>
            </a:pPr>
            <a:r>
              <a:rPr lang="en-GB" altLang="en-US" sz="1600"/>
              <a:t>Feed forward networks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Unidirectional flow of information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Good at extracting patterns, generalisation and prediction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Distributed representation of data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Parallel processing of data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Training: Backpropagation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Not exact models, but good at demonstrating principles</a:t>
            </a:r>
          </a:p>
          <a:p>
            <a:pPr lvl="1" eaLnBrk="1" hangingPunct="1">
              <a:lnSpc>
                <a:spcPct val="80000"/>
              </a:lnSpc>
            </a:pPr>
            <a:endParaRPr lang="en-GB" altLang="en-US" sz="1400"/>
          </a:p>
          <a:p>
            <a:pPr lvl="1" eaLnBrk="1" hangingPunct="1">
              <a:lnSpc>
                <a:spcPct val="80000"/>
              </a:lnSpc>
            </a:pPr>
            <a:endParaRPr lang="en-GB" altLang="en-US" sz="1400"/>
          </a:p>
          <a:p>
            <a:pPr eaLnBrk="1" hangingPunct="1">
              <a:lnSpc>
                <a:spcPct val="80000"/>
              </a:lnSpc>
            </a:pPr>
            <a:r>
              <a:rPr lang="en-GB" altLang="en-US" sz="1600"/>
              <a:t>Recurrent networks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Multidirectional flow of information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Memory / sense of time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Complex temporal dynamics (e.g. CPGs)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Various training methods (Hebbian, evolution)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400"/>
              <a:t>Often better biological models than FFNs</a:t>
            </a:r>
          </a:p>
        </p:txBody>
      </p:sp>
      <p:pic>
        <p:nvPicPr>
          <p:cNvPr id="3994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40425" y="4686300"/>
            <a:ext cx="2239963" cy="2171700"/>
          </a:xfrm>
          <a:noFill/>
        </p:spPr>
      </p:pic>
      <p:pic>
        <p:nvPicPr>
          <p:cNvPr id="39941" name="Picture 10" descr="ANN structure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1863" y="2852738"/>
            <a:ext cx="1943100" cy="1700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9942" name="Picture 12" descr="nod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4"/>
          <a:stretch>
            <a:fillRect/>
          </a:stretch>
        </p:blipFill>
        <p:spPr bwMode="auto">
          <a:xfrm>
            <a:off x="6156325" y="1484313"/>
            <a:ext cx="172243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9957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The Machine Learning Zoo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676400"/>
            <a:ext cx="3200400" cy="4800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600200"/>
            <a:ext cx="4437888" cy="476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21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990600"/>
            <a:ext cx="7383463" cy="2108200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Backpropagation Algorithm for Learning Feedforward Multilayer Networks</a:t>
            </a:r>
            <a:endParaRPr lang="en-US" alt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1524000" y="3429000"/>
            <a:ext cx="6553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</a:rPr>
              <a:t>Rumelhart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, David E.; Hinton, Geoffrey E.; Williams, Ronald J. (8 October 1986). "Learning representations by back-propagating errors". </a:t>
            </a:r>
            <a:r>
              <a:rPr lang="en-US" i="1" dirty="0">
                <a:solidFill>
                  <a:srgbClr val="222222"/>
                </a:solidFill>
                <a:latin typeface="Arial" panose="020B0604020202020204" pitchFamily="34" charset="0"/>
              </a:rPr>
              <a:t>Nature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. </a:t>
            </a: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323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(6088): 533–536.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2" tooltip="Bibcode"/>
              </a:rPr>
              <a:t>Bibcode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en-US" dirty="0">
                <a:solidFill>
                  <a:srgbClr val="663366"/>
                </a:solidFill>
                <a:latin typeface="Arial" panose="020B0604020202020204" pitchFamily="34" charset="0"/>
                <a:hlinkClick r:id="rId3"/>
              </a:rPr>
              <a:t>1986Natur.323..533R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.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4" tooltip="Digital object identifier"/>
              </a:rPr>
              <a:t>doi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  <a:r>
              <a:rPr lang="en-US" dirty="0">
                <a:solidFill>
                  <a:srgbClr val="663366"/>
                </a:solidFill>
                <a:latin typeface="Arial" panose="020B0604020202020204" pitchFamily="34" charset="0"/>
                <a:hlinkClick r:id="rId5"/>
              </a:rPr>
              <a:t>10.1038/323533a0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7134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571629649"/>
              </p:ext>
            </p:extLst>
          </p:nvPr>
        </p:nvGraphicFramePr>
        <p:xfrm>
          <a:off x="4538663" y="3009900"/>
          <a:ext cx="5443537" cy="364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266667" imgH="2152951" progId="Paint.Picture">
                  <p:embed/>
                </p:oleObj>
              </mc:Choice>
              <mc:Fallback>
                <p:oleObj name="Bitmap Image" r:id="rId2" imgW="3266667" imgH="2152951" progId="Paint.Picture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8663" y="3009900"/>
                        <a:ext cx="5443537" cy="364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381125" y="292100"/>
            <a:ext cx="7772400" cy="5461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Backpropagation Learning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03325" y="990600"/>
            <a:ext cx="8255000" cy="54483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b="1"/>
              <a:t>Architecture</a:t>
            </a:r>
            <a:r>
              <a:rPr lang="en-US" altLang="en-US" sz="2400"/>
              <a:t>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1"/>
              <a:t>Feedforward</a:t>
            </a:r>
            <a:r>
              <a:rPr lang="en-US" altLang="en-US" sz="2200"/>
              <a:t> network of at least one layer of </a:t>
            </a:r>
            <a:r>
              <a:rPr lang="en-US" altLang="en-US" sz="2200" b="1"/>
              <a:t>non-linear</a:t>
            </a:r>
            <a:r>
              <a:rPr lang="en-US" altLang="en-US" sz="2200"/>
              <a:t> hidden nodes, e.g., # of layers </a:t>
            </a:r>
            <a:r>
              <a:rPr lang="en-US" altLang="en-US" sz="2200" b="1" i="1"/>
              <a:t>L </a:t>
            </a:r>
            <a:r>
              <a:rPr lang="en-US" altLang="en-US" sz="2200" b="1" i="1">
                <a:cs typeface="Times New Roman" panose="02020603050405020304" pitchFamily="18" charset="0"/>
              </a:rPr>
              <a:t>≥ 2</a:t>
            </a:r>
            <a:r>
              <a:rPr lang="en-US" altLang="en-US" sz="2200">
                <a:cs typeface="Times New Roman" panose="02020603050405020304" pitchFamily="18" charset="0"/>
              </a:rPr>
              <a:t> (not counting the input layer)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>
                <a:cs typeface="Times New Roman" panose="02020603050405020304" pitchFamily="18" charset="0"/>
              </a:rPr>
              <a:t>Node function is differentiable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	most common: </a:t>
            </a:r>
            <a:r>
              <a:rPr lang="en-US" altLang="en-US" sz="2200" b="1">
                <a:cs typeface="Times New Roman" panose="02020603050405020304" pitchFamily="18" charset="0"/>
              </a:rPr>
              <a:t>sigmoid function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/>
              <a:t>Learning</a:t>
            </a:r>
            <a:r>
              <a:rPr lang="en-US" altLang="en-US" sz="2400"/>
              <a:t>: supervised, error driven,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	generalized delta rule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Call this type of nets BP nets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weight update rule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	(gradient descent approach)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Practical considerations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Variations of BP nets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Applications</a:t>
            </a:r>
            <a:endParaRPr lang="en-US" altLang="en-US" sz="2600">
              <a:cs typeface="Times New Roman" panose="02020603050405020304" pitchFamily="18" charset="0"/>
            </a:endParaRPr>
          </a:p>
        </p:txBody>
      </p:sp>
      <p:graphicFrame>
        <p:nvGraphicFramePr>
          <p:cNvPr id="3077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197835643"/>
              </p:ext>
            </p:extLst>
          </p:nvPr>
        </p:nvGraphicFramePr>
        <p:xfrm>
          <a:off x="5865813" y="2414588"/>
          <a:ext cx="22352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724266" imgH="428798" progId="Paint.Picture">
                  <p:embed/>
                </p:oleObj>
              </mc:Choice>
              <mc:Fallback>
                <p:oleObj name="Bitmap Image" r:id="rId4" imgW="1724266" imgH="428798" progId="Paint.Picture">
                  <p:embed/>
                  <p:pic>
                    <p:nvPicPr>
                      <p:cNvPr id="307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5813" y="2414588"/>
                        <a:ext cx="22352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9517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5700" y="203200"/>
            <a:ext cx="7772400" cy="495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BP Learning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92200" y="825500"/>
            <a:ext cx="8128000" cy="5803900"/>
          </a:xfrm>
        </p:spPr>
        <p:txBody>
          <a:bodyPr>
            <a:normAutofit lnSpcReduction="10000"/>
          </a:bodyPr>
          <a:lstStyle/>
          <a:p>
            <a:pPr marL="228600" indent="-228600" eaLnBrk="1" hangingPunct="1">
              <a:lnSpc>
                <a:spcPct val="90000"/>
              </a:lnSpc>
            </a:pPr>
            <a:r>
              <a:rPr lang="en-US" altLang="en-US" sz="2400" b="1"/>
              <a:t>Notations</a:t>
            </a:r>
            <a:r>
              <a:rPr lang="en-US" altLang="en-US" sz="2400"/>
              <a:t>: 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2200">
                <a:cs typeface="Times New Roman" panose="02020603050405020304" pitchFamily="18" charset="0"/>
              </a:rPr>
              <a:t>Weights: two weight matrices: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  <a:buFontTx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             from input layer (0) to hidden layer (1)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  <a:buFontTx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             from hidden layer (1) to output layer (2)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  <a:buFontTx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             weight from node 1 at layer 0 to node 2 in layer 1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2200">
                <a:cs typeface="Times New Roman" panose="02020603050405020304" pitchFamily="18" charset="0"/>
              </a:rPr>
              <a:t>Training samples: pair of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  <a:buFontTx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	so it is supervised learning 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2200"/>
              <a:t>Input pattern: 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2200">
                <a:cs typeface="Times New Roman" panose="02020603050405020304" pitchFamily="18" charset="0"/>
              </a:rPr>
              <a:t>Output pattern: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2200">
                <a:cs typeface="Times New Roman" panose="02020603050405020304" pitchFamily="18" charset="0"/>
              </a:rPr>
              <a:t>Desired output: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2200">
                <a:cs typeface="Times New Roman" panose="02020603050405020304" pitchFamily="18" charset="0"/>
              </a:rPr>
              <a:t>Error:                          error for output node </a:t>
            </a:r>
            <a:r>
              <a:rPr lang="en-US" altLang="en-US" sz="2200" i="1">
                <a:cs typeface="Times New Roman" panose="02020603050405020304" pitchFamily="18" charset="0"/>
              </a:rPr>
              <a:t>k</a:t>
            </a:r>
            <a:r>
              <a:rPr lang="en-US" altLang="en-US" sz="2200">
                <a:cs typeface="Times New Roman" panose="02020603050405020304" pitchFamily="18" charset="0"/>
              </a:rPr>
              <a:t> when </a:t>
            </a:r>
            <a:r>
              <a:rPr lang="en-US" altLang="en-US" sz="2200" i="1">
                <a:cs typeface="Times New Roman" panose="02020603050405020304" pitchFamily="18" charset="0"/>
              </a:rPr>
              <a:t>x</a:t>
            </a:r>
            <a:r>
              <a:rPr lang="en-US" altLang="en-US" sz="2200" i="1" baseline="-25000">
                <a:cs typeface="Times New Roman" panose="02020603050405020304" pitchFamily="18" charset="0"/>
              </a:rPr>
              <a:t>p</a:t>
            </a:r>
            <a:r>
              <a:rPr lang="en-US" altLang="en-US" sz="2200">
                <a:cs typeface="Times New Roman" panose="02020603050405020304" pitchFamily="18" charset="0"/>
              </a:rPr>
              <a:t> is applied 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75000"/>
              </a:spcBef>
              <a:buFontTx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	sum square error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75000"/>
              </a:spcBef>
              <a:buFontTx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   This error drives learning (change           and           ) </a:t>
            </a:r>
          </a:p>
        </p:txBody>
      </p:sp>
      <p:graphicFrame>
        <p:nvGraphicFramePr>
          <p:cNvPr id="410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99138270"/>
              </p:ext>
            </p:extLst>
          </p:nvPr>
        </p:nvGraphicFramePr>
        <p:xfrm>
          <a:off x="3752850" y="3738563"/>
          <a:ext cx="223837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29810" imgH="241195" progId="Equation.3">
                  <p:embed/>
                </p:oleObj>
              </mc:Choice>
              <mc:Fallback>
                <p:oleObj name="Equation" r:id="rId2" imgW="1129810" imgH="241195" progId="Equation.3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3738563"/>
                        <a:ext cx="223837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990855699"/>
              </p:ext>
            </p:extLst>
          </p:nvPr>
        </p:nvGraphicFramePr>
        <p:xfrm>
          <a:off x="3797300" y="4140200"/>
          <a:ext cx="20812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29810" imgH="241195" progId="Equation.DSMT4">
                  <p:embed/>
                </p:oleObj>
              </mc:Choice>
              <mc:Fallback>
                <p:oleObj name="Equation" r:id="rId4" imgW="1129810" imgH="241195" progId="Equation.DSMT4">
                  <p:embed/>
                  <p:pic>
                    <p:nvPicPr>
                      <p:cNvPr id="410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4140200"/>
                        <a:ext cx="20812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561889"/>
              </p:ext>
            </p:extLst>
          </p:nvPr>
        </p:nvGraphicFramePr>
        <p:xfrm>
          <a:off x="3843338" y="4603750"/>
          <a:ext cx="20653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726" imgH="241195" progId="Equation.DSMT4">
                  <p:embed/>
                </p:oleObj>
              </mc:Choice>
              <mc:Fallback>
                <p:oleObj name="Equation" r:id="rId6" imgW="1091726" imgH="241195" progId="Equation.DSMT4">
                  <p:embed/>
                  <p:pic>
                    <p:nvPicPr>
                      <p:cNvPr id="410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338" y="4603750"/>
                        <a:ext cx="20653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247631"/>
              </p:ext>
            </p:extLst>
          </p:nvPr>
        </p:nvGraphicFramePr>
        <p:xfrm>
          <a:off x="1730375" y="1600200"/>
          <a:ext cx="7366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446" imgH="279279" progId="Equation.3">
                  <p:embed/>
                </p:oleObj>
              </mc:Choice>
              <mc:Fallback>
                <p:oleObj name="Equation" r:id="rId8" imgW="355446" imgH="279279" progId="Equation.3">
                  <p:embed/>
                  <p:pic>
                    <p:nvPicPr>
                      <p:cNvPr id="410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75" y="1600200"/>
                        <a:ext cx="7366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204057"/>
              </p:ext>
            </p:extLst>
          </p:nvPr>
        </p:nvGraphicFramePr>
        <p:xfrm>
          <a:off x="1728788" y="2006600"/>
          <a:ext cx="7445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446" imgH="279279" progId="Equation.3">
                  <p:embed/>
                </p:oleObj>
              </mc:Choice>
              <mc:Fallback>
                <p:oleObj name="Equation" r:id="rId10" imgW="355446" imgH="279279" progId="Equation.3">
                  <p:embed/>
                  <p:pic>
                    <p:nvPicPr>
                      <p:cNvPr id="410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2006600"/>
                        <a:ext cx="74453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646228"/>
              </p:ext>
            </p:extLst>
          </p:nvPr>
        </p:nvGraphicFramePr>
        <p:xfrm>
          <a:off x="1778000" y="2406650"/>
          <a:ext cx="7270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5292" imgH="266469" progId="Equation.3">
                  <p:embed/>
                </p:oleObj>
              </mc:Choice>
              <mc:Fallback>
                <p:oleObj name="Equation" r:id="rId12" imgW="355292" imgH="266469" progId="Equation.3">
                  <p:embed/>
                  <p:pic>
                    <p:nvPicPr>
                      <p:cNvPr id="410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2406650"/>
                        <a:ext cx="7270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517719"/>
              </p:ext>
            </p:extLst>
          </p:nvPr>
        </p:nvGraphicFramePr>
        <p:xfrm>
          <a:off x="4632325" y="2965450"/>
          <a:ext cx="228123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82700" imgH="241300" progId="Equation.DSMT4">
                  <p:embed/>
                </p:oleObj>
              </mc:Choice>
              <mc:Fallback>
                <p:oleObj name="Equation" r:id="rId14" imgW="1282700" imgH="241300" progId="Equation.DSMT4">
                  <p:embed/>
                  <p:pic>
                    <p:nvPicPr>
                      <p:cNvPr id="410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25" y="2965450"/>
                        <a:ext cx="2281238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881471"/>
              </p:ext>
            </p:extLst>
          </p:nvPr>
        </p:nvGraphicFramePr>
        <p:xfrm>
          <a:off x="2436813" y="4976813"/>
          <a:ext cx="1827212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88614" imgH="241195" progId="Equation.DSMT4">
                  <p:embed/>
                </p:oleObj>
              </mc:Choice>
              <mc:Fallback>
                <p:oleObj name="Equation" r:id="rId16" imgW="888614" imgH="241195" progId="Equation.DSMT4">
                  <p:embed/>
                  <p:pic>
                    <p:nvPicPr>
                      <p:cNvPr id="410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813" y="4976813"/>
                        <a:ext cx="1827212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1743450"/>
              </p:ext>
            </p:extLst>
          </p:nvPr>
        </p:nvGraphicFramePr>
        <p:xfrm>
          <a:off x="3773488" y="5446713"/>
          <a:ext cx="1547812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25142" imgH="406224" progId="Equation.DSMT4">
                  <p:embed/>
                </p:oleObj>
              </mc:Choice>
              <mc:Fallback>
                <p:oleObj name="Equation" r:id="rId18" imgW="825142" imgH="406224" progId="Equation.DSMT4">
                  <p:embed/>
                  <p:pic>
                    <p:nvPicPr>
                      <p:cNvPr id="410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3488" y="5446713"/>
                        <a:ext cx="1547812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226092"/>
              </p:ext>
            </p:extLst>
          </p:nvPr>
        </p:nvGraphicFramePr>
        <p:xfrm>
          <a:off x="5603875" y="6070600"/>
          <a:ext cx="7366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55446" imgH="279279" progId="Equation.3">
                  <p:embed/>
                </p:oleObj>
              </mc:Choice>
              <mc:Fallback>
                <p:oleObj name="Equation" r:id="rId20" imgW="355446" imgH="279279" progId="Equation.3">
                  <p:embed/>
                  <p:pic>
                    <p:nvPicPr>
                      <p:cNvPr id="410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6070600"/>
                        <a:ext cx="7366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977843"/>
              </p:ext>
            </p:extLst>
          </p:nvPr>
        </p:nvGraphicFramePr>
        <p:xfrm>
          <a:off x="6757988" y="6070600"/>
          <a:ext cx="7445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55446" imgH="279279" progId="Equation.3">
                  <p:embed/>
                </p:oleObj>
              </mc:Choice>
              <mc:Fallback>
                <p:oleObj name="Equation" r:id="rId21" imgW="355446" imgH="279279" progId="Equation.3">
                  <p:embed/>
                  <p:pic>
                    <p:nvPicPr>
                      <p:cNvPr id="411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7988" y="6070600"/>
                        <a:ext cx="74453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8834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7600" y="203200"/>
            <a:ext cx="7772400" cy="495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 dirty="0"/>
              <a:t>BP Learning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4100" y="825500"/>
            <a:ext cx="7937500" cy="5803900"/>
          </a:xfrm>
        </p:spPr>
        <p:txBody>
          <a:bodyPr/>
          <a:lstStyle/>
          <a:p>
            <a:pPr marL="228600" indent="-228600" eaLnBrk="1" hangingPunct="1">
              <a:lnSpc>
                <a:spcPct val="90000"/>
              </a:lnSpc>
            </a:pPr>
            <a:r>
              <a:rPr lang="en-US" altLang="en-US" sz="2400" b="1"/>
              <a:t>Sigmoid function again</a:t>
            </a:r>
            <a:r>
              <a:rPr lang="en-US" altLang="en-US" sz="2400"/>
              <a:t>: 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2200"/>
              <a:t>Differentiable: 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endParaRPr lang="en-US" altLang="en-US" sz="2200">
              <a:cs typeface="Times New Roman" panose="02020603050405020304" pitchFamily="18" charset="0"/>
            </a:endParaRP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endParaRPr lang="en-US" altLang="en-US" sz="2200">
              <a:cs typeface="Times New Roman" panose="02020603050405020304" pitchFamily="18" charset="0"/>
            </a:endParaRP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endParaRPr lang="en-US" altLang="en-US" sz="2200">
              <a:cs typeface="Times New Roman" panose="02020603050405020304" pitchFamily="18" charset="0"/>
            </a:endParaRP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endParaRPr lang="en-US" altLang="en-US" sz="2200">
              <a:cs typeface="Times New Roman" panose="02020603050405020304" pitchFamily="18" charset="0"/>
            </a:endParaRP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endParaRPr lang="en-US" altLang="en-US" sz="2200">
              <a:cs typeface="Times New Roman" panose="02020603050405020304" pitchFamily="18" charset="0"/>
            </a:endParaRP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endParaRPr lang="en-US" altLang="en-US" sz="2200">
              <a:cs typeface="Times New Roman" panose="02020603050405020304" pitchFamily="18" charset="0"/>
            </a:endParaRP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endParaRPr lang="en-US" altLang="en-US" sz="2200">
              <a:cs typeface="Times New Roman" panose="02020603050405020304" pitchFamily="18" charset="0"/>
            </a:endParaRPr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2200">
                <a:cs typeface="Times New Roman" panose="02020603050405020304" pitchFamily="18" charset="0"/>
              </a:rPr>
              <a:t>When |</a:t>
            </a:r>
            <a:r>
              <a:rPr lang="en-US" altLang="en-US" sz="2200" i="1">
                <a:cs typeface="Times New Roman" panose="02020603050405020304" pitchFamily="18" charset="0"/>
              </a:rPr>
              <a:t>net</a:t>
            </a:r>
            <a:r>
              <a:rPr lang="en-US" altLang="en-US" sz="2200">
                <a:cs typeface="Times New Roman" panose="02020603050405020304" pitchFamily="18" charset="0"/>
              </a:rPr>
              <a:t>| is sufficiently large, it moves into one of the two saturation regions, behaving like a threshold or ramp function.</a:t>
            </a:r>
          </a:p>
          <a:p>
            <a:pPr marL="228600" indent="-228600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2400">
                <a:cs typeface="Times New Roman" panose="02020603050405020304" pitchFamily="18" charset="0"/>
              </a:rPr>
              <a:t>Chain rule of differentiation</a:t>
            </a:r>
          </a:p>
        </p:txBody>
      </p:sp>
      <p:graphicFrame>
        <p:nvGraphicFramePr>
          <p:cNvPr id="512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244098951"/>
              </p:ext>
            </p:extLst>
          </p:nvPr>
        </p:nvGraphicFramePr>
        <p:xfrm>
          <a:off x="1719263" y="1508125"/>
          <a:ext cx="2989262" cy="305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700" imgH="1828800" progId="Equation.3">
                  <p:embed/>
                </p:oleObj>
              </mc:Choice>
              <mc:Fallback>
                <p:oleObj name="Equation" r:id="rId2" imgW="1790700" imgH="1828800" progId="Equation.3">
                  <p:embed/>
                  <p:pic>
                    <p:nvPicPr>
                      <p:cNvPr id="51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1508125"/>
                        <a:ext cx="2989262" cy="305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1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592433373"/>
              </p:ext>
            </p:extLst>
          </p:nvPr>
        </p:nvGraphicFramePr>
        <p:xfrm>
          <a:off x="5216525" y="977900"/>
          <a:ext cx="329565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4038095" imgH="2685714" progId="Paint.Picture">
                  <p:embed/>
                </p:oleObj>
              </mc:Choice>
              <mc:Fallback>
                <p:oleObj name="Bitmap Image" r:id="rId4" imgW="4038095" imgH="2685714" progId="Paint.Picture">
                  <p:embed/>
                  <p:pic>
                    <p:nvPicPr>
                      <p:cNvPr id="512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525" y="977900"/>
                        <a:ext cx="329565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AutoShape 18"/>
          <p:cNvSpPr>
            <a:spLocks/>
          </p:cNvSpPr>
          <p:nvPr/>
        </p:nvSpPr>
        <p:spPr bwMode="auto">
          <a:xfrm rot="16200000">
            <a:off x="5676900" y="2692400"/>
            <a:ext cx="101600" cy="495300"/>
          </a:xfrm>
          <a:prstGeom prst="leftBracket">
            <a:avLst>
              <a:gd name="adj" fmla="val 40625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7" name="AutoShape 19"/>
          <p:cNvSpPr>
            <a:spLocks/>
          </p:cNvSpPr>
          <p:nvPr/>
        </p:nvSpPr>
        <p:spPr bwMode="auto">
          <a:xfrm rot="16200000">
            <a:off x="7912100" y="2692400"/>
            <a:ext cx="101600" cy="495300"/>
          </a:xfrm>
          <a:prstGeom prst="leftBracket">
            <a:avLst>
              <a:gd name="adj" fmla="val 40625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8" name="Text Box 20"/>
          <p:cNvSpPr txBox="1">
            <a:spLocks noChangeArrowheads="1"/>
          </p:cNvSpPr>
          <p:nvPr/>
        </p:nvSpPr>
        <p:spPr bwMode="auto">
          <a:xfrm>
            <a:off x="5321300" y="3073400"/>
            <a:ext cx="10287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1600"/>
              <a:t>Saturation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/>
              <a:t>region</a:t>
            </a:r>
          </a:p>
        </p:txBody>
      </p:sp>
      <p:sp>
        <p:nvSpPr>
          <p:cNvPr id="5129" name="Text Box 21"/>
          <p:cNvSpPr txBox="1">
            <a:spLocks noChangeArrowheads="1"/>
          </p:cNvSpPr>
          <p:nvPr/>
        </p:nvSpPr>
        <p:spPr bwMode="auto">
          <a:xfrm>
            <a:off x="7556500" y="3111500"/>
            <a:ext cx="10287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1600"/>
              <a:t>Saturation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600"/>
              <a:t>region</a:t>
            </a:r>
          </a:p>
        </p:txBody>
      </p:sp>
      <p:graphicFrame>
        <p:nvGraphicFramePr>
          <p:cNvPr id="513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857557"/>
              </p:ext>
            </p:extLst>
          </p:nvPr>
        </p:nvGraphicFramePr>
        <p:xfrm>
          <a:off x="1295400" y="5781675"/>
          <a:ext cx="744696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216400" imgH="419100" progId="Equation.3">
                  <p:embed/>
                </p:oleObj>
              </mc:Choice>
              <mc:Fallback>
                <p:oleObj name="Equation" r:id="rId6" imgW="4216400" imgH="419100" progId="Equation.3">
                  <p:embed/>
                  <p:pic>
                    <p:nvPicPr>
                      <p:cNvPr id="513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781675"/>
                        <a:ext cx="7446963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89545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/>
          <p:cNvSpPr>
            <a:spLocks noGrp="1" noChangeArrowheads="1"/>
          </p:cNvSpPr>
          <p:nvPr>
            <p:ph type="title"/>
          </p:nvPr>
        </p:nvSpPr>
        <p:spPr>
          <a:xfrm>
            <a:off x="914400" y="368300"/>
            <a:ext cx="7772400" cy="508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BP Learning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44600"/>
            <a:ext cx="7467600" cy="4851400"/>
          </a:xfrm>
        </p:spPr>
        <p:txBody>
          <a:bodyPr/>
          <a:lstStyle/>
          <a:p>
            <a:pPr eaLnBrk="1" hangingPunct="1"/>
            <a:r>
              <a:rPr lang="en-US" altLang="en-US" sz="2400" b="1"/>
              <a:t>Forward computing</a:t>
            </a:r>
            <a:r>
              <a:rPr lang="en-US" altLang="en-US" sz="2400"/>
              <a:t>:</a:t>
            </a:r>
          </a:p>
          <a:p>
            <a:pPr lvl="1" eaLnBrk="1" hangingPunct="1"/>
            <a:r>
              <a:rPr lang="en-US" altLang="en-US" sz="2200"/>
              <a:t>Apply an input vector </a:t>
            </a:r>
            <a:r>
              <a:rPr lang="en-US" altLang="en-US" sz="2200" b="1" i="1"/>
              <a:t>x</a:t>
            </a:r>
            <a:r>
              <a:rPr lang="en-US" altLang="en-US" sz="2200"/>
              <a:t> to input nodes</a:t>
            </a:r>
          </a:p>
          <a:p>
            <a:pPr lvl="1" eaLnBrk="1" hangingPunct="1"/>
            <a:r>
              <a:rPr lang="en-US" altLang="en-US" sz="2200"/>
              <a:t>Computing output vector </a:t>
            </a:r>
            <a:r>
              <a:rPr lang="en-US" altLang="en-US" sz="2200" i="1"/>
              <a:t>x</a:t>
            </a:r>
            <a:r>
              <a:rPr lang="en-US" altLang="en-US" sz="2200" baseline="30000"/>
              <a:t>(1)</a:t>
            </a:r>
            <a:r>
              <a:rPr lang="en-US" altLang="en-US" sz="2200"/>
              <a:t> on hidden layer </a:t>
            </a:r>
          </a:p>
          <a:p>
            <a:pPr lvl="1" eaLnBrk="1" hangingPunct="1">
              <a:spcBef>
                <a:spcPct val="35000"/>
              </a:spcBef>
            </a:pPr>
            <a:endParaRPr lang="en-US" altLang="en-US" sz="2200"/>
          </a:p>
          <a:p>
            <a:pPr lvl="1" eaLnBrk="1" hangingPunct="1">
              <a:spcBef>
                <a:spcPct val="30000"/>
              </a:spcBef>
            </a:pPr>
            <a:r>
              <a:rPr lang="en-US" altLang="en-US" sz="2200"/>
              <a:t>Computing the output vector </a:t>
            </a:r>
            <a:r>
              <a:rPr lang="en-US" altLang="en-US" sz="2200" b="1" i="1"/>
              <a:t>o</a:t>
            </a:r>
            <a:r>
              <a:rPr lang="en-US" altLang="en-US" sz="2200"/>
              <a:t> on output layer </a:t>
            </a:r>
          </a:p>
          <a:p>
            <a:pPr lvl="1" eaLnBrk="1" hangingPunct="1">
              <a:spcBef>
                <a:spcPct val="40000"/>
              </a:spcBef>
              <a:spcAft>
                <a:spcPct val="5000"/>
              </a:spcAft>
            </a:pPr>
            <a:endParaRPr lang="en-US" altLang="en-US" sz="2200"/>
          </a:p>
          <a:p>
            <a:pPr lvl="1" eaLnBrk="1" hangingPunct="1"/>
            <a:r>
              <a:rPr lang="en-US" altLang="en-US" sz="2200"/>
              <a:t>The network is said to be a map from input </a:t>
            </a:r>
            <a:r>
              <a:rPr lang="en-US" altLang="en-US" sz="2200" b="1" i="1"/>
              <a:t>x </a:t>
            </a:r>
            <a:r>
              <a:rPr lang="en-US" altLang="en-US" sz="2200"/>
              <a:t>to output </a:t>
            </a:r>
            <a:r>
              <a:rPr lang="en-US" altLang="en-US" sz="2200" b="1" i="1"/>
              <a:t>o</a:t>
            </a:r>
            <a:endParaRPr lang="en-US" altLang="en-US" sz="2200"/>
          </a:p>
          <a:p>
            <a:pPr eaLnBrk="1" hangingPunct="1"/>
            <a:r>
              <a:rPr lang="en-US" altLang="en-US" sz="2400" b="1"/>
              <a:t>Objective of learning:</a:t>
            </a:r>
          </a:p>
          <a:p>
            <a:pPr lvl="1" eaLnBrk="1" hangingPunct="1">
              <a:lnSpc>
                <a:spcPct val="125000"/>
              </a:lnSpc>
              <a:spcBef>
                <a:spcPct val="10000"/>
              </a:spcBef>
            </a:pPr>
            <a:r>
              <a:rPr lang="en-US" altLang="en-US" sz="2200"/>
              <a:t>Modify the 2 weight matrices to reduce sum square error </a:t>
            </a:r>
          </a:p>
          <a:p>
            <a:pPr lvl="1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r>
              <a:rPr lang="en-US" altLang="en-US" sz="2200"/>
              <a:t>	                          for the given </a:t>
            </a:r>
            <a:r>
              <a:rPr lang="en-US" altLang="en-US" sz="2200" i="1"/>
              <a:t>P</a:t>
            </a:r>
            <a:r>
              <a:rPr lang="en-US" altLang="en-US" sz="2200"/>
              <a:t> training samples as much as possible (to zero if possible)</a:t>
            </a:r>
            <a:endParaRPr lang="en-US" altLang="en-US" sz="2000"/>
          </a:p>
        </p:txBody>
      </p:sp>
      <p:graphicFrame>
        <p:nvGraphicFramePr>
          <p:cNvPr id="6148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87550" y="3435350"/>
          <a:ext cx="32400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700" imgH="368300" progId="Equation.3">
                  <p:embed/>
                </p:oleObj>
              </mc:Choice>
              <mc:Fallback>
                <p:oleObj name="Equation" r:id="rId2" imgW="1917700" imgH="368300" progId="Equation.3">
                  <p:embed/>
                  <p:pic>
                    <p:nvPicPr>
                      <p:cNvPr id="61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3435350"/>
                        <a:ext cx="324008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3"/>
          <p:cNvGraphicFramePr>
            <a:graphicFrameLocks noChangeAspect="1"/>
          </p:cNvGraphicFramePr>
          <p:nvPr/>
        </p:nvGraphicFramePr>
        <p:xfrm>
          <a:off x="1957388" y="2533650"/>
          <a:ext cx="33623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600" imgH="355600" progId="Equation.3">
                  <p:embed/>
                </p:oleObj>
              </mc:Choice>
              <mc:Fallback>
                <p:oleObj name="Equation" r:id="rId4" imgW="1879600" imgH="355600" progId="Equation.3">
                  <p:embed/>
                  <p:pic>
                    <p:nvPicPr>
                      <p:cNvPr id="614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7388" y="2533650"/>
                        <a:ext cx="3362325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1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498600" y="5151438"/>
          <a:ext cx="18002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614" imgH="241195" progId="Equation.DSMT4">
                  <p:embed/>
                </p:oleObj>
              </mc:Choice>
              <mc:Fallback>
                <p:oleObj name="Equation" r:id="rId6" imgW="888614" imgH="241195" progId="Equation.DSMT4">
                  <p:embed/>
                  <p:pic>
                    <p:nvPicPr>
                      <p:cNvPr id="615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5151438"/>
                        <a:ext cx="18002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9883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03200"/>
            <a:ext cx="7772400" cy="495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BP Learning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7700" y="825500"/>
            <a:ext cx="7937500" cy="5803900"/>
          </a:xfrm>
        </p:spPr>
        <p:txBody>
          <a:bodyPr/>
          <a:lstStyle/>
          <a:p>
            <a:pPr marL="228600" indent="-228600" eaLnBrk="1" hangingPunct="1"/>
            <a:r>
              <a:rPr lang="en-US" altLang="en-US" sz="2400" b="1"/>
              <a:t>Idea of BP learning</a:t>
            </a:r>
            <a:r>
              <a:rPr lang="en-US" altLang="en-US" sz="2400"/>
              <a:t>: </a:t>
            </a:r>
          </a:p>
          <a:p>
            <a:pPr marL="571500" lvl="1" indent="-228600" eaLnBrk="1" hangingPunct="1">
              <a:spcBef>
                <a:spcPct val="0"/>
              </a:spcBef>
            </a:pPr>
            <a:r>
              <a:rPr lang="en-US" altLang="en-US" sz="2200"/>
              <a:t>Update of weights in </a:t>
            </a:r>
            <a:r>
              <a:rPr lang="en-US" altLang="en-US" sz="2200" i="1"/>
              <a:t>w</a:t>
            </a:r>
            <a:r>
              <a:rPr lang="en-US" altLang="en-US" sz="2200" baseline="30000"/>
              <a:t>(2, 1)</a:t>
            </a:r>
            <a:r>
              <a:rPr lang="en-US" altLang="en-US" sz="2200"/>
              <a:t> (from hidden layer to output layer): </a:t>
            </a:r>
          </a:p>
          <a:p>
            <a:pPr marL="571500" lvl="1" indent="-228600" eaLnBrk="1" hangingPunct="1">
              <a:spcBef>
                <a:spcPct val="0"/>
              </a:spcBef>
              <a:buFontTx/>
              <a:buNone/>
            </a:pPr>
            <a:r>
              <a:rPr lang="en-US" altLang="en-US" sz="2200"/>
              <a:t>	delta rule as in a single layer net using sum square error</a:t>
            </a:r>
          </a:p>
          <a:p>
            <a:pPr marL="571500" lvl="1" indent="-228600" eaLnBrk="1" hangingPunct="1"/>
            <a:r>
              <a:rPr lang="en-US" altLang="en-US" sz="2200"/>
              <a:t>Delta rule is not applicable to updating weights in </a:t>
            </a:r>
            <a:r>
              <a:rPr lang="en-US" altLang="en-US" sz="2200" i="1"/>
              <a:t>w</a:t>
            </a:r>
            <a:r>
              <a:rPr lang="en-US" altLang="en-US" sz="2200" baseline="30000"/>
              <a:t>(1, 0)</a:t>
            </a:r>
            <a:r>
              <a:rPr lang="en-US" altLang="en-US" sz="2200"/>
              <a:t> (from input and hidden layer) because we  don’t know the desired values for hidden nodes</a:t>
            </a:r>
          </a:p>
          <a:p>
            <a:pPr marL="571500" lvl="1" indent="-228600" eaLnBrk="1" hangingPunct="1"/>
            <a:r>
              <a:rPr lang="en-US" altLang="en-US" sz="2200" b="1"/>
              <a:t>Solution</a:t>
            </a:r>
            <a:r>
              <a:rPr lang="en-US" altLang="en-US" sz="2200"/>
              <a:t>: Propagating errors at output nodes down to hidden nodes, these computed errors on hidden nodes drives the update of weights in </a:t>
            </a:r>
            <a:r>
              <a:rPr lang="en-US" altLang="en-US" sz="2200" i="1"/>
              <a:t>w</a:t>
            </a:r>
            <a:r>
              <a:rPr lang="en-US" altLang="en-US" sz="2200" baseline="30000"/>
              <a:t>(1, 0)</a:t>
            </a:r>
            <a:r>
              <a:rPr lang="en-US" altLang="en-US" sz="2200"/>
              <a:t> (again by delta rule), thus called error </a:t>
            </a:r>
            <a:r>
              <a:rPr lang="en-US" altLang="en-US" sz="2200" b="1"/>
              <a:t>Back Propagation (BP) </a:t>
            </a:r>
            <a:r>
              <a:rPr lang="en-US" altLang="en-US" sz="2200"/>
              <a:t>learning</a:t>
            </a:r>
          </a:p>
          <a:p>
            <a:pPr marL="571500" lvl="1" indent="-228600" eaLnBrk="1" hangingPunct="1"/>
            <a:r>
              <a:rPr lang="en-US" altLang="en-US" sz="2200" b="1">
                <a:solidFill>
                  <a:schemeClr val="accent2"/>
                </a:solidFill>
              </a:rPr>
              <a:t>How to compute errors on hidden nodes is the key</a:t>
            </a:r>
          </a:p>
          <a:p>
            <a:pPr marL="571500" lvl="1" indent="-228600" eaLnBrk="1" hangingPunct="1"/>
            <a:r>
              <a:rPr lang="en-US" altLang="en-US" sz="2200"/>
              <a:t>Error backpropagation can be continued downward if the net has more than one hidden layer</a:t>
            </a:r>
          </a:p>
          <a:p>
            <a:pPr marL="571500" lvl="1" indent="-228600" eaLnBrk="1" hangingPunct="1"/>
            <a:r>
              <a:rPr lang="en-US" altLang="en-US" sz="2200"/>
              <a:t>Proposed first by Werbos (1974), current formulation by Rumelhart, Hinton, and Williams (1986)</a:t>
            </a:r>
          </a:p>
        </p:txBody>
      </p:sp>
    </p:spTree>
    <p:extLst>
      <p:ext uri="{BB962C8B-B14F-4D97-AF65-F5344CB8AC3E}">
        <p14:creationId xmlns:p14="http://schemas.microsoft.com/office/powerpoint/2010/main" val="1216637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03200"/>
            <a:ext cx="7772400" cy="495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BP Learning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96900" y="723900"/>
            <a:ext cx="7937500" cy="5803900"/>
          </a:xfrm>
        </p:spPr>
        <p:txBody>
          <a:bodyPr/>
          <a:lstStyle/>
          <a:p>
            <a:pPr marL="228600" indent="-228600" eaLnBrk="1" hangingPunct="1">
              <a:lnSpc>
                <a:spcPct val="90000"/>
              </a:lnSpc>
            </a:pPr>
            <a:r>
              <a:rPr lang="en-US" altLang="en-US" sz="2400" b="1"/>
              <a:t>Generalized delta rule</a:t>
            </a:r>
            <a:r>
              <a:rPr lang="en-US" altLang="en-US" sz="2400"/>
              <a:t>: </a:t>
            </a:r>
          </a:p>
          <a:p>
            <a:pPr marL="571500" lvl="1" indent="-228600" eaLnBrk="1" hangingPunct="1">
              <a:lnSpc>
                <a:spcPct val="125000"/>
              </a:lnSpc>
              <a:spcBef>
                <a:spcPct val="10000"/>
              </a:spcBef>
            </a:pPr>
            <a:r>
              <a:rPr lang="en-US" altLang="en-US" sz="2200"/>
              <a:t>Consider sequential learning mode: for a given sample (</a:t>
            </a:r>
            <a:r>
              <a:rPr lang="en-US" altLang="en-US" sz="2200" i="1"/>
              <a:t>x</a:t>
            </a:r>
            <a:r>
              <a:rPr lang="en-US" altLang="en-US" sz="2200" i="1" baseline="-25000"/>
              <a:t>p</a:t>
            </a:r>
            <a:r>
              <a:rPr lang="en-US" altLang="en-US" sz="2200" i="1"/>
              <a:t>, d</a:t>
            </a:r>
            <a:r>
              <a:rPr lang="en-US" altLang="en-US" sz="2200" i="1" baseline="-25000"/>
              <a:t>p</a:t>
            </a:r>
            <a:r>
              <a:rPr lang="en-US" altLang="en-US" sz="2200"/>
              <a:t>)</a:t>
            </a:r>
          </a:p>
          <a:p>
            <a:pPr marL="571500" lvl="1" indent="-228600" eaLnBrk="1" hangingPunct="1">
              <a:lnSpc>
                <a:spcPct val="125000"/>
              </a:lnSpc>
              <a:spcBef>
                <a:spcPct val="10000"/>
              </a:spcBef>
            </a:pPr>
            <a:endParaRPr lang="en-US" altLang="en-US" sz="2200"/>
          </a:p>
          <a:p>
            <a:pPr marL="571500" lvl="1" indent="-228600" eaLnBrk="1" hangingPunct="1">
              <a:lnSpc>
                <a:spcPct val="125000"/>
              </a:lnSpc>
              <a:spcBef>
                <a:spcPct val="10000"/>
              </a:spcBef>
            </a:pPr>
            <a:r>
              <a:rPr lang="en-US" altLang="en-US" sz="2200"/>
              <a:t>Update weights by gradient descent</a:t>
            </a:r>
          </a:p>
          <a:p>
            <a:pPr marL="571500" lvl="1" indent="-228600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r>
              <a:rPr lang="en-US" altLang="en-US" sz="2200"/>
              <a:t>	For weight in </a:t>
            </a:r>
            <a:r>
              <a:rPr lang="en-US" altLang="en-US" sz="2200" i="1"/>
              <a:t>w</a:t>
            </a:r>
            <a:r>
              <a:rPr lang="en-US" altLang="en-US" sz="2200" baseline="30000"/>
              <a:t>(2, 1)</a:t>
            </a:r>
            <a:r>
              <a:rPr lang="en-US" altLang="en-US" sz="2200"/>
              <a:t>: </a:t>
            </a:r>
          </a:p>
          <a:p>
            <a:pPr marL="571500" lvl="1" indent="-228600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r>
              <a:rPr lang="en-US" altLang="en-US" sz="2200"/>
              <a:t>	For weight in </a:t>
            </a:r>
            <a:r>
              <a:rPr lang="en-US" altLang="en-US" sz="2200" i="1"/>
              <a:t>w</a:t>
            </a:r>
            <a:r>
              <a:rPr lang="en-US" altLang="en-US" sz="2200" baseline="30000"/>
              <a:t>(1, 0)</a:t>
            </a:r>
            <a:r>
              <a:rPr lang="en-US" altLang="en-US" sz="2200"/>
              <a:t>:</a:t>
            </a:r>
            <a:r>
              <a:rPr lang="en-US" altLang="en-US" sz="2100"/>
              <a:t> </a:t>
            </a:r>
            <a:endParaRPr lang="en-US" altLang="en-US" sz="2200"/>
          </a:p>
          <a:p>
            <a:pPr marL="571500" lvl="1" indent="-228600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altLang="en-US" sz="2200"/>
              <a:t>Derivation of update rule for </a:t>
            </a:r>
            <a:r>
              <a:rPr lang="en-US" altLang="en-US" sz="2200" i="1"/>
              <a:t>w</a:t>
            </a:r>
            <a:r>
              <a:rPr lang="en-US" altLang="en-US" sz="2200" baseline="30000"/>
              <a:t>(2, 1)</a:t>
            </a:r>
            <a:r>
              <a:rPr lang="en-US" altLang="en-US" sz="2200"/>
              <a:t>: </a:t>
            </a:r>
          </a:p>
          <a:p>
            <a:pPr marL="571500" lvl="1" indent="-228600" eaLnBrk="1" hangingPunct="1">
              <a:lnSpc>
                <a:spcPct val="135000"/>
              </a:lnSpc>
              <a:spcBef>
                <a:spcPct val="10000"/>
              </a:spcBef>
              <a:buFontTx/>
              <a:buNone/>
            </a:pPr>
            <a:r>
              <a:rPr lang="en-US" altLang="en-US" sz="2200"/>
              <a:t>	since </a:t>
            </a:r>
            <a:r>
              <a:rPr lang="en-US" altLang="en-US" sz="2200" i="1"/>
              <a:t>E</a:t>
            </a:r>
            <a:r>
              <a:rPr lang="en-US" altLang="en-US" sz="2200"/>
              <a:t> is a function of </a:t>
            </a:r>
            <a:r>
              <a:rPr lang="en-US" altLang="en-US" sz="2200" i="1"/>
              <a:t>l</a:t>
            </a:r>
            <a:r>
              <a:rPr lang="en-US" altLang="en-US" sz="2200" i="1" baseline="-25000"/>
              <a:t>k</a:t>
            </a:r>
            <a:r>
              <a:rPr lang="en-US" altLang="en-US" sz="2200" i="1"/>
              <a:t> = d</a:t>
            </a:r>
            <a:r>
              <a:rPr lang="en-US" altLang="en-US" sz="2200" i="1" baseline="-25000"/>
              <a:t>k</a:t>
            </a:r>
            <a:r>
              <a:rPr lang="en-US" altLang="en-US" sz="2200" i="1"/>
              <a:t> – o</a:t>
            </a:r>
            <a:r>
              <a:rPr lang="en-US" altLang="en-US" sz="2200" i="1" baseline="-25000"/>
              <a:t>k</a:t>
            </a:r>
            <a:r>
              <a:rPr lang="en-US" altLang="en-US" sz="2200"/>
              <a:t>, </a:t>
            </a:r>
            <a:r>
              <a:rPr lang="en-US" altLang="en-US" sz="2200" i="1"/>
              <a:t>o</a:t>
            </a:r>
            <a:r>
              <a:rPr lang="en-US" altLang="en-US" sz="2200" i="1" baseline="-25000"/>
              <a:t>k</a:t>
            </a:r>
            <a:r>
              <a:rPr lang="en-US" altLang="en-US" sz="2200"/>
              <a:t> is a function of          , and </a:t>
            </a:r>
            <a:r>
              <a:rPr lang="en-US" altLang="en-US" sz="2200" i="1"/>
              <a:t>          </a:t>
            </a:r>
            <a:r>
              <a:rPr lang="en-US" altLang="en-US" sz="2200"/>
              <a:t>is a function of         ,  by chain rule </a:t>
            </a:r>
          </a:p>
        </p:txBody>
      </p:sp>
      <p:graphicFrame>
        <p:nvGraphicFramePr>
          <p:cNvPr id="8196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627188" y="1573213"/>
          <a:ext cx="365442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4951" imgH="253890" progId="Equation.DSMT4">
                  <p:embed/>
                </p:oleObj>
              </mc:Choice>
              <mc:Fallback>
                <p:oleObj name="Equation" r:id="rId2" imgW="1954951" imgH="253890" progId="Equation.DSMT4">
                  <p:embed/>
                  <p:pic>
                    <p:nvPicPr>
                      <p:cNvPr id="8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1573213"/>
                        <a:ext cx="365442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708400" y="2451100"/>
          <a:ext cx="28765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2561" imgH="266584" progId="Equation.3">
                  <p:embed/>
                </p:oleObj>
              </mc:Choice>
              <mc:Fallback>
                <p:oleObj name="Equation" r:id="rId4" imgW="1472561" imgH="266584" progId="Equation.3">
                  <p:embed/>
                  <p:pic>
                    <p:nvPicPr>
                      <p:cNvPr id="8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451100"/>
                        <a:ext cx="28765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7"/>
          <p:cNvGraphicFramePr>
            <a:graphicFrameLocks noChangeAspect="1"/>
          </p:cNvGraphicFramePr>
          <p:nvPr/>
        </p:nvGraphicFramePr>
        <p:xfrm>
          <a:off x="3716338" y="2946400"/>
          <a:ext cx="28590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59866" imgH="266584" progId="Equation.3">
                  <p:embed/>
                </p:oleObj>
              </mc:Choice>
              <mc:Fallback>
                <p:oleObj name="Equation" r:id="rId6" imgW="1459866" imgH="266584" progId="Equation.3">
                  <p:embed/>
                  <p:pic>
                    <p:nvPicPr>
                      <p:cNvPr id="819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8" y="2946400"/>
                        <a:ext cx="28590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260910"/>
              </p:ext>
            </p:extLst>
          </p:nvPr>
        </p:nvGraphicFramePr>
        <p:xfrm>
          <a:off x="5435600" y="4279900"/>
          <a:ext cx="6604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292" imgH="266469" progId="Equation.3">
                  <p:embed/>
                </p:oleObj>
              </mc:Choice>
              <mc:Fallback>
                <p:oleObj name="Equation" r:id="rId8" imgW="355292" imgH="266469" progId="Equation.3">
                  <p:embed/>
                  <p:pic>
                    <p:nvPicPr>
                      <p:cNvPr id="819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4279900"/>
                        <a:ext cx="6604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10"/>
          <p:cNvGraphicFramePr>
            <a:graphicFrameLocks noChangeAspect="1"/>
          </p:cNvGraphicFramePr>
          <p:nvPr/>
        </p:nvGraphicFramePr>
        <p:xfrm>
          <a:off x="1235075" y="4870450"/>
          <a:ext cx="4872038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10" imgW="3677163" imgH="952633" progId="Paint.Picture">
                  <p:embed/>
                </p:oleObj>
              </mc:Choice>
              <mc:Fallback>
                <p:oleObj name="Bitmap Image" r:id="rId10" imgW="3677163" imgH="952633" progId="Paint.Picture">
                  <p:embed/>
                  <p:pic>
                    <p:nvPicPr>
                      <p:cNvPr id="820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4870450"/>
                        <a:ext cx="4872038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11"/>
          <p:cNvGraphicFramePr>
            <a:graphicFrameLocks noChangeAspect="1"/>
          </p:cNvGraphicFramePr>
          <p:nvPr/>
        </p:nvGraphicFramePr>
        <p:xfrm>
          <a:off x="7343775" y="3821113"/>
          <a:ext cx="7080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0835" imgH="253890" progId="Equation.3">
                  <p:embed/>
                </p:oleObj>
              </mc:Choice>
              <mc:Fallback>
                <p:oleObj name="Equation" r:id="rId12" imgW="380835" imgH="253890" progId="Equation.3">
                  <p:embed/>
                  <p:pic>
                    <p:nvPicPr>
                      <p:cNvPr id="820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3775" y="3821113"/>
                        <a:ext cx="7080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316269"/>
              </p:ext>
            </p:extLst>
          </p:nvPr>
        </p:nvGraphicFramePr>
        <p:xfrm>
          <a:off x="3036887" y="4278313"/>
          <a:ext cx="7080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0835" imgH="253890" progId="Equation.3">
                  <p:embed/>
                </p:oleObj>
              </mc:Choice>
              <mc:Fallback>
                <p:oleObj name="Equation" r:id="rId14" imgW="380835" imgH="253890" progId="Equation.3">
                  <p:embed/>
                  <p:pic>
                    <p:nvPicPr>
                      <p:cNvPr id="820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7" y="4278313"/>
                        <a:ext cx="7080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9447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03200"/>
            <a:ext cx="7772400" cy="495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/>
              <a:t>BP Learning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96900" y="901700"/>
            <a:ext cx="7937500" cy="5626100"/>
          </a:xfrm>
        </p:spPr>
        <p:txBody>
          <a:bodyPr/>
          <a:lstStyle/>
          <a:p>
            <a:pPr marL="457200" lvl="1" indent="-228600" eaLnBrk="1" hangingPunct="1">
              <a:spcBef>
                <a:spcPct val="35000"/>
              </a:spcBef>
            </a:pPr>
            <a:r>
              <a:rPr lang="en-US" altLang="en-US" sz="2200"/>
              <a:t>Derivation of update rule for   </a:t>
            </a:r>
          </a:p>
          <a:p>
            <a:pPr marL="457200" lvl="1" indent="-228600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r>
              <a:rPr lang="en-US" altLang="en-US" sz="2200"/>
              <a:t>	consider </a:t>
            </a:r>
            <a:r>
              <a:rPr lang="en-US" altLang="en-US" sz="2200" b="1"/>
              <a:t>hidden node </a:t>
            </a:r>
            <a:r>
              <a:rPr lang="en-US" altLang="en-US" sz="2200" b="1" i="1"/>
              <a:t>j</a:t>
            </a:r>
            <a:r>
              <a:rPr lang="en-US" altLang="en-US" sz="2200"/>
              <a:t>: </a:t>
            </a:r>
          </a:p>
          <a:p>
            <a:pPr marL="457200" lvl="1" indent="-228600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r>
              <a:rPr lang="en-US" altLang="en-US" sz="2200"/>
              <a:t>	weight         influences  </a:t>
            </a:r>
          </a:p>
          <a:p>
            <a:pPr marL="457200" lvl="1" indent="-228600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r>
              <a:rPr lang="en-US" altLang="en-US" sz="2200"/>
              <a:t>	it sends                to all output nodes</a:t>
            </a:r>
          </a:p>
          <a:p>
            <a:pPr marL="457200" lvl="1" indent="-228600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r>
              <a:rPr lang="en-US" altLang="en-US" sz="2400" b="1">
                <a:sym typeface="Symbol" panose="05050102010706020507" pitchFamily="18" charset="2"/>
              </a:rPr>
              <a:t> </a:t>
            </a:r>
            <a:r>
              <a:rPr lang="en-US" altLang="en-US" sz="2200"/>
              <a:t>all </a:t>
            </a:r>
            <a:r>
              <a:rPr lang="en-US" altLang="en-US" sz="2200" i="1"/>
              <a:t>K</a:t>
            </a:r>
            <a:r>
              <a:rPr lang="en-US" altLang="en-US" sz="2200"/>
              <a:t> terms in </a:t>
            </a:r>
            <a:r>
              <a:rPr lang="en-US" altLang="en-US" sz="2200" i="1"/>
              <a:t>E</a:t>
            </a:r>
            <a:r>
              <a:rPr lang="en-US" altLang="en-US" sz="2200"/>
              <a:t> are functions of </a:t>
            </a:r>
          </a:p>
          <a:p>
            <a:pPr marL="457200" lvl="1" indent="-228600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endParaRPr lang="en-US" altLang="en-US" sz="2400"/>
          </a:p>
        </p:txBody>
      </p:sp>
      <p:graphicFrame>
        <p:nvGraphicFramePr>
          <p:cNvPr id="9220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759200" y="1771650"/>
          <a:ext cx="6588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292" imgH="266469" progId="Equation.3">
                  <p:embed/>
                </p:oleObj>
              </mc:Choice>
              <mc:Fallback>
                <p:oleObj name="Equation" r:id="rId2" imgW="355292" imgH="266469" progId="Equation.3">
                  <p:embed/>
                  <p:pic>
                    <p:nvPicPr>
                      <p:cNvPr id="922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1771650"/>
                        <a:ext cx="65881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7"/>
          <p:cNvGraphicFramePr>
            <a:graphicFrameLocks noChangeAspect="1"/>
          </p:cNvGraphicFramePr>
          <p:nvPr/>
        </p:nvGraphicFramePr>
        <p:xfrm>
          <a:off x="1893888" y="1778000"/>
          <a:ext cx="6604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292" imgH="266469" progId="Equation.3">
                  <p:embed/>
                </p:oleObj>
              </mc:Choice>
              <mc:Fallback>
                <p:oleObj name="Equation" r:id="rId4" imgW="355292" imgH="266469" progId="Equation.3">
                  <p:embed/>
                  <p:pic>
                    <p:nvPicPr>
                      <p:cNvPr id="922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1778000"/>
                        <a:ext cx="6604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2"/>
          <p:cNvGraphicFramePr>
            <a:graphicFrameLocks noChangeAspect="1"/>
          </p:cNvGraphicFramePr>
          <p:nvPr/>
        </p:nvGraphicFramePr>
        <p:xfrm>
          <a:off x="2047875" y="2228850"/>
          <a:ext cx="10588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252" imgH="266584" progId="Equation.3">
                  <p:embed/>
                </p:oleObj>
              </mc:Choice>
              <mc:Fallback>
                <p:oleObj name="Equation" r:id="rId6" imgW="571252" imgH="266584" progId="Equation.3">
                  <p:embed/>
                  <p:pic>
                    <p:nvPicPr>
                      <p:cNvPr id="92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2228850"/>
                        <a:ext cx="105886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13"/>
          <p:cNvGraphicFramePr>
            <a:graphicFrameLocks noChangeAspect="1"/>
          </p:cNvGraphicFramePr>
          <p:nvPr/>
        </p:nvGraphicFramePr>
        <p:xfrm>
          <a:off x="4941888" y="2717800"/>
          <a:ext cx="6604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292" imgH="266469" progId="Equation.3">
                  <p:embed/>
                </p:oleObj>
              </mc:Choice>
              <mc:Fallback>
                <p:oleObj name="Equation" r:id="rId8" imgW="355292" imgH="266469" progId="Equation.3">
                  <p:embed/>
                  <p:pic>
                    <p:nvPicPr>
                      <p:cNvPr id="922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2717800"/>
                        <a:ext cx="6604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14"/>
          <p:cNvGraphicFramePr>
            <a:graphicFrameLocks noChangeAspect="1"/>
          </p:cNvGraphicFramePr>
          <p:nvPr/>
        </p:nvGraphicFramePr>
        <p:xfrm>
          <a:off x="688975" y="5276850"/>
          <a:ext cx="798195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9" imgW="5200000" imgH="743054" progId="Paint.Picture">
                  <p:embed/>
                </p:oleObj>
              </mc:Choice>
              <mc:Fallback>
                <p:oleObj name="Bitmap Image" r:id="rId9" imgW="5200000" imgH="743054" progId="Paint.Picture">
                  <p:embed/>
                  <p:pic>
                    <p:nvPicPr>
                      <p:cNvPr id="922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" y="5276850"/>
                        <a:ext cx="798195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15"/>
          <p:cNvGraphicFramePr>
            <a:graphicFrameLocks noChangeAspect="1"/>
          </p:cNvGraphicFramePr>
          <p:nvPr/>
        </p:nvGraphicFramePr>
        <p:xfrm>
          <a:off x="2709863" y="4337050"/>
          <a:ext cx="588486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78200" imgH="508000" progId="Equation.3">
                  <p:embed/>
                </p:oleObj>
              </mc:Choice>
              <mc:Fallback>
                <p:oleObj name="Equation" r:id="rId11" imgW="3378200" imgH="508000" progId="Equation.3">
                  <p:embed/>
                  <p:pic>
                    <p:nvPicPr>
                      <p:cNvPr id="922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4337050"/>
                        <a:ext cx="588486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Oval 16"/>
          <p:cNvSpPr>
            <a:spLocks noChangeArrowheads="1"/>
          </p:cNvSpPr>
          <p:nvPr/>
        </p:nvSpPr>
        <p:spPr bwMode="auto">
          <a:xfrm>
            <a:off x="6299200" y="1028700"/>
            <a:ext cx="190500" cy="203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7" name="Oval 17"/>
          <p:cNvSpPr>
            <a:spLocks noChangeArrowheads="1"/>
          </p:cNvSpPr>
          <p:nvPr/>
        </p:nvSpPr>
        <p:spPr bwMode="auto">
          <a:xfrm>
            <a:off x="7200900" y="2819400"/>
            <a:ext cx="190500" cy="203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8" name="Oval 18"/>
          <p:cNvSpPr>
            <a:spLocks noChangeArrowheads="1"/>
          </p:cNvSpPr>
          <p:nvPr/>
        </p:nvSpPr>
        <p:spPr bwMode="auto">
          <a:xfrm>
            <a:off x="7188200" y="1917700"/>
            <a:ext cx="190500" cy="203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9" name="Oval 19"/>
          <p:cNvSpPr>
            <a:spLocks noChangeArrowheads="1"/>
          </p:cNvSpPr>
          <p:nvPr/>
        </p:nvSpPr>
        <p:spPr bwMode="auto">
          <a:xfrm>
            <a:off x="8407400" y="990600"/>
            <a:ext cx="190500" cy="203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30" name="Oval 20"/>
          <p:cNvSpPr>
            <a:spLocks noChangeArrowheads="1"/>
          </p:cNvSpPr>
          <p:nvPr/>
        </p:nvSpPr>
        <p:spPr bwMode="auto">
          <a:xfrm>
            <a:off x="7200900" y="990600"/>
            <a:ext cx="190500" cy="203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31" name="Line 21"/>
          <p:cNvSpPr>
            <a:spLocks noChangeShapeType="1"/>
          </p:cNvSpPr>
          <p:nvPr/>
        </p:nvSpPr>
        <p:spPr bwMode="auto">
          <a:xfrm flipV="1">
            <a:off x="7277100" y="1231900"/>
            <a:ext cx="0" cy="673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2" name="Line 22"/>
          <p:cNvSpPr>
            <a:spLocks noChangeShapeType="1"/>
          </p:cNvSpPr>
          <p:nvPr/>
        </p:nvSpPr>
        <p:spPr bwMode="auto">
          <a:xfrm flipH="1" flipV="1">
            <a:off x="6451600" y="1244600"/>
            <a:ext cx="825500" cy="63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3" name="Line 23"/>
          <p:cNvSpPr>
            <a:spLocks noChangeShapeType="1"/>
          </p:cNvSpPr>
          <p:nvPr/>
        </p:nvSpPr>
        <p:spPr bwMode="auto">
          <a:xfrm flipV="1">
            <a:off x="7277100" y="1193800"/>
            <a:ext cx="1193800" cy="673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4" name="Line 24"/>
          <p:cNvSpPr>
            <a:spLocks noChangeShapeType="1"/>
          </p:cNvSpPr>
          <p:nvPr/>
        </p:nvSpPr>
        <p:spPr bwMode="auto">
          <a:xfrm flipH="1" flipV="1">
            <a:off x="7289800" y="21209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5" name="Text Box 25"/>
          <p:cNvSpPr txBox="1">
            <a:spLocks noChangeArrowheads="1"/>
          </p:cNvSpPr>
          <p:nvPr/>
        </p:nvSpPr>
        <p:spPr bwMode="auto">
          <a:xfrm>
            <a:off x="7429500" y="2870200"/>
            <a:ext cx="215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i="1"/>
              <a:t>i</a:t>
            </a:r>
          </a:p>
        </p:txBody>
      </p:sp>
      <p:sp>
        <p:nvSpPr>
          <p:cNvPr id="9236" name="Text Box 26"/>
          <p:cNvSpPr txBox="1">
            <a:spLocks noChangeArrowheads="1"/>
          </p:cNvSpPr>
          <p:nvPr/>
        </p:nvSpPr>
        <p:spPr bwMode="auto">
          <a:xfrm>
            <a:off x="7416800" y="1917700"/>
            <a:ext cx="215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i="1"/>
              <a:t>j</a:t>
            </a:r>
          </a:p>
        </p:txBody>
      </p:sp>
      <p:sp>
        <p:nvSpPr>
          <p:cNvPr id="9237" name="Text Box 27"/>
          <p:cNvSpPr txBox="1">
            <a:spLocks noChangeArrowheads="1"/>
          </p:cNvSpPr>
          <p:nvPr/>
        </p:nvSpPr>
        <p:spPr bwMode="auto">
          <a:xfrm>
            <a:off x="7302500" y="698500"/>
            <a:ext cx="43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b="1" i="1"/>
              <a:t>o</a:t>
            </a:r>
            <a:r>
              <a:rPr lang="en-US" altLang="en-US" sz="1800" b="1" i="1" baseline="-25000"/>
              <a:t>k</a:t>
            </a:r>
          </a:p>
        </p:txBody>
      </p:sp>
      <p:graphicFrame>
        <p:nvGraphicFramePr>
          <p:cNvPr id="9238" name="Object 28"/>
          <p:cNvGraphicFramePr>
            <a:graphicFrameLocks noChangeAspect="1"/>
          </p:cNvGraphicFramePr>
          <p:nvPr/>
        </p:nvGraphicFramePr>
        <p:xfrm>
          <a:off x="7354888" y="2247900"/>
          <a:ext cx="6604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5292" imgH="266469" progId="Equation.3">
                  <p:embed/>
                </p:oleObj>
              </mc:Choice>
              <mc:Fallback>
                <p:oleObj name="Equation" r:id="rId13" imgW="355292" imgH="266469" progId="Equation.3">
                  <p:embed/>
                  <p:pic>
                    <p:nvPicPr>
                      <p:cNvPr id="923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4888" y="2247900"/>
                        <a:ext cx="6604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9" name="Object 29"/>
          <p:cNvGraphicFramePr>
            <a:graphicFrameLocks noChangeAspect="1"/>
          </p:cNvGraphicFramePr>
          <p:nvPr/>
        </p:nvGraphicFramePr>
        <p:xfrm>
          <a:off x="7316788" y="1155700"/>
          <a:ext cx="6604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5292" imgH="266469" progId="Equation.3">
                  <p:embed/>
                </p:oleObj>
              </mc:Choice>
              <mc:Fallback>
                <p:oleObj name="Equation" r:id="rId14" imgW="355292" imgH="266469" progId="Equation.3">
                  <p:embed/>
                  <p:pic>
                    <p:nvPicPr>
                      <p:cNvPr id="923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6788" y="1155700"/>
                        <a:ext cx="6604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0" name="Line 30"/>
          <p:cNvSpPr>
            <a:spLocks noChangeShapeType="1"/>
          </p:cNvSpPr>
          <p:nvPr/>
        </p:nvSpPr>
        <p:spPr bwMode="auto">
          <a:xfrm>
            <a:off x="3022600" y="5181600"/>
            <a:ext cx="736600" cy="48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1" name="Line 31"/>
          <p:cNvSpPr>
            <a:spLocks noChangeShapeType="1"/>
          </p:cNvSpPr>
          <p:nvPr/>
        </p:nvSpPr>
        <p:spPr bwMode="auto">
          <a:xfrm>
            <a:off x="4330700" y="5130800"/>
            <a:ext cx="43180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2" name="Line 32"/>
          <p:cNvSpPr>
            <a:spLocks noChangeShapeType="1"/>
          </p:cNvSpPr>
          <p:nvPr/>
        </p:nvSpPr>
        <p:spPr bwMode="auto">
          <a:xfrm>
            <a:off x="5702300" y="5181600"/>
            <a:ext cx="457200" cy="35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3" name="Line 33"/>
          <p:cNvSpPr>
            <a:spLocks noChangeShapeType="1"/>
          </p:cNvSpPr>
          <p:nvPr/>
        </p:nvSpPr>
        <p:spPr bwMode="auto">
          <a:xfrm>
            <a:off x="7023100" y="5181600"/>
            <a:ext cx="279400" cy="40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4" name="Line 34"/>
          <p:cNvSpPr>
            <a:spLocks noChangeShapeType="1"/>
          </p:cNvSpPr>
          <p:nvPr/>
        </p:nvSpPr>
        <p:spPr bwMode="auto">
          <a:xfrm>
            <a:off x="8216900" y="5168900"/>
            <a:ext cx="1270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245" name="Object 3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394200" y="857250"/>
          <a:ext cx="7143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5292" imgH="266469" progId="Equation.3">
                  <p:embed/>
                </p:oleObj>
              </mc:Choice>
              <mc:Fallback>
                <p:oleObj name="Equation" r:id="rId16" imgW="355292" imgH="266469" progId="Equation.3">
                  <p:embed/>
                  <p:pic>
                    <p:nvPicPr>
                      <p:cNvPr id="9245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857250"/>
                        <a:ext cx="7143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" name="Object 38"/>
          <p:cNvGraphicFramePr>
            <a:graphicFrameLocks noChangeAspect="1"/>
          </p:cNvGraphicFramePr>
          <p:nvPr/>
        </p:nvGraphicFramePr>
        <p:xfrm>
          <a:off x="1071563" y="3257550"/>
          <a:ext cx="67214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581400" imgH="508000" progId="Equation.3">
                  <p:embed/>
                </p:oleObj>
              </mc:Choice>
              <mc:Fallback>
                <p:oleObj name="Equation" r:id="rId17" imgW="3581400" imgH="508000" progId="Equation.3">
                  <p:embed/>
                  <p:pic>
                    <p:nvPicPr>
                      <p:cNvPr id="9246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257550"/>
                        <a:ext cx="67214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7" name="Text Box 39"/>
          <p:cNvSpPr txBox="1">
            <a:spLocks noChangeArrowheads="1"/>
          </p:cNvSpPr>
          <p:nvPr/>
        </p:nvSpPr>
        <p:spPr bwMode="auto">
          <a:xfrm>
            <a:off x="660400" y="4457700"/>
            <a:ext cx="1054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by chain rule</a:t>
            </a:r>
          </a:p>
        </p:txBody>
      </p:sp>
      <p:sp>
        <p:nvSpPr>
          <p:cNvPr id="9248" name="Line 40"/>
          <p:cNvSpPr>
            <a:spLocks noChangeShapeType="1"/>
          </p:cNvSpPr>
          <p:nvPr/>
        </p:nvSpPr>
        <p:spPr bwMode="auto">
          <a:xfrm>
            <a:off x="927100" y="5092700"/>
            <a:ext cx="30480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03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8"/>
          <p:cNvGraphicFramePr>
            <a:graphicFrameLocks noChangeAspect="1"/>
          </p:cNvGraphicFramePr>
          <p:nvPr/>
        </p:nvGraphicFramePr>
        <p:xfrm>
          <a:off x="1092200" y="3883025"/>
          <a:ext cx="69405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200000" imgH="743054" progId="Paint.Picture">
                  <p:embed/>
                </p:oleObj>
              </mc:Choice>
              <mc:Fallback>
                <p:oleObj name="Bitmap Image" r:id="rId2" imgW="5200000" imgH="743054" progId="Paint.Picture">
                  <p:embed/>
                  <p:pic>
                    <p:nvPicPr>
                      <p:cNvPr id="1024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3883025"/>
                        <a:ext cx="694055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03200"/>
            <a:ext cx="7772400" cy="495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Backpropagation Learning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96900" y="901700"/>
            <a:ext cx="7937500" cy="5626100"/>
          </a:xfrm>
        </p:spPr>
        <p:txBody>
          <a:bodyPr/>
          <a:lstStyle/>
          <a:p>
            <a:pPr marL="457200" lvl="1" indent="-228600" eaLnBrk="1" hangingPunct="1">
              <a:spcBef>
                <a:spcPct val="35000"/>
              </a:spcBef>
            </a:pPr>
            <a:r>
              <a:rPr lang="en-US" altLang="en-US" sz="2200"/>
              <a:t>Update rules:</a:t>
            </a:r>
          </a:p>
          <a:p>
            <a:pPr marL="457200" lvl="1" indent="-228600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r>
              <a:rPr lang="en-US" altLang="en-US" sz="2200"/>
              <a:t>	for outer layer weights </a:t>
            </a:r>
            <a:r>
              <a:rPr lang="en-US" altLang="en-US" sz="2200" i="1"/>
              <a:t>w</a:t>
            </a:r>
            <a:r>
              <a:rPr lang="en-US" altLang="en-US" sz="2200" baseline="30000"/>
              <a:t>(2, 1) </a:t>
            </a:r>
            <a:r>
              <a:rPr lang="en-US" altLang="en-US" sz="2200"/>
              <a:t>:</a:t>
            </a:r>
          </a:p>
          <a:p>
            <a:pPr marL="457200" lvl="1" indent="-228600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endParaRPr lang="en-US" altLang="en-US" sz="2200"/>
          </a:p>
          <a:p>
            <a:pPr marL="457200" lvl="1" indent="-228600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endParaRPr lang="en-US" altLang="en-US" sz="2200"/>
          </a:p>
          <a:p>
            <a:pPr marL="457200" lvl="1" indent="-228600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r>
              <a:rPr lang="en-US" altLang="en-US" sz="2200"/>
              <a:t>                                                  where</a:t>
            </a:r>
          </a:p>
          <a:p>
            <a:pPr marL="457200" lvl="1" indent="-228600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r>
              <a:rPr lang="en-US" altLang="en-US" sz="2200"/>
              <a:t>	</a:t>
            </a:r>
          </a:p>
          <a:p>
            <a:pPr marL="457200" lvl="1" indent="-228600" eaLnBrk="1" hangingPunct="1">
              <a:lnSpc>
                <a:spcPct val="105000"/>
              </a:lnSpc>
              <a:spcBef>
                <a:spcPct val="5000"/>
              </a:spcBef>
              <a:buFontTx/>
              <a:buNone/>
            </a:pPr>
            <a:r>
              <a:rPr lang="en-US" altLang="en-US" sz="2200"/>
              <a:t>    for inner layer weights </a:t>
            </a:r>
            <a:r>
              <a:rPr lang="en-US" altLang="en-US" sz="2200" i="1"/>
              <a:t>w</a:t>
            </a:r>
            <a:r>
              <a:rPr lang="en-US" altLang="en-US" sz="2200" baseline="30000"/>
              <a:t>(1, 0) </a:t>
            </a:r>
            <a:r>
              <a:rPr lang="en-US" altLang="en-US" sz="2200"/>
              <a:t>:</a:t>
            </a:r>
          </a:p>
          <a:p>
            <a:pPr marL="457200" lvl="1" indent="-228600" eaLnBrk="1" hangingPunct="1">
              <a:lnSpc>
                <a:spcPct val="105000"/>
              </a:lnSpc>
              <a:spcBef>
                <a:spcPct val="5000"/>
              </a:spcBef>
              <a:buFontTx/>
              <a:buNone/>
            </a:pPr>
            <a:endParaRPr lang="en-US" altLang="en-US" sz="2200"/>
          </a:p>
          <a:p>
            <a:pPr marL="457200" lvl="1" indent="-228600" eaLnBrk="1" hangingPunct="1">
              <a:lnSpc>
                <a:spcPct val="105000"/>
              </a:lnSpc>
              <a:spcBef>
                <a:spcPct val="5000"/>
              </a:spcBef>
              <a:buFontTx/>
              <a:buNone/>
            </a:pPr>
            <a:endParaRPr lang="en-US" altLang="en-US" sz="2200"/>
          </a:p>
          <a:p>
            <a:pPr marL="457200" lvl="1" indent="-228600" eaLnBrk="1" hangingPunct="1">
              <a:lnSpc>
                <a:spcPct val="105000"/>
              </a:lnSpc>
              <a:spcBef>
                <a:spcPct val="5000"/>
              </a:spcBef>
              <a:buFontTx/>
              <a:buNone/>
            </a:pPr>
            <a:endParaRPr lang="en-US" altLang="en-US" sz="2200"/>
          </a:p>
          <a:p>
            <a:pPr marL="457200" lvl="1" indent="-228600" eaLnBrk="1" hangingPunct="1">
              <a:lnSpc>
                <a:spcPct val="105000"/>
              </a:lnSpc>
              <a:spcBef>
                <a:spcPct val="5000"/>
              </a:spcBef>
              <a:buFontTx/>
              <a:buNone/>
            </a:pPr>
            <a:r>
              <a:rPr lang="en-US" altLang="en-US" sz="2200"/>
              <a:t>                                                 	where</a:t>
            </a:r>
          </a:p>
        </p:txBody>
      </p:sp>
      <p:graphicFrame>
        <p:nvGraphicFramePr>
          <p:cNvPr id="102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061646"/>
              </p:ext>
            </p:extLst>
          </p:nvPr>
        </p:nvGraphicFramePr>
        <p:xfrm>
          <a:off x="5197475" y="3032918"/>
          <a:ext cx="2736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3200" imgH="254000" progId="Equation.3">
                  <p:embed/>
                </p:oleObj>
              </mc:Choice>
              <mc:Fallback>
                <p:oleObj name="Equation" r:id="rId4" imgW="1473200" imgH="254000" progId="Equation.3">
                  <p:embed/>
                  <p:pic>
                    <p:nvPicPr>
                      <p:cNvPr id="1024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7475" y="3032918"/>
                        <a:ext cx="27368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2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09663" y="1773238"/>
          <a:ext cx="426720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3266667" imgH="619211" progId="Paint.Picture">
                  <p:embed/>
                </p:oleObj>
              </mc:Choice>
              <mc:Fallback>
                <p:oleObj name="Bitmap Image" r:id="rId6" imgW="3266667" imgH="619211" progId="Paint.Picture">
                  <p:embed/>
                  <p:pic>
                    <p:nvPicPr>
                      <p:cNvPr id="10246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1773238"/>
                        <a:ext cx="4267200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31"/>
          <p:cNvGraphicFramePr>
            <a:graphicFrameLocks noChangeAspect="1"/>
          </p:cNvGraphicFramePr>
          <p:nvPr/>
        </p:nvGraphicFramePr>
        <p:xfrm>
          <a:off x="1209675" y="2593975"/>
          <a:ext cx="2944813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8" imgW="2076740" imgH="476316" progId="Paint.Picture">
                  <p:embed/>
                </p:oleObj>
              </mc:Choice>
              <mc:Fallback>
                <p:oleObj name="Bitmap Image" r:id="rId8" imgW="2076740" imgH="476316" progId="Paint.Picture">
                  <p:embed/>
                  <p:pic>
                    <p:nvPicPr>
                      <p:cNvPr id="1024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675" y="2593975"/>
                        <a:ext cx="2944813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32"/>
          <p:cNvGraphicFramePr>
            <a:graphicFrameLocks noChangeAspect="1"/>
          </p:cNvGraphicFramePr>
          <p:nvPr/>
        </p:nvGraphicFramePr>
        <p:xfrm>
          <a:off x="1162050" y="4864100"/>
          <a:ext cx="2771775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10" imgW="2019048" imgH="457143" progId="Paint.Picture">
                  <p:embed/>
                </p:oleObj>
              </mc:Choice>
              <mc:Fallback>
                <p:oleObj name="Bitmap Image" r:id="rId10" imgW="2019048" imgH="457143" progId="Paint.Picture">
                  <p:embed/>
                  <p:pic>
                    <p:nvPicPr>
                      <p:cNvPr id="1024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4864100"/>
                        <a:ext cx="2771775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620665"/>
              </p:ext>
            </p:extLst>
          </p:nvPr>
        </p:nvGraphicFramePr>
        <p:xfrm>
          <a:off x="5845175" y="4697412"/>
          <a:ext cx="31845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13756" imgH="266584" progId="Equation.3">
                  <p:embed/>
                </p:oleObj>
              </mc:Choice>
              <mc:Fallback>
                <p:oleObj name="Equation" r:id="rId12" imgW="1713756" imgH="266584" progId="Equation.3">
                  <p:embed/>
                  <p:pic>
                    <p:nvPicPr>
                      <p:cNvPr id="1024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5175" y="4697412"/>
                        <a:ext cx="31845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Text Box 34"/>
          <p:cNvSpPr txBox="1">
            <a:spLocks noChangeArrowheads="1"/>
          </p:cNvSpPr>
          <p:nvPr/>
        </p:nvSpPr>
        <p:spPr bwMode="auto">
          <a:xfrm>
            <a:off x="5511800" y="5889625"/>
            <a:ext cx="2590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Weighted sum of errors from output layer</a:t>
            </a:r>
          </a:p>
        </p:txBody>
      </p:sp>
      <p:sp>
        <p:nvSpPr>
          <p:cNvPr id="10251" name="Line 36"/>
          <p:cNvSpPr>
            <a:spLocks noChangeShapeType="1"/>
          </p:cNvSpPr>
          <p:nvPr/>
        </p:nvSpPr>
        <p:spPr bwMode="auto">
          <a:xfrm flipV="1">
            <a:off x="6604000" y="5422900"/>
            <a:ext cx="0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3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6"/>
          <p:cNvGraphicFramePr>
            <a:graphicFrameLocks noGrp="1" noChangeAspect="1"/>
          </p:cNvGraphicFramePr>
          <p:nvPr>
            <p:ph sz="half" idx="1"/>
          </p:nvPr>
        </p:nvGraphicFramePr>
        <p:xfrm>
          <a:off x="723900" y="309563"/>
          <a:ext cx="6299200" cy="440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390476" imgH="4009524" progId="Paint.Picture">
                  <p:embed/>
                </p:oleObj>
              </mc:Choice>
              <mc:Fallback>
                <p:oleObj name="Bitmap Image" r:id="rId2" imgW="5390476" imgH="4009524" progId="Paint.Picture">
                  <p:embed/>
                  <p:pic>
                    <p:nvPicPr>
                      <p:cNvPr id="112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309563"/>
                        <a:ext cx="6299200" cy="440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812800" y="4727575"/>
          <a:ext cx="6091238" cy="197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5563377" imgH="1733333" progId="Paint.Picture">
                  <p:embed/>
                </p:oleObj>
              </mc:Choice>
              <mc:Fallback>
                <p:oleObj name="Bitmap Image" r:id="rId4" imgW="5563377" imgH="1733333" progId="Paint.Picture">
                  <p:embed/>
                  <p:pic>
                    <p:nvPicPr>
                      <p:cNvPr id="1126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4727575"/>
                        <a:ext cx="6091238" cy="197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 Box 11"/>
          <p:cNvSpPr txBox="1">
            <a:spLocks noChangeArrowheads="1"/>
          </p:cNvSpPr>
          <p:nvPr/>
        </p:nvSpPr>
        <p:spPr bwMode="auto">
          <a:xfrm>
            <a:off x="4483100" y="5927725"/>
            <a:ext cx="3975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/>
              <a:t>Note: if S is a logistic function, then </a:t>
            </a:r>
            <a:r>
              <a:rPr lang="en-US" altLang="en-US" sz="2000" b="1" i="1"/>
              <a:t>S’</a:t>
            </a:r>
            <a:r>
              <a:rPr lang="en-US" altLang="en-US" sz="2000" b="1"/>
              <a:t>(</a:t>
            </a:r>
            <a:r>
              <a:rPr lang="en-US" altLang="en-US" sz="2000" b="1" i="1"/>
              <a:t>x</a:t>
            </a:r>
            <a:r>
              <a:rPr lang="en-US" altLang="en-US" sz="2000" b="1"/>
              <a:t>)</a:t>
            </a:r>
            <a:r>
              <a:rPr lang="en-US" altLang="en-US" sz="2000" b="1" i="1"/>
              <a:t> = S</a:t>
            </a:r>
            <a:r>
              <a:rPr lang="en-US" altLang="en-US" sz="2000" b="1"/>
              <a:t>(</a:t>
            </a:r>
            <a:r>
              <a:rPr lang="en-US" altLang="en-US" sz="2000" b="1" i="1"/>
              <a:t>x</a:t>
            </a:r>
            <a:r>
              <a:rPr lang="en-US" altLang="en-US" sz="2000" b="1"/>
              <a:t>)(1</a:t>
            </a:r>
            <a:r>
              <a:rPr lang="en-US" altLang="en-US" sz="2000" b="1" i="1"/>
              <a:t> – S</a:t>
            </a:r>
            <a:r>
              <a:rPr lang="en-US" altLang="en-US" sz="2000" b="1"/>
              <a:t>(</a:t>
            </a:r>
            <a:r>
              <a:rPr lang="en-US" altLang="en-US" sz="2000" b="1" i="1"/>
              <a:t>x</a:t>
            </a:r>
            <a:r>
              <a:rPr lang="en-US" altLang="en-US" sz="2000" b="1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8131276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A9D786-A570-7445-A031-3C24C39D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landscape</a:t>
            </a:r>
          </a:p>
        </p:txBody>
      </p:sp>
      <p:pic>
        <p:nvPicPr>
          <p:cNvPr id="8" name="Picture 2" descr="Demystifying Deep Neural Nets. A relaxed introduction for programmers… | by  Rosie Campbell | Medium">
            <a:extLst>
              <a:ext uri="{FF2B5EF4-FFF2-40B4-BE49-F238E27FC236}">
                <a16:creationId xmlns:a16="http://schemas.microsoft.com/office/drawing/2014/main" id="{FF2CF1FC-4236-D447-80A5-01D83AE0B8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943100"/>
            <a:ext cx="70104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27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type="title"/>
          </p:nvPr>
        </p:nvSpPr>
        <p:spPr>
          <a:xfrm>
            <a:off x="711200" y="292100"/>
            <a:ext cx="7772400" cy="5461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BP Learning</a:t>
            </a:r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990600"/>
            <a:ext cx="8102600" cy="51181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b="1"/>
              <a:t>Pattern classification</a:t>
            </a:r>
            <a:r>
              <a:rPr lang="en-US" altLang="en-US" sz="2400"/>
              <a:t>: </a:t>
            </a:r>
          </a:p>
          <a:p>
            <a:pPr lvl="1" eaLnBrk="1" hangingPunct="1"/>
            <a:r>
              <a:rPr lang="en-US" altLang="en-US" sz="2200">
                <a:cs typeface="Times New Roman" panose="02020603050405020304" pitchFamily="18" charset="0"/>
              </a:rPr>
              <a:t>Two classes: 1 output node</a:t>
            </a:r>
          </a:p>
          <a:p>
            <a:pPr lvl="1" eaLnBrk="1" hangingPunct="1"/>
            <a:r>
              <a:rPr lang="en-US" altLang="en-US" sz="2200">
                <a:cs typeface="Times New Roman" panose="02020603050405020304" pitchFamily="18" charset="0"/>
              </a:rPr>
              <a:t>N classes: binary encoding (log N) output nodes</a:t>
            </a:r>
          </a:p>
          <a:p>
            <a:pPr lvl="1" eaLnBrk="1" hangingPunct="1">
              <a:buFontTx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	better using N output nodes, a class is represented as </a:t>
            </a:r>
          </a:p>
          <a:p>
            <a:pPr lvl="1" eaLnBrk="1" hangingPunct="1">
              <a:buFontTx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		     (0,..., 0,1, 0,.., 0) </a:t>
            </a:r>
          </a:p>
          <a:p>
            <a:pPr lvl="1" eaLnBrk="1" hangingPunct="1"/>
            <a:r>
              <a:rPr lang="en-US" altLang="en-US" sz="2200">
                <a:cs typeface="Times New Roman" panose="02020603050405020304" pitchFamily="18" charset="0"/>
              </a:rPr>
              <a:t>With sigmoid function, nodes at output layer will never be 1 or 0, but either 1 – </a:t>
            </a:r>
            <a:r>
              <a:rPr lang="el-GR" altLang="en-US" sz="2200" i="1">
                <a:cs typeface="Times New Roman" panose="02020603050405020304" pitchFamily="18" charset="0"/>
              </a:rPr>
              <a:t>ε</a:t>
            </a:r>
            <a:r>
              <a:rPr lang="en-US" altLang="en-US" sz="2200">
                <a:cs typeface="Times New Roman" panose="02020603050405020304" pitchFamily="18" charset="0"/>
              </a:rPr>
              <a:t> or </a:t>
            </a:r>
            <a:r>
              <a:rPr lang="el-GR" altLang="en-US" sz="2200" i="1">
                <a:cs typeface="Times New Roman" panose="02020603050405020304" pitchFamily="18" charset="0"/>
              </a:rPr>
              <a:t>ε</a:t>
            </a:r>
            <a:r>
              <a:rPr lang="en-US" altLang="en-US" sz="2200">
                <a:cs typeface="Times New Roman" panose="02020603050405020304" pitchFamily="18" charset="0"/>
              </a:rPr>
              <a:t>. </a:t>
            </a:r>
          </a:p>
          <a:p>
            <a:pPr lvl="1" eaLnBrk="1" hangingPunct="1"/>
            <a:r>
              <a:rPr lang="en-US" altLang="en-US" sz="2200">
                <a:cs typeface="Times New Roman" panose="02020603050405020304" pitchFamily="18" charset="0"/>
              </a:rPr>
              <a:t>Error reduction becomes slower when moving into saturation regions (when </a:t>
            </a:r>
            <a:r>
              <a:rPr lang="el-GR" altLang="en-US" sz="2200" i="1">
                <a:cs typeface="Times New Roman" panose="02020603050405020304" pitchFamily="18" charset="0"/>
              </a:rPr>
              <a:t>ε</a:t>
            </a:r>
            <a:r>
              <a:rPr lang="en-US" altLang="en-US" sz="2200">
                <a:cs typeface="Times New Roman" panose="02020603050405020304" pitchFamily="18" charset="0"/>
              </a:rPr>
              <a:t> is small).</a:t>
            </a:r>
          </a:p>
          <a:p>
            <a:pPr lvl="1" eaLnBrk="1" hangingPunct="1"/>
            <a:r>
              <a:rPr lang="en-US" altLang="en-US" sz="2200">
                <a:cs typeface="Times New Roman" panose="02020603050405020304" pitchFamily="18" charset="0"/>
              </a:rPr>
              <a:t>For fast learning, for a given error bound </a:t>
            </a:r>
            <a:r>
              <a:rPr lang="en-US" altLang="zh-CN" sz="2200" i="1"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en-US" sz="2200">
                <a:cs typeface="Times New Roman" panose="02020603050405020304" pitchFamily="18" charset="0"/>
              </a:rPr>
              <a:t>, 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	set error </a:t>
            </a:r>
            <a:r>
              <a:rPr lang="en-US" altLang="en-US" sz="2400" i="1">
                <a:cs typeface="Times New Roman" panose="02020603050405020304" pitchFamily="18" charset="0"/>
              </a:rPr>
              <a:t>l</a:t>
            </a:r>
            <a:r>
              <a:rPr lang="en-US" altLang="en-US" sz="2400" i="1" baseline="-25000">
                <a:cs typeface="Times New Roman" panose="02020603050405020304" pitchFamily="18" charset="0"/>
              </a:rPr>
              <a:t>p,k</a:t>
            </a:r>
            <a:r>
              <a:rPr lang="en-US" altLang="en-US" sz="2200">
                <a:cs typeface="Times New Roman" panose="02020603050405020304" pitchFamily="18" charset="0"/>
              </a:rPr>
              <a:t> = 0 if |</a:t>
            </a:r>
            <a:r>
              <a:rPr lang="en-US" altLang="en-US" sz="2400" i="1">
                <a:cs typeface="Times New Roman" panose="02020603050405020304" pitchFamily="18" charset="0"/>
              </a:rPr>
              <a:t>d</a:t>
            </a:r>
            <a:r>
              <a:rPr lang="en-US" altLang="en-US" sz="2400" i="1" baseline="-25000">
                <a:cs typeface="Times New Roman" panose="02020603050405020304" pitchFamily="18" charset="0"/>
              </a:rPr>
              <a:t>p,k</a:t>
            </a:r>
            <a:r>
              <a:rPr lang="en-US" altLang="en-US" sz="2400" i="1">
                <a:cs typeface="Times New Roman" panose="02020603050405020304" pitchFamily="18" charset="0"/>
              </a:rPr>
              <a:t> – o</a:t>
            </a:r>
            <a:r>
              <a:rPr lang="en-US" altLang="en-US" sz="2400" i="1" baseline="-25000">
                <a:cs typeface="Times New Roman" panose="02020603050405020304" pitchFamily="18" charset="0"/>
              </a:rPr>
              <a:t>p,k</a:t>
            </a:r>
            <a:r>
              <a:rPr lang="en-US" altLang="en-US" sz="2200">
                <a:cs typeface="Times New Roman" panose="02020603050405020304" pitchFamily="18" charset="0"/>
              </a:rPr>
              <a:t>| ≤ </a:t>
            </a:r>
            <a:r>
              <a:rPr lang="en-US" altLang="zh-CN" sz="2200" i="1">
                <a:ea typeface="宋体" panose="02010600030101010101" pitchFamily="2" charset="-122"/>
              </a:rPr>
              <a:t>e</a:t>
            </a:r>
            <a:endParaRPr lang="en-US" altLang="en-US" sz="2200" i="1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2200">
                <a:cs typeface="Times New Roman" panose="02020603050405020304" pitchFamily="18" charset="0"/>
              </a:rPr>
              <a:t>When classifying a input </a:t>
            </a:r>
            <a:r>
              <a:rPr lang="en-US" altLang="en-US" sz="2200" i="1">
                <a:cs typeface="Times New Roman" panose="02020603050405020304" pitchFamily="18" charset="0"/>
              </a:rPr>
              <a:t>x</a:t>
            </a:r>
            <a:r>
              <a:rPr lang="en-US" altLang="en-US" sz="2200">
                <a:cs typeface="Times New Roman" panose="02020603050405020304" pitchFamily="18" charset="0"/>
              </a:rPr>
              <a:t> using a trained BP net, classify it to the </a:t>
            </a:r>
            <a:r>
              <a:rPr lang="en-US" altLang="en-US" sz="2200" i="1">
                <a:cs typeface="Times New Roman" panose="02020603050405020304" pitchFamily="18" charset="0"/>
              </a:rPr>
              <a:t>k</a:t>
            </a:r>
            <a:r>
              <a:rPr lang="en-US" altLang="en-US" sz="2200" i="1" baseline="30000">
                <a:cs typeface="Times New Roman" panose="02020603050405020304" pitchFamily="18" charset="0"/>
              </a:rPr>
              <a:t>th</a:t>
            </a:r>
            <a:r>
              <a:rPr lang="en-US" altLang="en-US" sz="2200">
                <a:cs typeface="Times New Roman" panose="02020603050405020304" pitchFamily="18" charset="0"/>
              </a:rPr>
              <a:t> class if  </a:t>
            </a:r>
            <a:r>
              <a:rPr lang="en-US" altLang="zh-CN" sz="2200" i="1">
                <a:ea typeface="宋体" panose="02010600030101010101" pitchFamily="2" charset="-122"/>
              </a:rPr>
              <a:t>o</a:t>
            </a:r>
            <a:r>
              <a:rPr lang="en-US" altLang="en-US" sz="2400" i="1" baseline="-25000">
                <a:cs typeface="Times New Roman" panose="02020603050405020304" pitchFamily="18" charset="0"/>
              </a:rPr>
              <a:t>k</a:t>
            </a:r>
            <a:r>
              <a:rPr lang="en-US" altLang="en-US" sz="2200">
                <a:cs typeface="Times New Roman" panose="02020603050405020304" pitchFamily="18" charset="0"/>
              </a:rPr>
              <a:t>. &gt; </a:t>
            </a:r>
            <a:r>
              <a:rPr lang="en-US" altLang="zh-CN" sz="2200" i="1">
                <a:ea typeface="宋体" panose="02010600030101010101" pitchFamily="2" charset="-122"/>
              </a:rPr>
              <a:t>o</a:t>
            </a:r>
            <a:r>
              <a:rPr lang="en-US" altLang="en-US" sz="2400" i="1" baseline="-25000">
                <a:cs typeface="Times New Roman" panose="02020603050405020304" pitchFamily="18" charset="0"/>
              </a:rPr>
              <a:t>l</a:t>
            </a:r>
            <a:r>
              <a:rPr lang="en-US" altLang="en-US" sz="2200">
                <a:cs typeface="Times New Roman" panose="02020603050405020304" pitchFamily="18" charset="0"/>
              </a:rPr>
              <a:t> for all </a:t>
            </a:r>
            <a:r>
              <a:rPr lang="en-US" altLang="en-US" sz="2200" i="1">
                <a:cs typeface="Times New Roman" panose="02020603050405020304" pitchFamily="18" charset="0"/>
              </a:rPr>
              <a:t>l </a:t>
            </a:r>
            <a:r>
              <a:rPr lang="en-US" altLang="en-US" sz="2200">
                <a:cs typeface="Times New Roman" panose="02020603050405020304" pitchFamily="18" charset="0"/>
              </a:rPr>
              <a:t>!=</a:t>
            </a:r>
            <a:r>
              <a:rPr lang="en-US" altLang="en-US" sz="2200" i="1">
                <a:cs typeface="Times New Roman" panose="02020603050405020304" pitchFamily="18" charset="0"/>
              </a:rPr>
              <a:t> k</a:t>
            </a:r>
          </a:p>
        </p:txBody>
      </p:sp>
    </p:spTree>
    <p:extLst>
      <p:ext uri="{BB962C8B-B14F-4D97-AF65-F5344CB8AC3E}">
        <p14:creationId xmlns:p14="http://schemas.microsoft.com/office/powerpoint/2010/main" val="11293625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92100"/>
            <a:ext cx="7772400" cy="5461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BP Learning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901700"/>
            <a:ext cx="810260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/>
              <a:t>Pattern classification</a:t>
            </a:r>
            <a:r>
              <a:rPr lang="en-US" altLang="en-US" sz="2800"/>
              <a:t>: an 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cs typeface="Times New Roman" panose="02020603050405020304" pitchFamily="18" charset="0"/>
              </a:rPr>
              <a:t>Classification of myoelectric signals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>
                <a:cs typeface="Times New Roman" panose="02020603050405020304" pitchFamily="18" charset="0"/>
              </a:rPr>
              <a:t>Input pattern: </a:t>
            </a:r>
            <a:r>
              <a:rPr lang="en-US" altLang="zh-CN" sz="220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en-US" sz="2200">
                <a:cs typeface="Times New Roman" panose="02020603050405020304" pitchFamily="18" charset="0"/>
              </a:rPr>
              <a:t> features</a:t>
            </a:r>
            <a:r>
              <a:rPr lang="en-US" altLang="zh-CN" sz="2200">
                <a:ea typeface="宋体" panose="02010600030101010101" pitchFamily="2" charset="-122"/>
              </a:rPr>
              <a:t>,</a:t>
            </a:r>
            <a:r>
              <a:rPr lang="en-US" altLang="en-US" sz="2200">
                <a:cs typeface="Times New Roman" panose="02020603050405020304" pitchFamily="18" charset="0"/>
              </a:rPr>
              <a:t> normalized to real values between </a:t>
            </a:r>
            <a:r>
              <a:rPr lang="en-US" altLang="zh-CN" sz="2200">
                <a:ea typeface="宋体" panose="02010600030101010101" pitchFamily="2" charset="-122"/>
              </a:rPr>
              <a:t>-1</a:t>
            </a:r>
            <a:r>
              <a:rPr lang="en-US" altLang="en-US" sz="2200">
                <a:cs typeface="Times New Roman" panose="02020603050405020304" pitchFamily="18" charset="0"/>
              </a:rPr>
              <a:t> and 1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>
                <a:cs typeface="Times New Roman" panose="02020603050405020304" pitchFamily="18" charset="0"/>
              </a:rPr>
              <a:t>Output patter</a:t>
            </a:r>
            <a:r>
              <a:rPr lang="en-US" altLang="zh-CN" sz="2200">
                <a:ea typeface="宋体" panose="02010600030101010101" pitchFamily="2" charset="-122"/>
              </a:rPr>
              <a:t>n</a:t>
            </a:r>
            <a:r>
              <a:rPr lang="en-US" altLang="en-US" sz="2200">
                <a:cs typeface="Times New Roman" panose="02020603050405020304" pitchFamily="18" charset="0"/>
              </a:rPr>
              <a:t>s: </a:t>
            </a:r>
            <a:r>
              <a:rPr lang="en-US" altLang="zh-CN" sz="2200">
                <a:ea typeface="宋体" panose="02010600030101010101" pitchFamily="2" charset="-122"/>
              </a:rPr>
              <a:t>3</a:t>
            </a:r>
            <a:r>
              <a:rPr lang="en-US" altLang="en-US" sz="2200">
                <a:cs typeface="Times New Roman" panose="02020603050405020304" pitchFamily="18" charset="0"/>
              </a:rPr>
              <a:t> 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cs typeface="Times New Roman" panose="02020603050405020304" pitchFamily="18" charset="0"/>
              </a:rPr>
              <a:t>Network structure: 2-5-3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200">
                <a:ea typeface="宋体" panose="02010600030101010101" pitchFamily="2" charset="-122"/>
              </a:rPr>
              <a:t>2</a:t>
            </a:r>
            <a:r>
              <a:rPr lang="en-US" altLang="en-US" sz="2200">
                <a:cs typeface="Times New Roman" panose="02020603050405020304" pitchFamily="18" charset="0"/>
              </a:rPr>
              <a:t> input nodes, </a:t>
            </a:r>
            <a:r>
              <a:rPr lang="en-US" altLang="zh-CN" sz="2200">
                <a:ea typeface="宋体" panose="02010600030101010101" pitchFamily="2" charset="-122"/>
              </a:rPr>
              <a:t>3</a:t>
            </a:r>
            <a:r>
              <a:rPr lang="en-US" altLang="en-US" sz="2200">
                <a:cs typeface="Times New Roman" panose="02020603050405020304" pitchFamily="18" charset="0"/>
              </a:rPr>
              <a:t> output nodes,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>
                <a:cs typeface="Times New Roman" panose="02020603050405020304" pitchFamily="18" charset="0"/>
              </a:rPr>
              <a:t>1 hidden layer of 5 nodes </a:t>
            </a:r>
          </a:p>
          <a:p>
            <a:pPr lvl="2" eaLnBrk="1" hangingPunct="1">
              <a:lnSpc>
                <a:spcPct val="90000"/>
              </a:lnSpc>
            </a:pPr>
            <a:r>
              <a:rPr lang="el-GR" altLang="en-US" sz="2200">
                <a:cs typeface="Times New Roman" panose="02020603050405020304" pitchFamily="18" charset="0"/>
              </a:rPr>
              <a:t>η</a:t>
            </a:r>
            <a:r>
              <a:rPr lang="en-US" altLang="en-US" sz="2200">
                <a:cs typeface="Times New Roman" panose="02020603050405020304" pitchFamily="18" charset="0"/>
              </a:rPr>
              <a:t> = 0.95, </a:t>
            </a:r>
            <a:r>
              <a:rPr lang="el-GR" altLang="en-US" sz="2200">
                <a:cs typeface="Times New Roman" panose="02020603050405020304" pitchFamily="18" charset="0"/>
              </a:rPr>
              <a:t>α</a:t>
            </a:r>
            <a:r>
              <a:rPr lang="en-US" altLang="en-US" sz="2200">
                <a:cs typeface="Times New Roman" panose="02020603050405020304" pitchFamily="18" charset="0"/>
              </a:rPr>
              <a:t> = 0.4 (momentum)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cs typeface="Times New Roman" panose="02020603050405020304" pitchFamily="18" charset="0"/>
              </a:rPr>
              <a:t>Error bound </a:t>
            </a:r>
            <a:r>
              <a:rPr lang="en-US" altLang="zh-CN" sz="2600" i="1">
                <a:ea typeface="宋体" panose="02010600030101010101" pitchFamily="2" charset="-122"/>
              </a:rPr>
              <a:t>e</a:t>
            </a:r>
            <a:r>
              <a:rPr lang="en-US" altLang="en-US" sz="2600">
                <a:cs typeface="Times New Roman" panose="02020603050405020304" pitchFamily="18" charset="0"/>
              </a:rPr>
              <a:t> = 0.05</a:t>
            </a:r>
            <a:endParaRPr lang="el-GR" altLang="en-US" sz="260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cs typeface="Times New Roman" panose="02020603050405020304" pitchFamily="18" charset="0"/>
              </a:rPr>
              <a:t>332 training samples</a:t>
            </a:r>
            <a:r>
              <a:rPr lang="en-US" altLang="zh-CN" sz="2600">
                <a:ea typeface="宋体" panose="02010600030101010101" pitchFamily="2" charset="-122"/>
              </a:rPr>
              <a:t> (simplified from data set in Appendix B2)</a:t>
            </a:r>
            <a:endParaRPr lang="en-US" altLang="en-US" sz="260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cs typeface="Times New Roman" panose="02020603050405020304" pitchFamily="18" charset="0"/>
              </a:rPr>
              <a:t>Maximum iteration = 20,000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cs typeface="Times New Roman" panose="02020603050405020304" pitchFamily="18" charset="0"/>
              </a:rPr>
              <a:t>When stopped, 38 patterns remain misclassified</a:t>
            </a:r>
          </a:p>
        </p:txBody>
      </p:sp>
    </p:spTree>
    <p:extLst>
      <p:ext uri="{BB962C8B-B14F-4D97-AF65-F5344CB8AC3E}">
        <p14:creationId xmlns:p14="http://schemas.microsoft.com/office/powerpoint/2010/main" val="1318098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6"/>
          <p:cNvGraphicFramePr>
            <a:graphicFrameLocks noGrp="1" noChangeAspect="1"/>
          </p:cNvGraphicFramePr>
          <p:nvPr>
            <p:ph/>
          </p:nvPr>
        </p:nvGraphicFramePr>
        <p:xfrm>
          <a:off x="900113" y="706438"/>
          <a:ext cx="6002337" cy="202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086795" imgH="1380952" progId="Paint.Picture">
                  <p:embed/>
                </p:oleObj>
              </mc:Choice>
              <mc:Fallback>
                <p:oleObj name="Bitmap Image" r:id="rId2" imgW="4086795" imgH="1380952" progId="Paint.Picture">
                  <p:embed/>
                  <p:pic>
                    <p:nvPicPr>
                      <p:cNvPr id="143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706438"/>
                        <a:ext cx="6002337" cy="202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Oval 8"/>
          <p:cNvSpPr>
            <a:spLocks noChangeArrowheads="1"/>
          </p:cNvSpPr>
          <p:nvPr/>
        </p:nvSpPr>
        <p:spPr bwMode="auto">
          <a:xfrm>
            <a:off x="5969000" y="1587500"/>
            <a:ext cx="254000" cy="2540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0" name="Oval 9"/>
          <p:cNvSpPr>
            <a:spLocks noChangeArrowheads="1"/>
          </p:cNvSpPr>
          <p:nvPr/>
        </p:nvSpPr>
        <p:spPr bwMode="auto">
          <a:xfrm>
            <a:off x="5930900" y="2235200"/>
            <a:ext cx="254000" cy="2540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1" name="Oval 10"/>
          <p:cNvSpPr>
            <a:spLocks noChangeArrowheads="1"/>
          </p:cNvSpPr>
          <p:nvPr/>
        </p:nvSpPr>
        <p:spPr bwMode="auto">
          <a:xfrm>
            <a:off x="5562600" y="1917700"/>
            <a:ext cx="254000" cy="2540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2" name="Oval 11"/>
          <p:cNvSpPr>
            <a:spLocks noChangeArrowheads="1"/>
          </p:cNvSpPr>
          <p:nvPr/>
        </p:nvSpPr>
        <p:spPr bwMode="auto">
          <a:xfrm>
            <a:off x="6464300" y="1917700"/>
            <a:ext cx="254000" cy="2540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3" name="Oval 12"/>
          <p:cNvSpPr>
            <a:spLocks noChangeArrowheads="1"/>
          </p:cNvSpPr>
          <p:nvPr/>
        </p:nvSpPr>
        <p:spPr bwMode="auto">
          <a:xfrm>
            <a:off x="5575300" y="2247900"/>
            <a:ext cx="254000" cy="2540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4" name="Text Box 13"/>
          <p:cNvSpPr txBox="1">
            <a:spLocks noChangeArrowheads="1"/>
          </p:cNvSpPr>
          <p:nvPr/>
        </p:nvSpPr>
        <p:spPr bwMode="auto">
          <a:xfrm>
            <a:off x="1917700" y="3048000"/>
            <a:ext cx="439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38 patterns misclassified</a:t>
            </a:r>
          </a:p>
        </p:txBody>
      </p:sp>
    </p:spTree>
    <p:extLst>
      <p:ext uri="{BB962C8B-B14F-4D97-AF65-F5344CB8AC3E}">
        <p14:creationId xmlns:p14="http://schemas.microsoft.com/office/powerpoint/2010/main" val="6953622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12"/>
          <p:cNvGraphicFramePr>
            <a:graphicFrameLocks noGrp="1" noChangeAspect="1"/>
          </p:cNvGraphicFramePr>
          <p:nvPr>
            <p:ph sz="half" idx="1"/>
          </p:nvPr>
        </p:nvGraphicFramePr>
        <p:xfrm>
          <a:off x="80963" y="320675"/>
          <a:ext cx="4584700" cy="550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572374" imgH="3772427" progId="Paint.Picture">
                  <p:embed/>
                </p:oleObj>
              </mc:Choice>
              <mc:Fallback>
                <p:oleObj name="Bitmap Image" r:id="rId2" imgW="3572374" imgH="3772427" progId="Paint.Picture">
                  <p:embed/>
                  <p:pic>
                    <p:nvPicPr>
                      <p:cNvPr id="1536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3" y="320675"/>
                        <a:ext cx="4584700" cy="550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Oval 17"/>
          <p:cNvSpPr>
            <a:spLocks noChangeArrowheads="1"/>
          </p:cNvSpPr>
          <p:nvPr/>
        </p:nvSpPr>
        <p:spPr bwMode="auto">
          <a:xfrm>
            <a:off x="3530600" y="2857500"/>
            <a:ext cx="1104900" cy="9271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5364" name="Object 1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902200" y="1295400"/>
          <a:ext cx="3998913" cy="375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4525007" imgH="3123810" progId="Paint.Picture">
                  <p:embed/>
                </p:oleObj>
              </mc:Choice>
              <mc:Fallback>
                <p:oleObj name="Bitmap Image" r:id="rId4" imgW="4525007" imgH="3123810" progId="Paint.Picture">
                  <p:embed/>
                  <p:pic>
                    <p:nvPicPr>
                      <p:cNvPr id="1536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1295400"/>
                        <a:ext cx="3998913" cy="375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Oval 26"/>
          <p:cNvSpPr>
            <a:spLocks noChangeArrowheads="1"/>
          </p:cNvSpPr>
          <p:nvPr/>
        </p:nvSpPr>
        <p:spPr bwMode="auto">
          <a:xfrm>
            <a:off x="7912100" y="1993900"/>
            <a:ext cx="1104900" cy="6604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42601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77913" y="3535363"/>
          <a:ext cx="4075112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610479" imgH="676369" progId="Paint.Picture">
                  <p:embed/>
                </p:oleObj>
              </mc:Choice>
              <mc:Fallback>
                <p:oleObj name="Bitmap Image" r:id="rId2" imgW="3610479" imgH="676369" progId="Paint.Picture">
                  <p:embed/>
                  <p:pic>
                    <p:nvPicPr>
                      <p:cNvPr id="1638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3535363"/>
                        <a:ext cx="4075112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241300"/>
            <a:ext cx="7772400" cy="4191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BP Learning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9900" y="838200"/>
            <a:ext cx="8229600" cy="6019800"/>
          </a:xfrm>
        </p:spPr>
        <p:txBody>
          <a:bodyPr>
            <a:normAutofit lnSpcReduction="10000"/>
          </a:bodyPr>
          <a:lstStyle/>
          <a:p>
            <a:pPr marL="228600" indent="-228600" eaLnBrk="1" hangingPunct="1">
              <a:lnSpc>
                <a:spcPct val="80000"/>
              </a:lnSpc>
            </a:pPr>
            <a:r>
              <a:rPr lang="en-US" altLang="en-US" sz="2000" b="1"/>
              <a:t>Function approximation:</a:t>
            </a:r>
          </a:p>
          <a:p>
            <a:pPr marL="571500" lvl="1" indent="-228600" eaLnBrk="1" hangingPunct="1">
              <a:lnSpc>
                <a:spcPct val="80000"/>
              </a:lnSpc>
            </a:pPr>
            <a:r>
              <a:rPr lang="en-US" altLang="en-US" sz="2200"/>
              <a:t>For the given </a:t>
            </a:r>
            <a:r>
              <a:rPr lang="en-US" altLang="en-US" sz="2200" i="1"/>
              <a:t>w</a:t>
            </a:r>
            <a:r>
              <a:rPr lang="en-US" altLang="en-US" sz="2200"/>
              <a:t> = (</a:t>
            </a:r>
            <a:r>
              <a:rPr lang="en-US" altLang="en-US" sz="2200" i="1"/>
              <a:t>w</a:t>
            </a:r>
            <a:r>
              <a:rPr lang="en-US" altLang="en-US" sz="2200" baseline="30000"/>
              <a:t>(1, 0)</a:t>
            </a:r>
            <a:r>
              <a:rPr lang="en-US" altLang="en-US" sz="2200"/>
              <a:t>, </a:t>
            </a:r>
            <a:r>
              <a:rPr lang="en-US" altLang="en-US" sz="2200" i="1"/>
              <a:t>w</a:t>
            </a:r>
            <a:r>
              <a:rPr lang="en-US" altLang="en-US" sz="2200" baseline="30000"/>
              <a:t>(2,1)</a:t>
            </a:r>
            <a:r>
              <a:rPr lang="en-US" altLang="en-US" sz="2200"/>
              <a:t>), </a:t>
            </a:r>
            <a:r>
              <a:rPr lang="en-US" altLang="en-US" sz="2200" i="1"/>
              <a:t>o</a:t>
            </a:r>
            <a:r>
              <a:rPr lang="en-US" altLang="en-US" sz="2200"/>
              <a:t> = </a:t>
            </a:r>
            <a:r>
              <a:rPr lang="en-US" altLang="en-US" sz="2200" i="1"/>
              <a:t>f</a:t>
            </a:r>
            <a:r>
              <a:rPr lang="en-US" altLang="en-US" sz="2200"/>
              <a:t>(</a:t>
            </a:r>
            <a:r>
              <a:rPr lang="en-US" altLang="en-US" sz="2200" i="1"/>
              <a:t>x</a:t>
            </a:r>
            <a:r>
              <a:rPr lang="en-US" altLang="en-US" sz="2200"/>
              <a:t>): it realizes a functional mapping from input vector </a:t>
            </a:r>
            <a:r>
              <a:rPr lang="en-US" altLang="en-US" sz="2200" i="1"/>
              <a:t>x</a:t>
            </a:r>
            <a:r>
              <a:rPr lang="en-US" altLang="en-US" sz="2200"/>
              <a:t> to </a:t>
            </a:r>
            <a:r>
              <a:rPr lang="en-US" altLang="en-US" sz="2200" i="1"/>
              <a:t>f </a:t>
            </a:r>
            <a:r>
              <a:rPr lang="en-US" altLang="en-US" sz="2200"/>
              <a:t>(</a:t>
            </a:r>
            <a:r>
              <a:rPr lang="en-US" altLang="en-US" sz="2200" i="1"/>
              <a:t>x</a:t>
            </a:r>
            <a:r>
              <a:rPr lang="en-US" altLang="en-US" sz="2200"/>
              <a:t>).</a:t>
            </a:r>
          </a:p>
          <a:p>
            <a:pPr marL="571500" lvl="1" indent="-228600" eaLnBrk="1" hangingPunct="1">
              <a:lnSpc>
                <a:spcPct val="80000"/>
              </a:lnSpc>
            </a:pPr>
            <a:r>
              <a:rPr lang="en-US" altLang="en-US" sz="2200"/>
              <a:t>Theoretically, feedforward nets with at least one hidden layer of non-linear nodes are able to approximate any L2 functions (all square-integral functions, including almost all commonly used math functions) to any given degree of accuracy, provided there are sufficient many hidden nodes</a:t>
            </a:r>
          </a:p>
          <a:p>
            <a:pPr marL="571500" lvl="1" indent="-228600" eaLnBrk="1" hangingPunct="1">
              <a:lnSpc>
                <a:spcPct val="110000"/>
              </a:lnSpc>
            </a:pPr>
            <a:r>
              <a:rPr lang="en-US" altLang="en-US" sz="2200"/>
              <a:t>Any L2 function </a:t>
            </a:r>
            <a:r>
              <a:rPr lang="en-US" altLang="en-US" sz="2200" i="1"/>
              <a:t>f</a:t>
            </a:r>
            <a:r>
              <a:rPr lang="en-US" altLang="en-US" sz="2200"/>
              <a:t> (</a:t>
            </a:r>
            <a:r>
              <a:rPr lang="en-US" altLang="en-US" sz="2200" i="1"/>
              <a:t>x</a:t>
            </a:r>
            <a:r>
              <a:rPr lang="en-US" altLang="en-US" sz="2200"/>
              <a:t>) can be approximated by a Fourier series</a:t>
            </a:r>
          </a:p>
          <a:p>
            <a:pPr marL="571500" lvl="1" indent="-228600" eaLnBrk="1" hangingPunct="1">
              <a:lnSpc>
                <a:spcPct val="110000"/>
              </a:lnSpc>
              <a:buFontTx/>
              <a:buNone/>
            </a:pPr>
            <a:r>
              <a:rPr lang="en-US" altLang="en-US" sz="1000"/>
              <a:t>	</a:t>
            </a:r>
          </a:p>
          <a:p>
            <a:pPr marL="571500" lvl="1" indent="-228600" eaLnBrk="1" hangingPunct="1">
              <a:lnSpc>
                <a:spcPct val="110000"/>
              </a:lnSpc>
              <a:buFontTx/>
              <a:buNone/>
            </a:pPr>
            <a:r>
              <a:rPr lang="en-US" altLang="en-US" sz="2200"/>
              <a:t>	                                                            where </a:t>
            </a:r>
            <a:r>
              <a:rPr lang="en-US" altLang="en-US" sz="2200" b="1" i="1"/>
              <a:t>k</a:t>
            </a:r>
            <a:r>
              <a:rPr lang="en-US" altLang="en-US" sz="2200"/>
              <a:t> is a </a:t>
            </a:r>
            <a:r>
              <a:rPr lang="en-US" altLang="en-US" sz="2200" i="1"/>
              <a:t>N</a:t>
            </a:r>
            <a:r>
              <a:rPr lang="en-US" altLang="en-US" sz="2200"/>
              <a:t> dim vector</a:t>
            </a:r>
          </a:p>
          <a:p>
            <a:pPr marL="571500" lvl="1" indent="-228600" eaLnBrk="1" hangingPunct="1">
              <a:lnSpc>
                <a:spcPct val="110000"/>
              </a:lnSpc>
              <a:buFontTx/>
              <a:buNone/>
            </a:pPr>
            <a:r>
              <a:rPr lang="en-US" altLang="en-US" sz="2200"/>
              <a:t>	The MSE converges to 0 when N </a:t>
            </a:r>
            <a:r>
              <a:rPr lang="en-US" altLang="en-US" sz="2200">
                <a:cs typeface="Times New Roman" panose="02020603050405020304" pitchFamily="18" charset="0"/>
                <a:sym typeface="Symbol" panose="05050102010706020507" pitchFamily="18" charset="2"/>
              </a:rPr>
              <a:t>→ </a:t>
            </a:r>
            <a:r>
              <a:rPr lang="en-US" altLang="en-US" sz="2200">
                <a:sym typeface="Symbol" panose="05050102010706020507" pitchFamily="18" charset="2"/>
              </a:rPr>
              <a:t></a:t>
            </a:r>
          </a:p>
          <a:p>
            <a:pPr marL="571500" lvl="1" indent="-228600" eaLnBrk="1" hangingPunct="1">
              <a:lnSpc>
                <a:spcPct val="110000"/>
              </a:lnSpc>
              <a:buFontTx/>
              <a:buNone/>
            </a:pPr>
            <a:endParaRPr lang="en-US" altLang="en-US" sz="2200">
              <a:sym typeface="Symbol" panose="05050102010706020507" pitchFamily="18" charset="2"/>
            </a:endParaRPr>
          </a:p>
          <a:p>
            <a:pPr marL="571500" lvl="1" indent="-228600" eaLnBrk="1" hangingPunct="1">
              <a:lnSpc>
                <a:spcPct val="110000"/>
              </a:lnSpc>
              <a:buFontTx/>
              <a:buNone/>
            </a:pPr>
            <a:r>
              <a:rPr lang="en-US" altLang="en-US" sz="1400">
                <a:sym typeface="Symbol" panose="05050102010706020507" pitchFamily="18" charset="2"/>
              </a:rPr>
              <a:t>	</a:t>
            </a:r>
          </a:p>
          <a:p>
            <a:pPr marL="571500" lvl="1" indent="-228600" eaLnBrk="1" hangingPunct="1">
              <a:lnSpc>
                <a:spcPct val="80000"/>
              </a:lnSpc>
              <a:buFontTx/>
              <a:buNone/>
            </a:pPr>
            <a:r>
              <a:rPr lang="en-US" altLang="en-US" sz="2200">
                <a:sym typeface="Symbol" panose="05050102010706020507" pitchFamily="18" charset="2"/>
              </a:rPr>
              <a:t>	It has been shown the Fourier series approximation can be realized with Feedforward net with one hidden layer of cosine node function</a:t>
            </a:r>
          </a:p>
          <a:p>
            <a:pPr marL="571500" lvl="1" indent="-2286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200"/>
              <a:t>Reading for grad students (Sec. 3.5) for more discussions</a:t>
            </a:r>
          </a:p>
        </p:txBody>
      </p:sp>
      <p:graphicFrame>
        <p:nvGraphicFramePr>
          <p:cNvPr id="16389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063625" y="4641850"/>
          <a:ext cx="39528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3180952" imgH="638264" progId="Paint.Picture">
                  <p:embed/>
                </p:oleObj>
              </mc:Choice>
              <mc:Fallback>
                <p:oleObj name="Bitmap Image" r:id="rId4" imgW="3180952" imgH="638264" progId="Paint.Picture">
                  <p:embed/>
                  <p:pic>
                    <p:nvPicPr>
                      <p:cNvPr id="1638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4641850"/>
                        <a:ext cx="395287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27463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014413"/>
            <a:ext cx="7845425" cy="55149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600" b="1"/>
              <a:t>Great representation power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Any L2 function can be represented by a BP net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Many such functions can be approximated by BP learning (gradient descent approach)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sz="2400" b="1"/>
              <a:t>Easy to apply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Only requires that a good set of training samples is available</a:t>
            </a:r>
            <a:r>
              <a:rPr lang="en-US" altLang="en-US" sz="2000"/>
              <a:t>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Does not require substantial prior knowledge or deep understanding of the domain itself (ill structured problems)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Tolerates noise and missing data in training samples (graceful degrading)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sz="2400" b="1"/>
              <a:t>Easy to implement</a:t>
            </a:r>
            <a:r>
              <a:rPr lang="en-US" altLang="en-US" sz="2400"/>
              <a:t> the core of the learning algorithm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sz="2400" b="1"/>
              <a:t>Good generalization power</a:t>
            </a:r>
            <a:r>
              <a:rPr lang="en-US" altLang="en-US" sz="2400"/>
              <a:t>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/>
              <a:t>Often produce accurate results for inputs outside the training set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Strengths of BP Learning</a:t>
            </a:r>
          </a:p>
        </p:txBody>
      </p:sp>
    </p:spTree>
    <p:extLst>
      <p:ext uri="{BB962C8B-B14F-4D97-AF65-F5344CB8AC3E}">
        <p14:creationId xmlns:p14="http://schemas.microsoft.com/office/powerpoint/2010/main" val="26237741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85775" y="811213"/>
            <a:ext cx="8045450" cy="5856287"/>
          </a:xfrm>
          <a:noFill/>
        </p:spPr>
        <p:txBody>
          <a:bodyPr>
            <a:normAutofit lnSpcReduction="10000"/>
          </a:bodyPr>
          <a:lstStyle/>
          <a:p>
            <a:pPr marL="228600" indent="-228600" eaLnBrk="1" hangingPunct="1">
              <a:lnSpc>
                <a:spcPct val="90000"/>
              </a:lnSpc>
              <a:spcBef>
                <a:spcPct val="10000"/>
              </a:spcBef>
              <a:tabLst>
                <a:tab pos="914400" algn="l"/>
              </a:tabLst>
            </a:pPr>
            <a:r>
              <a:rPr lang="en-US" altLang="en-US" sz="2400"/>
              <a:t>Learning often takes a </a:t>
            </a:r>
            <a:r>
              <a:rPr lang="en-US" altLang="en-US" sz="2400" b="1">
                <a:solidFill>
                  <a:schemeClr val="accent2"/>
                </a:solidFill>
              </a:rPr>
              <a:t>long time</a:t>
            </a:r>
            <a:r>
              <a:rPr lang="en-US" altLang="en-US" sz="2400"/>
              <a:t> to converge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10000"/>
              </a:spcBef>
              <a:tabLst>
                <a:tab pos="914400" algn="l"/>
              </a:tabLst>
            </a:pPr>
            <a:r>
              <a:rPr lang="en-US" altLang="en-US" sz="2200"/>
              <a:t>Complex functions often need hundreds or thousands of </a:t>
            </a:r>
            <a:r>
              <a:rPr lang="en-US" altLang="en-US" sz="2200">
                <a:solidFill>
                  <a:schemeClr val="accent2"/>
                </a:solidFill>
              </a:rPr>
              <a:t>epochs</a:t>
            </a:r>
          </a:p>
          <a:p>
            <a:pPr marL="228600" indent="-228600" eaLnBrk="1" hangingPunct="1">
              <a:lnSpc>
                <a:spcPct val="90000"/>
              </a:lnSpc>
              <a:spcBef>
                <a:spcPct val="10000"/>
              </a:spcBef>
              <a:tabLst>
                <a:tab pos="914400" algn="l"/>
              </a:tabLst>
            </a:pPr>
            <a:r>
              <a:rPr lang="en-US" altLang="en-US" sz="2400"/>
              <a:t>The network is essentially a </a:t>
            </a:r>
            <a:r>
              <a:rPr lang="en-US" altLang="en-US" sz="2400" b="1">
                <a:solidFill>
                  <a:schemeClr val="accent2"/>
                </a:solidFill>
              </a:rPr>
              <a:t>black box</a:t>
            </a:r>
            <a:r>
              <a:rPr lang="en-US" altLang="en-US" sz="2400"/>
              <a:t> 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10000"/>
              </a:spcBef>
              <a:tabLst>
                <a:tab pos="914400" algn="l"/>
              </a:tabLst>
            </a:pPr>
            <a:r>
              <a:rPr lang="en-US" altLang="en-US" sz="2200"/>
              <a:t>It may provide a desired mapping between input and output vectors (</a:t>
            </a:r>
            <a:r>
              <a:rPr lang="en-US" altLang="en-US" sz="2200" b="1" i="1"/>
              <a:t>x, o</a:t>
            </a:r>
            <a:r>
              <a:rPr lang="en-US" altLang="en-US" sz="2200"/>
              <a:t>) but does not have the information of why a particular </a:t>
            </a:r>
            <a:r>
              <a:rPr lang="en-US" altLang="en-US" sz="2200" b="1" i="1"/>
              <a:t>x</a:t>
            </a:r>
            <a:r>
              <a:rPr lang="en-US" altLang="en-US" sz="2200"/>
              <a:t> is mapped to a particular </a:t>
            </a:r>
            <a:r>
              <a:rPr lang="en-US" altLang="en-US" sz="2200" b="1" i="1"/>
              <a:t>o. 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10000"/>
              </a:spcBef>
              <a:tabLst>
                <a:tab pos="914400" algn="l"/>
              </a:tabLst>
            </a:pPr>
            <a:r>
              <a:rPr lang="en-US" altLang="en-US" sz="2200"/>
              <a:t>It thus cannot provide an intuitive (e.g., causal) explanation for the computed result.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10000"/>
              </a:spcBef>
              <a:tabLst>
                <a:tab pos="914400" algn="l"/>
              </a:tabLst>
            </a:pPr>
            <a:r>
              <a:rPr lang="en-US" altLang="en-US" sz="2200"/>
              <a:t>This is because the hidden nodes and the learned weights do not have clear semantics. </a:t>
            </a:r>
          </a:p>
          <a:p>
            <a:pPr marL="914400" lvl="2" eaLnBrk="1" hangingPunct="1">
              <a:lnSpc>
                <a:spcPct val="90000"/>
              </a:lnSpc>
              <a:spcBef>
                <a:spcPct val="10000"/>
              </a:spcBef>
              <a:tabLst>
                <a:tab pos="914400" algn="l"/>
              </a:tabLst>
            </a:pPr>
            <a:r>
              <a:rPr lang="en-US" altLang="en-US" sz="2000">
                <a:solidFill>
                  <a:schemeClr val="accent2"/>
                </a:solidFill>
              </a:rPr>
              <a:t>What can be learned are operational parameters, not general, abstract knowledge of a domain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10000"/>
              </a:spcBef>
              <a:tabLst>
                <a:tab pos="914400" algn="l"/>
              </a:tabLst>
            </a:pPr>
            <a:r>
              <a:rPr lang="en-US" altLang="en-US" sz="2200"/>
              <a:t>Unlike many statistical methods, there is no theoretically well-founded way to </a:t>
            </a:r>
            <a:r>
              <a:rPr lang="en-US" altLang="en-US" sz="2200" b="1">
                <a:solidFill>
                  <a:schemeClr val="accent2"/>
                </a:solidFill>
              </a:rPr>
              <a:t>assess the quality</a:t>
            </a:r>
            <a:r>
              <a:rPr lang="en-US" altLang="en-US" sz="2200"/>
              <a:t> of BP learning</a:t>
            </a:r>
          </a:p>
          <a:p>
            <a:pPr marL="914400" lvl="2" eaLnBrk="1" hangingPunct="1">
              <a:lnSpc>
                <a:spcPct val="90000"/>
              </a:lnSpc>
              <a:spcBef>
                <a:spcPct val="10000"/>
              </a:spcBef>
              <a:tabLst>
                <a:tab pos="914400" algn="l"/>
              </a:tabLst>
            </a:pPr>
            <a:r>
              <a:rPr lang="en-US" altLang="en-US" sz="2000"/>
              <a:t>What is the confidence level of </a:t>
            </a:r>
            <a:r>
              <a:rPr lang="en-US" altLang="en-US" sz="2000" i="1"/>
              <a:t>o</a:t>
            </a:r>
            <a:r>
              <a:rPr lang="en-US" altLang="en-US" sz="2000"/>
              <a:t> computed from input </a:t>
            </a:r>
            <a:r>
              <a:rPr lang="en-US" altLang="en-US" sz="2000" i="1"/>
              <a:t>x </a:t>
            </a:r>
            <a:r>
              <a:rPr lang="en-US" altLang="en-US" sz="2000"/>
              <a:t>using such net?</a:t>
            </a:r>
          </a:p>
          <a:p>
            <a:pPr marL="914400" lvl="2" eaLnBrk="1" hangingPunct="1">
              <a:lnSpc>
                <a:spcPct val="90000"/>
              </a:lnSpc>
              <a:spcBef>
                <a:spcPct val="10000"/>
              </a:spcBef>
              <a:tabLst>
                <a:tab pos="914400" algn="l"/>
              </a:tabLst>
            </a:pPr>
            <a:r>
              <a:rPr lang="en-US" altLang="en-US" sz="2000"/>
              <a:t>What is the confidence level for a trained BP net, with the final </a:t>
            </a:r>
            <a:r>
              <a:rPr lang="en-US" altLang="en-US" sz="2000" i="1"/>
              <a:t>E</a:t>
            </a:r>
            <a:r>
              <a:rPr lang="en-US" altLang="en-US" sz="2000"/>
              <a:t> (which may or may not be close to zero)?</a:t>
            </a:r>
            <a:endParaRPr lang="en-US" altLang="en-US" sz="2000" i="1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xfrm>
            <a:off x="698500" y="177800"/>
            <a:ext cx="7772400" cy="5334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Deficiencies of BP Learning</a:t>
            </a:r>
          </a:p>
        </p:txBody>
      </p:sp>
    </p:spTree>
    <p:extLst>
      <p:ext uri="{BB962C8B-B14F-4D97-AF65-F5344CB8AC3E}">
        <p14:creationId xmlns:p14="http://schemas.microsoft.com/office/powerpoint/2010/main" val="25004322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22275" y="514350"/>
            <a:ext cx="8312150" cy="6015038"/>
          </a:xfrm>
          <a:noFill/>
        </p:spPr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600"/>
              <a:t>Problem with gradient descent approach 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/>
              <a:t>only guarantees to reduce the total error to a </a:t>
            </a:r>
            <a:r>
              <a:rPr lang="en-US" altLang="en-US" sz="2400" b="1">
                <a:solidFill>
                  <a:schemeClr val="accent2"/>
                </a:solidFill>
              </a:rPr>
              <a:t>local minimum</a:t>
            </a:r>
            <a:r>
              <a:rPr lang="en-US" altLang="en-US" sz="2400"/>
              <a:t>. (</a:t>
            </a:r>
            <a:r>
              <a:rPr lang="en-US" altLang="en-US" sz="2400" b="1" i="1"/>
              <a:t>E</a:t>
            </a:r>
            <a:r>
              <a:rPr lang="en-US" altLang="en-US" sz="2400"/>
              <a:t> might not be reduced to zero)</a:t>
            </a:r>
          </a:p>
          <a:p>
            <a:pPr marL="914400" lvl="2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/>
              <a:t>Cannot escape from the local minimum error state</a:t>
            </a:r>
          </a:p>
          <a:p>
            <a:pPr marL="914400" lvl="2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 b="1">
                <a:solidFill>
                  <a:schemeClr val="accent2"/>
                </a:solidFill>
              </a:rPr>
              <a:t>Not every function that is representable can be learned</a:t>
            </a:r>
            <a:r>
              <a:rPr lang="en-US" altLang="en-US" sz="2000"/>
              <a:t> 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/>
              <a:t>How bad: depends on the shape of the error surface. Too many valleys/wells will make it easy to be trapped in local minima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/>
              <a:t>Possible remedies:</a:t>
            </a:r>
            <a:r>
              <a:rPr lang="en-US" altLang="en-US" sz="2600"/>
              <a:t> </a:t>
            </a:r>
          </a:p>
          <a:p>
            <a:pPr marL="914400" lvl="2"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 sz="2200"/>
              <a:t>Try nets with different # of hidden layers and hidden nodes (they may lead to different error surfaces, some might be better than others)</a:t>
            </a:r>
          </a:p>
          <a:p>
            <a:pPr marL="914400" lvl="2"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 sz="2200"/>
              <a:t>Try different initial weights (different starting points on the surface)</a:t>
            </a:r>
          </a:p>
          <a:p>
            <a:pPr marL="914400" lvl="2"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 sz="2200"/>
              <a:t>Forced escape from local minima by random perturbation (e.g., </a:t>
            </a:r>
            <a:r>
              <a:rPr lang="en-US" altLang="en-US" sz="2200" b="1">
                <a:solidFill>
                  <a:schemeClr val="accent2"/>
                </a:solidFill>
              </a:rPr>
              <a:t>simulated annealing</a:t>
            </a:r>
            <a:r>
              <a:rPr lang="en-US" altLang="en-US" sz="2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513159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41300" y="381000"/>
            <a:ext cx="8051800" cy="1930400"/>
          </a:xfrm>
          <a:noFill/>
        </p:spPr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ct val="10000"/>
              </a:spcBef>
              <a:tabLst>
                <a:tab pos="228600" algn="l"/>
              </a:tabLst>
            </a:pPr>
            <a:r>
              <a:rPr lang="en-US" altLang="en-US" sz="2600" b="1"/>
              <a:t>Generalization</a:t>
            </a:r>
            <a:r>
              <a:rPr lang="en-US" altLang="en-US" sz="2600"/>
              <a:t> is not guaranteed even if the error is reduced to 0</a:t>
            </a:r>
          </a:p>
          <a:p>
            <a:pPr marL="571500" lvl="1" indent="-228600" eaLnBrk="1" hangingPunct="1">
              <a:lnSpc>
                <a:spcPct val="90000"/>
              </a:lnSpc>
              <a:spcBef>
                <a:spcPct val="10000"/>
              </a:spcBef>
              <a:tabLst>
                <a:tab pos="228600" algn="l"/>
              </a:tabLst>
            </a:pPr>
            <a:r>
              <a:rPr lang="en-US" altLang="en-US" sz="2400" b="1">
                <a:solidFill>
                  <a:schemeClr val="accent2"/>
                </a:solidFill>
              </a:rPr>
              <a:t>Over-fitting</a:t>
            </a:r>
            <a:r>
              <a:rPr lang="en-US" altLang="en-US" sz="2400"/>
              <a:t>/over-training problem: trained net fits the training samples perfectly (</a:t>
            </a:r>
            <a:r>
              <a:rPr lang="en-US" altLang="en-US" sz="2400" i="1"/>
              <a:t>E</a:t>
            </a:r>
            <a:r>
              <a:rPr lang="en-US" altLang="en-US" sz="2400"/>
              <a:t> reduced to 0) but it does not give accurate outputs for inputs not in the training set</a:t>
            </a:r>
          </a:p>
        </p:txBody>
      </p:sp>
      <p:graphicFrame>
        <p:nvGraphicFramePr>
          <p:cNvPr id="20483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4752975" y="2228850"/>
          <a:ext cx="4391025" cy="326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591426" imgH="2629267" progId="Paint.Picture">
                  <p:embed/>
                </p:oleObj>
              </mc:Choice>
              <mc:Fallback>
                <p:oleObj name="Bitmap Image" r:id="rId2" imgW="3591426" imgH="2629267" progId="Paint.Picture">
                  <p:embed/>
                  <p:pic>
                    <p:nvPicPr>
                      <p:cNvPr id="20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2975" y="2228850"/>
                        <a:ext cx="4391025" cy="326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Rectangle 6"/>
          <p:cNvSpPr>
            <a:spLocks noChangeArrowheads="1"/>
          </p:cNvSpPr>
          <p:nvPr/>
        </p:nvSpPr>
        <p:spPr bwMode="auto">
          <a:xfrm>
            <a:off x="165100" y="2184400"/>
            <a:ext cx="4699000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573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10000"/>
              </a:spcBef>
              <a:buFontTx/>
              <a:buChar char="–"/>
            </a:pPr>
            <a:r>
              <a:rPr lang="en-US" altLang="en-US"/>
              <a:t>Possible remedies: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2200"/>
              <a:t>More and better samples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2200"/>
              <a:t>Using smaller net if possible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2200"/>
              <a:t>Using larger error bound (forced early termination)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2200"/>
              <a:t>Introducing noise into samples</a:t>
            </a:r>
          </a:p>
          <a:p>
            <a:pPr lvl="3" eaLnBrk="1" hangingPunct="1">
              <a:lnSpc>
                <a:spcPct val="90000"/>
              </a:lnSpc>
              <a:spcBef>
                <a:spcPct val="10000"/>
              </a:spcBef>
              <a:buFontTx/>
              <a:buChar char="–"/>
            </a:pPr>
            <a:r>
              <a:rPr lang="en-US" altLang="en-US" sz="2100"/>
              <a:t>modify (</a:t>
            </a:r>
            <a:r>
              <a:rPr lang="en-US" altLang="en-US" sz="2100" i="1"/>
              <a:t>x</a:t>
            </a:r>
            <a:r>
              <a:rPr lang="en-US" altLang="en-US" sz="2100" i="1" baseline="-25000"/>
              <a:t>1</a:t>
            </a:r>
            <a:r>
              <a:rPr lang="en-US" altLang="en-US" sz="2100"/>
              <a:t>,…, </a:t>
            </a:r>
            <a:r>
              <a:rPr lang="en-US" altLang="en-US" sz="2100" i="1"/>
              <a:t>x</a:t>
            </a:r>
            <a:r>
              <a:rPr lang="en-US" altLang="en-US" sz="2100" i="1" baseline="-25000"/>
              <a:t>n</a:t>
            </a:r>
            <a:r>
              <a:rPr lang="en-US" altLang="en-US" sz="2100"/>
              <a:t>) to (</a:t>
            </a:r>
            <a:r>
              <a:rPr lang="en-US" altLang="en-US" sz="2100" i="1"/>
              <a:t>x</a:t>
            </a:r>
            <a:r>
              <a:rPr lang="en-US" altLang="en-US" sz="2100" i="1" baseline="-25000"/>
              <a:t>1</a:t>
            </a:r>
            <a:r>
              <a:rPr lang="en-US" altLang="en-US" sz="2100">
                <a:cs typeface="Times New Roman" panose="02020603050405020304" pitchFamily="18" charset="0"/>
              </a:rPr>
              <a:t>+</a:t>
            </a:r>
            <a:r>
              <a:rPr lang="el-GR" altLang="en-US" sz="2100">
                <a:cs typeface="Times New Roman" panose="02020603050405020304" pitchFamily="18" charset="0"/>
              </a:rPr>
              <a:t>α</a:t>
            </a:r>
            <a:r>
              <a:rPr lang="en-US" altLang="en-US" sz="2100" i="1" baseline="-25000"/>
              <a:t>1</a:t>
            </a:r>
            <a:r>
              <a:rPr lang="en-US" altLang="en-US" sz="2100">
                <a:cs typeface="Times New Roman" panose="02020603050405020304" pitchFamily="18" charset="0"/>
              </a:rPr>
              <a:t>,</a:t>
            </a:r>
            <a:r>
              <a:rPr lang="en-US" altLang="en-US" sz="2100"/>
              <a:t>…, </a:t>
            </a:r>
            <a:r>
              <a:rPr lang="en-US" altLang="en-US" sz="2100" i="1"/>
              <a:t>x</a:t>
            </a:r>
            <a:r>
              <a:rPr lang="en-US" altLang="en-US" sz="2100" i="1" baseline="-25000"/>
              <a:t>n</a:t>
            </a:r>
            <a:r>
              <a:rPr lang="en-US" altLang="en-US" sz="2100">
                <a:cs typeface="Times New Roman" panose="02020603050405020304" pitchFamily="18" charset="0"/>
              </a:rPr>
              <a:t>+</a:t>
            </a:r>
            <a:r>
              <a:rPr lang="el-GR" altLang="en-US" sz="2100">
                <a:cs typeface="Times New Roman" panose="02020603050405020304" pitchFamily="18" charset="0"/>
              </a:rPr>
              <a:t>α</a:t>
            </a:r>
            <a:r>
              <a:rPr lang="en-US" altLang="en-US" sz="2100" i="1" baseline="-25000"/>
              <a:t>n</a:t>
            </a:r>
            <a:r>
              <a:rPr lang="en-US" altLang="en-US" sz="2100"/>
              <a:t>) where </a:t>
            </a:r>
            <a:r>
              <a:rPr lang="el-GR" altLang="en-US" sz="2100">
                <a:cs typeface="Times New Roman" panose="02020603050405020304" pitchFamily="18" charset="0"/>
              </a:rPr>
              <a:t>α</a:t>
            </a:r>
            <a:r>
              <a:rPr lang="en-US" altLang="en-US" sz="2100" i="1" baseline="-25000"/>
              <a:t>i </a:t>
            </a:r>
            <a:r>
              <a:rPr lang="en-US" altLang="en-US" sz="2100"/>
              <a:t>are small random displacements</a:t>
            </a:r>
          </a:p>
        </p:txBody>
      </p:sp>
      <p:sp>
        <p:nvSpPr>
          <p:cNvPr id="20485" name="Rectangle 7"/>
          <p:cNvSpPr>
            <a:spLocks noChangeArrowheads="1"/>
          </p:cNvSpPr>
          <p:nvPr/>
        </p:nvSpPr>
        <p:spPr bwMode="auto">
          <a:xfrm>
            <a:off x="190500" y="5130800"/>
            <a:ext cx="87884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573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2200" b="1">
                <a:solidFill>
                  <a:schemeClr val="accent2"/>
                </a:solidFill>
              </a:rPr>
              <a:t>Cross-Validation</a:t>
            </a:r>
          </a:p>
          <a:p>
            <a:pPr lvl="3" eaLnBrk="1" hangingPunct="1">
              <a:lnSpc>
                <a:spcPct val="90000"/>
              </a:lnSpc>
              <a:spcBef>
                <a:spcPct val="10000"/>
              </a:spcBef>
              <a:buFontTx/>
              <a:buChar char="–"/>
            </a:pPr>
            <a:r>
              <a:rPr lang="en-US" altLang="en-US" sz="2100"/>
              <a:t>leave some (~10%) samples as test data (not used for weight update)</a:t>
            </a:r>
          </a:p>
          <a:p>
            <a:pPr lvl="3" eaLnBrk="1" hangingPunct="1">
              <a:lnSpc>
                <a:spcPct val="90000"/>
              </a:lnSpc>
              <a:spcBef>
                <a:spcPct val="10000"/>
              </a:spcBef>
              <a:buFontTx/>
              <a:buChar char="–"/>
            </a:pPr>
            <a:r>
              <a:rPr lang="en-US" altLang="en-US" sz="2100"/>
              <a:t>periodically check error on test data</a:t>
            </a:r>
          </a:p>
          <a:p>
            <a:pPr lvl="3" eaLnBrk="1" hangingPunct="1">
              <a:lnSpc>
                <a:spcPct val="90000"/>
              </a:lnSpc>
              <a:spcBef>
                <a:spcPct val="10000"/>
              </a:spcBef>
              <a:buFontTx/>
              <a:buChar char="–"/>
            </a:pPr>
            <a:r>
              <a:rPr lang="en-US" altLang="en-US" sz="2100"/>
              <a:t>learning stops when error on test data starts to increase</a:t>
            </a:r>
          </a:p>
        </p:txBody>
      </p:sp>
    </p:spTree>
    <p:extLst>
      <p:ext uri="{BB962C8B-B14F-4D97-AF65-F5344CB8AC3E}">
        <p14:creationId xmlns:p14="http://schemas.microsoft.com/office/powerpoint/2010/main" val="35377380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469900"/>
            <a:ext cx="8013700" cy="6096000"/>
          </a:xfrm>
          <a:noFill/>
        </p:spPr>
        <p:txBody>
          <a:bodyPr/>
          <a:lstStyle/>
          <a:p>
            <a:pPr marL="228600" indent="-228600" eaLnBrk="1" hangingPunct="1">
              <a:spcBef>
                <a:spcPct val="10000"/>
              </a:spcBef>
            </a:pPr>
            <a:r>
              <a:rPr lang="en-US" altLang="en-US" sz="2600" b="1">
                <a:solidFill>
                  <a:schemeClr val="accent2"/>
                </a:solidFill>
              </a:rPr>
              <a:t>Network paralysis</a:t>
            </a:r>
            <a:r>
              <a:rPr lang="en-US" altLang="en-US" sz="2600"/>
              <a:t> with sigmoid activation function</a:t>
            </a:r>
          </a:p>
          <a:p>
            <a:pPr marL="571500" lvl="1" indent="-228600" eaLnBrk="1" hangingPunct="1">
              <a:spcBef>
                <a:spcPct val="10000"/>
              </a:spcBef>
            </a:pPr>
            <a:r>
              <a:rPr lang="en-US" altLang="en-US" sz="2400"/>
              <a:t>Saturation regions:</a:t>
            </a:r>
            <a:endParaRPr lang="en-US" altLang="en-US" sz="2400" b="1" i="1"/>
          </a:p>
          <a:p>
            <a:pPr marL="571500" lvl="1" indent="-228600" eaLnBrk="1" hangingPunct="1">
              <a:spcBef>
                <a:spcPct val="10000"/>
              </a:spcBef>
            </a:pPr>
            <a:endParaRPr lang="en-US" altLang="en-US" sz="2400" b="1" i="1"/>
          </a:p>
          <a:p>
            <a:pPr marL="571500" lvl="1" indent="-228600" eaLnBrk="1" hangingPunct="1">
              <a:spcBef>
                <a:spcPct val="10000"/>
              </a:spcBef>
            </a:pPr>
            <a:endParaRPr lang="en-US" altLang="en-US" sz="2000" b="1" i="1"/>
          </a:p>
          <a:p>
            <a:pPr marL="571500" lvl="1" indent="-228600" eaLnBrk="1" hangingPunct="1">
              <a:spcBef>
                <a:spcPct val="10000"/>
              </a:spcBef>
            </a:pPr>
            <a:endParaRPr lang="en-US" altLang="en-US" sz="2000"/>
          </a:p>
          <a:p>
            <a:pPr marL="571500" lvl="1" indent="-228600" eaLnBrk="1" hangingPunct="1">
              <a:spcBef>
                <a:spcPct val="10000"/>
              </a:spcBef>
            </a:pPr>
            <a:endParaRPr lang="en-US" altLang="zh-CN" sz="2000">
              <a:ea typeface="宋体" panose="02010600030101010101" pitchFamily="2" charset="-122"/>
            </a:endParaRPr>
          </a:p>
          <a:p>
            <a:pPr marL="571500" lvl="1" indent="-228600" eaLnBrk="1" hangingPunct="1">
              <a:spcBef>
                <a:spcPct val="10000"/>
              </a:spcBef>
            </a:pPr>
            <a:endParaRPr lang="en-US" altLang="zh-CN" sz="2000">
              <a:ea typeface="宋体" panose="02010600030101010101" pitchFamily="2" charset="-122"/>
            </a:endParaRPr>
          </a:p>
          <a:p>
            <a:pPr marL="571500" lvl="1" indent="-228600" eaLnBrk="1" hangingPunct="1">
              <a:spcBef>
                <a:spcPct val="10000"/>
              </a:spcBef>
            </a:pPr>
            <a:endParaRPr lang="en-US" altLang="en-US" sz="2000"/>
          </a:p>
          <a:p>
            <a:pPr marL="571500" lvl="1" indent="-228600" eaLnBrk="1" hangingPunct="1">
              <a:spcBef>
                <a:spcPct val="10000"/>
              </a:spcBef>
              <a:spcAft>
                <a:spcPct val="20000"/>
              </a:spcAft>
            </a:pPr>
            <a:r>
              <a:rPr lang="en-US" altLang="en-US" sz="2400"/>
              <a:t>Input to an node may fall into a saturation region when some of its incoming weights become very large during learning. Consequently, weights stop to change no matter how hard you try.</a:t>
            </a:r>
            <a:endParaRPr lang="en-US" altLang="en-US" sz="2000"/>
          </a:p>
          <a:p>
            <a:pPr marL="571500" lvl="1" indent="-228600" eaLnBrk="1" hangingPunct="1">
              <a:spcBef>
                <a:spcPct val="10000"/>
              </a:spcBef>
            </a:pPr>
            <a:r>
              <a:rPr lang="en-US" altLang="en-US" sz="2400"/>
              <a:t>Possible remedies:</a:t>
            </a:r>
          </a:p>
          <a:p>
            <a:pPr marL="914400" lvl="2" eaLnBrk="1" hangingPunct="1">
              <a:spcBef>
                <a:spcPct val="10000"/>
              </a:spcBef>
            </a:pPr>
            <a:r>
              <a:rPr lang="en-US" altLang="en-US" sz="2200"/>
              <a:t>Use non-saturating activation functions</a:t>
            </a:r>
          </a:p>
          <a:p>
            <a:pPr marL="914400" lvl="2" eaLnBrk="1" hangingPunct="1">
              <a:spcBef>
                <a:spcPct val="10000"/>
              </a:spcBef>
            </a:pPr>
            <a:r>
              <a:rPr lang="en-US" altLang="en-US" sz="2200"/>
              <a:t>Periodically normalize all weights</a:t>
            </a:r>
          </a:p>
        </p:txBody>
      </p:sp>
      <p:pic>
        <p:nvPicPr>
          <p:cNvPr id="21507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9563" y="2713038"/>
            <a:ext cx="4071937" cy="771525"/>
          </a:xfrm>
          <a:noFill/>
        </p:spPr>
      </p:pic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1241425" y="1306513"/>
          <a:ext cx="7348538" cy="139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38600" imgH="762000" progId="Equation.DSMT4">
                  <p:embed/>
                </p:oleObj>
              </mc:Choice>
              <mc:Fallback>
                <p:oleObj name="Equation" r:id="rId3" imgW="4038600" imgH="762000" progId="Equation.DSMT4">
                  <p:embed/>
                  <p:pic>
                    <p:nvPicPr>
                      <p:cNvPr id="21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1306513"/>
                        <a:ext cx="7348538" cy="139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1735138" y="6148388"/>
          <a:ext cx="228282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29810" imgH="253890" progId="Equation.3">
                  <p:embed/>
                </p:oleObj>
              </mc:Choice>
              <mc:Fallback>
                <p:oleObj name="Equation" r:id="rId5" imgW="1129810" imgH="253890" progId="Equation.3">
                  <p:embed/>
                  <p:pic>
                    <p:nvPicPr>
                      <p:cNvPr id="21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6148388"/>
                        <a:ext cx="2282825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81623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85775" y="682625"/>
            <a:ext cx="8045450" cy="5846763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600"/>
              <a:t>The learning (accuracy, speed, and generalization) is highly dependent of a set of learning </a:t>
            </a:r>
            <a:r>
              <a:rPr lang="en-US" altLang="en-US" sz="2600" b="1">
                <a:solidFill>
                  <a:schemeClr val="accent2"/>
                </a:solidFill>
              </a:rPr>
              <a:t>parameters</a:t>
            </a:r>
            <a:r>
              <a:rPr lang="en-US" altLang="en-US" sz="2400"/>
              <a:t> 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en-US" sz="2400"/>
              <a:t>Initial weights, learning rate, # of hidden layers and # of nodes.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/>
              <a:t>Most of them can only be determined </a:t>
            </a:r>
            <a:r>
              <a:rPr lang="en-US" altLang="en-US" sz="2400" b="1">
                <a:solidFill>
                  <a:schemeClr val="accent2"/>
                </a:solidFill>
              </a:rPr>
              <a:t>empirically</a:t>
            </a:r>
            <a:r>
              <a:rPr lang="en-US" altLang="en-US" sz="2400"/>
              <a:t> (via experiments)</a:t>
            </a:r>
          </a:p>
        </p:txBody>
      </p:sp>
    </p:spTree>
    <p:extLst>
      <p:ext uri="{BB962C8B-B14F-4D97-AF65-F5344CB8AC3E}">
        <p14:creationId xmlns:p14="http://schemas.microsoft.com/office/powerpoint/2010/main" val="18757167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912813"/>
            <a:ext cx="8247063" cy="5373687"/>
          </a:xfrm>
          <a:noFill/>
        </p:spPr>
        <p:txBody>
          <a:bodyPr/>
          <a:lstStyle/>
          <a:p>
            <a:pPr marL="227013" indent="-227013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/>
              <a:t>A good BP net requires more than the core of the learning algorithms. Many parameters must be carefully selected to ensure a good performance.</a:t>
            </a:r>
          </a:p>
          <a:p>
            <a:pPr marL="227013" indent="-227013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/>
              <a:t>Although the deficiencies of BP nets cannot be completely cured, some of them can be eased by some practical means. </a:t>
            </a:r>
          </a:p>
          <a:p>
            <a:pPr marL="227013" indent="-227013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 b="1"/>
              <a:t>Initial weights (and biases)</a:t>
            </a:r>
          </a:p>
          <a:p>
            <a:pPr marL="568325" lvl="1" indent="-227013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/>
              <a:t>Random, [-0.05, 0.05], [-0.1, 0.1], [-1, 1]</a:t>
            </a:r>
          </a:p>
          <a:p>
            <a:pPr marL="909638" lvl="2" indent="-227013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/>
              <a:t>Avoid bias in weight initialization</a:t>
            </a:r>
          </a:p>
          <a:p>
            <a:pPr marL="568325" lvl="1" indent="-227013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/>
              <a:t>Normalize weights for hidden layer (</a:t>
            </a:r>
            <a:r>
              <a:rPr lang="en-US" altLang="en-US" sz="2600" i="1"/>
              <a:t>w</a:t>
            </a:r>
            <a:r>
              <a:rPr lang="en-US" altLang="en-US" sz="2600" baseline="30000"/>
              <a:t>(1, 0)</a:t>
            </a:r>
            <a:r>
              <a:rPr lang="en-US" altLang="en-US" sz="2400"/>
              <a:t>) </a:t>
            </a:r>
            <a:r>
              <a:rPr lang="en-US" altLang="en-US" sz="2200"/>
              <a:t>(Nguyen-Widrow)</a:t>
            </a:r>
          </a:p>
          <a:p>
            <a:pPr marL="909638" lvl="2" indent="-227013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/>
              <a:t>Random assign initial weights for all hidden nodes </a:t>
            </a:r>
          </a:p>
          <a:p>
            <a:pPr marL="909638" lvl="2" indent="-227013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/>
              <a:t>For each hidden node </a:t>
            </a:r>
            <a:r>
              <a:rPr lang="en-US" altLang="en-US" sz="2200" i="1"/>
              <a:t>j</a:t>
            </a:r>
            <a:r>
              <a:rPr lang="en-US" altLang="en-US" sz="2200"/>
              <a:t>, normalize its weight by</a:t>
            </a:r>
          </a:p>
          <a:p>
            <a:pPr marL="909638" lvl="2" indent="-227013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 sz="2200"/>
              <a:t>	</a:t>
            </a:r>
          </a:p>
          <a:p>
            <a:pPr marL="909638" lvl="2" indent="-227013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 sz="2200"/>
              <a:t>	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Practical Considerations</a:t>
            </a:r>
          </a:p>
        </p:txBody>
      </p: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1644650" y="4781550"/>
          <a:ext cx="323373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033" imgH="317362" progId="Equation.3">
                  <p:embed/>
                </p:oleObj>
              </mc:Choice>
              <mc:Fallback>
                <p:oleObj name="Equation" r:id="rId2" imgW="1536033" imgH="317362" progId="Equation.3">
                  <p:embed/>
                  <p:pic>
                    <p:nvPicPr>
                      <p:cNvPr id="23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4781550"/>
                        <a:ext cx="323373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6"/>
          <p:cNvGraphicFramePr>
            <a:graphicFrameLocks noChangeAspect="1"/>
          </p:cNvGraphicFramePr>
          <p:nvPr/>
        </p:nvGraphicFramePr>
        <p:xfrm>
          <a:off x="1565275" y="5392738"/>
          <a:ext cx="50641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300" imgH="203200" progId="Equation.3">
                  <p:embed/>
                </p:oleObj>
              </mc:Choice>
              <mc:Fallback>
                <p:oleObj name="Equation" r:id="rId4" imgW="2781300" imgH="203200" progId="Equation.3">
                  <p:embed/>
                  <p:pic>
                    <p:nvPicPr>
                      <p:cNvPr id="2355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5392738"/>
                        <a:ext cx="50641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7"/>
          <p:cNvGraphicFramePr>
            <a:graphicFrameLocks noChangeAspect="1"/>
          </p:cNvGraphicFramePr>
          <p:nvPr/>
        </p:nvGraphicFramePr>
        <p:xfrm>
          <a:off x="1649413" y="5715000"/>
          <a:ext cx="380682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54951" imgH="317362" progId="Equation.3">
                  <p:embed/>
                </p:oleObj>
              </mc:Choice>
              <mc:Fallback>
                <p:oleObj name="Equation" r:id="rId6" imgW="1954951" imgH="317362" progId="Equation.3">
                  <p:embed/>
                  <p:pic>
                    <p:nvPicPr>
                      <p:cNvPr id="2355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5715000"/>
                        <a:ext cx="380682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8"/>
          <p:cNvGraphicFramePr>
            <a:graphicFrameLocks noChangeAspect="1"/>
          </p:cNvGraphicFramePr>
          <p:nvPr/>
        </p:nvGraphicFramePr>
        <p:xfrm>
          <a:off x="4953000" y="4852988"/>
          <a:ext cx="21955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500" imgH="241300" progId="Equation.3">
                  <p:embed/>
                </p:oleObj>
              </mc:Choice>
              <mc:Fallback>
                <p:oleObj name="Equation" r:id="rId8" imgW="1206500" imgH="241300" progId="Equation.3">
                  <p:embed/>
                  <p:pic>
                    <p:nvPicPr>
                      <p:cNvPr id="2355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852988"/>
                        <a:ext cx="2195513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08453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4038" y="312738"/>
            <a:ext cx="8151812" cy="6459537"/>
          </a:xfrm>
          <a:noFill/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en-US" sz="2400" b="1"/>
              <a:t>Training samples</a:t>
            </a:r>
            <a:r>
              <a:rPr lang="en-US" altLang="en-US" sz="2400"/>
              <a:t>: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Quality and quantity of training samples often determines the quality of learning results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Samples must collectively represent well the problem space</a:t>
            </a:r>
          </a:p>
          <a:p>
            <a:pPr marL="1033463" lvl="2" indent="-176213" eaLnBrk="1" hangingPunct="1">
              <a:spcBef>
                <a:spcPct val="10000"/>
              </a:spcBef>
            </a:pPr>
            <a:r>
              <a:rPr lang="en-US" altLang="en-US" sz="2000"/>
              <a:t>Random sampling</a:t>
            </a:r>
          </a:p>
          <a:p>
            <a:pPr marL="1033463" lvl="2" indent="-176213" eaLnBrk="1" hangingPunct="1">
              <a:spcBef>
                <a:spcPct val="10000"/>
              </a:spcBef>
            </a:pPr>
            <a:r>
              <a:rPr lang="en-US" altLang="en-US" sz="2000"/>
              <a:t>Proportional sampling (with prior knowledge of the problem space)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 b="1">
                <a:solidFill>
                  <a:schemeClr val="accent2"/>
                </a:solidFill>
              </a:rPr>
              <a:t># of training patterns needed</a:t>
            </a:r>
            <a:r>
              <a:rPr lang="en-US" altLang="en-US" sz="2200"/>
              <a:t>: </a:t>
            </a:r>
            <a:r>
              <a:rPr lang="en-US" altLang="en-US" sz="2400"/>
              <a:t>There is no theoretically idea number. </a:t>
            </a:r>
          </a:p>
          <a:p>
            <a:pPr marL="1033463" lvl="2" indent="-176213" eaLnBrk="1" hangingPunct="1">
              <a:spcBef>
                <a:spcPct val="10000"/>
              </a:spcBef>
            </a:pPr>
            <a:r>
              <a:rPr lang="en-US" altLang="en-US" sz="2000"/>
              <a:t>Baum and Haussler (1989): </a:t>
            </a:r>
            <a:r>
              <a:rPr lang="en-US" altLang="en-US" sz="2000" b="1">
                <a:solidFill>
                  <a:schemeClr val="accent2"/>
                </a:solidFill>
              </a:rPr>
              <a:t>P = W/e</a:t>
            </a:r>
            <a:r>
              <a:rPr lang="en-US" altLang="en-US" sz="2000"/>
              <a:t>, where</a:t>
            </a:r>
          </a:p>
          <a:p>
            <a:pPr marL="1033463" lvl="2" indent="-176213" eaLnBrk="1" hangingPunct="1">
              <a:spcBef>
                <a:spcPct val="10000"/>
              </a:spcBef>
              <a:buFontTx/>
              <a:buNone/>
            </a:pPr>
            <a:r>
              <a:rPr lang="en-US" altLang="en-US"/>
              <a:t>	</a:t>
            </a:r>
            <a:r>
              <a:rPr lang="en-US" altLang="en-US" sz="2000"/>
              <a:t>W: total # of weights to be trained (depends on net structure)</a:t>
            </a:r>
          </a:p>
          <a:p>
            <a:pPr marL="1033463" lvl="2" indent="-176213" eaLnBrk="1" hangingPunct="1">
              <a:spcBef>
                <a:spcPct val="10000"/>
              </a:spcBef>
              <a:buFontTx/>
              <a:buNone/>
            </a:pPr>
            <a:r>
              <a:rPr lang="en-US" altLang="en-US" sz="2000"/>
              <a:t>	  e: acceptable classification error rate</a:t>
            </a:r>
          </a:p>
          <a:p>
            <a:pPr marL="1033463" lvl="2" indent="-176213" eaLnBrk="1" hangingPunct="1">
              <a:spcBef>
                <a:spcPct val="10000"/>
              </a:spcBef>
              <a:buFontTx/>
              <a:buNone/>
            </a:pPr>
            <a:r>
              <a:rPr lang="en-US" altLang="en-US" sz="2000"/>
              <a:t>	If the net can be trained to correctly classify (1 – e/2)P of the P training samples, then classification accuracy of this net is 1 – e for input patterns drawn from the same sample space</a:t>
            </a:r>
          </a:p>
          <a:p>
            <a:pPr marL="1033463" lvl="2" indent="-176213" eaLnBrk="1" hangingPunct="1">
              <a:spcBef>
                <a:spcPct val="10000"/>
              </a:spcBef>
              <a:buFontTx/>
              <a:buNone/>
            </a:pPr>
            <a:r>
              <a:rPr lang="en-US" altLang="en-US"/>
              <a:t>	</a:t>
            </a:r>
            <a:r>
              <a:rPr lang="en-US" altLang="en-US" sz="2000"/>
              <a:t>Example: W = 27, e = 0.05, P = 540. If we can successfully train the network to correctly classify (1 – 0.05/2)*540 = 526 of the samples, the net will work correctly 95% of time with other input.</a:t>
            </a:r>
          </a:p>
        </p:txBody>
      </p:sp>
    </p:spTree>
    <p:extLst>
      <p:ext uri="{BB962C8B-B14F-4D97-AF65-F5344CB8AC3E}">
        <p14:creationId xmlns:p14="http://schemas.microsoft.com/office/powerpoint/2010/main" val="19712060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3538" y="573088"/>
            <a:ext cx="8431212" cy="5800725"/>
          </a:xfrm>
          <a:noFill/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en-US" sz="2800" b="1"/>
              <a:t>How many hidden layers and hidden nodes per layer</a:t>
            </a:r>
            <a:r>
              <a:rPr lang="en-US" altLang="en-US" sz="2800"/>
              <a:t>: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/>
              <a:t>Theoretically, one hidden layer (possibly with many hidden nodes) is sufficient to represent any L2 functions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/>
              <a:t>There is no theoretical  results on minimum necessary # of hidden nodes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/>
              <a:t>Practical rule of thumb: </a:t>
            </a:r>
          </a:p>
          <a:p>
            <a:pPr marL="1033463" lvl="2" indent="-176213" eaLnBrk="1" hangingPunct="1">
              <a:spcBef>
                <a:spcPct val="10000"/>
              </a:spcBef>
            </a:pPr>
            <a:r>
              <a:rPr lang="en-US" altLang="en-US"/>
              <a:t>n =  # of input nodes; m = # of hidden nodes</a:t>
            </a:r>
          </a:p>
          <a:p>
            <a:pPr marL="1033463" lvl="2" indent="-176213" eaLnBrk="1" hangingPunct="1">
              <a:spcBef>
                <a:spcPct val="10000"/>
              </a:spcBef>
            </a:pPr>
            <a:r>
              <a:rPr lang="en-US" altLang="en-US"/>
              <a:t>For binary/bipolar data: </a:t>
            </a:r>
            <a:r>
              <a:rPr lang="en-US" altLang="en-US" b="1">
                <a:solidFill>
                  <a:schemeClr val="accent2"/>
                </a:solidFill>
              </a:rPr>
              <a:t>m = 2n</a:t>
            </a:r>
          </a:p>
          <a:p>
            <a:pPr marL="1033463" lvl="2" indent="-176213" eaLnBrk="1" hangingPunct="1">
              <a:spcBef>
                <a:spcPct val="10000"/>
              </a:spcBef>
            </a:pPr>
            <a:r>
              <a:rPr lang="en-US" altLang="en-US"/>
              <a:t>For real data: m &gt;&gt; 2n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/>
              <a:t>Multiple hidden layers with fewer nodes may be trained faster for similar quality in some applications</a:t>
            </a:r>
          </a:p>
        </p:txBody>
      </p:sp>
    </p:spTree>
    <p:extLst>
      <p:ext uri="{BB962C8B-B14F-4D97-AF65-F5344CB8AC3E}">
        <p14:creationId xmlns:p14="http://schemas.microsoft.com/office/powerpoint/2010/main" val="38528873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4038" y="382588"/>
            <a:ext cx="8151812" cy="6154737"/>
          </a:xfrm>
          <a:noFill/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en-US" sz="2400" b="1"/>
              <a:t>Data representation</a:t>
            </a:r>
            <a:r>
              <a:rPr lang="en-US" altLang="en-US" sz="2400"/>
              <a:t>: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Binary vs bipolar</a:t>
            </a:r>
          </a:p>
          <a:p>
            <a:pPr marL="1033463" lvl="2" indent="-176213" eaLnBrk="1" hangingPunct="1">
              <a:spcBef>
                <a:spcPct val="10000"/>
              </a:spcBef>
              <a:spcAft>
                <a:spcPct val="15000"/>
              </a:spcAft>
            </a:pPr>
            <a:r>
              <a:rPr lang="en-US" altLang="en-US" sz="2000"/>
              <a:t>Bipolar representation uses training samples more efficiently</a:t>
            </a:r>
          </a:p>
          <a:p>
            <a:pPr marL="1033463" lvl="2" indent="-176213" eaLnBrk="1" hangingPunct="1">
              <a:spcBef>
                <a:spcPct val="10000"/>
              </a:spcBef>
            </a:pPr>
            <a:endParaRPr lang="en-US" altLang="en-US" sz="2000"/>
          </a:p>
          <a:p>
            <a:pPr marL="1033463" lvl="2" indent="-176213" eaLnBrk="1" hangingPunct="1">
              <a:spcBef>
                <a:spcPct val="10000"/>
              </a:spcBef>
              <a:buFontTx/>
              <a:buNone/>
            </a:pPr>
            <a:r>
              <a:rPr lang="en-US" altLang="en-US" sz="2000"/>
              <a:t>	no learning will occur when 		      with binary rep.</a:t>
            </a:r>
          </a:p>
          <a:p>
            <a:pPr marL="1033463" lvl="2" indent="-176213" eaLnBrk="1" hangingPunct="1">
              <a:spcBef>
                <a:spcPct val="10000"/>
              </a:spcBef>
            </a:pPr>
            <a:r>
              <a:rPr lang="en-US" altLang="en-US" sz="2000"/>
              <a:t># of patterns can be represented with n input nodes:</a:t>
            </a:r>
          </a:p>
          <a:p>
            <a:pPr marL="1033463" lvl="2" indent="-176213" eaLnBrk="1" hangingPunct="1">
              <a:spcBef>
                <a:spcPct val="10000"/>
              </a:spcBef>
              <a:buFontTx/>
              <a:buNone/>
            </a:pPr>
            <a:r>
              <a:rPr lang="en-US" altLang="en-US" sz="2000"/>
              <a:t>	   binary: 2^n</a:t>
            </a:r>
          </a:p>
          <a:p>
            <a:pPr marL="1033463" lvl="2" indent="-176213" eaLnBrk="1" hangingPunct="1">
              <a:spcBef>
                <a:spcPct val="10000"/>
              </a:spcBef>
              <a:buFontTx/>
              <a:buNone/>
            </a:pPr>
            <a:r>
              <a:rPr lang="en-US" altLang="en-US" sz="2000"/>
              <a:t>	   bipolar: 2^(n-1) if no biases used, this is due to (anti) symmetry </a:t>
            </a:r>
          </a:p>
          <a:p>
            <a:pPr marL="1033463" lvl="2" indent="-176213" eaLnBrk="1" hangingPunct="1">
              <a:spcBef>
                <a:spcPct val="10000"/>
              </a:spcBef>
              <a:buFontTx/>
              <a:buNone/>
            </a:pPr>
            <a:r>
              <a:rPr lang="en-US" altLang="en-US" sz="2000"/>
              <a:t>	   (if output for input </a:t>
            </a:r>
            <a:r>
              <a:rPr lang="en-US" altLang="en-US" sz="2000" i="1"/>
              <a:t>x </a:t>
            </a:r>
            <a:r>
              <a:rPr lang="en-US" altLang="en-US" sz="2000"/>
              <a:t>is</a:t>
            </a:r>
            <a:r>
              <a:rPr lang="en-US" altLang="en-US" sz="2000" i="1"/>
              <a:t> o</a:t>
            </a:r>
            <a:r>
              <a:rPr lang="en-US" altLang="en-US" sz="2000"/>
              <a:t>, output for input </a:t>
            </a:r>
            <a:r>
              <a:rPr lang="en-US" altLang="en-US" sz="2000" i="1"/>
              <a:t>–x</a:t>
            </a:r>
            <a:r>
              <a:rPr lang="en-US" altLang="en-US" sz="2000"/>
              <a:t> will be –</a:t>
            </a:r>
            <a:r>
              <a:rPr lang="en-US" altLang="en-US" sz="2000" i="1"/>
              <a:t>o</a:t>
            </a:r>
            <a:r>
              <a:rPr lang="en-US" altLang="en-US" sz="2000"/>
              <a:t> )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Real value data</a:t>
            </a:r>
          </a:p>
          <a:p>
            <a:pPr marL="1033463" lvl="2" indent="-176213" eaLnBrk="1" hangingPunct="1">
              <a:spcBef>
                <a:spcPct val="10000"/>
              </a:spcBef>
            </a:pPr>
            <a:r>
              <a:rPr lang="en-US" altLang="en-US" sz="2000"/>
              <a:t>Input nodes: real value nodes (may subject to normalization)</a:t>
            </a:r>
          </a:p>
          <a:p>
            <a:pPr marL="1033463" lvl="2" indent="-176213" eaLnBrk="1" hangingPunct="1">
              <a:spcBef>
                <a:spcPct val="10000"/>
              </a:spcBef>
            </a:pPr>
            <a:r>
              <a:rPr lang="en-US" altLang="en-US" sz="2000"/>
              <a:t>Hidden nodes </a:t>
            </a:r>
            <a:r>
              <a:rPr lang="en-US" altLang="zh-CN" sz="2000">
                <a:ea typeface="宋体" panose="02010600030101010101" pitchFamily="2" charset="-122"/>
              </a:rPr>
              <a:t>with </a:t>
            </a:r>
            <a:r>
              <a:rPr lang="en-US" altLang="en-US" sz="2000"/>
              <a:t>sigmoid</a:t>
            </a:r>
            <a:r>
              <a:rPr lang="en-US" altLang="zh-CN" sz="2000">
                <a:ea typeface="宋体" panose="02010600030101010101" pitchFamily="2" charset="-122"/>
              </a:rPr>
              <a:t> or other non-linear function</a:t>
            </a:r>
            <a:endParaRPr lang="en-US" altLang="en-US" sz="2000"/>
          </a:p>
          <a:p>
            <a:pPr marL="1033463" lvl="2" indent="-176213" eaLnBrk="1" hangingPunct="1">
              <a:spcBef>
                <a:spcPct val="10000"/>
              </a:spcBef>
            </a:pPr>
            <a:r>
              <a:rPr lang="en-US" altLang="en-US" sz="2000"/>
              <a:t>Node function for output nodes: </a:t>
            </a:r>
            <a:r>
              <a:rPr lang="en-US" altLang="en-US" sz="2000" b="1">
                <a:solidFill>
                  <a:schemeClr val="accent2"/>
                </a:solidFill>
              </a:rPr>
              <a:t>often linear (even identity)</a:t>
            </a:r>
          </a:p>
          <a:p>
            <a:pPr marL="1033463" lvl="2" indent="-176213" eaLnBrk="1" hangingPunct="1">
              <a:spcBef>
                <a:spcPct val="25000"/>
              </a:spcBef>
              <a:spcAft>
                <a:spcPct val="15000"/>
              </a:spcAft>
              <a:buFontTx/>
              <a:buNone/>
            </a:pPr>
            <a:r>
              <a:rPr lang="en-US" altLang="en-US" sz="2000"/>
              <a:t>	   e.g., </a:t>
            </a:r>
          </a:p>
          <a:p>
            <a:pPr marL="1033463" lvl="2" indent="-176213" eaLnBrk="1" hangingPunct="1">
              <a:spcBef>
                <a:spcPct val="10000"/>
              </a:spcBef>
            </a:pPr>
            <a:r>
              <a:rPr lang="en-US" altLang="en-US" sz="2000"/>
              <a:t>Training may be much slower than with binary/bipolar data (some use binary encoding of real values)</a:t>
            </a:r>
          </a:p>
          <a:p>
            <a:pPr marL="1033463" lvl="2" indent="-176213" eaLnBrk="1" hangingPunct="1">
              <a:spcBef>
                <a:spcPct val="10000"/>
              </a:spcBef>
              <a:buFontTx/>
              <a:buNone/>
            </a:pPr>
            <a:r>
              <a:rPr lang="en-US" altLang="en-US" sz="2000"/>
              <a:t>	</a:t>
            </a:r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1949450" y="1463675"/>
          <a:ext cx="20542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199" imgH="266584" progId="Equation.3">
                  <p:embed/>
                </p:oleObj>
              </mc:Choice>
              <mc:Fallback>
                <p:oleObj name="Equation" r:id="rId2" imgW="1155199" imgH="266584" progId="Equation.3">
                  <p:embed/>
                  <p:pic>
                    <p:nvPicPr>
                      <p:cNvPr id="266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0" y="1463675"/>
                        <a:ext cx="20542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4454525" y="1476375"/>
          <a:ext cx="2155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671" imgH="266584" progId="Equation.3">
                  <p:embed/>
                </p:oleObj>
              </mc:Choice>
              <mc:Fallback>
                <p:oleObj name="Equation" r:id="rId4" imgW="1218671" imgH="266584" progId="Equation.3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525" y="1476375"/>
                        <a:ext cx="2155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4513263" y="1857375"/>
          <a:ext cx="18700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726" imgH="266584" progId="Equation.3">
                  <p:embed/>
                </p:oleObj>
              </mc:Choice>
              <mc:Fallback>
                <p:oleObj name="Equation" r:id="rId6" imgW="1091726" imgH="266584" progId="Equation.3">
                  <p:embed/>
                  <p:pic>
                    <p:nvPicPr>
                      <p:cNvPr id="266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3" y="1857375"/>
                        <a:ext cx="187007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8053388" y="571500"/>
          <a:ext cx="2079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151" imgH="215619" progId="Equation.3">
                  <p:embed/>
                </p:oleObj>
              </mc:Choice>
              <mc:Fallback>
                <p:oleObj name="Equation" r:id="rId8" imgW="114151" imgH="215619" progId="Equation.3">
                  <p:embed/>
                  <p:pic>
                    <p:nvPicPr>
                      <p:cNvPr id="266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3388" y="571500"/>
                        <a:ext cx="2079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2414588" y="4913313"/>
          <a:ext cx="183356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02865" imgH="266584" progId="Equation.3">
                  <p:embed/>
                </p:oleObj>
              </mc:Choice>
              <mc:Fallback>
                <p:oleObj name="Equation" r:id="rId10" imgW="1002865" imgH="266584" progId="Equation.3">
                  <p:embed/>
                  <p:pic>
                    <p:nvPicPr>
                      <p:cNvPr id="266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588" y="4913313"/>
                        <a:ext cx="1833562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74630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title"/>
          </p:nvPr>
        </p:nvSpPr>
        <p:spPr>
          <a:xfrm>
            <a:off x="787400" y="304800"/>
            <a:ext cx="7772400" cy="381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Variations of BP nets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863600"/>
            <a:ext cx="8077200" cy="4368800"/>
          </a:xfrm>
          <a:noFill/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en-US" sz="2400" b="1"/>
              <a:t>Adding momentum term </a:t>
            </a:r>
            <a:r>
              <a:rPr lang="en-US" altLang="en-US" sz="2400"/>
              <a:t>(to speedup learning)</a:t>
            </a:r>
            <a:endParaRPr lang="en-US" altLang="en-US" sz="2400" b="1"/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Weights update at time t+1 contains the momentum of the previous updates, e.g., 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en-US" sz="2200"/>
              <a:t>	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endParaRPr lang="en-US" altLang="en-US" sz="2200"/>
          </a:p>
          <a:p>
            <a:pPr lvl="1" eaLnBrk="1" hangingPunct="1">
              <a:spcBef>
                <a:spcPct val="10000"/>
              </a:spcBef>
              <a:buFontTx/>
              <a:buNone/>
            </a:pPr>
            <a:endParaRPr lang="en-US" altLang="en-US" sz="2200"/>
          </a:p>
          <a:p>
            <a:pPr lvl="1" eaLnBrk="1" hangingPunct="1">
              <a:lnSpc>
                <a:spcPct val="130000"/>
              </a:lnSpc>
              <a:spcBef>
                <a:spcPct val="10000"/>
              </a:spcBef>
              <a:buFontTx/>
              <a:buNone/>
            </a:pPr>
            <a:r>
              <a:rPr lang="en-US" altLang="en-US" sz="2200"/>
              <a:t>	an exponentially weighted sum of all previous updates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Avoid sudden change of directions of weight update (smoothing the learning process)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Error is no longer monotonically decreasing</a:t>
            </a:r>
          </a:p>
        </p:txBody>
      </p:sp>
      <p:graphicFrame>
        <p:nvGraphicFramePr>
          <p:cNvPr id="27652" name="Object 5"/>
          <p:cNvGraphicFramePr>
            <a:graphicFrameLocks noChangeAspect="1"/>
          </p:cNvGraphicFramePr>
          <p:nvPr/>
        </p:nvGraphicFramePr>
        <p:xfrm>
          <a:off x="1476375" y="2082800"/>
          <a:ext cx="591978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1300" imgH="533400" progId="Equation.3">
                  <p:embed/>
                </p:oleObj>
              </mc:Choice>
              <mc:Fallback>
                <p:oleObj name="Equation" r:id="rId2" imgW="2781300" imgH="533400" progId="Equation.3">
                  <p:embed/>
                  <p:pic>
                    <p:nvPicPr>
                      <p:cNvPr id="2765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082800"/>
                        <a:ext cx="591978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65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6" t="37875" r="17438" b="33250"/>
          <a:stretch>
            <a:fillRect/>
          </a:stretch>
        </p:blipFill>
        <p:spPr bwMode="auto">
          <a:xfrm>
            <a:off x="1660525" y="4795838"/>
            <a:ext cx="5246688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27032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863600"/>
            <a:ext cx="8077200" cy="5803900"/>
          </a:xfrm>
          <a:noFill/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en-US" sz="2800" b="1"/>
              <a:t>Batch mode</a:t>
            </a:r>
            <a:r>
              <a:rPr lang="en-US" altLang="en-US" sz="2800"/>
              <a:t> of weight update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600"/>
              <a:t>Weight update once per each epoch (cumulated over all P samples)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600"/>
              <a:t>Smoothing the training sample outliers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600"/>
              <a:t>Learning independent of the order of sample presentations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600"/>
              <a:t>May be slower than in sequential mode</a:t>
            </a:r>
          </a:p>
        </p:txBody>
      </p:sp>
    </p:spTree>
    <p:extLst>
      <p:ext uri="{BB962C8B-B14F-4D97-AF65-F5344CB8AC3E}">
        <p14:creationId xmlns:p14="http://schemas.microsoft.com/office/powerpoint/2010/main" val="11690631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463550"/>
            <a:ext cx="8218488" cy="6065838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 b="1"/>
              <a:t>Variations on learning rate </a:t>
            </a:r>
            <a:r>
              <a:rPr lang="el-GR" altLang="en-US" i="1">
                <a:cs typeface="Times New Roman" panose="02020603050405020304" pitchFamily="18" charset="0"/>
              </a:rPr>
              <a:t>η</a:t>
            </a:r>
            <a:r>
              <a:rPr lang="en-US" altLang="en-US" sz="2400" b="1"/>
              <a:t> 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/>
              <a:t>Fixed rate much smaller than 1</a:t>
            </a:r>
            <a:endParaRPr lang="en-US" altLang="en-US" sz="2200" b="1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200"/>
              <a:t>Start with large </a:t>
            </a:r>
            <a:r>
              <a:rPr lang="el-GR" altLang="en-US" sz="2200" i="1">
                <a:cs typeface="Times New Roman" panose="02020603050405020304" pitchFamily="18" charset="0"/>
              </a:rPr>
              <a:t>η</a:t>
            </a:r>
            <a:r>
              <a:rPr lang="en-US" altLang="en-US" sz="2200"/>
              <a:t>, gradually decrease its value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200"/>
              <a:t>Start with a small </a:t>
            </a:r>
            <a:r>
              <a:rPr lang="el-GR" altLang="en-US" sz="2200" i="1">
                <a:cs typeface="Times New Roman" panose="02020603050405020304" pitchFamily="18" charset="0"/>
              </a:rPr>
              <a:t>η</a:t>
            </a:r>
            <a:r>
              <a:rPr lang="en-US" altLang="en-US" sz="2200"/>
              <a:t>, steadily double it until MSE start to increase</a:t>
            </a:r>
            <a:endParaRPr lang="en-US" altLang="en-US" sz="2200" b="1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/>
              <a:t>Give known underrepresented samples higher rates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200"/>
              <a:t>Find the maximum safe step size at each stage of learning (to avoid overshoot the minimum E when increasing </a:t>
            </a:r>
            <a:r>
              <a:rPr lang="el-GR" altLang="en-US" sz="2200" i="1">
                <a:cs typeface="Times New Roman" panose="02020603050405020304" pitchFamily="18" charset="0"/>
              </a:rPr>
              <a:t>η</a:t>
            </a:r>
            <a:r>
              <a:rPr lang="en-US" altLang="en-US" sz="2200" b="1"/>
              <a:t>) 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200" b="1"/>
              <a:t>Adaptive learning rate</a:t>
            </a:r>
            <a:r>
              <a:rPr lang="en-US" altLang="en-US" sz="2200"/>
              <a:t> (delta-bar-delta method)</a:t>
            </a:r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200"/>
              <a:t>Each weight </a:t>
            </a:r>
            <a:r>
              <a:rPr lang="en-US" altLang="en-US" sz="2200" i="1"/>
              <a:t>w</a:t>
            </a:r>
            <a:r>
              <a:rPr lang="en-US" altLang="en-US" sz="2200" i="1" baseline="-25000"/>
              <a:t>k,j</a:t>
            </a:r>
            <a:r>
              <a:rPr lang="en-US" altLang="en-US" sz="2200"/>
              <a:t> has its own rate </a:t>
            </a:r>
            <a:r>
              <a:rPr lang="el-GR" altLang="en-US" sz="2200" i="1">
                <a:cs typeface="Times New Roman" panose="02020603050405020304" pitchFamily="18" charset="0"/>
              </a:rPr>
              <a:t>η</a:t>
            </a:r>
            <a:r>
              <a:rPr lang="en-US" altLang="en-US" sz="2200" i="1" baseline="-25000"/>
              <a:t>k,j</a:t>
            </a:r>
            <a:endParaRPr lang="en-US" altLang="en-US" sz="2200"/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200"/>
              <a:t>If           remains in the same direction, increase </a:t>
            </a:r>
            <a:r>
              <a:rPr lang="el-GR" altLang="en-US" sz="2200" i="1">
                <a:cs typeface="Times New Roman" panose="02020603050405020304" pitchFamily="18" charset="0"/>
              </a:rPr>
              <a:t>η</a:t>
            </a:r>
            <a:r>
              <a:rPr lang="en-US" altLang="en-US" sz="2200" i="1" baseline="-25000"/>
              <a:t>k,j </a:t>
            </a:r>
            <a:r>
              <a:rPr lang="en-US" altLang="en-US" sz="2200"/>
              <a:t>(</a:t>
            </a:r>
            <a:r>
              <a:rPr lang="en-US" altLang="en-US" sz="2200" i="1"/>
              <a:t>E</a:t>
            </a:r>
            <a:r>
              <a:rPr lang="en-US" altLang="en-US" sz="2200"/>
              <a:t> has a smooth curve in the vicinity of current </a:t>
            </a:r>
            <a:r>
              <a:rPr lang="en-US" altLang="en-US" sz="2200" i="1"/>
              <a:t>w</a:t>
            </a:r>
            <a:r>
              <a:rPr lang="en-US" altLang="en-US" sz="2200"/>
              <a:t>)</a:t>
            </a:r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200"/>
              <a:t>If           changes the direction, decrease </a:t>
            </a:r>
            <a:r>
              <a:rPr lang="el-GR" altLang="en-US" sz="2200" i="1">
                <a:cs typeface="Times New Roman" panose="02020603050405020304" pitchFamily="18" charset="0"/>
              </a:rPr>
              <a:t>η</a:t>
            </a:r>
            <a:r>
              <a:rPr lang="en-US" altLang="en-US" sz="2200" i="1" baseline="-25000"/>
              <a:t>k,j</a:t>
            </a:r>
            <a:r>
              <a:rPr lang="en-US" altLang="en-US" sz="2200"/>
              <a:t> (</a:t>
            </a:r>
            <a:r>
              <a:rPr lang="en-US" altLang="en-US" sz="2200" i="1"/>
              <a:t>E</a:t>
            </a:r>
            <a:r>
              <a:rPr lang="en-US" altLang="en-US" sz="2200"/>
              <a:t> has a rough curve in the vicinity of current </a:t>
            </a:r>
            <a:r>
              <a:rPr lang="en-US" altLang="en-US" sz="2200" i="1"/>
              <a:t>w</a:t>
            </a:r>
            <a:r>
              <a:rPr lang="en-US" altLang="en-US" sz="2200"/>
              <a:t>)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endParaRPr lang="en-US" altLang="en-US" sz="2200" baseline="-25000"/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2038350" y="3941763"/>
          <a:ext cx="7635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8918" imgH="241195" progId="Equation.3">
                  <p:embed/>
                </p:oleObj>
              </mc:Choice>
              <mc:Fallback>
                <p:oleObj name="Equation" r:id="rId2" imgW="418918" imgH="241195" progId="Equation.3">
                  <p:embed/>
                  <p:pic>
                    <p:nvPicPr>
                      <p:cNvPr id="296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3941763"/>
                        <a:ext cx="7635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2022475" y="4703763"/>
          <a:ext cx="7635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8918" imgH="241195" progId="Equation.3">
                  <p:embed/>
                </p:oleObj>
              </mc:Choice>
              <mc:Fallback>
                <p:oleObj name="Equation" r:id="rId4" imgW="418918" imgH="241195" progId="Equation.3">
                  <p:embed/>
                  <p:pic>
                    <p:nvPicPr>
                      <p:cNvPr id="29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4703763"/>
                        <a:ext cx="7635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71943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63550"/>
            <a:ext cx="8142288" cy="6065838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600"/>
              <a:t>Experimental comparison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400"/>
              <a:t>Training for XOR problem (batch mode)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400"/>
              <a:t>25 simulations with random initial weights: success if </a:t>
            </a:r>
            <a:r>
              <a:rPr lang="en-US" altLang="en-US" sz="2400" i="1"/>
              <a:t>E</a:t>
            </a:r>
            <a:r>
              <a:rPr lang="en-US" altLang="en-US" sz="2400"/>
              <a:t> averaged over 50 consecutive epochs is less than 0.04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400"/>
              <a:t>results</a:t>
            </a:r>
          </a:p>
        </p:txBody>
      </p:sp>
      <p:graphicFrame>
        <p:nvGraphicFramePr>
          <p:cNvPr id="166915" name="Group 3"/>
          <p:cNvGraphicFramePr>
            <a:graphicFrameLocks noGrp="1"/>
          </p:cNvGraphicFramePr>
          <p:nvPr/>
        </p:nvGraphicFramePr>
        <p:xfrm>
          <a:off x="1635125" y="2944813"/>
          <a:ext cx="6388100" cy="3048000"/>
        </p:xfrm>
        <a:graphic>
          <a:graphicData uri="http://schemas.openxmlformats.org/drawingml/2006/table">
            <a:tbl>
              <a:tblPr/>
              <a:tblGrid>
                <a:gridCol w="169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3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method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simulations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success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Mean epochs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BP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16,859.8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BP with momentum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2,056.3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BP with delta-bar-delta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447.3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4686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6"/>
          <p:cNvGraphicFramePr>
            <a:graphicFrameLocks noChangeAspect="1"/>
          </p:cNvGraphicFramePr>
          <p:nvPr/>
        </p:nvGraphicFramePr>
        <p:xfrm>
          <a:off x="1230313" y="2701925"/>
          <a:ext cx="5192712" cy="415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866667" imgH="2734057" progId="Paint.Picture">
                  <p:embed/>
                </p:oleObj>
              </mc:Choice>
              <mc:Fallback>
                <p:oleObj name="Bitmap Image" r:id="rId2" imgW="3866667" imgH="2734057" progId="Paint.Picture">
                  <p:embed/>
                  <p:pic>
                    <p:nvPicPr>
                      <p:cNvPr id="317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13" y="2701925"/>
                        <a:ext cx="5192712" cy="415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368300"/>
            <a:ext cx="7924800" cy="2095500"/>
          </a:xfrm>
          <a:noFill/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en-US" sz="2800" b="1"/>
              <a:t>Quickprop</a:t>
            </a:r>
            <a:endParaRPr lang="en-US" altLang="en-US" sz="2800"/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/>
              <a:t>If </a:t>
            </a:r>
            <a:r>
              <a:rPr lang="en-US" altLang="en-US" sz="2400" i="1"/>
              <a:t>E</a:t>
            </a:r>
            <a:r>
              <a:rPr lang="en-US" altLang="en-US" sz="2400"/>
              <a:t> is of paraboloid shape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if </a:t>
            </a:r>
            <a:r>
              <a:rPr lang="en-US" altLang="en-US" sz="2400">
                <a:cs typeface="Times New Roman" panose="02020603050405020304" pitchFamily="18" charset="0"/>
              </a:rPr>
              <a:t>∂</a:t>
            </a:r>
            <a:r>
              <a:rPr lang="en-US" altLang="en-US" sz="2400" i="1"/>
              <a:t>E/ </a:t>
            </a:r>
            <a:r>
              <a:rPr lang="en-US" altLang="en-US" sz="2400">
                <a:cs typeface="Times New Roman" panose="02020603050405020304" pitchFamily="18" charset="0"/>
              </a:rPr>
              <a:t>∂</a:t>
            </a:r>
            <a:r>
              <a:rPr lang="en-US" altLang="en-US" sz="2400" i="1"/>
              <a:t>w</a:t>
            </a:r>
            <a:r>
              <a:rPr lang="en-US" altLang="en-US" sz="2400"/>
              <a:t> changes sign from </a:t>
            </a:r>
            <a:r>
              <a:rPr lang="en-US" altLang="en-US" sz="2400" i="1"/>
              <a:t>t-</a:t>
            </a:r>
            <a:r>
              <a:rPr lang="en-US" altLang="en-US" sz="2400"/>
              <a:t>1 to </a:t>
            </a:r>
            <a:r>
              <a:rPr lang="en-US" altLang="en-US" sz="2400" i="1"/>
              <a:t>t</a:t>
            </a:r>
            <a:r>
              <a:rPr lang="en-US" altLang="en-US" sz="2400"/>
              <a:t>, then its (local) minimum is likely to lie between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    and can be determined analytically as	</a:t>
            </a:r>
          </a:p>
        </p:txBody>
      </p:sp>
      <p:graphicFrame>
        <p:nvGraphicFramePr>
          <p:cNvPr id="31748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320800" y="2473325"/>
          <a:ext cx="609123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4809524" imgH="295238" progId="Paint.Picture">
                  <p:embed/>
                </p:oleObj>
              </mc:Choice>
              <mc:Fallback>
                <p:oleObj name="Bitmap Image" r:id="rId4" imgW="4809524" imgH="295238" progId="Paint.Picture">
                  <p:embed/>
                  <p:pic>
                    <p:nvPicPr>
                      <p:cNvPr id="317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2473325"/>
                        <a:ext cx="6091238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12"/>
          <p:cNvGraphicFramePr>
            <a:graphicFrameLocks noChangeAspect="1"/>
          </p:cNvGraphicFramePr>
          <p:nvPr/>
        </p:nvGraphicFramePr>
        <p:xfrm>
          <a:off x="5387975" y="2870200"/>
          <a:ext cx="33575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4000" imgH="203200" progId="Equation.3">
                  <p:embed/>
                </p:oleObj>
              </mc:Choice>
              <mc:Fallback>
                <p:oleObj name="Equation" r:id="rId6" imgW="1524000" imgH="203200" progId="Equation.3">
                  <p:embed/>
                  <p:pic>
                    <p:nvPicPr>
                      <p:cNvPr id="3174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7975" y="2870200"/>
                        <a:ext cx="33575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13"/>
          <p:cNvGraphicFramePr>
            <a:graphicFrameLocks noChangeAspect="1"/>
          </p:cNvGraphicFramePr>
          <p:nvPr/>
        </p:nvGraphicFramePr>
        <p:xfrm>
          <a:off x="5545138" y="1639888"/>
          <a:ext cx="187483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531" imgH="177723" progId="Equation.3">
                  <p:embed/>
                </p:oleObj>
              </mc:Choice>
              <mc:Fallback>
                <p:oleObj name="Equation" r:id="rId8" imgW="850531" imgH="177723" progId="Equation.3">
                  <p:embed/>
                  <p:pic>
                    <p:nvPicPr>
                      <p:cNvPr id="3175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138" y="1639888"/>
                        <a:ext cx="187483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60538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826000" y="2738438"/>
          <a:ext cx="3810000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XIF" r:id="rId2" imgW="4571429" imgH="2114845" progId="Pagis.Document">
                  <p:embed/>
                </p:oleObj>
              </mc:Choice>
              <mc:Fallback>
                <p:oleObj name="XIF" r:id="rId2" imgW="4571429" imgH="2114845" progId="Pagis.Document">
                  <p:embed/>
                  <p:pic>
                    <p:nvPicPr>
                      <p:cNvPr id="327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0" y="2738438"/>
                        <a:ext cx="3810000" cy="176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546100"/>
            <a:ext cx="7962900" cy="60579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 b="1"/>
              <a:t>Other node functions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/>
              <a:t>Change the range of the logistic function from (0,1) to (a, b)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2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2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200"/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/>
              <a:t>Change the slope of the logistic function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2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2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200"/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100"/>
              <a:t>Larger slope: 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en-US" sz="2100"/>
              <a:t>	quicker to move to saturation regions; faster convergence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100"/>
              <a:t>Smaller slope: slow to move to saturation regions, allows refined weight adjustment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100"/>
              <a:t> </a:t>
            </a:r>
            <a:r>
              <a:rPr lang="en-US" altLang="en-US" sz="2100">
                <a:latin typeface="Symbol" panose="05050102010706020507" pitchFamily="18" charset="2"/>
              </a:rPr>
              <a:t>s</a:t>
            </a:r>
            <a:r>
              <a:rPr lang="en-US" altLang="en-US" sz="2100"/>
              <a:t> thus has a effect similar to the learning rate </a:t>
            </a:r>
            <a:r>
              <a:rPr lang="el-GR" altLang="en-US" sz="2100">
                <a:cs typeface="Times New Roman" panose="02020603050405020304" pitchFamily="18" charset="0"/>
              </a:rPr>
              <a:t>η</a:t>
            </a:r>
            <a:r>
              <a:rPr lang="en-US" altLang="en-US" sz="2100">
                <a:latin typeface="Symbol" panose="05050102010706020507" pitchFamily="18" charset="2"/>
              </a:rPr>
              <a:t> (</a:t>
            </a:r>
            <a:r>
              <a:rPr lang="en-US" altLang="en-US" sz="2100"/>
              <a:t>but more drastic)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/>
              <a:t>Adaptive slope (</a:t>
            </a:r>
            <a:r>
              <a:rPr lang="en-US" altLang="en-US" sz="2200" b="1"/>
              <a:t>each node has a learned slope</a:t>
            </a:r>
            <a:r>
              <a:rPr lang="en-US" altLang="en-US" sz="2200"/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200"/>
          </a:p>
        </p:txBody>
      </p:sp>
      <p:graphicFrame>
        <p:nvGraphicFramePr>
          <p:cNvPr id="32772" name="Object 5"/>
          <p:cNvGraphicFramePr>
            <a:graphicFrameLocks noChangeAspect="1"/>
          </p:cNvGraphicFramePr>
          <p:nvPr/>
        </p:nvGraphicFramePr>
        <p:xfrm>
          <a:off x="1933575" y="1314450"/>
          <a:ext cx="548005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68600" imgH="609600" progId="Equation.3">
                  <p:embed/>
                </p:oleObj>
              </mc:Choice>
              <mc:Fallback>
                <p:oleObj name="Equation" r:id="rId4" imgW="2768600" imgH="609600" progId="Equation.3">
                  <p:embed/>
                  <p:pic>
                    <p:nvPicPr>
                      <p:cNvPr id="3277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75" y="1314450"/>
                        <a:ext cx="548005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690688" y="3073400"/>
          <a:ext cx="2678112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7800" imgH="431800" progId="Equation.DSMT4">
                  <p:embed/>
                </p:oleObj>
              </mc:Choice>
              <mc:Fallback>
                <p:oleObj name="Equation" r:id="rId6" imgW="1447800" imgH="431800" progId="Equation.DSMT4">
                  <p:embed/>
                  <p:pic>
                    <p:nvPicPr>
                      <p:cNvPr id="327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3073400"/>
                        <a:ext cx="2678112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0200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63550"/>
            <a:ext cx="8142288" cy="6065838"/>
          </a:xfrm>
          <a:noFill/>
        </p:spPr>
        <p:txBody>
          <a:bodyPr/>
          <a:lstStyle/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/>
              <a:t>Another sigmoid function with slower saturation speed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en-US" sz="2400"/>
              <a:t>	the derivative of logistic function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/>
              <a:t>A non-saturating function (also differentiable)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endParaRPr lang="en-US" altLang="en-US" sz="2400"/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1477963" y="960438"/>
          <a:ext cx="43878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400" imgH="393700" progId="Equation.3">
                  <p:embed/>
                </p:oleObj>
              </mc:Choice>
              <mc:Fallback>
                <p:oleObj name="Equation" r:id="rId2" imgW="2311400" imgH="393700" progId="Equation.3">
                  <p:embed/>
                  <p:pic>
                    <p:nvPicPr>
                      <p:cNvPr id="337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960438"/>
                        <a:ext cx="43878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1501775" y="1779588"/>
          <a:ext cx="63912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65500" imgH="431800" progId="Equation.3">
                  <p:embed/>
                </p:oleObj>
              </mc:Choice>
              <mc:Fallback>
                <p:oleObj name="Equation" r:id="rId4" imgW="3365500" imgH="431800" progId="Equation.3">
                  <p:embed/>
                  <p:pic>
                    <p:nvPicPr>
                      <p:cNvPr id="33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1779588"/>
                        <a:ext cx="63912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1677988" y="3590925"/>
          <a:ext cx="35210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200" imgH="431800" progId="Equation.3">
                  <p:embed/>
                </p:oleObj>
              </mc:Choice>
              <mc:Fallback>
                <p:oleObj name="Equation" r:id="rId6" imgW="1854200" imgH="431800" progId="Equation.3">
                  <p:embed/>
                  <p:pic>
                    <p:nvPicPr>
                      <p:cNvPr id="33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988" y="3590925"/>
                        <a:ext cx="352107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1606550" y="4584700"/>
          <a:ext cx="6557963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54400" imgH="787400" progId="Equation.3">
                  <p:embed/>
                </p:oleObj>
              </mc:Choice>
              <mc:Fallback>
                <p:oleObj name="Equation" r:id="rId8" imgW="3454400" imgH="787400" progId="Equation.3">
                  <p:embed/>
                  <p:pic>
                    <p:nvPicPr>
                      <p:cNvPr id="337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4584700"/>
                        <a:ext cx="6557963" cy="150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92558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00050" y="1014413"/>
            <a:ext cx="8458200" cy="5843587"/>
          </a:xfrm>
          <a:noFill/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en-US" sz="2400" b="1"/>
              <a:t>A simple example: Learning XOR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/>
              <a:t>Initial weights and other parameters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 b="1"/>
              <a:t>weights</a:t>
            </a:r>
            <a:r>
              <a:rPr lang="en-US" altLang="en-US"/>
              <a:t>: random numbers in [-0.5, 0.5]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 b="1"/>
              <a:t>hidden</a:t>
            </a:r>
            <a:r>
              <a:rPr lang="en-US" altLang="en-US"/>
              <a:t> nodes: single layer of 4 nodes (A 2-4-1 net)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 b="1"/>
              <a:t>biases</a:t>
            </a:r>
            <a:r>
              <a:rPr lang="en-US" altLang="en-US"/>
              <a:t> used;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 b="1"/>
              <a:t>learning rate</a:t>
            </a:r>
            <a:r>
              <a:rPr lang="en-US" altLang="en-US"/>
              <a:t>: 0.02</a:t>
            </a:r>
            <a:endParaRPr lang="en-US" altLang="en-US" b="1"/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/>
              <a:t> Variations tested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/>
              <a:t>binary vs. bipolar representation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/>
              <a:t>different stop criteria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/>
              <a:t>normalizing initial weights (Nguyen-Widrow) 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/>
              <a:t>Bipolar is faster than binary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/>
              <a:t>convergence: ~3000 epochs for binary, ~400 for bipolar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/>
              <a:t>Why?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Applications of BP Nets</a:t>
            </a:r>
          </a:p>
        </p:txBody>
      </p:sp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4240213" y="4268788"/>
          <a:ext cx="450373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200" imgH="203200" progId="Equation.3">
                  <p:embed/>
                </p:oleObj>
              </mc:Choice>
              <mc:Fallback>
                <p:oleObj name="Equation" r:id="rId2" imgW="2108200" imgH="203200" progId="Equation.3">
                  <p:embed/>
                  <p:pic>
                    <p:nvPicPr>
                      <p:cNvPr id="348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4268788"/>
                        <a:ext cx="4503737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63681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3"/>
          <p:cNvGraphicFramePr>
            <a:graphicFrameLocks noChangeAspect="1"/>
          </p:cNvGraphicFramePr>
          <p:nvPr/>
        </p:nvGraphicFramePr>
        <p:xfrm>
          <a:off x="1719263" y="3286125"/>
          <a:ext cx="6446837" cy="362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XIF" r:id="rId2" imgW="4571429" imgH="3304762" progId="Pagis.Document">
                  <p:embed/>
                </p:oleObj>
              </mc:Choice>
              <mc:Fallback>
                <p:oleObj name="XIF" r:id="rId2" imgW="4571429" imgH="3304762" progId="Pagis.Document">
                  <p:embed/>
                  <p:pic>
                    <p:nvPicPr>
                      <p:cNvPr id="3584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3286125"/>
                        <a:ext cx="6446837" cy="362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2"/>
          <p:cNvGraphicFramePr>
            <a:graphicFrameLocks noChangeAspect="1"/>
          </p:cNvGraphicFramePr>
          <p:nvPr/>
        </p:nvGraphicFramePr>
        <p:xfrm>
          <a:off x="1905000" y="0"/>
          <a:ext cx="6450013" cy="360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XIF" r:id="rId4" imgW="4761905" imgH="2715004" progId="Pagis.Document">
                  <p:embed/>
                </p:oleObj>
              </mc:Choice>
              <mc:Fallback>
                <p:oleObj name="XIF" r:id="rId4" imgW="4761905" imgH="2715004" progId="Pagis.Document">
                  <p:embed/>
                  <p:pic>
                    <p:nvPicPr>
                      <p:cNvPr id="3584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0"/>
                        <a:ext cx="6450013" cy="360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723900" y="1168400"/>
            <a:ext cx="1092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Binary nodes</a:t>
            </a: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863600" y="4381500"/>
            <a:ext cx="11811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Bipolar nodes</a:t>
            </a:r>
          </a:p>
        </p:txBody>
      </p:sp>
    </p:spTree>
    <p:extLst>
      <p:ext uri="{BB962C8B-B14F-4D97-AF65-F5344CB8AC3E}">
        <p14:creationId xmlns:p14="http://schemas.microsoft.com/office/powerpoint/2010/main" val="31506451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1175" y="471488"/>
            <a:ext cx="8404225" cy="6057900"/>
          </a:xfrm>
          <a:noFill/>
        </p:spPr>
        <p:txBody>
          <a:bodyPr/>
          <a:lstStyle/>
          <a:p>
            <a:pPr lvl="1" eaLnBrk="1" hangingPunct="1">
              <a:spcBef>
                <a:spcPct val="10000"/>
              </a:spcBef>
            </a:pPr>
            <a:r>
              <a:rPr lang="en-US" altLang="en-US" sz="2400"/>
              <a:t>Relaxing acceptable error range </a:t>
            </a:r>
            <a:r>
              <a:rPr lang="en-US" altLang="en-US" sz="2400" b="1"/>
              <a:t>may</a:t>
            </a:r>
            <a:r>
              <a:rPr lang="en-US" altLang="en-US" sz="2400"/>
              <a:t> speed up convergence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 sz="2200"/>
              <a:t>          </a:t>
            </a:r>
            <a:r>
              <a:rPr lang="en-US" altLang="en-US"/>
              <a:t>is an asymptotic limits of sigmoid function, 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/>
              <a:t>When an output approaches          , it falls in a saturation region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/>
              <a:t>Use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/>
              <a:t>Normalizing initial weights </a:t>
            </a:r>
            <a:r>
              <a:rPr lang="en-US" altLang="en-US" sz="2400" b="1"/>
              <a:t>may </a:t>
            </a:r>
            <a:r>
              <a:rPr lang="en-US" altLang="en-US" sz="2400"/>
              <a:t>also help</a:t>
            </a:r>
          </a:p>
          <a:p>
            <a:pPr lvl="1" eaLnBrk="1" hangingPunct="1">
              <a:spcBef>
                <a:spcPct val="10000"/>
              </a:spcBef>
            </a:pPr>
            <a:endParaRPr lang="en-US" altLang="en-US" sz="2400"/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1557338" y="5338763"/>
          <a:ext cx="18732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300" imgH="203200" progId="Equation.3">
                  <p:embed/>
                </p:oleObj>
              </mc:Choice>
              <mc:Fallback>
                <p:oleObj name="Equation" r:id="rId2" imgW="876300" imgH="203200" progId="Equation.3">
                  <p:embed/>
                  <p:pic>
                    <p:nvPicPr>
                      <p:cNvPr id="368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338" y="5338763"/>
                        <a:ext cx="187325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5172075" y="1336675"/>
          <a:ext cx="70643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9914" imgH="177646" progId="Equation.3">
                  <p:embed/>
                </p:oleObj>
              </mc:Choice>
              <mc:Fallback>
                <p:oleObj name="Equation" r:id="rId4" imgW="329914" imgH="177646" progId="Equation.3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5" y="1336675"/>
                        <a:ext cx="706438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1671638" y="914400"/>
          <a:ext cx="706437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9914" imgH="177646" progId="Equation.3">
                  <p:embed/>
                </p:oleObj>
              </mc:Choice>
              <mc:Fallback>
                <p:oleObj name="Equation" r:id="rId6" imgW="329914" imgH="177646" progId="Equation.3">
                  <p:embed/>
                  <p:pic>
                    <p:nvPicPr>
                      <p:cNvPr id="368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638" y="914400"/>
                        <a:ext cx="706437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2292350" y="2047875"/>
          <a:ext cx="42926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05729" imgH="203112" progId="Equation.3">
                  <p:embed/>
                </p:oleObj>
              </mc:Choice>
              <mc:Fallback>
                <p:oleObj name="Equation" r:id="rId7" imgW="2005729" imgH="203112" progId="Equation.3">
                  <p:embed/>
                  <p:pic>
                    <p:nvPicPr>
                      <p:cNvPr id="368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50" y="2047875"/>
                        <a:ext cx="42926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7" name="Group 7"/>
          <p:cNvGraphicFramePr>
            <a:graphicFrameLocks noGrp="1"/>
          </p:cNvGraphicFramePr>
          <p:nvPr/>
        </p:nvGraphicFramePr>
        <p:xfrm>
          <a:off x="1524000" y="3429000"/>
          <a:ext cx="6096000" cy="2319338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Random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Nguyen-Widrow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Binary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2,891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1,935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Bipolar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Bipolar with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64113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28625"/>
            <a:ext cx="7772400" cy="6100763"/>
          </a:xfrm>
          <a:noFill/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en-US" sz="2400" b="1"/>
              <a:t>Data compression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 b="1"/>
              <a:t>Autoassociation</a:t>
            </a:r>
            <a:r>
              <a:rPr lang="en-US" altLang="en-US" sz="2200"/>
              <a:t> of patterns (vectors) with themselves using a small number of hidden nodes: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 sz="2000" b="1"/>
              <a:t>training samples:</a:t>
            </a:r>
            <a:r>
              <a:rPr lang="en-US" altLang="en-US" sz="2000"/>
              <a:t>: </a:t>
            </a:r>
            <a:r>
              <a:rPr lang="en-US" altLang="en-US" sz="2000" b="1" i="1"/>
              <a:t>x</a:t>
            </a:r>
            <a:r>
              <a:rPr lang="en-US" altLang="en-US" sz="2000"/>
              <a:t>:</a:t>
            </a:r>
            <a:r>
              <a:rPr lang="en-US" altLang="en-US" sz="2000" b="1" i="1"/>
              <a:t>x </a:t>
            </a:r>
            <a:r>
              <a:rPr lang="en-US" altLang="en-US" sz="2000"/>
              <a:t>(</a:t>
            </a:r>
            <a:r>
              <a:rPr lang="en-US" altLang="en-US" sz="2000" b="1" i="1"/>
              <a:t>x </a:t>
            </a:r>
            <a:r>
              <a:rPr lang="en-US" altLang="en-US" sz="2000"/>
              <a:t>has dimension </a:t>
            </a:r>
            <a:r>
              <a:rPr lang="en-US" altLang="en-US" sz="2000" i="1"/>
              <a:t>n</a:t>
            </a:r>
            <a:r>
              <a:rPr lang="en-US" altLang="en-US" sz="2000"/>
              <a:t>)</a:t>
            </a:r>
            <a:endParaRPr lang="en-US" altLang="en-US" sz="2000" b="1" i="1"/>
          </a:p>
          <a:p>
            <a:pPr lvl="2" eaLnBrk="1" hangingPunct="1">
              <a:spcBef>
                <a:spcPct val="10000"/>
              </a:spcBef>
              <a:buFontTx/>
              <a:buNone/>
            </a:pPr>
            <a:r>
              <a:rPr lang="en-US" altLang="en-US" sz="2000" b="1"/>
              <a:t>	hidden nodes</a:t>
            </a:r>
            <a:r>
              <a:rPr lang="en-US" altLang="en-US" sz="2000"/>
              <a:t>: </a:t>
            </a:r>
            <a:r>
              <a:rPr lang="en-US" altLang="en-US" sz="2000" i="1"/>
              <a:t>m &lt; n</a:t>
            </a:r>
            <a:r>
              <a:rPr lang="en-US" altLang="en-US" sz="2000"/>
              <a:t> (A </a:t>
            </a:r>
            <a:r>
              <a:rPr lang="en-US" altLang="en-US" sz="2000" i="1"/>
              <a:t>n-m-n </a:t>
            </a:r>
            <a:r>
              <a:rPr lang="en-US" altLang="en-US" sz="2000"/>
              <a:t>net)</a:t>
            </a:r>
          </a:p>
          <a:p>
            <a:pPr lvl="2" eaLnBrk="1" hangingPunct="1">
              <a:spcBef>
                <a:spcPct val="10000"/>
              </a:spcBef>
              <a:buFontTx/>
              <a:buNone/>
            </a:pPr>
            <a:endParaRPr lang="en-US" altLang="en-US" sz="2000"/>
          </a:p>
          <a:p>
            <a:pPr lvl="2" eaLnBrk="1" hangingPunct="1">
              <a:spcBef>
                <a:spcPct val="10000"/>
              </a:spcBef>
              <a:buFontTx/>
              <a:buNone/>
            </a:pPr>
            <a:endParaRPr lang="en-US" altLang="en-US" sz="2000"/>
          </a:p>
          <a:p>
            <a:pPr lvl="2" eaLnBrk="1" hangingPunct="1">
              <a:spcBef>
                <a:spcPct val="10000"/>
              </a:spcBef>
              <a:buFontTx/>
              <a:buNone/>
            </a:pPr>
            <a:endParaRPr lang="en-US" altLang="en-US" sz="2000"/>
          </a:p>
          <a:p>
            <a:pPr lvl="2" eaLnBrk="1" hangingPunct="1">
              <a:spcBef>
                <a:spcPct val="35000"/>
              </a:spcBef>
            </a:pPr>
            <a:r>
              <a:rPr lang="en-US" altLang="en-US" sz="2000"/>
              <a:t>If training is successful, applying any vector </a:t>
            </a:r>
            <a:r>
              <a:rPr lang="en-US" altLang="en-US" sz="2000" b="1" i="1"/>
              <a:t>x </a:t>
            </a:r>
            <a:r>
              <a:rPr lang="en-US" altLang="en-US" sz="2000"/>
              <a:t>on input nodes will generate the same </a:t>
            </a:r>
            <a:r>
              <a:rPr lang="en-US" altLang="en-US" sz="2000" b="1" i="1"/>
              <a:t>x </a:t>
            </a:r>
            <a:r>
              <a:rPr lang="en-US" altLang="en-US" sz="2000"/>
              <a:t>on</a:t>
            </a:r>
            <a:r>
              <a:rPr lang="en-US" altLang="en-US" sz="2000" b="1" i="1"/>
              <a:t> </a:t>
            </a:r>
            <a:r>
              <a:rPr lang="en-US" altLang="en-US" sz="2000"/>
              <a:t>output nodes</a:t>
            </a:r>
            <a:endParaRPr lang="en-US" altLang="en-US" sz="2000" b="1"/>
          </a:p>
          <a:p>
            <a:pPr lvl="2" eaLnBrk="1" hangingPunct="1">
              <a:spcBef>
                <a:spcPct val="10000"/>
              </a:spcBef>
            </a:pPr>
            <a:r>
              <a:rPr lang="en-US" altLang="en-US" sz="2000"/>
              <a:t>Pattern</a:t>
            </a:r>
            <a:r>
              <a:rPr lang="en-US" altLang="en-US" sz="2000" b="1"/>
              <a:t> </a:t>
            </a:r>
            <a:r>
              <a:rPr lang="en-US" altLang="en-US" sz="2000" b="1" i="1"/>
              <a:t>z </a:t>
            </a:r>
            <a:r>
              <a:rPr lang="en-US" altLang="en-US" sz="2000"/>
              <a:t>on hidden layer becomes a compressed representation of </a:t>
            </a:r>
            <a:r>
              <a:rPr lang="en-US" altLang="en-US" sz="2000" b="1" i="1"/>
              <a:t>x </a:t>
            </a:r>
            <a:r>
              <a:rPr lang="en-US" altLang="en-US" sz="2000"/>
              <a:t>(with smaller dimension </a:t>
            </a:r>
            <a:r>
              <a:rPr lang="en-US" altLang="en-US" sz="2000" i="1"/>
              <a:t>m &lt; n</a:t>
            </a:r>
            <a:r>
              <a:rPr lang="en-US" altLang="en-US" sz="2000"/>
              <a:t>)</a:t>
            </a:r>
          </a:p>
          <a:p>
            <a:pPr lvl="2" eaLnBrk="1" hangingPunct="1">
              <a:spcBef>
                <a:spcPct val="10000"/>
              </a:spcBef>
            </a:pPr>
            <a:r>
              <a:rPr lang="en-US" altLang="en-US" sz="2000"/>
              <a:t>Application: reducing transmission cost</a:t>
            </a:r>
            <a:endParaRPr lang="en-US" altLang="en-US" sz="2000" b="1"/>
          </a:p>
        </p:txBody>
      </p:sp>
      <p:grpSp>
        <p:nvGrpSpPr>
          <p:cNvPr id="37891" name="Group 3"/>
          <p:cNvGrpSpPr>
            <a:grpSpLocks/>
          </p:cNvGrpSpPr>
          <p:nvPr/>
        </p:nvGrpSpPr>
        <p:grpSpPr bwMode="auto">
          <a:xfrm>
            <a:off x="2447925" y="2238375"/>
            <a:ext cx="3062288" cy="1071563"/>
            <a:chOff x="1251" y="2286"/>
            <a:chExt cx="2178" cy="765"/>
          </a:xfrm>
        </p:grpSpPr>
        <p:sp>
          <p:nvSpPr>
            <p:cNvPr id="37923" name="Oval 4"/>
            <p:cNvSpPr>
              <a:spLocks noChangeArrowheads="1"/>
            </p:cNvSpPr>
            <p:nvPr/>
          </p:nvSpPr>
          <p:spPr bwMode="auto">
            <a:xfrm>
              <a:off x="1278" y="2286"/>
              <a:ext cx="261" cy="76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24" name="Oval 5"/>
            <p:cNvSpPr>
              <a:spLocks noChangeArrowheads="1"/>
            </p:cNvSpPr>
            <p:nvPr/>
          </p:nvSpPr>
          <p:spPr bwMode="auto">
            <a:xfrm>
              <a:off x="2238" y="2400"/>
              <a:ext cx="261" cy="5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25" name="Oval 6"/>
            <p:cNvSpPr>
              <a:spLocks noChangeArrowheads="1"/>
            </p:cNvSpPr>
            <p:nvPr/>
          </p:nvSpPr>
          <p:spPr bwMode="auto">
            <a:xfrm>
              <a:off x="3168" y="2286"/>
              <a:ext cx="261" cy="76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26" name="Text Box 7"/>
            <p:cNvSpPr txBox="1">
              <a:spLocks noChangeArrowheads="1"/>
            </p:cNvSpPr>
            <p:nvPr/>
          </p:nvSpPr>
          <p:spPr bwMode="auto">
            <a:xfrm>
              <a:off x="1251" y="2512"/>
              <a:ext cx="2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sz="2000" b="1" i="1"/>
                <a:t>n</a:t>
              </a:r>
            </a:p>
          </p:txBody>
        </p:sp>
        <p:sp>
          <p:nvSpPr>
            <p:cNvPr id="37927" name="Text Box 8"/>
            <p:cNvSpPr txBox="1">
              <a:spLocks noChangeArrowheads="1"/>
            </p:cNvSpPr>
            <p:nvPr/>
          </p:nvSpPr>
          <p:spPr bwMode="auto">
            <a:xfrm>
              <a:off x="3150" y="2517"/>
              <a:ext cx="261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sz="2000" b="1" i="1"/>
                <a:t>n</a:t>
              </a:r>
            </a:p>
          </p:txBody>
        </p:sp>
        <p:sp>
          <p:nvSpPr>
            <p:cNvPr id="37928" name="Text Box 9"/>
            <p:cNvSpPr txBox="1">
              <a:spLocks noChangeArrowheads="1"/>
            </p:cNvSpPr>
            <p:nvPr/>
          </p:nvSpPr>
          <p:spPr bwMode="auto">
            <a:xfrm>
              <a:off x="2211" y="2517"/>
              <a:ext cx="261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sz="2000" b="1" i="1"/>
                <a:t>m</a:t>
              </a:r>
            </a:p>
          </p:txBody>
        </p:sp>
        <p:sp>
          <p:nvSpPr>
            <p:cNvPr id="37929" name="AutoShape 10"/>
            <p:cNvSpPr>
              <a:spLocks noChangeArrowheads="1"/>
            </p:cNvSpPr>
            <p:nvPr/>
          </p:nvSpPr>
          <p:spPr bwMode="auto">
            <a:xfrm>
              <a:off x="1557" y="2619"/>
              <a:ext cx="654" cy="115"/>
            </a:xfrm>
            <a:prstGeom prst="rightArrow">
              <a:avLst>
                <a:gd name="adj1" fmla="val 50000"/>
                <a:gd name="adj2" fmla="val 14217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30" name="AutoShape 11"/>
            <p:cNvSpPr>
              <a:spLocks noChangeArrowheads="1"/>
            </p:cNvSpPr>
            <p:nvPr/>
          </p:nvSpPr>
          <p:spPr bwMode="auto">
            <a:xfrm>
              <a:off x="2526" y="2625"/>
              <a:ext cx="654" cy="115"/>
            </a:xfrm>
            <a:prstGeom prst="rightArrow">
              <a:avLst>
                <a:gd name="adj1" fmla="val 50000"/>
                <a:gd name="adj2" fmla="val 14217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31" name="Text Box 12"/>
            <p:cNvSpPr txBox="1">
              <a:spLocks noChangeArrowheads="1"/>
            </p:cNvSpPr>
            <p:nvPr/>
          </p:nvSpPr>
          <p:spPr bwMode="auto">
            <a:xfrm>
              <a:off x="1677" y="2400"/>
              <a:ext cx="260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sz="2000" b="1" i="1"/>
                <a:t>V</a:t>
              </a:r>
            </a:p>
          </p:txBody>
        </p:sp>
        <p:sp>
          <p:nvSpPr>
            <p:cNvPr id="37932" name="Text Box 13"/>
            <p:cNvSpPr txBox="1">
              <a:spLocks noChangeArrowheads="1"/>
            </p:cNvSpPr>
            <p:nvPr/>
          </p:nvSpPr>
          <p:spPr bwMode="auto">
            <a:xfrm>
              <a:off x="2638" y="2400"/>
              <a:ext cx="260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sz="2000" b="1" i="1"/>
                <a:t>W</a:t>
              </a:r>
            </a:p>
          </p:txBody>
        </p:sp>
      </p:grpSp>
      <p:sp>
        <p:nvSpPr>
          <p:cNvPr id="37892" name="Text Box 14"/>
          <p:cNvSpPr txBox="1">
            <a:spLocks noChangeArrowheads="1"/>
          </p:cNvSpPr>
          <p:nvPr/>
        </p:nvSpPr>
        <p:spPr bwMode="auto">
          <a:xfrm>
            <a:off x="3600450" y="6200775"/>
            <a:ext cx="2486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altLang="en-US" sz="2000"/>
              <a:t>Communication </a:t>
            </a:r>
          </a:p>
          <a:p>
            <a:pPr algn="ctr" eaLnBrk="1" hangingPunct="1">
              <a:lnSpc>
                <a:spcPct val="80000"/>
              </a:lnSpc>
            </a:pPr>
            <a:r>
              <a:rPr lang="en-US" altLang="en-US" sz="2000"/>
              <a:t>channel</a:t>
            </a:r>
          </a:p>
        </p:txBody>
      </p:sp>
      <p:grpSp>
        <p:nvGrpSpPr>
          <p:cNvPr id="37893" name="Group 15"/>
          <p:cNvGrpSpPr>
            <a:grpSpLocks/>
          </p:cNvGrpSpPr>
          <p:nvPr/>
        </p:nvGrpSpPr>
        <p:grpSpPr bwMode="auto">
          <a:xfrm>
            <a:off x="1000125" y="5043488"/>
            <a:ext cx="7548563" cy="1214437"/>
            <a:chOff x="432" y="3348"/>
            <a:chExt cx="4755" cy="765"/>
          </a:xfrm>
        </p:grpSpPr>
        <p:grpSp>
          <p:nvGrpSpPr>
            <p:cNvPr id="37898" name="Group 16"/>
            <p:cNvGrpSpPr>
              <a:grpSpLocks/>
            </p:cNvGrpSpPr>
            <p:nvPr/>
          </p:nvGrpSpPr>
          <p:grpSpPr bwMode="auto">
            <a:xfrm>
              <a:off x="1965" y="3462"/>
              <a:ext cx="288" cy="561"/>
              <a:chOff x="2415" y="3462"/>
              <a:chExt cx="288" cy="561"/>
            </a:xfrm>
          </p:grpSpPr>
          <p:sp>
            <p:nvSpPr>
              <p:cNvPr id="37921" name="Oval 17"/>
              <p:cNvSpPr>
                <a:spLocks noChangeArrowheads="1"/>
              </p:cNvSpPr>
              <p:nvPr/>
            </p:nvSpPr>
            <p:spPr bwMode="auto">
              <a:xfrm>
                <a:off x="2442" y="3462"/>
                <a:ext cx="261" cy="56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922" name="Text Box 18"/>
              <p:cNvSpPr txBox="1">
                <a:spLocks noChangeArrowheads="1"/>
              </p:cNvSpPr>
              <p:nvPr/>
            </p:nvSpPr>
            <p:spPr bwMode="auto">
              <a:xfrm>
                <a:off x="2415" y="3579"/>
                <a:ext cx="26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altLang="en-US" sz="2000" b="1" i="1"/>
                  <a:t>m</a:t>
                </a:r>
              </a:p>
            </p:txBody>
          </p:sp>
        </p:grpSp>
        <p:sp>
          <p:nvSpPr>
            <p:cNvPr id="37899" name="Oval 19"/>
            <p:cNvSpPr>
              <a:spLocks noChangeArrowheads="1"/>
            </p:cNvSpPr>
            <p:nvPr/>
          </p:nvSpPr>
          <p:spPr bwMode="auto">
            <a:xfrm>
              <a:off x="1050" y="3348"/>
              <a:ext cx="261" cy="76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00" name="Text Box 20"/>
            <p:cNvSpPr txBox="1">
              <a:spLocks noChangeArrowheads="1"/>
            </p:cNvSpPr>
            <p:nvPr/>
          </p:nvSpPr>
          <p:spPr bwMode="auto">
            <a:xfrm>
              <a:off x="1023" y="3573"/>
              <a:ext cx="2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sz="2000" b="1" i="1"/>
                <a:t>n</a:t>
              </a:r>
            </a:p>
          </p:txBody>
        </p:sp>
        <p:sp>
          <p:nvSpPr>
            <p:cNvPr id="37901" name="AutoShape 21"/>
            <p:cNvSpPr>
              <a:spLocks noChangeArrowheads="1"/>
            </p:cNvSpPr>
            <p:nvPr/>
          </p:nvSpPr>
          <p:spPr bwMode="auto">
            <a:xfrm>
              <a:off x="1329" y="3681"/>
              <a:ext cx="654" cy="115"/>
            </a:xfrm>
            <a:prstGeom prst="rightArrow">
              <a:avLst>
                <a:gd name="adj1" fmla="val 50000"/>
                <a:gd name="adj2" fmla="val 14217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02" name="Text Box 22"/>
            <p:cNvSpPr txBox="1">
              <a:spLocks noChangeArrowheads="1"/>
            </p:cNvSpPr>
            <p:nvPr/>
          </p:nvSpPr>
          <p:spPr bwMode="auto">
            <a:xfrm>
              <a:off x="1449" y="3462"/>
              <a:ext cx="2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sz="2000" b="1" i="1"/>
                <a:t>V</a:t>
              </a:r>
            </a:p>
          </p:txBody>
        </p:sp>
        <p:grpSp>
          <p:nvGrpSpPr>
            <p:cNvPr id="37903" name="Group 23"/>
            <p:cNvGrpSpPr>
              <a:grpSpLocks/>
            </p:cNvGrpSpPr>
            <p:nvPr/>
          </p:nvGrpSpPr>
          <p:grpSpPr bwMode="auto">
            <a:xfrm>
              <a:off x="3720" y="3348"/>
              <a:ext cx="903" cy="765"/>
              <a:chOff x="2730" y="3348"/>
              <a:chExt cx="903" cy="765"/>
            </a:xfrm>
          </p:grpSpPr>
          <p:sp>
            <p:nvSpPr>
              <p:cNvPr id="37917" name="Oval 24"/>
              <p:cNvSpPr>
                <a:spLocks noChangeArrowheads="1"/>
              </p:cNvSpPr>
              <p:nvPr/>
            </p:nvSpPr>
            <p:spPr bwMode="auto">
              <a:xfrm>
                <a:off x="3372" y="3348"/>
                <a:ext cx="261" cy="76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918" name="Text Box 25"/>
              <p:cNvSpPr txBox="1">
                <a:spLocks noChangeArrowheads="1"/>
              </p:cNvSpPr>
              <p:nvPr/>
            </p:nvSpPr>
            <p:spPr bwMode="auto">
              <a:xfrm>
                <a:off x="3354" y="3579"/>
                <a:ext cx="26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altLang="en-US" sz="2000" b="1" i="1"/>
                  <a:t>n</a:t>
                </a:r>
              </a:p>
            </p:txBody>
          </p:sp>
          <p:sp>
            <p:nvSpPr>
              <p:cNvPr id="37919" name="AutoShape 26"/>
              <p:cNvSpPr>
                <a:spLocks noChangeArrowheads="1"/>
              </p:cNvSpPr>
              <p:nvPr/>
            </p:nvSpPr>
            <p:spPr bwMode="auto">
              <a:xfrm>
                <a:off x="2730" y="3687"/>
                <a:ext cx="654" cy="115"/>
              </a:xfrm>
              <a:prstGeom prst="rightArrow">
                <a:avLst>
                  <a:gd name="adj1" fmla="val 50000"/>
                  <a:gd name="adj2" fmla="val 142174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920" name="Text Box 27"/>
              <p:cNvSpPr txBox="1">
                <a:spLocks noChangeArrowheads="1"/>
              </p:cNvSpPr>
              <p:nvPr/>
            </p:nvSpPr>
            <p:spPr bwMode="auto">
              <a:xfrm>
                <a:off x="2841" y="3462"/>
                <a:ext cx="26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altLang="en-US" sz="2000" b="1" i="1"/>
                  <a:t>W</a:t>
                </a:r>
              </a:p>
            </p:txBody>
          </p:sp>
        </p:grpSp>
        <p:grpSp>
          <p:nvGrpSpPr>
            <p:cNvPr id="37904" name="Group 28"/>
            <p:cNvGrpSpPr>
              <a:grpSpLocks/>
            </p:cNvGrpSpPr>
            <p:nvPr/>
          </p:nvGrpSpPr>
          <p:grpSpPr bwMode="auto">
            <a:xfrm>
              <a:off x="3402" y="3486"/>
              <a:ext cx="288" cy="561"/>
              <a:chOff x="2415" y="3462"/>
              <a:chExt cx="288" cy="561"/>
            </a:xfrm>
          </p:grpSpPr>
          <p:sp>
            <p:nvSpPr>
              <p:cNvPr id="37915" name="Oval 29"/>
              <p:cNvSpPr>
                <a:spLocks noChangeArrowheads="1"/>
              </p:cNvSpPr>
              <p:nvPr/>
            </p:nvSpPr>
            <p:spPr bwMode="auto">
              <a:xfrm>
                <a:off x="2442" y="3462"/>
                <a:ext cx="261" cy="56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916" name="Text Box 30"/>
              <p:cNvSpPr txBox="1">
                <a:spLocks noChangeArrowheads="1"/>
              </p:cNvSpPr>
              <p:nvPr/>
            </p:nvSpPr>
            <p:spPr bwMode="auto">
              <a:xfrm>
                <a:off x="2415" y="3579"/>
                <a:ext cx="26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altLang="en-US" sz="2000" b="1" i="1"/>
                  <a:t>m</a:t>
                </a:r>
              </a:p>
            </p:txBody>
          </p:sp>
        </p:grpSp>
        <p:sp>
          <p:nvSpPr>
            <p:cNvPr id="37905" name="AutoShape 31"/>
            <p:cNvSpPr>
              <a:spLocks noChangeArrowheads="1"/>
            </p:cNvSpPr>
            <p:nvPr/>
          </p:nvSpPr>
          <p:spPr bwMode="auto">
            <a:xfrm>
              <a:off x="729" y="3662"/>
              <a:ext cx="357" cy="115"/>
            </a:xfrm>
            <a:prstGeom prst="rightArrow">
              <a:avLst>
                <a:gd name="adj1" fmla="val 50000"/>
                <a:gd name="adj2" fmla="val 7760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06" name="AutoShape 32"/>
            <p:cNvSpPr>
              <a:spLocks noChangeArrowheads="1"/>
            </p:cNvSpPr>
            <p:nvPr/>
          </p:nvSpPr>
          <p:spPr bwMode="auto">
            <a:xfrm>
              <a:off x="4632" y="3671"/>
              <a:ext cx="357" cy="115"/>
            </a:xfrm>
            <a:prstGeom prst="rightArrow">
              <a:avLst>
                <a:gd name="adj1" fmla="val 50000"/>
                <a:gd name="adj2" fmla="val 7760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07" name="Text Box 33"/>
            <p:cNvSpPr txBox="1">
              <a:spLocks noChangeArrowheads="1"/>
            </p:cNvSpPr>
            <p:nvPr/>
          </p:nvSpPr>
          <p:spPr bwMode="auto">
            <a:xfrm>
              <a:off x="432" y="3558"/>
              <a:ext cx="2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sz="2000" b="1" i="1"/>
                <a:t>x</a:t>
              </a:r>
            </a:p>
          </p:txBody>
        </p:sp>
        <p:sp>
          <p:nvSpPr>
            <p:cNvPr id="37908" name="Text Box 34"/>
            <p:cNvSpPr txBox="1">
              <a:spLocks noChangeArrowheads="1"/>
            </p:cNvSpPr>
            <p:nvPr/>
          </p:nvSpPr>
          <p:spPr bwMode="auto">
            <a:xfrm>
              <a:off x="4926" y="3585"/>
              <a:ext cx="2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sz="2000" b="1" i="1"/>
                <a:t>x</a:t>
              </a:r>
            </a:p>
          </p:txBody>
        </p:sp>
        <p:sp>
          <p:nvSpPr>
            <p:cNvPr id="37909" name="AutoShape 35"/>
            <p:cNvSpPr>
              <a:spLocks noChangeArrowheads="1"/>
            </p:cNvSpPr>
            <p:nvPr/>
          </p:nvSpPr>
          <p:spPr bwMode="auto">
            <a:xfrm>
              <a:off x="2268" y="3681"/>
              <a:ext cx="189" cy="115"/>
            </a:xfrm>
            <a:prstGeom prst="rightArrow">
              <a:avLst>
                <a:gd name="adj1" fmla="val 50000"/>
                <a:gd name="adj2" fmla="val 4108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10" name="Text Box 36"/>
            <p:cNvSpPr txBox="1">
              <a:spLocks noChangeArrowheads="1"/>
            </p:cNvSpPr>
            <p:nvPr/>
          </p:nvSpPr>
          <p:spPr bwMode="auto">
            <a:xfrm>
              <a:off x="2350" y="3603"/>
              <a:ext cx="2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sz="2000" b="1" i="1"/>
                <a:t>z</a:t>
              </a:r>
            </a:p>
          </p:txBody>
        </p:sp>
        <p:sp>
          <p:nvSpPr>
            <p:cNvPr id="37911" name="Text Box 37"/>
            <p:cNvSpPr txBox="1">
              <a:spLocks noChangeArrowheads="1"/>
            </p:cNvSpPr>
            <p:nvPr/>
          </p:nvSpPr>
          <p:spPr bwMode="auto">
            <a:xfrm>
              <a:off x="2995" y="3591"/>
              <a:ext cx="2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sz="2000" b="1" i="1"/>
                <a:t>z</a:t>
              </a:r>
            </a:p>
          </p:txBody>
        </p:sp>
        <p:sp>
          <p:nvSpPr>
            <p:cNvPr id="37912" name="AutoShape 38"/>
            <p:cNvSpPr>
              <a:spLocks noChangeArrowheads="1"/>
            </p:cNvSpPr>
            <p:nvPr/>
          </p:nvSpPr>
          <p:spPr bwMode="auto">
            <a:xfrm>
              <a:off x="3246" y="3687"/>
              <a:ext cx="189" cy="115"/>
            </a:xfrm>
            <a:prstGeom prst="rightArrow">
              <a:avLst>
                <a:gd name="adj1" fmla="val 50000"/>
                <a:gd name="adj2" fmla="val 4108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13" name="Freeform 39"/>
            <p:cNvSpPr>
              <a:spLocks/>
            </p:cNvSpPr>
            <p:nvPr/>
          </p:nvSpPr>
          <p:spPr bwMode="auto">
            <a:xfrm>
              <a:off x="2475" y="3552"/>
              <a:ext cx="639" cy="398"/>
            </a:xfrm>
            <a:custGeom>
              <a:avLst/>
              <a:gdLst>
                <a:gd name="T0" fmla="*/ 0 w 639"/>
                <a:gd name="T1" fmla="*/ 192 h 398"/>
                <a:gd name="T2" fmla="*/ 126 w 639"/>
                <a:gd name="T3" fmla="*/ 12 h 398"/>
                <a:gd name="T4" fmla="*/ 216 w 639"/>
                <a:gd name="T5" fmla="*/ 210 h 398"/>
                <a:gd name="T6" fmla="*/ 243 w 639"/>
                <a:gd name="T7" fmla="*/ 372 h 398"/>
                <a:gd name="T8" fmla="*/ 342 w 639"/>
                <a:gd name="T9" fmla="*/ 57 h 398"/>
                <a:gd name="T10" fmla="*/ 414 w 639"/>
                <a:gd name="T11" fmla="*/ 309 h 398"/>
                <a:gd name="T12" fmla="*/ 540 w 639"/>
                <a:gd name="T13" fmla="*/ 21 h 398"/>
                <a:gd name="T14" fmla="*/ 639 w 639"/>
                <a:gd name="T15" fmla="*/ 183 h 3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39"/>
                <a:gd name="T25" fmla="*/ 0 h 398"/>
                <a:gd name="T26" fmla="*/ 639 w 639"/>
                <a:gd name="T27" fmla="*/ 398 h 39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39" h="398">
                  <a:moveTo>
                    <a:pt x="0" y="192"/>
                  </a:moveTo>
                  <a:cubicBezTo>
                    <a:pt x="45" y="100"/>
                    <a:pt x="90" y="9"/>
                    <a:pt x="126" y="12"/>
                  </a:cubicBezTo>
                  <a:cubicBezTo>
                    <a:pt x="162" y="15"/>
                    <a:pt x="197" y="150"/>
                    <a:pt x="216" y="210"/>
                  </a:cubicBezTo>
                  <a:cubicBezTo>
                    <a:pt x="235" y="270"/>
                    <a:pt x="222" y="398"/>
                    <a:pt x="243" y="372"/>
                  </a:cubicBezTo>
                  <a:cubicBezTo>
                    <a:pt x="264" y="346"/>
                    <a:pt x="313" y="68"/>
                    <a:pt x="342" y="57"/>
                  </a:cubicBezTo>
                  <a:cubicBezTo>
                    <a:pt x="371" y="46"/>
                    <a:pt x="381" y="315"/>
                    <a:pt x="414" y="309"/>
                  </a:cubicBezTo>
                  <a:cubicBezTo>
                    <a:pt x="447" y="303"/>
                    <a:pt x="503" y="42"/>
                    <a:pt x="540" y="21"/>
                  </a:cubicBezTo>
                  <a:cubicBezTo>
                    <a:pt x="577" y="0"/>
                    <a:pt x="615" y="153"/>
                    <a:pt x="639" y="18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4" name="Line 40"/>
            <p:cNvSpPr>
              <a:spLocks noChangeShapeType="1"/>
            </p:cNvSpPr>
            <p:nvPr/>
          </p:nvSpPr>
          <p:spPr bwMode="auto">
            <a:xfrm flipH="1" flipV="1">
              <a:off x="2805" y="3853"/>
              <a:ext cx="0" cy="2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894" name="Text Box 41"/>
          <p:cNvSpPr txBox="1">
            <a:spLocks noChangeArrowheads="1"/>
          </p:cNvSpPr>
          <p:nvPr/>
        </p:nvSpPr>
        <p:spPr bwMode="auto">
          <a:xfrm>
            <a:off x="5800725" y="6467475"/>
            <a:ext cx="2014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receiver</a:t>
            </a:r>
          </a:p>
        </p:txBody>
      </p:sp>
      <p:sp>
        <p:nvSpPr>
          <p:cNvPr id="37895" name="Text Box 42"/>
          <p:cNvSpPr txBox="1">
            <a:spLocks noChangeArrowheads="1"/>
          </p:cNvSpPr>
          <p:nvPr/>
        </p:nvSpPr>
        <p:spPr bwMode="auto">
          <a:xfrm>
            <a:off x="1190625" y="6386513"/>
            <a:ext cx="2014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sender</a:t>
            </a:r>
          </a:p>
        </p:txBody>
      </p:sp>
      <p:sp>
        <p:nvSpPr>
          <p:cNvPr id="37896" name="Line 43"/>
          <p:cNvSpPr>
            <a:spLocks noChangeShapeType="1"/>
          </p:cNvSpPr>
          <p:nvPr/>
        </p:nvSpPr>
        <p:spPr bwMode="auto">
          <a:xfrm>
            <a:off x="3986213" y="5043488"/>
            <a:ext cx="0" cy="1738312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7" name="Line 44"/>
          <p:cNvSpPr>
            <a:spLocks noChangeShapeType="1"/>
          </p:cNvSpPr>
          <p:nvPr/>
        </p:nvSpPr>
        <p:spPr bwMode="auto">
          <a:xfrm>
            <a:off x="5681663" y="5033963"/>
            <a:ext cx="0" cy="1738312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236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28625"/>
            <a:ext cx="7772400" cy="6100763"/>
          </a:xfrm>
          <a:noFill/>
        </p:spPr>
        <p:txBody>
          <a:bodyPr/>
          <a:lstStyle/>
          <a:p>
            <a:pPr lvl="1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400" b="1"/>
              <a:t>Example: </a:t>
            </a:r>
            <a:r>
              <a:rPr lang="en-US" altLang="en-US" sz="2400"/>
              <a:t>compressing character bitmaps.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/>
              <a:t>Each character is represented by a</a:t>
            </a:r>
            <a:r>
              <a:rPr lang="en-US" altLang="en-US" b="1"/>
              <a:t> </a:t>
            </a:r>
            <a:r>
              <a:rPr lang="en-US" altLang="en-US"/>
              <a:t>7 by 9 pixel bitmap, or a binary vector of dimension 63</a:t>
            </a:r>
            <a:endParaRPr lang="en-US" altLang="en-US" b="1"/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/>
              <a:t>10 characters (A – J) are used in experiment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/>
              <a:t>Error range: 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en-US"/>
              <a:t>	</a:t>
            </a:r>
            <a:r>
              <a:rPr lang="en-US" altLang="en-US" sz="2000"/>
              <a:t>tight:  0.1 (off: 0 – 0.1; on: 0.9 – 1.0)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en-US" sz="2000"/>
              <a:t>	loose: 0.2 (off: 0 – 0.2; on: 0.8 – 1.0)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/>
              <a:t>Relationship between # hidden nodes, error range, and convergence rate</a:t>
            </a:r>
          </a:p>
          <a:p>
            <a:pPr lvl="3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/>
              <a:t>relaxing error range may speed up</a:t>
            </a:r>
          </a:p>
          <a:p>
            <a:pPr lvl="3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en-US" sz="2200"/>
              <a:t>increasing # hidden nodes (to a point) may speed up 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en-US"/>
              <a:t>	</a:t>
            </a:r>
            <a:r>
              <a:rPr lang="en-US" altLang="en-US" sz="2000"/>
              <a:t>error range: 0.1 hidden nodes: 10  # epochs: 400+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en-US" sz="2000"/>
              <a:t>	error range: 0.2 hidden nodes: 10  # epochs: 200+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en-US" sz="2000"/>
              <a:t>	error range: 0.1 hidden nodes: 20  # epochs: 180+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en-US" sz="2000"/>
              <a:t>	error range: 0.2 hidden nodes: 20  # epochs: 90+</a:t>
            </a:r>
          </a:p>
          <a:p>
            <a:pPr lvl="2"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en-US" sz="2000"/>
              <a:t>	no noticeable speed up when # hidden nodes increases to beyond 22</a:t>
            </a:r>
          </a:p>
        </p:txBody>
      </p:sp>
    </p:spTree>
    <p:extLst>
      <p:ext uri="{BB962C8B-B14F-4D97-AF65-F5344CB8AC3E}">
        <p14:creationId xmlns:p14="http://schemas.microsoft.com/office/powerpoint/2010/main" val="21215784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28625"/>
            <a:ext cx="8058150" cy="6100763"/>
          </a:xfrm>
          <a:noFill/>
        </p:spPr>
        <p:txBody>
          <a:bodyPr/>
          <a:lstStyle/>
          <a:p>
            <a:pPr marL="228600" indent="-228600" eaLnBrk="1" hangingPunct="1">
              <a:spcBef>
                <a:spcPct val="10000"/>
              </a:spcBef>
            </a:pPr>
            <a:r>
              <a:rPr lang="en-US" altLang="en-US" sz="2400" b="1"/>
              <a:t>Other applications</a:t>
            </a:r>
            <a:r>
              <a:rPr lang="en-US" altLang="en-US" sz="2400"/>
              <a:t>.</a:t>
            </a:r>
          </a:p>
          <a:p>
            <a:pPr marL="571500" lvl="1" indent="-228600" eaLnBrk="1" hangingPunct="1">
              <a:spcBef>
                <a:spcPct val="10000"/>
              </a:spcBef>
            </a:pPr>
            <a:r>
              <a:rPr lang="en-US" altLang="en-US" sz="2400"/>
              <a:t>Medical diagnosis</a:t>
            </a:r>
          </a:p>
          <a:p>
            <a:pPr marL="914400" lvl="2" eaLnBrk="1" hangingPunct="1">
              <a:spcBef>
                <a:spcPct val="10000"/>
              </a:spcBef>
            </a:pPr>
            <a:r>
              <a:rPr lang="en-US" altLang="en-US"/>
              <a:t>Input: manifestation (symptoms, lab tests, etc.)</a:t>
            </a:r>
          </a:p>
          <a:p>
            <a:pPr marL="914400" lvl="2" eaLnBrk="1" hangingPunct="1">
              <a:spcBef>
                <a:spcPct val="10000"/>
              </a:spcBef>
              <a:buFontTx/>
              <a:buNone/>
            </a:pPr>
            <a:r>
              <a:rPr lang="en-US" altLang="en-US"/>
              <a:t>	Output: possible disease(s)</a:t>
            </a:r>
          </a:p>
          <a:p>
            <a:pPr marL="914400" lvl="2" eaLnBrk="1" hangingPunct="1">
              <a:spcBef>
                <a:spcPct val="10000"/>
              </a:spcBef>
            </a:pPr>
            <a:r>
              <a:rPr lang="en-US" altLang="en-US"/>
              <a:t>Problems: </a:t>
            </a:r>
          </a:p>
          <a:p>
            <a:pPr marL="1257300" lvl="3" eaLnBrk="1" hangingPunct="1">
              <a:spcBef>
                <a:spcPct val="10000"/>
              </a:spcBef>
            </a:pPr>
            <a:r>
              <a:rPr lang="en-US" altLang="en-US" sz="2400"/>
              <a:t>no causal relations can be established</a:t>
            </a:r>
          </a:p>
          <a:p>
            <a:pPr marL="1257300" lvl="3" eaLnBrk="1" hangingPunct="1">
              <a:spcBef>
                <a:spcPct val="10000"/>
              </a:spcBef>
            </a:pPr>
            <a:r>
              <a:rPr lang="en-US" altLang="en-US" sz="2400"/>
              <a:t>hard to determine what should be included as inputs </a:t>
            </a:r>
            <a:r>
              <a:rPr lang="en-US" altLang="en-US"/>
              <a:t>        </a:t>
            </a:r>
          </a:p>
          <a:p>
            <a:pPr marL="914400" lvl="2" eaLnBrk="1" hangingPunct="1">
              <a:spcBef>
                <a:spcPct val="10000"/>
              </a:spcBef>
            </a:pPr>
            <a:r>
              <a:rPr lang="en-US" altLang="en-US"/>
              <a:t>Currently focus on more restricted diagnostic tasks</a:t>
            </a:r>
          </a:p>
          <a:p>
            <a:pPr marL="1257300" lvl="3" eaLnBrk="1" hangingPunct="1">
              <a:spcBef>
                <a:spcPct val="10000"/>
              </a:spcBef>
            </a:pPr>
            <a:r>
              <a:rPr lang="en-US" altLang="en-US" sz="2400"/>
              <a:t>e.g., predict prostate cancer or hepatitis B based on standard blood test</a:t>
            </a:r>
          </a:p>
          <a:p>
            <a:pPr marL="571500" lvl="1" indent="-228600" eaLnBrk="1" hangingPunct="1">
              <a:spcBef>
                <a:spcPct val="10000"/>
              </a:spcBef>
            </a:pPr>
            <a:r>
              <a:rPr lang="en-US" altLang="en-US" sz="2400"/>
              <a:t>Process control</a:t>
            </a:r>
          </a:p>
          <a:p>
            <a:pPr marL="914400" lvl="2" eaLnBrk="1" hangingPunct="1">
              <a:spcBef>
                <a:spcPct val="10000"/>
              </a:spcBef>
            </a:pPr>
            <a:r>
              <a:rPr lang="en-US" altLang="en-US"/>
              <a:t>Input: environmental parameters</a:t>
            </a:r>
          </a:p>
          <a:p>
            <a:pPr marL="914400" lvl="2" eaLnBrk="1" hangingPunct="1">
              <a:spcBef>
                <a:spcPct val="10000"/>
              </a:spcBef>
              <a:buFontTx/>
              <a:buNone/>
            </a:pPr>
            <a:r>
              <a:rPr lang="en-US" altLang="en-US"/>
              <a:t>	Output: control parameters</a:t>
            </a:r>
          </a:p>
          <a:p>
            <a:pPr marL="914400" lvl="2" eaLnBrk="1" hangingPunct="1">
              <a:spcBef>
                <a:spcPct val="10000"/>
              </a:spcBef>
            </a:pPr>
            <a:r>
              <a:rPr lang="en-US" altLang="en-US"/>
              <a:t>Learn ill-structured control functions</a:t>
            </a:r>
          </a:p>
        </p:txBody>
      </p:sp>
    </p:spTree>
    <p:extLst>
      <p:ext uri="{BB962C8B-B14F-4D97-AF65-F5344CB8AC3E}">
        <p14:creationId xmlns:p14="http://schemas.microsoft.com/office/powerpoint/2010/main" val="362559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28625"/>
            <a:ext cx="8058150" cy="6100763"/>
          </a:xfrm>
        </p:spPr>
        <p:txBody>
          <a:bodyPr/>
          <a:lstStyle/>
          <a:p>
            <a:pPr lvl="1" eaLnBrk="1" hangingPunct="1">
              <a:spcBef>
                <a:spcPct val="10000"/>
              </a:spcBef>
              <a:defRPr/>
            </a:pPr>
            <a:r>
              <a:rPr lang="en-US" sz="2400" dirty="0"/>
              <a:t>Stock market forecasting</a:t>
            </a:r>
          </a:p>
          <a:p>
            <a:pPr lvl="2" eaLnBrk="1" hangingPunct="1">
              <a:spcBef>
                <a:spcPct val="10000"/>
              </a:spcBef>
              <a:defRPr/>
            </a:pPr>
            <a:r>
              <a:rPr lang="en-US" dirty="0"/>
              <a:t>Input: financial factors (CPI, interest rate, etc.) and stock quotes of previous days (weeks)</a:t>
            </a:r>
          </a:p>
          <a:p>
            <a:pPr lvl="2" eaLnBrk="1" hangingPunct="1">
              <a:spcBef>
                <a:spcPct val="10000"/>
              </a:spcBef>
              <a:buFontTx/>
              <a:buNone/>
              <a:defRPr/>
            </a:pPr>
            <a:r>
              <a:rPr lang="en-US" dirty="0"/>
              <a:t>	Output: forecast of stock prices or stock indices (e.g., S&amp;P 500)</a:t>
            </a:r>
          </a:p>
          <a:p>
            <a:pPr lvl="2" eaLnBrk="1" hangingPunct="1">
              <a:spcBef>
                <a:spcPct val="10000"/>
              </a:spcBef>
              <a:defRPr/>
            </a:pPr>
            <a:r>
              <a:rPr lang="en-US" dirty="0"/>
              <a:t>Training samples: stock market data of past few years</a:t>
            </a:r>
          </a:p>
          <a:p>
            <a:pPr lvl="1" eaLnBrk="1" hangingPunct="1">
              <a:spcBef>
                <a:spcPct val="10000"/>
              </a:spcBef>
              <a:defRPr/>
            </a:pPr>
            <a:r>
              <a:rPr lang="en-US" sz="2400" dirty="0"/>
              <a:t>Consumer credit evaluation</a:t>
            </a:r>
          </a:p>
          <a:p>
            <a:pPr lvl="2" eaLnBrk="1" hangingPunct="1">
              <a:spcBef>
                <a:spcPct val="10000"/>
              </a:spcBef>
              <a:defRPr/>
            </a:pPr>
            <a:r>
              <a:rPr lang="en-US" dirty="0"/>
              <a:t>Input: personal financial information (income, debt, payment history, etc.)</a:t>
            </a:r>
          </a:p>
          <a:p>
            <a:pPr lvl="2" eaLnBrk="1" hangingPunct="1">
              <a:spcBef>
                <a:spcPct val="10000"/>
              </a:spcBef>
              <a:defRPr/>
            </a:pPr>
            <a:r>
              <a:rPr lang="en-US" dirty="0"/>
              <a:t>Output: credit rating  </a:t>
            </a:r>
            <a:endParaRPr lang="en-US" sz="2000" dirty="0"/>
          </a:p>
          <a:p>
            <a:pPr lvl="1" eaLnBrk="1" hangingPunct="1">
              <a:spcBef>
                <a:spcPct val="10000"/>
              </a:spcBef>
              <a:defRPr/>
            </a:pPr>
            <a:r>
              <a:rPr lang="en-US" sz="2400" dirty="0"/>
              <a:t>And many more</a:t>
            </a:r>
          </a:p>
          <a:p>
            <a:pPr lvl="1" eaLnBrk="1" hangingPunct="1">
              <a:spcBef>
                <a:spcPct val="10000"/>
              </a:spcBef>
              <a:defRPr/>
            </a:pPr>
            <a:r>
              <a:rPr lang="en-US" sz="2400" dirty="0"/>
              <a:t>Key for successful application</a:t>
            </a:r>
          </a:p>
          <a:p>
            <a:pPr lvl="2" eaLnBrk="1" hangingPunct="1">
              <a:spcBef>
                <a:spcPct val="10000"/>
              </a:spcBef>
              <a:defRPr/>
            </a:pPr>
            <a:r>
              <a:rPr lang="en-US" dirty="0"/>
              <a:t>Careful design of input vector (including all </a:t>
            </a:r>
            <a:r>
              <a:rPr lang="en-US" b="1" dirty="0">
                <a:solidFill>
                  <a:schemeClr val="accent6"/>
                </a:solidFill>
              </a:rPr>
              <a:t>important</a:t>
            </a:r>
            <a:r>
              <a:rPr lang="en-US" dirty="0"/>
              <a:t> features): some domain knowledge </a:t>
            </a:r>
          </a:p>
          <a:p>
            <a:pPr lvl="2" eaLnBrk="1" hangingPunct="1">
              <a:spcBef>
                <a:spcPct val="10000"/>
              </a:spcBef>
              <a:defRPr/>
            </a:pPr>
            <a:r>
              <a:rPr lang="en-US" dirty="0"/>
              <a:t>Obtain good training samples: time and other cost</a:t>
            </a:r>
            <a:endParaRPr lang="en-US" sz="2000" dirty="0"/>
          </a:p>
          <a:p>
            <a:pPr lvl="1" eaLnBrk="1" hangingPunct="1">
              <a:spcBef>
                <a:spcPct val="10000"/>
              </a:spcBef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953665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836613"/>
            <a:ext cx="7772400" cy="5830887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 b="1"/>
              <a:t>Architecture</a:t>
            </a:r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/>
              <a:t>Multi-layer, feed-forward (full connection between nodes in adjacent layers, no connection within a layer)</a:t>
            </a:r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>
                <a:solidFill>
                  <a:schemeClr val="accent2"/>
                </a:solidFill>
              </a:rPr>
              <a:t>One or more hidden layers with non-linear activation function (most commonly used are sigmoid functions)</a:t>
            </a:r>
            <a:r>
              <a:rPr lang="en-US" altLang="en-US" sz="2400"/>
              <a:t> 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400" b="1"/>
              <a:t>BP learning algorithm</a:t>
            </a:r>
            <a:endParaRPr lang="en-US" altLang="en-US" sz="2400"/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/>
              <a:t>Supervised learning (samples (</a:t>
            </a:r>
            <a:r>
              <a:rPr lang="en-US" altLang="en-US" sz="2400" i="1"/>
              <a:t>x</a:t>
            </a:r>
            <a:r>
              <a:rPr lang="en-US" altLang="en-US" sz="2400" i="1" baseline="-25000"/>
              <a:t>p</a:t>
            </a:r>
            <a:r>
              <a:rPr lang="en-US" altLang="en-US" sz="2400" i="1"/>
              <a:t>, d</a:t>
            </a:r>
            <a:r>
              <a:rPr lang="en-US" altLang="en-US" sz="2400" i="1" baseline="-25000"/>
              <a:t>p</a:t>
            </a:r>
            <a:r>
              <a:rPr lang="en-US" altLang="en-US" sz="2400"/>
              <a:t>))</a:t>
            </a:r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/>
              <a:t>Approach: </a:t>
            </a:r>
            <a:r>
              <a:rPr lang="en-US" altLang="en-US" sz="2400">
                <a:solidFill>
                  <a:schemeClr val="accent2"/>
                </a:solidFill>
              </a:rPr>
              <a:t>gradient descent</a:t>
            </a:r>
            <a:r>
              <a:rPr lang="en-US" altLang="en-US" sz="2400"/>
              <a:t> to reduce the total error </a:t>
            </a:r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  <a:buFontTx/>
              <a:buNone/>
            </a:pPr>
            <a:r>
              <a:rPr lang="en-US" altLang="en-US" sz="2400"/>
              <a:t>	</a:t>
            </a:r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  <a:buFontTx/>
              <a:buNone/>
            </a:pPr>
            <a:r>
              <a:rPr lang="en-US" altLang="en-US" sz="2400"/>
              <a:t>	(why it is also called generalized delta rule)</a:t>
            </a:r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/>
              <a:t>Error terms at output nodes</a:t>
            </a:r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  <a:buFontTx/>
              <a:buNone/>
            </a:pPr>
            <a:r>
              <a:rPr lang="en-US" altLang="en-US" sz="2400"/>
              <a:t>	</a:t>
            </a:r>
            <a:r>
              <a:rPr lang="en-US" altLang="en-US" sz="2400">
                <a:solidFill>
                  <a:schemeClr val="accent2"/>
                </a:solidFill>
              </a:rPr>
              <a:t>error terms at hidden nodes</a:t>
            </a:r>
            <a:r>
              <a:rPr lang="en-US" altLang="en-US" sz="2400"/>
              <a:t> (why it is called error BP)</a:t>
            </a:r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/>
              <a:t>Ways to speed up the learning process</a:t>
            </a:r>
          </a:p>
          <a:p>
            <a:pPr lvl="2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200"/>
              <a:t>Adding momentum terms</a:t>
            </a:r>
          </a:p>
          <a:p>
            <a:pPr lvl="2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200"/>
              <a:t>Adaptive learning rate (delta-bar-delta)</a:t>
            </a:r>
          </a:p>
          <a:p>
            <a:pPr lvl="2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200"/>
              <a:t>Quickprop</a:t>
            </a:r>
          </a:p>
          <a:p>
            <a:pPr lvl="1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/>
              <a:t>Generalization (cross-validation test)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Summary of BP Nets</a:t>
            </a:r>
          </a:p>
        </p:txBody>
      </p:sp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1492250" y="3511550"/>
          <a:ext cx="189706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531" imgH="165028" progId="Equation.3">
                  <p:embed/>
                </p:oleObj>
              </mc:Choice>
              <mc:Fallback>
                <p:oleObj name="Equation" r:id="rId2" imgW="850531" imgH="165028" progId="Equation.3">
                  <p:embed/>
                  <p:pic>
                    <p:nvPicPr>
                      <p:cNvPr id="419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0" y="3511550"/>
                        <a:ext cx="189706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33878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85750" y="300038"/>
            <a:ext cx="8672513" cy="6557962"/>
          </a:xfrm>
          <a:noFill/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en-US" sz="2400" b="1"/>
              <a:t>Strengths of BP learning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>
                <a:solidFill>
                  <a:schemeClr val="accent2"/>
                </a:solidFill>
              </a:rPr>
              <a:t>Great representation power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Wide practical applicability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Easy to implement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Good generalization power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sz="2400" b="1"/>
              <a:t>Problems of BP learning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Learning often takes a long time to converge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The net is essentially a black box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Gradient descent approach only guarantees a local minimum error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Not every function that is representable can be learned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Generalization is not guaranteed even if the error is reduced to zero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No well-founded way to assess the quality of BP learning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Network paralysis may occur (learning is stopped)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Selection of learning parameters can only be done by trial-and-error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200"/>
              <a:t>BP learning is non-incremental (to include new training samples, the network must be re-trained with all old and new samples)</a:t>
            </a:r>
          </a:p>
        </p:txBody>
      </p:sp>
    </p:spTree>
    <p:extLst>
      <p:ext uri="{BB962C8B-B14F-4D97-AF65-F5344CB8AC3E}">
        <p14:creationId xmlns:p14="http://schemas.microsoft.com/office/powerpoint/2010/main" val="18987510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>
                <a:solidFill>
                  <a:srgbClr val="FF0000"/>
                </a:solidFill>
              </a:rPr>
              <a:t>http://www.cmpe.boun.edu.tr/~ethem/i2ml3e</a:t>
            </a:r>
          </a:p>
          <a:p>
            <a:pPr fontAlgn="ctr"/>
            <a:r>
              <a:rPr lang="en-US" dirty="0"/>
              <a:t>https://users.cs.fiu.edu/~taoli/class/CAP4770-F10/class08.ppt</a:t>
            </a:r>
          </a:p>
          <a:p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02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38668</TotalTime>
  <Words>4420</Words>
  <Application>Microsoft Macintosh PowerPoint</Application>
  <PresentationFormat>On-screen Show (4:3)</PresentationFormat>
  <Paragraphs>681</Paragraphs>
  <Slides>72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72</vt:i4>
      </vt:variant>
    </vt:vector>
  </HeadingPairs>
  <TitlesOfParts>
    <vt:vector size="86" baseType="lpstr">
      <vt:lpstr>宋体</vt:lpstr>
      <vt:lpstr>Arial</vt:lpstr>
      <vt:lpstr>Calibri</vt:lpstr>
      <vt:lpstr>Gill Sans MT</vt:lpstr>
      <vt:lpstr>Symbol</vt:lpstr>
      <vt:lpstr>Times New Roman</vt:lpstr>
      <vt:lpstr>Verdana</vt:lpstr>
      <vt:lpstr>Wingdings</vt:lpstr>
      <vt:lpstr>Wingdings 2</vt:lpstr>
      <vt:lpstr>Solstice</vt:lpstr>
      <vt:lpstr>Equation.3</vt:lpstr>
      <vt:lpstr>Bitmap Image</vt:lpstr>
      <vt:lpstr>Equation</vt:lpstr>
      <vt:lpstr>XIF</vt:lpstr>
      <vt:lpstr>CSCE883 Machine Learning</vt:lpstr>
      <vt:lpstr>Artificial Neural Networks</vt:lpstr>
      <vt:lpstr>What are Neural Networks?</vt:lpstr>
      <vt:lpstr>PowerPoint Presentation</vt:lpstr>
      <vt:lpstr>ANNs – The basics</vt:lpstr>
      <vt:lpstr>PowerPoint Presentation</vt:lpstr>
      <vt:lpstr>PowerPoint Presentation</vt:lpstr>
      <vt:lpstr>Feed-forward nets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Voice Recognition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Recurrent Networks</vt:lpstr>
      <vt:lpstr>Hopfield Networks</vt:lpstr>
      <vt:lpstr>Recap – Neural Networks</vt:lpstr>
      <vt:lpstr>The Machine Learning Zoo</vt:lpstr>
      <vt:lpstr>PowerPoint Presentation</vt:lpstr>
      <vt:lpstr>Backpropagation Learning</vt:lpstr>
      <vt:lpstr>BP Learning</vt:lpstr>
      <vt:lpstr>BP Learning</vt:lpstr>
      <vt:lpstr>BP Learning</vt:lpstr>
      <vt:lpstr>BP Learning</vt:lpstr>
      <vt:lpstr>BP Learning</vt:lpstr>
      <vt:lpstr>BP Learning</vt:lpstr>
      <vt:lpstr>Backpropagation Learning</vt:lpstr>
      <vt:lpstr>PowerPoint Presentation</vt:lpstr>
      <vt:lpstr>Search landscape</vt:lpstr>
      <vt:lpstr>BP Learning</vt:lpstr>
      <vt:lpstr>BP Learning</vt:lpstr>
      <vt:lpstr>PowerPoint Presentation</vt:lpstr>
      <vt:lpstr>PowerPoint Presentation</vt:lpstr>
      <vt:lpstr>BP Learning</vt:lpstr>
      <vt:lpstr>Strengths of BP Learning</vt:lpstr>
      <vt:lpstr>Deficiencies of BP Learning</vt:lpstr>
      <vt:lpstr>PowerPoint Presentation</vt:lpstr>
      <vt:lpstr>PowerPoint Presentation</vt:lpstr>
      <vt:lpstr>PowerPoint Presentation</vt:lpstr>
      <vt:lpstr>PowerPoint Presentation</vt:lpstr>
      <vt:lpstr>Practical Considerations</vt:lpstr>
      <vt:lpstr>PowerPoint Presentation</vt:lpstr>
      <vt:lpstr>PowerPoint Presentation</vt:lpstr>
      <vt:lpstr>PowerPoint Presentation</vt:lpstr>
      <vt:lpstr>Variations of BP nets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of BP Nets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BP Nets</vt:lpstr>
      <vt:lpstr>PowerPoint Presentation</vt:lpstr>
      <vt:lpstr>Acknowledgements</vt:lpstr>
    </vt:vector>
  </TitlesOfParts>
  <Company>University of South Carolina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jianjunh</dc:creator>
  <cp:lastModifiedBy>Hu, Jianjun</cp:lastModifiedBy>
  <cp:revision>164</cp:revision>
  <dcterms:created xsi:type="dcterms:W3CDTF">2016-01-10T23:57:09Z</dcterms:created>
  <dcterms:modified xsi:type="dcterms:W3CDTF">2024-10-03T15:00:53Z</dcterms:modified>
</cp:coreProperties>
</file>