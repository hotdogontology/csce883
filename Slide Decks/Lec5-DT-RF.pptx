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7"/>
  </p:notesMasterIdLst>
  <p:handoutMasterIdLst>
    <p:handoutMasterId r:id="rId68"/>
  </p:handoutMasterIdLst>
  <p:sldIdLst>
    <p:sldId id="256" r:id="rId2"/>
    <p:sldId id="355" r:id="rId3"/>
    <p:sldId id="356" r:id="rId4"/>
    <p:sldId id="357" r:id="rId5"/>
    <p:sldId id="358" r:id="rId6"/>
    <p:sldId id="359" r:id="rId7"/>
    <p:sldId id="360" r:id="rId8"/>
    <p:sldId id="361" r:id="rId9"/>
    <p:sldId id="362" r:id="rId10"/>
    <p:sldId id="363" r:id="rId11"/>
    <p:sldId id="364" r:id="rId12"/>
    <p:sldId id="365" r:id="rId13"/>
    <p:sldId id="366" r:id="rId14"/>
    <p:sldId id="367" r:id="rId15"/>
    <p:sldId id="368" r:id="rId16"/>
    <p:sldId id="369" r:id="rId17"/>
    <p:sldId id="370" r:id="rId18"/>
    <p:sldId id="371" r:id="rId19"/>
    <p:sldId id="372" r:id="rId20"/>
    <p:sldId id="373" r:id="rId21"/>
    <p:sldId id="374" r:id="rId22"/>
    <p:sldId id="375" r:id="rId23"/>
    <p:sldId id="376" r:id="rId24"/>
    <p:sldId id="377" r:id="rId25"/>
    <p:sldId id="378" r:id="rId26"/>
    <p:sldId id="380" r:id="rId27"/>
    <p:sldId id="381" r:id="rId28"/>
    <p:sldId id="382" r:id="rId29"/>
    <p:sldId id="383" r:id="rId30"/>
    <p:sldId id="384" r:id="rId31"/>
    <p:sldId id="385" r:id="rId32"/>
    <p:sldId id="386" r:id="rId33"/>
    <p:sldId id="387" r:id="rId34"/>
    <p:sldId id="388" r:id="rId35"/>
    <p:sldId id="389" r:id="rId36"/>
    <p:sldId id="390" r:id="rId37"/>
    <p:sldId id="391" r:id="rId38"/>
    <p:sldId id="392" r:id="rId39"/>
    <p:sldId id="393" r:id="rId40"/>
    <p:sldId id="394" r:id="rId41"/>
    <p:sldId id="395" r:id="rId42"/>
    <p:sldId id="396" r:id="rId43"/>
    <p:sldId id="397" r:id="rId44"/>
    <p:sldId id="398" r:id="rId45"/>
    <p:sldId id="399" r:id="rId46"/>
    <p:sldId id="400" r:id="rId47"/>
    <p:sldId id="401" r:id="rId48"/>
    <p:sldId id="402" r:id="rId49"/>
    <p:sldId id="403" r:id="rId50"/>
    <p:sldId id="404" r:id="rId51"/>
    <p:sldId id="405" r:id="rId52"/>
    <p:sldId id="406" r:id="rId53"/>
    <p:sldId id="407" r:id="rId54"/>
    <p:sldId id="408" r:id="rId55"/>
    <p:sldId id="409" r:id="rId56"/>
    <p:sldId id="410" r:id="rId57"/>
    <p:sldId id="411" r:id="rId58"/>
    <p:sldId id="413" r:id="rId59"/>
    <p:sldId id="269" r:id="rId60"/>
    <p:sldId id="286" r:id="rId61"/>
    <p:sldId id="415" r:id="rId62"/>
    <p:sldId id="412" r:id="rId63"/>
    <p:sldId id="416" r:id="rId64"/>
    <p:sldId id="414" r:id="rId65"/>
    <p:sldId id="354" r:id="rId6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11"/>
    <p:restoredTop sz="94726"/>
  </p:normalViewPr>
  <p:slideViewPr>
    <p:cSldViewPr>
      <p:cViewPr varScale="1">
        <p:scale>
          <a:sx n="120" d="100"/>
          <a:sy n="120" d="100"/>
        </p:scale>
        <p:origin x="1944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5580"/>
    </p:cViewPr>
  </p:sorterViewPr>
  <p:notesViewPr>
    <p:cSldViewPr>
      <p:cViewPr varScale="1">
        <p:scale>
          <a:sx n="72" d="100"/>
          <a:sy n="72" d="100"/>
        </p:scale>
        <p:origin x="2502" y="2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28DDF0-2F1A-4496-8269-66CEE088B180}" type="datetimeFigureOut">
              <a:rPr lang="en-US" smtClean="0"/>
              <a:t>9/8/26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FCAF37-003C-47AF-8570-21AA25E6F9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4171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A39702-A297-4D89-83BF-BB47F00D9574}" type="datetimeFigureOut">
              <a:rPr lang="en-US" smtClean="0"/>
              <a:t>9/8/26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C3DB24-E602-421D-9DCF-EE074627A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4501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0FF2D9D-BB99-4CA3-8C46-71D00675FD72}" type="slidenum">
              <a:rPr lang="en-US" altLang="en-US">
                <a:latin typeface="Calibri" panose="020F0502020204030204" pitchFamily="34" charset="0"/>
              </a:rPr>
              <a:pPr eaLnBrk="1" hangingPunct="1"/>
              <a:t>26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01631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427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1ED1E88-36B1-4602-8A3A-8BA8BA2B4A24}" type="slidenum">
              <a:rPr lang="en-US" altLang="en-US">
                <a:latin typeface="Calibri" panose="020F0502020204030204" pitchFamily="34" charset="0"/>
              </a:rPr>
              <a:pPr eaLnBrk="1" hangingPunct="1"/>
              <a:t>27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31719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D0BDB29-1F8C-4CA6-BFE4-987A8E63D1BF}" type="slidenum">
              <a:rPr lang="en-US" altLang="en-US">
                <a:latin typeface="Calibri" panose="020F0502020204030204" pitchFamily="34" charset="0"/>
              </a:rPr>
              <a:pPr eaLnBrk="1" hangingPunct="1"/>
              <a:t>28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8712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63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5A567F1-44B5-4139-8C4E-D9AD86520A65}" type="slidenum">
              <a:rPr lang="en-US" altLang="en-US">
                <a:latin typeface="Calibri" panose="020F0502020204030204" pitchFamily="34" charset="0"/>
              </a:rPr>
              <a:pPr eaLnBrk="1" hangingPunct="1"/>
              <a:t>29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96671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73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B3F6A54-BD57-4623-BB2D-81F38985CB55}" type="slidenum">
              <a:rPr lang="en-US" altLang="en-US">
                <a:latin typeface="Calibri" panose="020F0502020204030204" pitchFamily="34" charset="0"/>
              </a:rPr>
              <a:pPr eaLnBrk="1" hangingPunct="1"/>
              <a:t>30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93878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837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4E6774D-519E-496D-BB26-6B93D162097F}" type="slidenum">
              <a:rPr lang="en-US" altLang="en-US">
                <a:latin typeface="Calibri" panose="020F0502020204030204" pitchFamily="34" charset="0"/>
              </a:rPr>
              <a:pPr eaLnBrk="1" hangingPunct="1"/>
              <a:t>31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01686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63A0CA7-4655-40B5-87FB-D8FD892F182B}" type="slidenum">
              <a:rPr lang="en-US" altLang="en-US">
                <a:latin typeface="Calibri" panose="020F0502020204030204" pitchFamily="34" charset="0"/>
              </a:rPr>
              <a:pPr eaLnBrk="1" hangingPunct="1"/>
              <a:t>32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33507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041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BC185FF-28C0-4C18-A433-D53B3462B3F7}" type="slidenum">
              <a:rPr lang="en-US" altLang="en-US">
                <a:latin typeface="Calibri" panose="020F0502020204030204" pitchFamily="34" charset="0"/>
              </a:rPr>
              <a:pPr eaLnBrk="1" hangingPunct="1"/>
              <a:t>33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73500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95A2E13-0EA0-48E1-9D09-296B73880C5F}" type="slidenum">
              <a:rPr lang="en-US" altLang="en-US">
                <a:latin typeface="Calibri" panose="020F0502020204030204" pitchFamily="34" charset="0"/>
              </a:rPr>
              <a:pPr eaLnBrk="1" hangingPunct="1"/>
              <a:t>34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86536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F8A784A-DB19-498A-B637-6819C76DBD9F}" type="slidenum">
              <a:rPr lang="en-US" altLang="en-US">
                <a:latin typeface="Calibri" panose="020F0502020204030204" pitchFamily="34" charset="0"/>
              </a:rPr>
              <a:pPr eaLnBrk="1" hangingPunct="1"/>
              <a:t>35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2827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30857E7-5508-4D4A-9350-983D90E5D2F2}" type="slidenum">
              <a:rPr lang="en-US" altLang="en-US">
                <a:latin typeface="Calibri" panose="020F0502020204030204" pitchFamily="34" charset="0"/>
              </a:rPr>
              <a:pPr eaLnBrk="1" hangingPunct="1"/>
              <a:t>36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11746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91C4D4B-CD02-41DD-A881-DAF4367333CF}" type="slidenum">
              <a:rPr lang="en-US" altLang="en-US">
                <a:latin typeface="Calibri" panose="020F0502020204030204" pitchFamily="34" charset="0"/>
              </a:rPr>
              <a:pPr eaLnBrk="1" hangingPunct="1"/>
              <a:t>37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24680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A13F937-84A7-421B-83E3-D4A0822AE6AA}" type="slidenum">
              <a:rPr lang="en-US" altLang="en-US">
                <a:latin typeface="Calibri" panose="020F0502020204030204" pitchFamily="34" charset="0"/>
              </a:rPr>
              <a:pPr eaLnBrk="1" hangingPunct="1"/>
              <a:t>38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28885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65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24B5E7C-BE68-4677-BB5D-32ED455152E4}" type="slidenum">
              <a:rPr lang="en-US" altLang="en-US">
                <a:latin typeface="Calibri" panose="020F0502020204030204" pitchFamily="34" charset="0"/>
              </a:rPr>
              <a:pPr eaLnBrk="1" hangingPunct="1"/>
              <a:t>39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39734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E7BA497-E897-41C1-BD14-428EC8400B04}" type="slidenum">
              <a:rPr lang="en-US" altLang="en-US">
                <a:latin typeface="Calibri" panose="020F0502020204030204" pitchFamily="34" charset="0"/>
              </a:rPr>
              <a:pPr eaLnBrk="1" hangingPunct="1"/>
              <a:t>40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31943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C3840ED-4C39-4539-BCC0-BB932DC77D44}" type="slidenum">
              <a:rPr lang="en-US" altLang="en-US">
                <a:latin typeface="Calibri" panose="020F0502020204030204" pitchFamily="34" charset="0"/>
              </a:rPr>
              <a:pPr eaLnBrk="1" hangingPunct="1"/>
              <a:t>41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075407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D5AC182-790C-430E-BACF-2C353A527966}" type="slidenum">
              <a:rPr lang="en-US" altLang="en-US">
                <a:latin typeface="Calibri" panose="020F0502020204030204" pitchFamily="34" charset="0"/>
              </a:rPr>
              <a:pPr eaLnBrk="1" hangingPunct="1"/>
              <a:t>42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113869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42DE314-EAFD-4509-B3D4-9AB3D49EBE30}" type="slidenum">
              <a:rPr lang="en-US" altLang="en-US">
                <a:latin typeface="Calibri" panose="020F0502020204030204" pitchFamily="34" charset="0"/>
              </a:rPr>
              <a:pPr eaLnBrk="1" hangingPunct="1"/>
              <a:t>43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326012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42B7007-3CE0-4FBD-863F-77B9D66B4D75}" type="slidenum">
              <a:rPr lang="en-US" altLang="en-US">
                <a:latin typeface="Calibri" panose="020F0502020204030204" pitchFamily="34" charset="0"/>
              </a:rPr>
              <a:pPr eaLnBrk="1" hangingPunct="1"/>
              <a:t>44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613523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5C4C945-F3E5-4984-BAA6-19B306DBDF11}" type="slidenum">
              <a:rPr lang="en-US" altLang="en-US">
                <a:latin typeface="Calibri" panose="020F0502020204030204" pitchFamily="34" charset="0"/>
              </a:rPr>
              <a:pPr eaLnBrk="1" hangingPunct="1"/>
              <a:t>45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656412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EE0659E-E365-4776-8CFB-72F7FCC8A764}" type="slidenum">
              <a:rPr lang="en-US" altLang="en-US">
                <a:latin typeface="Calibri" panose="020F0502020204030204" pitchFamily="34" charset="0"/>
              </a:rPr>
              <a:pPr eaLnBrk="1" hangingPunct="1"/>
              <a:t>46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179631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475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D9D1BAE-2DFE-418E-B75E-84148B6BC4FD}" type="slidenum">
              <a:rPr lang="en-US" altLang="en-US">
                <a:latin typeface="Calibri" panose="020F0502020204030204" pitchFamily="34" charset="0"/>
              </a:rPr>
              <a:pPr eaLnBrk="1" hangingPunct="1"/>
              <a:t>47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948706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57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261AA0A-E5D9-40A8-9590-DCE5A6B63B50}" type="slidenum">
              <a:rPr lang="en-US" altLang="en-US">
                <a:latin typeface="Calibri" panose="020F0502020204030204" pitchFamily="34" charset="0"/>
              </a:rPr>
              <a:pPr eaLnBrk="1" hangingPunct="1"/>
              <a:t>48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254222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680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E3E4F64-860E-439F-BFA9-3CFE40373A25}" type="slidenum">
              <a:rPr lang="en-US" altLang="en-US">
                <a:latin typeface="Calibri" panose="020F0502020204030204" pitchFamily="34" charset="0"/>
              </a:rPr>
              <a:pPr eaLnBrk="1" hangingPunct="1"/>
              <a:t>49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661258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782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75C94E9-6533-4A17-B4B6-F29A2F54451E}" type="slidenum">
              <a:rPr lang="en-US" altLang="en-US">
                <a:latin typeface="Calibri" panose="020F0502020204030204" pitchFamily="34" charset="0"/>
              </a:rPr>
              <a:pPr eaLnBrk="1" hangingPunct="1"/>
              <a:t>50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002359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885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01B498C-6382-4CB8-89FA-4BC9B3196915}" type="slidenum">
              <a:rPr lang="en-US" altLang="en-US">
                <a:latin typeface="Calibri" panose="020F0502020204030204" pitchFamily="34" charset="0"/>
              </a:rPr>
              <a:pPr eaLnBrk="1" hangingPunct="1"/>
              <a:t>51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090073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987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1C2CF95-BD45-4213-BA14-66DB3CF02AAB}" type="slidenum">
              <a:rPr lang="en-US" altLang="en-US">
                <a:latin typeface="Calibri" panose="020F0502020204030204" pitchFamily="34" charset="0"/>
              </a:rPr>
              <a:pPr eaLnBrk="1" hangingPunct="1"/>
              <a:t>52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053729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08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1EC5D47-A5BA-4115-A872-E71D0154350B}" type="slidenum">
              <a:rPr lang="en-US" altLang="en-US">
                <a:latin typeface="Calibri" panose="020F0502020204030204" pitchFamily="34" charset="0"/>
              </a:rPr>
              <a:pPr eaLnBrk="1" hangingPunct="1"/>
              <a:t>53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650814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60242E3-A090-45B4-9EFC-EEAC94D74A49}" type="slidenum">
              <a:rPr lang="en-US" altLang="en-US">
                <a:latin typeface="Calibri" panose="020F0502020204030204" pitchFamily="34" charset="0"/>
              </a:rPr>
              <a:pPr eaLnBrk="1" hangingPunct="1"/>
              <a:t>54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98389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572EF33-45DE-44C3-A4EF-EDA04C5253B1}" type="slidenum">
              <a:rPr lang="en-US" altLang="en-US">
                <a:latin typeface="Calibri" panose="020F0502020204030204" pitchFamily="34" charset="0"/>
              </a:rPr>
              <a:pPr eaLnBrk="1" hangingPunct="1"/>
              <a:t>55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224905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397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F58CB63-DF5B-478D-B31E-57A6DDAC28DD}" type="slidenum">
              <a:rPr lang="en-US" altLang="en-US">
                <a:latin typeface="Calibri" panose="020F0502020204030204" pitchFamily="34" charset="0"/>
              </a:rPr>
              <a:pPr eaLnBrk="1" hangingPunct="1"/>
              <a:t>56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978127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B66BEB3-DED0-4756-B0FC-705435B5557F}" type="slidenum">
              <a:rPr lang="en-US" altLang="en-US">
                <a:latin typeface="Calibri" panose="020F0502020204030204" pitchFamily="34" charset="0"/>
              </a:rPr>
              <a:pPr eaLnBrk="1" hangingPunct="1"/>
              <a:t>57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87735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704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DE1C1D1-F472-43C5-B277-517E27E1D25D}" type="slidenum">
              <a:rPr lang="en-US" altLang="en-US">
                <a:latin typeface="Calibri" panose="020F0502020204030204" pitchFamily="34" charset="0"/>
              </a:rPr>
              <a:pPr eaLnBrk="1" hangingPunct="1"/>
              <a:t>58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275447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601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57AE195-AFCA-437E-8211-FED12AC01133}" type="slidenum">
              <a:rPr lang="en-US" altLang="en-US">
                <a:latin typeface="Calibri" panose="020F0502020204030204" pitchFamily="34" charset="0"/>
              </a:rPr>
              <a:pPr eaLnBrk="1" hangingPunct="1"/>
              <a:t>62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582897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80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60EF9DD-80DF-4623-BF9D-952BCCBD873C}" type="slidenum">
              <a:rPr lang="en-US" altLang="en-US">
                <a:latin typeface="Calibri" panose="020F0502020204030204" pitchFamily="34" charset="0"/>
              </a:rPr>
              <a:pPr eaLnBrk="1" hangingPunct="1"/>
              <a:t>64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20906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9A02C-F697-497B-BDAB-6F177ED506DB}" type="datetimeFigureOut">
              <a:rPr lang="en-US" smtClean="0"/>
              <a:t>9/8/26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368F1-EE48-4505-B4A7-1B24316B652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9A02C-F697-497B-BDAB-6F177ED506DB}" type="datetimeFigureOut">
              <a:rPr lang="en-US" smtClean="0"/>
              <a:t>9/8/26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368F1-EE48-4505-B4A7-1B24316B652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9A02C-F697-497B-BDAB-6F177ED506DB}" type="datetimeFigureOut">
              <a:rPr lang="en-US" smtClean="0"/>
              <a:t>9/8/26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368F1-EE48-4505-B4A7-1B24316B6520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9A02C-F697-497B-BDAB-6F177ED506DB}" type="datetimeFigureOut">
              <a:rPr lang="en-US" smtClean="0"/>
              <a:t>9/8/26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368F1-EE48-4505-B4A7-1B24316B652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9A02C-F697-497B-BDAB-6F177ED506DB}" type="datetimeFigureOut">
              <a:rPr lang="en-US" smtClean="0"/>
              <a:t>9/8/26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368F1-EE48-4505-B4A7-1B24316B652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9A02C-F697-497B-BDAB-6F177ED506DB}" type="datetimeFigureOut">
              <a:rPr lang="en-US" smtClean="0"/>
              <a:t>9/8/26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368F1-EE48-4505-B4A7-1B24316B652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9A02C-F697-497B-BDAB-6F177ED506DB}" type="datetimeFigureOut">
              <a:rPr lang="en-US" smtClean="0"/>
              <a:t>9/8/26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368F1-EE48-4505-B4A7-1B24316B6520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9A02C-F697-497B-BDAB-6F177ED506DB}" type="datetimeFigureOut">
              <a:rPr lang="en-US" smtClean="0"/>
              <a:t>9/8/26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368F1-EE48-4505-B4A7-1B24316B652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9A02C-F697-497B-BDAB-6F177ED506DB}" type="datetimeFigureOut">
              <a:rPr lang="en-US" smtClean="0"/>
              <a:t>9/8/26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368F1-EE48-4505-B4A7-1B24316B652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9A02C-F697-497B-BDAB-6F177ED506DB}" type="datetimeFigureOut">
              <a:rPr lang="en-US" smtClean="0"/>
              <a:t>9/8/26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368F1-EE48-4505-B4A7-1B24316B652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9A02C-F697-497B-BDAB-6F177ED506DB}" type="datetimeFigureOut">
              <a:rPr lang="en-US" smtClean="0"/>
              <a:t>9/8/26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368F1-EE48-4505-B4A7-1B24316B652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4038600" cy="1866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4000500"/>
            <a:ext cx="4038600" cy="1866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>
          <a:xfrm>
            <a:off x="0" y="6642100"/>
            <a:ext cx="6048375" cy="2159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Lecture Notes for E Alpaydın 2010 Introduction to Machine Learning 2e © The MIT Press (V1.0)</a:t>
            </a:r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>
          <a:xfrm>
            <a:off x="6588125" y="623728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A39B8558-237D-48F7-A04B-F8553EDB6E25}" type="slidenum">
              <a:rPr lang="tr-TR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151484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381000"/>
            <a:ext cx="8402638" cy="609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04800" y="1371600"/>
            <a:ext cx="4152900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0100" y="1371600"/>
            <a:ext cx="4152900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04800" y="6477000"/>
            <a:ext cx="1905000" cy="3810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5B43AC-D207-4E58-B3D8-6DD0ABF1891F}" type="datetime4">
              <a:rPr lang="en-US"/>
              <a:pPr>
                <a:defRPr/>
              </a:pPr>
              <a:t>September 8,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352800" y="6477000"/>
            <a:ext cx="2895600" cy="3810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 Mining: Concepts and Techniques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239000" y="6477000"/>
            <a:ext cx="1905000" cy="381000"/>
          </a:xfrm>
        </p:spPr>
        <p:txBody>
          <a:bodyPr/>
          <a:lstStyle>
            <a:lvl1pPr>
              <a:defRPr/>
            </a:lvl1pPr>
          </a:lstStyle>
          <a:p>
            <a:fld id="{51677093-B454-4A64-8BDB-5834D2C2F5A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70237532"/>
      </p:ext>
    </p:extLst>
  </p:cSld>
  <p:clrMapOvr>
    <a:masterClrMapping/>
  </p:clrMapOvr>
  <p:transition>
    <p:zo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8B29A02C-F697-497B-BDAB-6F177ED506DB}" type="datetimeFigureOut">
              <a:rPr lang="en-US" smtClean="0"/>
              <a:t>9/8/26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1C2368F1-EE48-4505-B4A7-1B24316B6520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7" Type="http://schemas.openxmlformats.org/officeDocument/2006/relationships/image" Target="../media/image6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5.wmf"/><Relationship Id="rId4" Type="http://schemas.openxmlformats.org/officeDocument/2006/relationships/oleObject" Target="../embeddings/oleObject3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8.wmf"/><Relationship Id="rId4" Type="http://schemas.openxmlformats.org/officeDocument/2006/relationships/oleObject" Target="../embeddings/oleObject6.bin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png"/><Relationship Id="rId5" Type="http://schemas.openxmlformats.org/officeDocument/2006/relationships/image" Target="../media/image12.wmf"/><Relationship Id="rId4" Type="http://schemas.openxmlformats.org/officeDocument/2006/relationships/oleObject" Target="../embeddings/oleObject8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1.bin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15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wmf"/><Relationship Id="rId4" Type="http://schemas.openxmlformats.org/officeDocument/2006/relationships/oleObject" Target="../embeddings/oleObject13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oleObject" Target="../embeddings/oleObject18.bin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oleObject" Target="../embeddings/oleObject19.bin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oleObject" Target="../embeddings/oleObject20.bin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oleObject" Target="../embeddings/oleObject21.bin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2" Type="http://schemas.openxmlformats.org/officeDocument/2006/relationships/oleObject" Target="../embeddings/oleObject22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wmf"/><Relationship Id="rId4" Type="http://schemas.openxmlformats.org/officeDocument/2006/relationships/oleObject" Target="../embeddings/oleObject23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wmf"/><Relationship Id="rId2" Type="http://schemas.openxmlformats.org/officeDocument/2006/relationships/oleObject" Target="../embeddings/oleObject24.bin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emf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Phenomenon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en.wikipedia.org/wiki/Theory" TargetMode="External"/><Relationship Id="rId4" Type="http://schemas.openxmlformats.org/officeDocument/2006/relationships/hyperlink" Target="http://en.wikipedia.org/wiki/Hypothesis" TargetMode="Externa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Claude_E._Shannon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en.wikipedia.org/wiki/Information_entropy" TargetMode="External"/><Relationship Id="rId4" Type="http://schemas.openxmlformats.org/officeDocument/2006/relationships/hyperlink" Target="http://en.wikipedia.org/wiki/A_Mathematical_Theory_of_Communication" TargetMode="Externa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Information_entropy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wmf"/><Relationship Id="rId5" Type="http://schemas.openxmlformats.org/officeDocument/2006/relationships/oleObject" Target="../embeddings/oleObject27.bin"/><Relationship Id="rId4" Type="http://schemas.openxmlformats.org/officeDocument/2006/relationships/image" Target="../media/image46.w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wmf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wmf"/><Relationship Id="rId5" Type="http://schemas.openxmlformats.org/officeDocument/2006/relationships/oleObject" Target="../embeddings/oleObject29.bin"/><Relationship Id="rId4" Type="http://schemas.openxmlformats.org/officeDocument/2006/relationships/image" Target="../media/image54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6.png"/><Relationship Id="rId18" Type="http://schemas.openxmlformats.org/officeDocument/2006/relationships/image" Target="../media/image81.png"/><Relationship Id="rId26" Type="http://schemas.openxmlformats.org/officeDocument/2006/relationships/image" Target="../media/image89.png"/><Relationship Id="rId39" Type="http://schemas.openxmlformats.org/officeDocument/2006/relationships/image" Target="../media/image102.png"/><Relationship Id="rId21" Type="http://schemas.openxmlformats.org/officeDocument/2006/relationships/image" Target="../media/image84.png"/><Relationship Id="rId34" Type="http://schemas.openxmlformats.org/officeDocument/2006/relationships/image" Target="../media/image97.png"/><Relationship Id="rId42" Type="http://schemas.openxmlformats.org/officeDocument/2006/relationships/image" Target="../media/image105.png"/><Relationship Id="rId47" Type="http://schemas.openxmlformats.org/officeDocument/2006/relationships/image" Target="../media/image110.png"/><Relationship Id="rId7" Type="http://schemas.openxmlformats.org/officeDocument/2006/relationships/image" Target="../media/image70.png"/><Relationship Id="rId2" Type="http://schemas.openxmlformats.org/officeDocument/2006/relationships/image" Target="../media/image65.png"/><Relationship Id="rId16" Type="http://schemas.openxmlformats.org/officeDocument/2006/relationships/image" Target="../media/image79.png"/><Relationship Id="rId29" Type="http://schemas.openxmlformats.org/officeDocument/2006/relationships/image" Target="../media/image9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png"/><Relationship Id="rId11" Type="http://schemas.openxmlformats.org/officeDocument/2006/relationships/image" Target="../media/image74.png"/><Relationship Id="rId24" Type="http://schemas.openxmlformats.org/officeDocument/2006/relationships/image" Target="../media/image87.png"/><Relationship Id="rId32" Type="http://schemas.openxmlformats.org/officeDocument/2006/relationships/image" Target="../media/image95.png"/><Relationship Id="rId37" Type="http://schemas.openxmlformats.org/officeDocument/2006/relationships/image" Target="../media/image100.png"/><Relationship Id="rId40" Type="http://schemas.openxmlformats.org/officeDocument/2006/relationships/image" Target="../media/image103.png"/><Relationship Id="rId45" Type="http://schemas.openxmlformats.org/officeDocument/2006/relationships/image" Target="../media/image108.png"/><Relationship Id="rId5" Type="http://schemas.openxmlformats.org/officeDocument/2006/relationships/image" Target="../media/image68.png"/><Relationship Id="rId15" Type="http://schemas.openxmlformats.org/officeDocument/2006/relationships/image" Target="../media/image78.png"/><Relationship Id="rId23" Type="http://schemas.openxmlformats.org/officeDocument/2006/relationships/image" Target="../media/image86.png"/><Relationship Id="rId28" Type="http://schemas.openxmlformats.org/officeDocument/2006/relationships/image" Target="../media/image91.png"/><Relationship Id="rId36" Type="http://schemas.openxmlformats.org/officeDocument/2006/relationships/image" Target="../media/image99.png"/><Relationship Id="rId10" Type="http://schemas.openxmlformats.org/officeDocument/2006/relationships/image" Target="../media/image73.png"/><Relationship Id="rId19" Type="http://schemas.openxmlformats.org/officeDocument/2006/relationships/image" Target="../media/image82.png"/><Relationship Id="rId31" Type="http://schemas.openxmlformats.org/officeDocument/2006/relationships/image" Target="../media/image94.png"/><Relationship Id="rId44" Type="http://schemas.openxmlformats.org/officeDocument/2006/relationships/image" Target="../media/image107.png"/><Relationship Id="rId4" Type="http://schemas.openxmlformats.org/officeDocument/2006/relationships/image" Target="../media/image67.png"/><Relationship Id="rId9" Type="http://schemas.openxmlformats.org/officeDocument/2006/relationships/image" Target="../media/image72.png"/><Relationship Id="rId14" Type="http://schemas.openxmlformats.org/officeDocument/2006/relationships/image" Target="../media/image77.png"/><Relationship Id="rId22" Type="http://schemas.openxmlformats.org/officeDocument/2006/relationships/image" Target="../media/image85.png"/><Relationship Id="rId27" Type="http://schemas.openxmlformats.org/officeDocument/2006/relationships/image" Target="../media/image90.png"/><Relationship Id="rId30" Type="http://schemas.openxmlformats.org/officeDocument/2006/relationships/image" Target="../media/image93.png"/><Relationship Id="rId35" Type="http://schemas.openxmlformats.org/officeDocument/2006/relationships/image" Target="../media/image98.png"/><Relationship Id="rId43" Type="http://schemas.openxmlformats.org/officeDocument/2006/relationships/image" Target="../media/image106.png"/><Relationship Id="rId8" Type="http://schemas.openxmlformats.org/officeDocument/2006/relationships/image" Target="../media/image71.png"/><Relationship Id="rId3" Type="http://schemas.openxmlformats.org/officeDocument/2006/relationships/image" Target="../media/image66.png"/><Relationship Id="rId12" Type="http://schemas.openxmlformats.org/officeDocument/2006/relationships/image" Target="../media/image75.png"/><Relationship Id="rId17" Type="http://schemas.openxmlformats.org/officeDocument/2006/relationships/image" Target="../media/image80.png"/><Relationship Id="rId25" Type="http://schemas.openxmlformats.org/officeDocument/2006/relationships/image" Target="../media/image88.png"/><Relationship Id="rId33" Type="http://schemas.openxmlformats.org/officeDocument/2006/relationships/image" Target="../media/image96.png"/><Relationship Id="rId38" Type="http://schemas.openxmlformats.org/officeDocument/2006/relationships/image" Target="../media/image101.png"/><Relationship Id="rId46" Type="http://schemas.openxmlformats.org/officeDocument/2006/relationships/image" Target="../media/image109.png"/><Relationship Id="rId20" Type="http://schemas.openxmlformats.org/officeDocument/2006/relationships/image" Target="../media/image83.png"/><Relationship Id="rId41" Type="http://schemas.openxmlformats.org/officeDocument/2006/relationships/image" Target="../media/image104.png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Statistical_classification" TargetMode="External"/><Relationship Id="rId7" Type="http://schemas.openxmlformats.org/officeDocument/2006/relationships/hyperlink" Target="http://en.wikipedia.org/wiki/Outlier" TargetMode="Externa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en.wikipedia.org/wiki/Clustering" TargetMode="External"/><Relationship Id="rId5" Type="http://schemas.openxmlformats.org/officeDocument/2006/relationships/hyperlink" Target="http://en.wikipedia.org/wiki/Mode_(statistics)" TargetMode="External"/><Relationship Id="rId4" Type="http://schemas.openxmlformats.org/officeDocument/2006/relationships/hyperlink" Target="http://en.wikipedia.org/wiki/Decision_tree_learning" TargetMode="Externa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White_box_(software_engineering)" TargetMode="Externa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859302"/>
          </a:xfrm>
        </p:spPr>
        <p:txBody>
          <a:bodyPr/>
          <a:lstStyle/>
          <a:p>
            <a:r>
              <a:rPr lang="en-US" dirty="0"/>
              <a:t>CSCE</a:t>
            </a:r>
            <a:r>
              <a:rPr lang="en-US" altLang="zh-CN" dirty="0"/>
              <a:t>883</a:t>
            </a:r>
            <a:r>
              <a:rPr lang="en-US" dirty="0"/>
              <a:t> </a:t>
            </a:r>
            <a:r>
              <a:rPr lang="en-US" altLang="zh-CN" dirty="0"/>
              <a:t>Machine Learning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5400" y="4038600"/>
            <a:ext cx="7406640" cy="236220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Lecture 5 </a:t>
            </a:r>
            <a:r>
              <a:rPr lang="en-US" altLang="zh-CN" dirty="0"/>
              <a:t>Linear Discriminant, Logistic Regression, Decision Tree, Random Forest </a:t>
            </a:r>
            <a:endParaRPr lang="en-US" dirty="0"/>
          </a:p>
          <a:p>
            <a:pPr algn="ctr"/>
            <a:r>
              <a:rPr lang="en-US" dirty="0"/>
              <a:t>Jianjun Hu</a:t>
            </a:r>
          </a:p>
          <a:p>
            <a:pPr algn="ctr"/>
            <a:r>
              <a:rPr lang="en-US" dirty="0"/>
              <a:t>Department of Computer Science &amp; Engineering</a:t>
            </a:r>
          </a:p>
          <a:p>
            <a:pPr algn="ctr"/>
            <a:r>
              <a:rPr lang="en-US" dirty="0"/>
              <a:t>University of South Carolina</a:t>
            </a:r>
          </a:p>
        </p:txBody>
      </p:sp>
      <p:pic>
        <p:nvPicPr>
          <p:cNvPr id="11266" name="Picture 2" descr="Image result for university of south carolina  log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1676400"/>
            <a:ext cx="3578225" cy="2013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23444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4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/>
              <a:t>Likelihood- vs. Discriminant-based Classification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07B7EA5-D4EA-4D8D-84DC-A42BF2C29C87}" type="slidenum">
              <a:rPr lang="tr-TR"/>
              <a:pPr/>
              <a:t>2</a:t>
            </a:fld>
            <a:endParaRPr lang="tr-TR"/>
          </a:p>
        </p:txBody>
      </p:sp>
      <p:sp>
        <p:nvSpPr>
          <p:cNvPr id="36249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tr-TR" dirty="0">
                <a:solidFill>
                  <a:schemeClr val="accent1"/>
                </a:solidFill>
                <a:latin typeface="+mj-lt"/>
              </a:rPr>
              <a:t>Likelihood-based:</a:t>
            </a:r>
            <a:r>
              <a:rPr lang="tr-TR" dirty="0">
                <a:solidFill>
                  <a:schemeClr val="tx2"/>
                </a:solidFill>
                <a:latin typeface="+mj-lt"/>
              </a:rPr>
              <a:t> Assume a model for </a:t>
            </a:r>
            <a:r>
              <a:rPr lang="tr-TR" i="1" dirty="0">
                <a:solidFill>
                  <a:schemeClr val="tx2"/>
                </a:solidFill>
                <a:latin typeface="+mj-lt"/>
              </a:rPr>
              <a:t>p</a:t>
            </a:r>
            <a:r>
              <a:rPr lang="tr-TR" dirty="0">
                <a:solidFill>
                  <a:schemeClr val="tx2"/>
                </a:solidFill>
                <a:latin typeface="+mj-lt"/>
              </a:rPr>
              <a:t>(</a:t>
            </a:r>
            <a:r>
              <a:rPr lang="tr-TR" b="1" i="1" dirty="0">
                <a:solidFill>
                  <a:schemeClr val="tx2"/>
                </a:solidFill>
                <a:latin typeface="+mj-lt"/>
              </a:rPr>
              <a:t>x</a:t>
            </a:r>
            <a:r>
              <a:rPr lang="tr-TR" dirty="0">
                <a:solidFill>
                  <a:schemeClr val="tx2"/>
                </a:solidFill>
                <a:latin typeface="+mj-lt"/>
              </a:rPr>
              <a:t>|C</a:t>
            </a:r>
            <a:r>
              <a:rPr lang="tr-TR" i="1" baseline="-25000" dirty="0">
                <a:solidFill>
                  <a:schemeClr val="tx2"/>
                </a:solidFill>
                <a:latin typeface="+mj-lt"/>
              </a:rPr>
              <a:t>i</a:t>
            </a:r>
            <a:r>
              <a:rPr lang="tr-TR" dirty="0">
                <a:solidFill>
                  <a:schemeClr val="tx2"/>
                </a:solidFill>
                <a:latin typeface="+mj-lt"/>
              </a:rPr>
              <a:t>), use Bayes’ rule to calculate </a:t>
            </a:r>
            <a:r>
              <a:rPr lang="tr-TR" i="1" dirty="0">
                <a:solidFill>
                  <a:schemeClr val="tx2"/>
                </a:solidFill>
                <a:latin typeface="+mj-lt"/>
              </a:rPr>
              <a:t>P</a:t>
            </a:r>
            <a:r>
              <a:rPr lang="tr-TR" dirty="0">
                <a:solidFill>
                  <a:schemeClr val="tx2"/>
                </a:solidFill>
                <a:latin typeface="+mj-lt"/>
              </a:rPr>
              <a:t>(C</a:t>
            </a:r>
            <a:r>
              <a:rPr lang="tr-TR" i="1" baseline="-25000" dirty="0">
                <a:solidFill>
                  <a:schemeClr val="tx2"/>
                </a:solidFill>
                <a:latin typeface="+mj-lt"/>
              </a:rPr>
              <a:t>i</a:t>
            </a:r>
            <a:r>
              <a:rPr lang="tr-TR" dirty="0">
                <a:solidFill>
                  <a:schemeClr val="tx2"/>
                </a:solidFill>
                <a:latin typeface="+mj-lt"/>
              </a:rPr>
              <a:t>|</a:t>
            </a:r>
            <a:r>
              <a:rPr lang="tr-TR" b="1" i="1" dirty="0">
                <a:solidFill>
                  <a:schemeClr val="tx2"/>
                </a:solidFill>
                <a:latin typeface="+mj-lt"/>
              </a:rPr>
              <a:t>x</a:t>
            </a:r>
            <a:r>
              <a:rPr lang="tr-TR" dirty="0">
                <a:solidFill>
                  <a:schemeClr val="tx2"/>
                </a:solidFill>
                <a:latin typeface="+mj-lt"/>
              </a:rPr>
              <a:t>) </a:t>
            </a:r>
          </a:p>
          <a:p>
            <a:pPr>
              <a:buFont typeface="Wingdings" pitchFamily="2" charset="2"/>
              <a:buNone/>
            </a:pPr>
            <a:r>
              <a:rPr lang="tr-TR" i="1" dirty="0">
                <a:solidFill>
                  <a:schemeClr val="tx2"/>
                </a:solidFill>
                <a:latin typeface="+mj-lt"/>
              </a:rPr>
              <a:t>		g</a:t>
            </a:r>
            <a:r>
              <a:rPr lang="tr-TR" i="1" baseline="-25000" dirty="0">
                <a:solidFill>
                  <a:schemeClr val="tx2"/>
                </a:solidFill>
                <a:latin typeface="+mj-lt"/>
              </a:rPr>
              <a:t>i</a:t>
            </a:r>
            <a:r>
              <a:rPr lang="tr-TR" dirty="0">
                <a:solidFill>
                  <a:schemeClr val="tx2"/>
                </a:solidFill>
                <a:latin typeface="+mj-lt"/>
              </a:rPr>
              <a:t>(</a:t>
            </a:r>
            <a:r>
              <a:rPr lang="tr-TR" b="1" i="1" dirty="0">
                <a:solidFill>
                  <a:schemeClr val="tx2"/>
                </a:solidFill>
                <a:latin typeface="+mj-lt"/>
              </a:rPr>
              <a:t>x</a:t>
            </a:r>
            <a:r>
              <a:rPr lang="tr-TR" dirty="0">
                <a:solidFill>
                  <a:schemeClr val="tx2"/>
                </a:solidFill>
                <a:latin typeface="+mj-lt"/>
              </a:rPr>
              <a:t>) = log </a:t>
            </a:r>
            <a:r>
              <a:rPr lang="tr-TR" i="1" dirty="0">
                <a:solidFill>
                  <a:schemeClr val="tx2"/>
                </a:solidFill>
                <a:latin typeface="+mj-lt"/>
              </a:rPr>
              <a:t>P</a:t>
            </a:r>
            <a:r>
              <a:rPr lang="tr-TR" dirty="0">
                <a:solidFill>
                  <a:schemeClr val="tx2"/>
                </a:solidFill>
                <a:latin typeface="+mj-lt"/>
              </a:rPr>
              <a:t>(C</a:t>
            </a:r>
            <a:r>
              <a:rPr lang="tr-TR" i="1" baseline="-25000" dirty="0">
                <a:solidFill>
                  <a:schemeClr val="tx2"/>
                </a:solidFill>
                <a:latin typeface="+mj-lt"/>
              </a:rPr>
              <a:t>i</a:t>
            </a:r>
            <a:r>
              <a:rPr lang="tr-TR" dirty="0">
                <a:solidFill>
                  <a:schemeClr val="tx2"/>
                </a:solidFill>
                <a:latin typeface="+mj-lt"/>
              </a:rPr>
              <a:t>|</a:t>
            </a:r>
            <a:r>
              <a:rPr lang="tr-TR" b="1" i="1" dirty="0">
                <a:solidFill>
                  <a:schemeClr val="tx2"/>
                </a:solidFill>
                <a:latin typeface="+mj-lt"/>
              </a:rPr>
              <a:t>x</a:t>
            </a:r>
            <a:r>
              <a:rPr lang="tr-TR" dirty="0">
                <a:solidFill>
                  <a:schemeClr val="tx2"/>
                </a:solidFill>
                <a:latin typeface="+mj-lt"/>
              </a:rPr>
              <a:t>)</a:t>
            </a:r>
          </a:p>
          <a:p>
            <a:r>
              <a:rPr lang="tr-TR" dirty="0">
                <a:solidFill>
                  <a:schemeClr val="accent1"/>
                </a:solidFill>
                <a:latin typeface="+mj-lt"/>
              </a:rPr>
              <a:t>Discriminant-based:</a:t>
            </a:r>
            <a:r>
              <a:rPr lang="tr-TR" dirty="0">
                <a:solidFill>
                  <a:schemeClr val="tx2"/>
                </a:solidFill>
                <a:latin typeface="+mj-lt"/>
              </a:rPr>
              <a:t> Assume a model for </a:t>
            </a:r>
            <a:r>
              <a:rPr lang="tr-TR" i="1" dirty="0">
                <a:solidFill>
                  <a:schemeClr val="tx2"/>
                </a:solidFill>
                <a:latin typeface="+mj-lt"/>
              </a:rPr>
              <a:t>g</a:t>
            </a:r>
            <a:r>
              <a:rPr lang="tr-TR" i="1" baseline="-25000" dirty="0">
                <a:solidFill>
                  <a:schemeClr val="tx2"/>
                </a:solidFill>
                <a:latin typeface="+mj-lt"/>
              </a:rPr>
              <a:t>i</a:t>
            </a:r>
            <a:r>
              <a:rPr lang="tr-TR" dirty="0">
                <a:solidFill>
                  <a:schemeClr val="tx2"/>
                </a:solidFill>
                <a:latin typeface="+mj-lt"/>
              </a:rPr>
              <a:t>(</a:t>
            </a:r>
            <a:r>
              <a:rPr lang="tr-TR" b="1" i="1" dirty="0">
                <a:solidFill>
                  <a:schemeClr val="tx2"/>
                </a:solidFill>
                <a:latin typeface="+mj-lt"/>
              </a:rPr>
              <a:t>x</a:t>
            </a:r>
            <a:r>
              <a:rPr lang="tr-TR" b="1" dirty="0">
                <a:solidFill>
                  <a:schemeClr val="tx2"/>
                </a:solidFill>
                <a:latin typeface="+mj-lt"/>
              </a:rPr>
              <a:t>|</a:t>
            </a:r>
            <a:r>
              <a:rPr lang="tr-TR" dirty="0">
                <a:solidFill>
                  <a:schemeClr val="tx2"/>
                </a:solidFill>
                <a:latin typeface="+mj-lt"/>
              </a:rPr>
              <a:t>Φ</a:t>
            </a:r>
            <a:r>
              <a:rPr lang="tr-TR" i="1" baseline="-25000" dirty="0">
                <a:solidFill>
                  <a:schemeClr val="tx2"/>
                </a:solidFill>
                <a:latin typeface="+mj-lt"/>
              </a:rPr>
              <a:t>i</a:t>
            </a:r>
            <a:r>
              <a:rPr lang="tr-TR" dirty="0">
                <a:solidFill>
                  <a:schemeClr val="tx2"/>
                </a:solidFill>
                <a:latin typeface="+mj-lt"/>
              </a:rPr>
              <a:t>); no density estimation</a:t>
            </a:r>
          </a:p>
          <a:p>
            <a:r>
              <a:rPr lang="tr-TR" dirty="0">
                <a:solidFill>
                  <a:schemeClr val="tx2"/>
                </a:solidFill>
                <a:latin typeface="+mj-lt"/>
              </a:rPr>
              <a:t>Estimating the boundaries is enough; no need to accurately estimate the densities inside the boundaries</a:t>
            </a:r>
          </a:p>
        </p:txBody>
      </p:sp>
    </p:spTree>
    <p:extLst>
      <p:ext uri="{BB962C8B-B14F-4D97-AF65-F5344CB8AC3E}">
        <p14:creationId xmlns:p14="http://schemas.microsoft.com/office/powerpoint/2010/main" val="1080093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52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11560" y="1700808"/>
            <a:ext cx="8229600" cy="3886200"/>
          </a:xfrm>
        </p:spPr>
        <p:txBody>
          <a:bodyPr>
            <a:normAutofit/>
          </a:bodyPr>
          <a:lstStyle/>
          <a:p>
            <a:r>
              <a:rPr lang="tr-TR" sz="2400" dirty="0">
                <a:solidFill>
                  <a:schemeClr val="tx2"/>
                </a:solidFill>
                <a:latin typeface="+mj-lt"/>
              </a:rPr>
              <a:t>Linear discriminant:</a:t>
            </a:r>
          </a:p>
          <a:p>
            <a:endParaRPr lang="tr-TR" sz="2400" dirty="0">
              <a:solidFill>
                <a:schemeClr val="tx2"/>
              </a:solidFill>
              <a:latin typeface="+mj-lt"/>
            </a:endParaRPr>
          </a:p>
          <a:p>
            <a:endParaRPr lang="tr-TR" sz="2400" dirty="0">
              <a:solidFill>
                <a:schemeClr val="tx2"/>
              </a:solidFill>
              <a:latin typeface="+mj-lt"/>
            </a:endParaRPr>
          </a:p>
          <a:p>
            <a:r>
              <a:rPr lang="tr-TR" sz="2400" dirty="0">
                <a:solidFill>
                  <a:schemeClr val="tx2"/>
                </a:solidFill>
                <a:latin typeface="+mj-lt"/>
              </a:rPr>
              <a:t>Advantages:</a:t>
            </a:r>
          </a:p>
          <a:p>
            <a:pPr lvl="1"/>
            <a:r>
              <a:rPr lang="tr-TR" sz="2400" dirty="0">
                <a:solidFill>
                  <a:schemeClr val="tx2"/>
                </a:solidFill>
                <a:latin typeface="+mj-lt"/>
              </a:rPr>
              <a:t>Simple: O(</a:t>
            </a:r>
            <a:r>
              <a:rPr lang="tr-TR" sz="2400" i="1" dirty="0">
                <a:solidFill>
                  <a:schemeClr val="tx2"/>
                </a:solidFill>
                <a:latin typeface="+mj-lt"/>
              </a:rPr>
              <a:t>d</a:t>
            </a:r>
            <a:r>
              <a:rPr lang="tr-TR" sz="2400" dirty="0">
                <a:solidFill>
                  <a:schemeClr val="tx2"/>
                </a:solidFill>
                <a:latin typeface="+mj-lt"/>
              </a:rPr>
              <a:t>) space/computation </a:t>
            </a:r>
          </a:p>
          <a:p>
            <a:pPr lvl="1"/>
            <a:r>
              <a:rPr lang="tr-TR" sz="2400" dirty="0">
                <a:solidFill>
                  <a:schemeClr val="tx2"/>
                </a:solidFill>
                <a:latin typeface="+mj-lt"/>
              </a:rPr>
              <a:t>Knowledge extraction: Weighted sum of attributes; positive/negative weights, magnitudes (credit scoring)</a:t>
            </a:r>
          </a:p>
          <a:p>
            <a:pPr lvl="1"/>
            <a:r>
              <a:rPr lang="tr-TR" sz="2400" dirty="0">
                <a:solidFill>
                  <a:schemeClr val="tx2"/>
                </a:solidFill>
                <a:latin typeface="+mj-lt"/>
              </a:rPr>
              <a:t>Optimal when </a:t>
            </a:r>
            <a:r>
              <a:rPr lang="tr-TR" sz="2400" i="1" dirty="0">
                <a:solidFill>
                  <a:schemeClr val="tx2"/>
                </a:solidFill>
                <a:latin typeface="+mj-lt"/>
              </a:rPr>
              <a:t>p</a:t>
            </a:r>
            <a:r>
              <a:rPr lang="tr-TR" sz="2400" dirty="0">
                <a:solidFill>
                  <a:schemeClr val="tx2"/>
                </a:solidFill>
                <a:latin typeface="+mj-lt"/>
              </a:rPr>
              <a:t>(</a:t>
            </a:r>
            <a:r>
              <a:rPr lang="tr-TR" sz="2400" b="1" i="1" dirty="0">
                <a:solidFill>
                  <a:schemeClr val="tx2"/>
                </a:solidFill>
                <a:latin typeface="+mj-lt"/>
              </a:rPr>
              <a:t>x</a:t>
            </a:r>
            <a:r>
              <a:rPr lang="tr-TR" sz="2400" dirty="0">
                <a:solidFill>
                  <a:schemeClr val="tx2"/>
                </a:solidFill>
                <a:latin typeface="+mj-lt"/>
              </a:rPr>
              <a:t>|C</a:t>
            </a:r>
            <a:r>
              <a:rPr lang="tr-TR" sz="2400" i="1" baseline="-25000" dirty="0">
                <a:solidFill>
                  <a:schemeClr val="tx2"/>
                </a:solidFill>
                <a:latin typeface="+mj-lt"/>
              </a:rPr>
              <a:t>i</a:t>
            </a:r>
            <a:r>
              <a:rPr lang="tr-TR" sz="2400" dirty="0">
                <a:solidFill>
                  <a:schemeClr val="tx2"/>
                </a:solidFill>
                <a:latin typeface="+mj-lt"/>
              </a:rPr>
              <a:t>) are Gaussian with shared cov matrix; useful when classes are (almost) linearly separable</a:t>
            </a:r>
          </a:p>
        </p:txBody>
      </p:sp>
      <p:sp>
        <p:nvSpPr>
          <p:cNvPr id="363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Linear Discriminant</a:t>
            </a: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5CD2C62A-0E17-4A6E-ACD9-265C6814E685}" type="slidenum">
              <a:rPr lang="tr-TR"/>
              <a:pPr/>
              <a:t>3</a:t>
            </a:fld>
            <a:endParaRPr lang="tr-TR"/>
          </a:p>
        </p:txBody>
      </p:sp>
      <p:graphicFrame>
        <p:nvGraphicFramePr>
          <p:cNvPr id="363525" name="Object 5"/>
          <p:cNvGraphicFramePr>
            <a:graphicFrameLocks noGrp="1" noChangeAspect="1"/>
          </p:cNvGraphicFramePr>
          <p:nvPr>
            <p:ph sz="quarter" idx="1"/>
          </p:nvPr>
        </p:nvGraphicFramePr>
        <p:xfrm>
          <a:off x="1979712" y="2060848"/>
          <a:ext cx="5583238" cy="99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89040" imgH="444240" progId="Equation.3">
                  <p:embed/>
                </p:oleObj>
              </mc:Choice>
              <mc:Fallback>
                <p:oleObj name="Equation" r:id="rId2" imgW="2489040" imgH="444240" progId="Equation.3">
                  <p:embed/>
                  <p:pic>
                    <p:nvPicPr>
                      <p:cNvPr id="36352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712" y="2060848"/>
                        <a:ext cx="5583238" cy="996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185834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54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83568" y="1772816"/>
            <a:ext cx="8229600" cy="3886200"/>
          </a:xfrm>
        </p:spPr>
        <p:txBody>
          <a:bodyPr>
            <a:normAutofit/>
          </a:bodyPr>
          <a:lstStyle/>
          <a:p>
            <a:r>
              <a:rPr lang="tr-TR" sz="2400" dirty="0">
                <a:solidFill>
                  <a:schemeClr val="tx2"/>
                </a:solidFill>
                <a:latin typeface="+mj-lt"/>
              </a:rPr>
              <a:t>Quadratic discriminant:</a:t>
            </a:r>
          </a:p>
          <a:p>
            <a:endParaRPr lang="tr-TR" sz="2400" dirty="0">
              <a:solidFill>
                <a:schemeClr val="tx2"/>
              </a:solidFill>
              <a:latin typeface="+mj-lt"/>
            </a:endParaRPr>
          </a:p>
          <a:p>
            <a:endParaRPr lang="tr-TR" sz="2400" dirty="0">
              <a:solidFill>
                <a:schemeClr val="tx2"/>
              </a:solidFill>
              <a:latin typeface="+mj-lt"/>
            </a:endParaRPr>
          </a:p>
          <a:p>
            <a:r>
              <a:rPr lang="tr-TR" sz="2400" dirty="0">
                <a:solidFill>
                  <a:schemeClr val="tx2"/>
                </a:solidFill>
                <a:latin typeface="+mj-lt"/>
              </a:rPr>
              <a:t>Higher-order (product) terms:</a:t>
            </a:r>
          </a:p>
          <a:p>
            <a:pPr>
              <a:buFont typeface="Wingdings" pitchFamily="2" charset="2"/>
              <a:buNone/>
            </a:pPr>
            <a:endParaRPr lang="tr-TR" sz="2400" dirty="0">
              <a:solidFill>
                <a:schemeClr val="tx2"/>
              </a:solidFill>
              <a:latin typeface="+mj-lt"/>
            </a:endParaRPr>
          </a:p>
          <a:p>
            <a:pPr>
              <a:buFont typeface="Wingdings" pitchFamily="2" charset="2"/>
              <a:buNone/>
            </a:pPr>
            <a:r>
              <a:rPr lang="tr-TR" sz="2400" dirty="0">
                <a:solidFill>
                  <a:schemeClr val="tx2"/>
                </a:solidFill>
                <a:latin typeface="+mj-lt"/>
              </a:rPr>
              <a:t>	</a:t>
            </a:r>
          </a:p>
          <a:p>
            <a:pPr>
              <a:buFont typeface="Wingdings" pitchFamily="2" charset="2"/>
              <a:buNone/>
            </a:pPr>
            <a:r>
              <a:rPr lang="tr-TR" sz="2400" dirty="0">
                <a:solidFill>
                  <a:schemeClr val="tx2"/>
                </a:solidFill>
                <a:latin typeface="+mj-lt"/>
              </a:rPr>
              <a:t>	Map from </a:t>
            </a:r>
            <a:r>
              <a:rPr lang="tr-TR" sz="2400" b="1" i="1" dirty="0">
                <a:solidFill>
                  <a:schemeClr val="tx2"/>
                </a:solidFill>
                <a:latin typeface="+mj-lt"/>
              </a:rPr>
              <a:t>x</a:t>
            </a:r>
            <a:r>
              <a:rPr lang="tr-TR" sz="2400" dirty="0">
                <a:solidFill>
                  <a:schemeClr val="tx2"/>
                </a:solidFill>
                <a:latin typeface="+mj-lt"/>
              </a:rPr>
              <a:t> to </a:t>
            </a:r>
            <a:r>
              <a:rPr lang="tr-TR" sz="2400" b="1" i="1" dirty="0">
                <a:solidFill>
                  <a:schemeClr val="tx2"/>
                </a:solidFill>
                <a:latin typeface="+mj-lt"/>
              </a:rPr>
              <a:t>z</a:t>
            </a:r>
            <a:r>
              <a:rPr lang="tr-TR" sz="2400" dirty="0">
                <a:solidFill>
                  <a:schemeClr val="tx2"/>
                </a:solidFill>
                <a:latin typeface="+mj-lt"/>
              </a:rPr>
              <a:t> using </a:t>
            </a:r>
            <a:r>
              <a:rPr lang="tr-TR" sz="2400" dirty="0">
                <a:solidFill>
                  <a:schemeClr val="accent1"/>
                </a:solidFill>
                <a:latin typeface="+mj-lt"/>
              </a:rPr>
              <a:t>nonlinear basis functions </a:t>
            </a:r>
            <a:r>
              <a:rPr lang="tr-TR" sz="2400" dirty="0">
                <a:solidFill>
                  <a:schemeClr val="tx2"/>
                </a:solidFill>
                <a:latin typeface="+mj-lt"/>
              </a:rPr>
              <a:t>and use a linear discriminant in </a:t>
            </a:r>
            <a:r>
              <a:rPr lang="tr-TR" sz="2400" b="1" i="1" dirty="0">
                <a:solidFill>
                  <a:schemeClr val="tx2"/>
                </a:solidFill>
                <a:latin typeface="+mj-lt"/>
              </a:rPr>
              <a:t>z</a:t>
            </a:r>
            <a:r>
              <a:rPr lang="tr-TR" sz="2400" dirty="0">
                <a:solidFill>
                  <a:schemeClr val="tx2"/>
                </a:solidFill>
                <a:latin typeface="+mj-lt"/>
              </a:rPr>
              <a:t>-space</a:t>
            </a:r>
          </a:p>
        </p:txBody>
      </p:sp>
      <p:sp>
        <p:nvSpPr>
          <p:cNvPr id="364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Generalized Linear Model</a:t>
            </a:r>
          </a:p>
        </p:txBody>
      </p:sp>
      <p:sp>
        <p:nvSpPr>
          <p:cNvPr id="8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6A215C11-1321-46A7-9D7F-9916B4FE713C}" type="slidenum">
              <a:rPr lang="tr-TR"/>
              <a:pPr/>
              <a:t>4</a:t>
            </a:fld>
            <a:endParaRPr lang="tr-TR"/>
          </a:p>
        </p:txBody>
      </p:sp>
      <p:graphicFrame>
        <p:nvGraphicFramePr>
          <p:cNvPr id="364554" name="Object 10"/>
          <p:cNvGraphicFramePr>
            <a:graphicFrameLocks noGrp="1" noChangeAspect="1"/>
          </p:cNvGraphicFramePr>
          <p:nvPr>
            <p:ph sz="quarter" idx="1"/>
          </p:nvPr>
        </p:nvGraphicFramePr>
        <p:xfrm>
          <a:off x="2123728" y="3717032"/>
          <a:ext cx="5222170" cy="493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52400" imgH="241200" progId="Equation.3">
                  <p:embed/>
                </p:oleObj>
              </mc:Choice>
              <mc:Fallback>
                <p:oleObj name="Equation" r:id="rId2" imgW="2552400" imgH="241200" progId="Equation.3">
                  <p:embed/>
                  <p:pic>
                    <p:nvPicPr>
                      <p:cNvPr id="364554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3728" y="3717032"/>
                        <a:ext cx="5222170" cy="4936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4552" name="Object 8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2627784" y="2276872"/>
          <a:ext cx="4298950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98600" imgH="241200" progId="Equation.3">
                  <p:embed/>
                </p:oleObj>
              </mc:Choice>
              <mc:Fallback>
                <p:oleObj name="Equation" r:id="rId4" imgW="2298600" imgH="241200" progId="Equation.3">
                  <p:embed/>
                  <p:pic>
                    <p:nvPicPr>
                      <p:cNvPr id="36455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784" y="2276872"/>
                        <a:ext cx="4298950" cy="450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4556" name="Object 12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3779912" y="5445224"/>
          <a:ext cx="2143125" cy="85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17440" imgH="444240" progId="Equation.3">
                  <p:embed/>
                </p:oleObj>
              </mc:Choice>
              <mc:Fallback>
                <p:oleObj name="Equation" r:id="rId6" imgW="1117440" imgH="444240" progId="Equation.3">
                  <p:embed/>
                  <p:pic>
                    <p:nvPicPr>
                      <p:cNvPr id="364556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9912" y="5445224"/>
                        <a:ext cx="2143125" cy="8524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18309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570" name="Rectangle 2"/>
          <p:cNvSpPr>
            <a:spLocks noGrp="1" noChangeArrowheads="1"/>
          </p:cNvSpPr>
          <p:nvPr>
            <p:ph type="title"/>
          </p:nvPr>
        </p:nvSpPr>
        <p:spPr>
          <a:xfrm>
            <a:off x="1295400" y="228600"/>
            <a:ext cx="7467600" cy="896144"/>
          </a:xfrm>
        </p:spPr>
        <p:txBody>
          <a:bodyPr/>
          <a:lstStyle/>
          <a:p>
            <a:r>
              <a:rPr lang="tr-TR" dirty="0"/>
              <a:t>Two Classes</a:t>
            </a:r>
          </a:p>
        </p:txBody>
      </p:sp>
      <p:graphicFrame>
        <p:nvGraphicFramePr>
          <p:cNvPr id="365582" name="Object 14"/>
          <p:cNvGraphicFramePr>
            <a:graphicFrameLocks noGrp="1" noChangeAspect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325113193"/>
              </p:ext>
            </p:extLst>
          </p:nvPr>
        </p:nvGraphicFramePr>
        <p:xfrm>
          <a:off x="4724400" y="1916832"/>
          <a:ext cx="3993257" cy="1916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42920" imgH="965160" progId="Equation.3">
                  <p:embed/>
                </p:oleObj>
              </mc:Choice>
              <mc:Fallback>
                <p:oleObj name="Equation" r:id="rId2" imgW="1942920" imgH="965160" progId="Equation.3">
                  <p:embed/>
                  <p:pic>
                    <p:nvPicPr>
                      <p:cNvPr id="365582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1916832"/>
                        <a:ext cx="3993257" cy="191611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5584" name="Object 16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5292080" y="4293096"/>
          <a:ext cx="3251200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87240" imgH="457200" progId="Equation.3">
                  <p:embed/>
                </p:oleObj>
              </mc:Choice>
              <mc:Fallback>
                <p:oleObj name="Equation" r:id="rId4" imgW="1587240" imgH="457200" progId="Equation.3">
                  <p:embed/>
                  <p:pic>
                    <p:nvPicPr>
                      <p:cNvPr id="365584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080" y="4293096"/>
                        <a:ext cx="3251200" cy="936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Slide Number Placeholder 5"/>
          <p:cNvSpPr>
            <a:spLocks noGrp="1"/>
          </p:cNvSpPr>
          <p:nvPr>
            <p:ph type="sldNum" sz="quarter" idx="4294967295"/>
          </p:nvPr>
        </p:nvSpPr>
        <p:spPr/>
        <p:txBody>
          <a:bodyPr>
            <a:normAutofit/>
          </a:bodyPr>
          <a:lstStyle/>
          <a:p>
            <a:fld id="{ECBEDC97-F760-462D-AF39-DB8B4DFA7EA6}" type="slidenum">
              <a:rPr lang="tr-TR"/>
              <a:pPr/>
              <a:t>5</a:t>
            </a:fld>
            <a:endParaRPr lang="tr-TR"/>
          </a:p>
        </p:txBody>
      </p:sp>
      <p:pic>
        <p:nvPicPr>
          <p:cNvPr id="365581" name="Picture 13" descr="Ld2cla_col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-228600" y="1828800"/>
            <a:ext cx="4752975" cy="424021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1253875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618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260648"/>
            <a:ext cx="7469560" cy="868664"/>
          </a:xfrm>
        </p:spPr>
        <p:txBody>
          <a:bodyPr>
            <a:noAutofit/>
          </a:bodyPr>
          <a:lstStyle/>
          <a:p>
            <a:r>
              <a:rPr lang="tr-TR" dirty="0"/>
              <a:t>Geometry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59D34B9A-65AC-4C7C-B24D-DE9DBA8AA1FC}" type="slidenum">
              <a:rPr lang="tr-TR"/>
              <a:pPr/>
              <a:t>6</a:t>
            </a:fld>
            <a:endParaRPr lang="tr-TR"/>
          </a:p>
        </p:txBody>
      </p:sp>
      <p:pic>
        <p:nvPicPr>
          <p:cNvPr id="367625" name="Picture 9" descr="Ld2cla2_col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35150" y="1773238"/>
            <a:ext cx="5183188" cy="46450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7407871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42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332656"/>
            <a:ext cx="8382000" cy="796086"/>
          </a:xfrm>
        </p:spPr>
        <p:txBody>
          <a:bodyPr>
            <a:normAutofit/>
          </a:bodyPr>
          <a:lstStyle/>
          <a:p>
            <a:r>
              <a:rPr lang="tr-TR" dirty="0"/>
              <a:t>Multiple Classes</a:t>
            </a:r>
          </a:p>
        </p:txBody>
      </p:sp>
      <p:graphicFrame>
        <p:nvGraphicFramePr>
          <p:cNvPr id="368652" name="Object 12"/>
          <p:cNvGraphicFramePr>
            <a:graphicFrameLocks noGrp="1" noChangeAspect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2101763211"/>
              </p:ext>
            </p:extLst>
          </p:nvPr>
        </p:nvGraphicFramePr>
        <p:xfrm>
          <a:off x="5349503" y="1557338"/>
          <a:ext cx="3476625" cy="541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49080" imgH="241200" progId="Equation.3">
                  <p:embed/>
                </p:oleObj>
              </mc:Choice>
              <mc:Fallback>
                <p:oleObj name="Equation" r:id="rId2" imgW="1549080" imgH="241200" progId="Equation.3">
                  <p:embed/>
                  <p:pic>
                    <p:nvPicPr>
                      <p:cNvPr id="368652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49503" y="1557338"/>
                        <a:ext cx="3476625" cy="5413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654" name="Object 14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3834272270"/>
              </p:ext>
            </p:extLst>
          </p:nvPr>
        </p:nvGraphicFramePr>
        <p:xfrm>
          <a:off x="6492503" y="2565400"/>
          <a:ext cx="2055812" cy="1189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54080" imgH="609480" progId="Equation.3">
                  <p:embed/>
                </p:oleObj>
              </mc:Choice>
              <mc:Fallback>
                <p:oleObj name="Equation" r:id="rId4" imgW="1054080" imgH="609480" progId="Equation.3">
                  <p:embed/>
                  <p:pic>
                    <p:nvPicPr>
                      <p:cNvPr id="368654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92503" y="2565400"/>
                        <a:ext cx="2055812" cy="11890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07640" y="0"/>
            <a:ext cx="0" cy="0"/>
          </a:xfrm>
        </p:spPr>
        <p:txBody>
          <a:bodyPr>
            <a:normAutofit fontScale="25000" lnSpcReduction="20000"/>
          </a:bodyPr>
          <a:lstStyle/>
          <a:p>
            <a:fld id="{EE2C6EAA-A97C-4451-A64B-8EA07B0997B9}" type="slidenum">
              <a:rPr lang="tr-TR"/>
              <a:pPr/>
              <a:t>7</a:t>
            </a:fld>
            <a:endParaRPr lang="tr-TR"/>
          </a:p>
        </p:txBody>
      </p:sp>
      <p:sp>
        <p:nvSpPr>
          <p:cNvPr id="368650" name="Text Box 10"/>
          <p:cNvSpPr txBox="1">
            <a:spLocks noChangeArrowheads="1"/>
          </p:cNvSpPr>
          <p:nvPr/>
        </p:nvSpPr>
        <p:spPr bwMode="auto">
          <a:xfrm>
            <a:off x="6332165" y="4532313"/>
            <a:ext cx="239373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tr-TR" sz="2400" dirty="0">
                <a:solidFill>
                  <a:schemeClr val="tx2"/>
                </a:solidFill>
                <a:latin typeface="+mj-lt"/>
              </a:rPr>
              <a:t>Classes are</a:t>
            </a:r>
          </a:p>
          <a:p>
            <a:r>
              <a:rPr lang="tr-TR" sz="2400" dirty="0">
                <a:solidFill>
                  <a:schemeClr val="accent1"/>
                </a:solidFill>
                <a:latin typeface="+mj-lt"/>
              </a:rPr>
              <a:t>linearly separable</a:t>
            </a:r>
          </a:p>
        </p:txBody>
      </p:sp>
      <p:pic>
        <p:nvPicPr>
          <p:cNvPr id="368651" name="Picture 11" descr="Ld2clals_col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075953" y="2133600"/>
            <a:ext cx="4535487" cy="37973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941908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9684" name="Picture 20" descr="Ld2claps_col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388" y="1825625"/>
            <a:ext cx="5543550" cy="4411663"/>
          </a:xfrm>
          <a:prstGeom prst="rect">
            <a:avLst/>
          </a:prstGeom>
          <a:noFill/>
        </p:spPr>
      </p:pic>
      <p:sp>
        <p:nvSpPr>
          <p:cNvPr id="369666" name="Rectangle 2"/>
          <p:cNvSpPr>
            <a:spLocks noGrp="1" noChangeArrowheads="1"/>
          </p:cNvSpPr>
          <p:nvPr>
            <p:ph type="title"/>
          </p:nvPr>
        </p:nvSpPr>
        <p:spPr>
          <a:xfrm>
            <a:off x="611560" y="260648"/>
            <a:ext cx="8229600" cy="828660"/>
          </a:xfrm>
        </p:spPr>
        <p:txBody>
          <a:bodyPr/>
          <a:lstStyle/>
          <a:p>
            <a:r>
              <a:rPr lang="tr-TR" dirty="0"/>
              <a:t>Pairwise Separation</a:t>
            </a:r>
          </a:p>
        </p:txBody>
      </p:sp>
      <p:graphicFrame>
        <p:nvGraphicFramePr>
          <p:cNvPr id="369685" name="Object 21"/>
          <p:cNvGraphicFramePr>
            <a:graphicFrameLocks noGrp="1" noChangeAspect="1"/>
          </p:cNvGraphicFramePr>
          <p:nvPr>
            <p:ph sz="half" idx="1"/>
          </p:nvPr>
        </p:nvGraphicFramePr>
        <p:xfrm>
          <a:off x="5076056" y="1700808"/>
          <a:ext cx="3648075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625400" imgH="253800" progId="Equation.3">
                  <p:embed/>
                </p:oleObj>
              </mc:Choice>
              <mc:Fallback>
                <p:oleObj name="Equation" r:id="rId3" imgW="1625400" imgH="253800" progId="Equation.3">
                  <p:embed/>
                  <p:pic>
                    <p:nvPicPr>
                      <p:cNvPr id="369685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6056" y="1700808"/>
                        <a:ext cx="3648075" cy="5699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9687" name="Object 23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4932040" y="2420888"/>
          <a:ext cx="3956050" cy="1376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044440" imgH="711000" progId="Equation.3">
                  <p:embed/>
                </p:oleObj>
              </mc:Choice>
              <mc:Fallback>
                <p:oleObj name="Equation" r:id="rId5" imgW="2044440" imgH="711000" progId="Equation.3">
                  <p:embed/>
                  <p:pic>
                    <p:nvPicPr>
                      <p:cNvPr id="369687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040" y="2420888"/>
                        <a:ext cx="3956050" cy="13763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9689" name="Object 25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6156176" y="4725144"/>
          <a:ext cx="2124075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965160" imgH="457200" progId="Equation.3">
                  <p:embed/>
                </p:oleObj>
              </mc:Choice>
              <mc:Fallback>
                <p:oleObj name="Equation" r:id="rId7" imgW="965160" imgH="457200" progId="Equation.3">
                  <p:embed/>
                  <p:pic>
                    <p:nvPicPr>
                      <p:cNvPr id="369689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6176" y="4725144"/>
                        <a:ext cx="2124075" cy="1006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FC98128-ED17-4596-A559-8C8916ED53CE}" type="slidenum">
              <a:rPr lang="tr-TR"/>
              <a:pPr/>
              <a:t>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560054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6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/>
              <a:t>From Discriminants to Posteriors </a:t>
            </a:r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D98E94B8-A8B4-4205-B192-4AD90A263EEA}" type="slidenum">
              <a:rPr lang="tr-TR"/>
              <a:pPr/>
              <a:t>9</a:t>
            </a:fld>
            <a:endParaRPr lang="tr-TR"/>
          </a:p>
        </p:txBody>
      </p:sp>
      <p:graphicFrame>
        <p:nvGraphicFramePr>
          <p:cNvPr id="370696" name="Object 8"/>
          <p:cNvGraphicFramePr>
            <a:graphicFrameLocks noGrp="1" noChangeAspect="1"/>
          </p:cNvGraphicFramePr>
          <p:nvPr>
            <p:ph sz="quarter" idx="1"/>
          </p:nvPr>
        </p:nvGraphicFramePr>
        <p:xfrm>
          <a:off x="2162175" y="2492375"/>
          <a:ext cx="5827713" cy="1533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12720" imgH="634680" progId="Equation.3">
                  <p:embed/>
                </p:oleObj>
              </mc:Choice>
              <mc:Fallback>
                <p:oleObj name="Equation" r:id="rId2" imgW="2412720" imgH="634680" progId="Equation.3">
                  <p:embed/>
                  <p:pic>
                    <p:nvPicPr>
                      <p:cNvPr id="37069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2175" y="2492375"/>
                        <a:ext cx="5827713" cy="1533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069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914400" y="1928813"/>
            <a:ext cx="8229600" cy="388620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tr-TR" dirty="0">
                <a:solidFill>
                  <a:schemeClr val="tx2"/>
                </a:solidFill>
                <a:latin typeface="+mj-lt"/>
              </a:rPr>
              <a:t>When </a:t>
            </a:r>
            <a:r>
              <a:rPr lang="tr-TR" i="1" dirty="0">
                <a:solidFill>
                  <a:schemeClr val="tx2"/>
                </a:solidFill>
                <a:latin typeface="+mj-lt"/>
              </a:rPr>
              <a:t>p </a:t>
            </a:r>
            <a:r>
              <a:rPr lang="tr-TR" dirty="0">
                <a:solidFill>
                  <a:schemeClr val="tx2"/>
                </a:solidFill>
                <a:latin typeface="+mj-lt"/>
              </a:rPr>
              <a:t>(</a:t>
            </a:r>
            <a:r>
              <a:rPr lang="tr-TR" b="1" i="1" dirty="0">
                <a:solidFill>
                  <a:schemeClr val="tx2"/>
                </a:solidFill>
                <a:latin typeface="+mj-lt"/>
              </a:rPr>
              <a:t>x</a:t>
            </a:r>
            <a:r>
              <a:rPr lang="tr-TR" i="1" dirty="0">
                <a:solidFill>
                  <a:schemeClr val="tx2"/>
                </a:solidFill>
                <a:latin typeface="+mj-lt"/>
              </a:rPr>
              <a:t> </a:t>
            </a:r>
            <a:r>
              <a:rPr lang="tr-TR" dirty="0">
                <a:solidFill>
                  <a:schemeClr val="tx2"/>
                </a:solidFill>
                <a:latin typeface="+mj-lt"/>
              </a:rPr>
              <a:t>| </a:t>
            </a:r>
            <a:r>
              <a:rPr lang="tr-TR" i="1" dirty="0">
                <a:solidFill>
                  <a:schemeClr val="tx2"/>
                </a:solidFill>
                <a:latin typeface="+mj-lt"/>
              </a:rPr>
              <a:t>C</a:t>
            </a:r>
            <a:r>
              <a:rPr lang="tr-TR" i="1" baseline="-25000" dirty="0">
                <a:solidFill>
                  <a:schemeClr val="tx2"/>
                </a:solidFill>
                <a:latin typeface="+mj-lt"/>
              </a:rPr>
              <a:t>i </a:t>
            </a:r>
            <a:r>
              <a:rPr lang="tr-TR" dirty="0">
                <a:solidFill>
                  <a:schemeClr val="tx2"/>
                </a:solidFill>
                <a:latin typeface="+mj-lt"/>
              </a:rPr>
              <a:t>) ~ N ( </a:t>
            </a:r>
            <a:r>
              <a:rPr lang="tr-TR" b="1" i="1" dirty="0">
                <a:solidFill>
                  <a:schemeClr val="tx2"/>
                </a:solidFill>
                <a:latin typeface="+mj-lt"/>
              </a:rPr>
              <a:t>μ</a:t>
            </a:r>
            <a:r>
              <a:rPr lang="tr-TR" i="1" baseline="-25000" dirty="0">
                <a:solidFill>
                  <a:schemeClr val="tx2"/>
                </a:solidFill>
                <a:latin typeface="+mj-lt"/>
              </a:rPr>
              <a:t>i</a:t>
            </a:r>
            <a:r>
              <a:rPr lang="tr-TR" dirty="0">
                <a:solidFill>
                  <a:schemeClr val="tx2"/>
                </a:solidFill>
                <a:latin typeface="+mj-lt"/>
              </a:rPr>
              <a:t> , </a:t>
            </a:r>
            <a:r>
              <a:rPr lang="tr-TR" sz="2800" b="1" dirty="0">
                <a:solidFill>
                  <a:schemeClr val="tx2"/>
                </a:solidFill>
                <a:latin typeface="+mj-lt"/>
              </a:rPr>
              <a:t>∑</a:t>
            </a:r>
            <a:r>
              <a:rPr lang="tr-TR" dirty="0">
                <a:solidFill>
                  <a:schemeClr val="tx2"/>
                </a:solidFill>
                <a:latin typeface="+mj-lt"/>
              </a:rPr>
              <a:t>)</a:t>
            </a:r>
          </a:p>
        </p:txBody>
      </p:sp>
      <p:graphicFrame>
        <p:nvGraphicFramePr>
          <p:cNvPr id="370698" name="Object 10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1331640" y="4365104"/>
          <a:ext cx="6567347" cy="20162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060360" imgH="939600" progId="Equation.3">
                  <p:embed/>
                </p:oleObj>
              </mc:Choice>
              <mc:Fallback>
                <p:oleObj name="Equation" r:id="rId4" imgW="3060360" imgH="939600" progId="Equation.3">
                  <p:embed/>
                  <p:pic>
                    <p:nvPicPr>
                      <p:cNvPr id="370698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640" y="4365104"/>
                        <a:ext cx="6567347" cy="201622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351636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144000" y="6305550"/>
            <a:ext cx="457200" cy="476250"/>
          </a:xfrm>
        </p:spPr>
        <p:txBody>
          <a:bodyPr>
            <a:normAutofit/>
          </a:bodyPr>
          <a:lstStyle/>
          <a:p>
            <a:fld id="{638C8E44-2FF8-4A05-99CF-4DD62D5EC90E}" type="slidenum">
              <a:rPr lang="tr-TR"/>
              <a:pPr/>
              <a:t>10</a:t>
            </a:fld>
            <a:endParaRPr lang="tr-TR"/>
          </a:p>
        </p:txBody>
      </p:sp>
      <p:graphicFrame>
        <p:nvGraphicFramePr>
          <p:cNvPr id="371722" name="Object 10"/>
          <p:cNvGraphicFramePr>
            <a:graphicFrameLocks noGrp="1" noChangeAspect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2951385468"/>
              </p:ext>
            </p:extLst>
          </p:nvPr>
        </p:nvGraphicFramePr>
        <p:xfrm>
          <a:off x="1285927" y="692696"/>
          <a:ext cx="7884875" cy="52565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724280" imgH="3149280" progId="Equation.3">
                  <p:embed/>
                </p:oleObj>
              </mc:Choice>
              <mc:Fallback>
                <p:oleObj name="Equation" r:id="rId2" imgW="4724280" imgH="3149280" progId="Equation.3">
                  <p:embed/>
                  <p:pic>
                    <p:nvPicPr>
                      <p:cNvPr id="371722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5927" y="692696"/>
                        <a:ext cx="7884875" cy="525658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209293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738" name="Rectangle 2"/>
          <p:cNvSpPr>
            <a:spLocks noGrp="1" noChangeArrowheads="1"/>
          </p:cNvSpPr>
          <p:nvPr>
            <p:ph type="title"/>
          </p:nvPr>
        </p:nvSpPr>
        <p:spPr>
          <a:xfrm>
            <a:off x="1219200" y="260648"/>
            <a:ext cx="7549952" cy="868664"/>
          </a:xfrm>
        </p:spPr>
        <p:txBody>
          <a:bodyPr>
            <a:normAutofit/>
          </a:bodyPr>
          <a:lstStyle/>
          <a:p>
            <a:r>
              <a:rPr lang="tr-TR" dirty="0"/>
              <a:t>Sigmoid (Logistic) Function</a:t>
            </a: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063830A5-DA1E-497B-A0BD-B3862D24B55C}" type="slidenum">
              <a:rPr lang="tr-TR"/>
              <a:pPr/>
              <a:t>11</a:t>
            </a:fld>
            <a:endParaRPr lang="tr-TR"/>
          </a:p>
        </p:txBody>
      </p:sp>
      <p:graphicFrame>
        <p:nvGraphicFramePr>
          <p:cNvPr id="372743" name="Object 7"/>
          <p:cNvGraphicFramePr>
            <a:graphicFrameLocks noGrp="1" noChangeAspect="1"/>
          </p:cNvGraphicFramePr>
          <p:nvPr>
            <p:ph sz="quarter" idx="1"/>
          </p:nvPr>
        </p:nvGraphicFramePr>
        <p:xfrm>
          <a:off x="827584" y="5157192"/>
          <a:ext cx="7422048" cy="9894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619440" imgH="482400" progId="Equation.3">
                  <p:embed/>
                </p:oleObj>
              </mc:Choice>
              <mc:Fallback>
                <p:oleObj name="Equation" r:id="rId2" imgW="3619440" imgH="482400" progId="Equation.3">
                  <p:embed/>
                  <p:pic>
                    <p:nvPicPr>
                      <p:cNvPr id="37274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584" y="5157192"/>
                        <a:ext cx="7422048" cy="98948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72742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500298" y="1714488"/>
            <a:ext cx="3943037" cy="31591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766104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762" name="Rectangle 2"/>
          <p:cNvSpPr>
            <a:spLocks noGrp="1" noChangeArrowheads="1"/>
          </p:cNvSpPr>
          <p:nvPr>
            <p:ph type="title"/>
          </p:nvPr>
        </p:nvSpPr>
        <p:spPr>
          <a:xfrm>
            <a:off x="1295400" y="260648"/>
            <a:ext cx="7545760" cy="864096"/>
          </a:xfrm>
        </p:spPr>
        <p:txBody>
          <a:bodyPr>
            <a:normAutofit/>
          </a:bodyPr>
          <a:lstStyle/>
          <a:p>
            <a:r>
              <a:rPr lang="tr-TR" dirty="0"/>
              <a:t>Gradient-Descent</a:t>
            </a: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8F97083-6C87-4C8B-ABD0-32DAEB75B82C}" type="slidenum">
              <a:rPr lang="tr-TR"/>
              <a:pPr/>
              <a:t>12</a:t>
            </a:fld>
            <a:endParaRPr lang="tr-TR"/>
          </a:p>
        </p:txBody>
      </p:sp>
      <p:graphicFrame>
        <p:nvGraphicFramePr>
          <p:cNvPr id="373775" name="Object 15"/>
          <p:cNvGraphicFramePr>
            <a:graphicFrameLocks noGrp="1" noChangeAspect="1"/>
          </p:cNvGraphicFramePr>
          <p:nvPr>
            <p:ph sz="quarter" idx="1"/>
          </p:nvPr>
        </p:nvGraphicFramePr>
        <p:xfrm>
          <a:off x="2778125" y="3068638"/>
          <a:ext cx="3800475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26920" imgH="507960" progId="Equation.3">
                  <p:embed/>
                </p:oleObj>
              </mc:Choice>
              <mc:Fallback>
                <p:oleObj name="Equation" r:id="rId2" imgW="1726920" imgH="507960" progId="Equation.3">
                  <p:embed/>
                  <p:pic>
                    <p:nvPicPr>
                      <p:cNvPr id="373775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8125" y="3068638"/>
                        <a:ext cx="3800475" cy="1117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376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11560" y="1700808"/>
            <a:ext cx="8229600" cy="388620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tr-TR" dirty="0">
                <a:solidFill>
                  <a:schemeClr val="tx2"/>
                </a:solidFill>
                <a:latin typeface="+mj-lt"/>
              </a:rPr>
              <a:t>E(</a:t>
            </a:r>
            <a:r>
              <a:rPr lang="tr-TR" b="1" i="1" dirty="0">
                <a:solidFill>
                  <a:schemeClr val="tx2"/>
                </a:solidFill>
                <a:latin typeface="+mj-lt"/>
              </a:rPr>
              <a:t>w</a:t>
            </a:r>
            <a:r>
              <a:rPr lang="tr-TR" dirty="0">
                <a:solidFill>
                  <a:schemeClr val="tx2"/>
                </a:solidFill>
                <a:latin typeface="+mj-lt"/>
              </a:rPr>
              <a:t>|X) is error with parameters </a:t>
            </a:r>
            <a:r>
              <a:rPr lang="tr-TR" b="1" i="1" dirty="0">
                <a:solidFill>
                  <a:schemeClr val="tx2"/>
                </a:solidFill>
                <a:latin typeface="+mj-lt"/>
              </a:rPr>
              <a:t>w</a:t>
            </a:r>
            <a:r>
              <a:rPr lang="tr-TR" dirty="0">
                <a:solidFill>
                  <a:schemeClr val="tx2"/>
                </a:solidFill>
                <a:latin typeface="+mj-lt"/>
              </a:rPr>
              <a:t> on sample X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tr-TR" dirty="0">
                <a:solidFill>
                  <a:schemeClr val="tx2"/>
                </a:solidFill>
                <a:latin typeface="+mj-lt"/>
              </a:rPr>
              <a:t>			</a:t>
            </a:r>
            <a:r>
              <a:rPr lang="tr-TR" b="1" i="1" dirty="0">
                <a:solidFill>
                  <a:schemeClr val="tx2"/>
                </a:solidFill>
                <a:latin typeface="+mj-lt"/>
              </a:rPr>
              <a:t>w</a:t>
            </a:r>
            <a:r>
              <a:rPr lang="tr-TR" dirty="0">
                <a:solidFill>
                  <a:schemeClr val="tx2"/>
                </a:solidFill>
                <a:latin typeface="+mj-lt"/>
              </a:rPr>
              <a:t>*=arg min</a:t>
            </a:r>
            <a:r>
              <a:rPr lang="tr-TR" b="1" i="1" baseline="-25000" dirty="0">
                <a:solidFill>
                  <a:schemeClr val="tx2"/>
                </a:solidFill>
                <a:latin typeface="+mj-lt"/>
              </a:rPr>
              <a:t>w</a:t>
            </a:r>
            <a:r>
              <a:rPr lang="tr-TR" dirty="0">
                <a:solidFill>
                  <a:schemeClr val="tx2"/>
                </a:solidFill>
                <a:latin typeface="+mj-lt"/>
              </a:rPr>
              <a:t> </a:t>
            </a:r>
            <a:r>
              <a:rPr lang="tr-TR" i="1" dirty="0">
                <a:solidFill>
                  <a:schemeClr val="tx2"/>
                </a:solidFill>
                <a:latin typeface="+mj-lt"/>
              </a:rPr>
              <a:t>E</a:t>
            </a:r>
            <a:r>
              <a:rPr lang="tr-TR" dirty="0">
                <a:solidFill>
                  <a:schemeClr val="tx2"/>
                </a:solidFill>
                <a:latin typeface="+mj-lt"/>
              </a:rPr>
              <a:t>(</a:t>
            </a:r>
            <a:r>
              <a:rPr lang="tr-TR" b="1" i="1" dirty="0">
                <a:solidFill>
                  <a:schemeClr val="tx2"/>
                </a:solidFill>
                <a:latin typeface="+mj-lt"/>
              </a:rPr>
              <a:t>w </a:t>
            </a:r>
            <a:r>
              <a:rPr lang="tr-TR" dirty="0">
                <a:solidFill>
                  <a:schemeClr val="tx2"/>
                </a:solidFill>
                <a:latin typeface="+mj-lt"/>
              </a:rPr>
              <a:t>| X)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tr-TR" dirty="0">
              <a:solidFill>
                <a:schemeClr val="tx2"/>
              </a:solidFill>
              <a:latin typeface="+mj-lt"/>
            </a:endParaRPr>
          </a:p>
          <a:p>
            <a:pPr>
              <a:lnSpc>
                <a:spcPct val="90000"/>
              </a:lnSpc>
            </a:pPr>
            <a:r>
              <a:rPr lang="tr-TR" dirty="0">
                <a:solidFill>
                  <a:schemeClr val="tx2"/>
                </a:solidFill>
                <a:latin typeface="+mj-lt"/>
              </a:rPr>
              <a:t>Gradient</a:t>
            </a:r>
          </a:p>
          <a:p>
            <a:pPr>
              <a:lnSpc>
                <a:spcPct val="90000"/>
              </a:lnSpc>
            </a:pPr>
            <a:endParaRPr lang="tr-TR" dirty="0">
              <a:solidFill>
                <a:schemeClr val="tx2"/>
              </a:solidFill>
              <a:latin typeface="+mj-lt"/>
            </a:endParaRPr>
          </a:p>
          <a:p>
            <a:pPr>
              <a:lnSpc>
                <a:spcPct val="90000"/>
              </a:lnSpc>
            </a:pPr>
            <a:endParaRPr lang="tr-TR" dirty="0">
              <a:solidFill>
                <a:schemeClr val="tx2"/>
              </a:solidFill>
              <a:latin typeface="+mj-lt"/>
            </a:endParaRPr>
          </a:p>
          <a:p>
            <a:pPr>
              <a:lnSpc>
                <a:spcPct val="90000"/>
              </a:lnSpc>
            </a:pPr>
            <a:r>
              <a:rPr lang="tr-TR" dirty="0">
                <a:solidFill>
                  <a:schemeClr val="tx2"/>
                </a:solidFill>
                <a:latin typeface="+mj-lt"/>
              </a:rPr>
              <a:t>Gradient-descent: 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tr-TR" dirty="0">
                <a:solidFill>
                  <a:schemeClr val="tx2"/>
                </a:solidFill>
                <a:latin typeface="+mj-lt"/>
              </a:rPr>
              <a:t>	</a:t>
            </a:r>
            <a:r>
              <a:rPr lang="tr-TR" sz="2400" dirty="0">
                <a:solidFill>
                  <a:schemeClr val="tx2"/>
                </a:solidFill>
                <a:latin typeface="+mj-lt"/>
              </a:rPr>
              <a:t>Starts from random </a:t>
            </a:r>
            <a:r>
              <a:rPr lang="tr-TR" sz="2400" b="1" i="1" dirty="0">
                <a:solidFill>
                  <a:schemeClr val="tx2"/>
                </a:solidFill>
                <a:latin typeface="+mj-lt"/>
              </a:rPr>
              <a:t>w</a:t>
            </a:r>
            <a:r>
              <a:rPr lang="tr-TR" sz="2400" dirty="0">
                <a:solidFill>
                  <a:schemeClr val="tx2"/>
                </a:solidFill>
                <a:latin typeface="+mj-lt"/>
              </a:rPr>
              <a:t> and updates </a:t>
            </a:r>
            <a:r>
              <a:rPr lang="tr-TR" sz="2400" b="1" i="1" dirty="0">
                <a:solidFill>
                  <a:schemeClr val="tx2"/>
                </a:solidFill>
                <a:latin typeface="+mj-lt"/>
              </a:rPr>
              <a:t>w</a:t>
            </a:r>
            <a:r>
              <a:rPr lang="tr-TR" sz="2400" dirty="0">
                <a:solidFill>
                  <a:schemeClr val="tx2"/>
                </a:solidFill>
                <a:latin typeface="+mj-lt"/>
              </a:rPr>
              <a:t> iteratively in the negative direction of gradient</a:t>
            </a:r>
            <a:r>
              <a:rPr lang="tr-TR" dirty="0">
                <a:solidFill>
                  <a:schemeClr val="tx2"/>
                </a:solidFill>
                <a:latin typeface="+mj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616057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788" name="Rectangle 4"/>
          <p:cNvSpPr>
            <a:spLocks noGrp="1" noChangeArrowheads="1"/>
          </p:cNvSpPr>
          <p:nvPr>
            <p:ph type="title"/>
          </p:nvPr>
        </p:nvSpPr>
        <p:spPr>
          <a:xfrm>
            <a:off x="1522912" y="260648"/>
            <a:ext cx="8229600" cy="864096"/>
          </a:xfrm>
        </p:spPr>
        <p:txBody>
          <a:bodyPr>
            <a:normAutofit/>
          </a:bodyPr>
          <a:lstStyle/>
          <a:p>
            <a:r>
              <a:rPr lang="tr-TR" dirty="0"/>
              <a:t>Gradient-Descent</a:t>
            </a:r>
          </a:p>
        </p:txBody>
      </p:sp>
      <p:sp>
        <p:nvSpPr>
          <p:cNvPr id="22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9525000" y="6305550"/>
            <a:ext cx="457200" cy="476250"/>
          </a:xfrm>
        </p:spPr>
        <p:txBody>
          <a:bodyPr>
            <a:normAutofit/>
          </a:bodyPr>
          <a:lstStyle/>
          <a:p>
            <a:fld id="{4E73A75B-4A7F-4659-A033-0E74CAAE81DE}" type="slidenum">
              <a:rPr lang="tr-TR"/>
              <a:pPr/>
              <a:t>13</a:t>
            </a:fld>
            <a:endParaRPr lang="tr-TR"/>
          </a:p>
        </p:txBody>
      </p:sp>
      <p:graphicFrame>
        <p:nvGraphicFramePr>
          <p:cNvPr id="374819" name="Object 35"/>
          <p:cNvGraphicFramePr>
            <a:graphicFrameLocks noGrp="1" noChangeAspect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3001373899"/>
              </p:ext>
            </p:extLst>
          </p:nvPr>
        </p:nvGraphicFramePr>
        <p:xfrm>
          <a:off x="6300915" y="1341438"/>
          <a:ext cx="2108200" cy="1274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91880" imgH="660240" progId="Equation.3">
                  <p:embed/>
                </p:oleObj>
              </mc:Choice>
              <mc:Fallback>
                <p:oleObj name="Equation" r:id="rId2" imgW="1091880" imgH="660240" progId="Equation.3">
                  <p:embed/>
                  <p:pic>
                    <p:nvPicPr>
                      <p:cNvPr id="374819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0915" y="1341438"/>
                        <a:ext cx="2108200" cy="12747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4795" name="Freeform 11"/>
          <p:cNvSpPr>
            <a:spLocks/>
          </p:cNvSpPr>
          <p:nvPr/>
        </p:nvSpPr>
        <p:spPr bwMode="auto">
          <a:xfrm>
            <a:off x="1811465" y="2133600"/>
            <a:ext cx="6121400" cy="29527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225" y="1724"/>
              </a:cxn>
              <a:cxn ang="0">
                <a:pos x="1996" y="953"/>
              </a:cxn>
              <a:cxn ang="0">
                <a:pos x="3039" y="2223"/>
              </a:cxn>
              <a:cxn ang="0">
                <a:pos x="3856" y="635"/>
              </a:cxn>
            </a:cxnLst>
            <a:rect l="0" t="0" r="r" b="b"/>
            <a:pathLst>
              <a:path w="3856" h="2276">
                <a:moveTo>
                  <a:pt x="0" y="0"/>
                </a:moveTo>
                <a:cubicBezTo>
                  <a:pt x="446" y="782"/>
                  <a:pt x="892" y="1565"/>
                  <a:pt x="1225" y="1724"/>
                </a:cubicBezTo>
                <a:cubicBezTo>
                  <a:pt x="1558" y="1883"/>
                  <a:pt x="1694" y="870"/>
                  <a:pt x="1996" y="953"/>
                </a:cubicBezTo>
                <a:cubicBezTo>
                  <a:pt x="2298" y="1036"/>
                  <a:pt x="2729" y="2276"/>
                  <a:pt x="3039" y="2223"/>
                </a:cubicBezTo>
                <a:cubicBezTo>
                  <a:pt x="3349" y="2170"/>
                  <a:pt x="3720" y="900"/>
                  <a:pt x="3856" y="635"/>
                </a:cubicBezTo>
              </a:path>
            </a:pathLst>
          </a:custGeom>
          <a:noFill/>
          <a:ln w="38100" cmpd="sng">
            <a:solidFill>
              <a:srgbClr val="3333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tr-TR"/>
          </a:p>
        </p:txBody>
      </p:sp>
      <p:sp>
        <p:nvSpPr>
          <p:cNvPr id="374802" name="Line 18"/>
          <p:cNvSpPr>
            <a:spLocks noChangeShapeType="1"/>
          </p:cNvSpPr>
          <p:nvPr/>
        </p:nvSpPr>
        <p:spPr bwMode="auto">
          <a:xfrm>
            <a:off x="1667002" y="1989138"/>
            <a:ext cx="1655763" cy="2160587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tr-TR"/>
          </a:p>
        </p:txBody>
      </p:sp>
      <p:sp>
        <p:nvSpPr>
          <p:cNvPr id="374806" name="Line 22"/>
          <p:cNvSpPr>
            <a:spLocks noChangeShapeType="1"/>
          </p:cNvSpPr>
          <p:nvPr/>
        </p:nvSpPr>
        <p:spPr bwMode="auto">
          <a:xfrm flipH="1">
            <a:off x="3827590" y="2708275"/>
            <a:ext cx="1295400" cy="2016125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tr-TR"/>
          </a:p>
        </p:txBody>
      </p:sp>
      <p:sp>
        <p:nvSpPr>
          <p:cNvPr id="374791" name="Line 7"/>
          <p:cNvSpPr>
            <a:spLocks noChangeShapeType="1"/>
          </p:cNvSpPr>
          <p:nvPr/>
        </p:nvSpPr>
        <p:spPr bwMode="auto">
          <a:xfrm flipV="1">
            <a:off x="2170240" y="1484313"/>
            <a:ext cx="0" cy="41052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tr-TR"/>
          </a:p>
        </p:txBody>
      </p:sp>
      <p:sp>
        <p:nvSpPr>
          <p:cNvPr id="374792" name="Line 8"/>
          <p:cNvSpPr>
            <a:spLocks noChangeShapeType="1"/>
          </p:cNvSpPr>
          <p:nvPr/>
        </p:nvSpPr>
        <p:spPr bwMode="auto">
          <a:xfrm>
            <a:off x="2170240" y="5589588"/>
            <a:ext cx="6553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tr-TR"/>
          </a:p>
        </p:txBody>
      </p:sp>
      <p:sp>
        <p:nvSpPr>
          <p:cNvPr id="374796" name="Line 12"/>
          <p:cNvSpPr>
            <a:spLocks noChangeShapeType="1"/>
          </p:cNvSpPr>
          <p:nvPr/>
        </p:nvSpPr>
        <p:spPr bwMode="auto">
          <a:xfrm>
            <a:off x="2603627" y="3284538"/>
            <a:ext cx="0" cy="2305050"/>
          </a:xfrm>
          <a:prstGeom prst="line">
            <a:avLst/>
          </a:prstGeom>
          <a:noFill/>
          <a:ln w="9525">
            <a:solidFill>
              <a:srgbClr val="B2B2B2"/>
            </a:solidFill>
            <a:round/>
            <a:headEnd/>
            <a:tailEnd/>
          </a:ln>
          <a:effectLst/>
        </p:spPr>
        <p:txBody>
          <a:bodyPr/>
          <a:lstStyle/>
          <a:p>
            <a:endParaRPr lang="tr-TR"/>
          </a:p>
        </p:txBody>
      </p:sp>
      <p:sp>
        <p:nvSpPr>
          <p:cNvPr id="374797" name="Line 13"/>
          <p:cNvSpPr>
            <a:spLocks noChangeShapeType="1"/>
          </p:cNvSpPr>
          <p:nvPr/>
        </p:nvSpPr>
        <p:spPr bwMode="auto">
          <a:xfrm>
            <a:off x="3035427" y="3789363"/>
            <a:ext cx="0" cy="1800225"/>
          </a:xfrm>
          <a:prstGeom prst="line">
            <a:avLst/>
          </a:prstGeom>
          <a:noFill/>
          <a:ln w="9525">
            <a:solidFill>
              <a:srgbClr val="B2B2B2"/>
            </a:solidFill>
            <a:round/>
            <a:headEnd/>
            <a:tailEnd/>
          </a:ln>
          <a:effectLst/>
        </p:spPr>
        <p:txBody>
          <a:bodyPr/>
          <a:lstStyle/>
          <a:p>
            <a:endParaRPr lang="tr-TR"/>
          </a:p>
        </p:txBody>
      </p:sp>
      <p:sp>
        <p:nvSpPr>
          <p:cNvPr id="374798" name="Text Box 14"/>
          <p:cNvSpPr txBox="1">
            <a:spLocks noChangeArrowheads="1"/>
          </p:cNvSpPr>
          <p:nvPr/>
        </p:nvSpPr>
        <p:spPr bwMode="auto">
          <a:xfrm>
            <a:off x="2170240" y="5589588"/>
            <a:ext cx="47352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tr-TR" sz="2400" i="1" dirty="0">
                <a:latin typeface="+mj-lt"/>
              </a:rPr>
              <a:t>w</a:t>
            </a:r>
            <a:r>
              <a:rPr lang="tr-TR" sz="2400" i="1" baseline="30000" dirty="0">
                <a:latin typeface="+mj-lt"/>
              </a:rPr>
              <a:t>t</a:t>
            </a:r>
          </a:p>
        </p:txBody>
      </p:sp>
      <p:sp>
        <p:nvSpPr>
          <p:cNvPr id="374799" name="Text Box 15"/>
          <p:cNvSpPr txBox="1">
            <a:spLocks noChangeArrowheads="1"/>
          </p:cNvSpPr>
          <p:nvPr/>
        </p:nvSpPr>
        <p:spPr bwMode="auto">
          <a:xfrm>
            <a:off x="2819527" y="5589588"/>
            <a:ext cx="68031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tr-TR" sz="2400" i="1" dirty="0">
                <a:latin typeface="+mj-lt"/>
              </a:rPr>
              <a:t>w</a:t>
            </a:r>
            <a:r>
              <a:rPr lang="tr-TR" sz="2400" i="1" baseline="30000" dirty="0">
                <a:latin typeface="+mj-lt"/>
              </a:rPr>
              <a:t>t</a:t>
            </a:r>
            <a:r>
              <a:rPr lang="tr-TR" sz="2400" baseline="30000" dirty="0">
                <a:latin typeface="+mj-lt"/>
              </a:rPr>
              <a:t>+1</a:t>
            </a:r>
          </a:p>
        </p:txBody>
      </p:sp>
      <p:sp>
        <p:nvSpPr>
          <p:cNvPr id="374800" name="Line 16"/>
          <p:cNvSpPr>
            <a:spLocks noChangeShapeType="1"/>
          </p:cNvSpPr>
          <p:nvPr/>
        </p:nvSpPr>
        <p:spPr bwMode="auto">
          <a:xfrm>
            <a:off x="2603627" y="6092825"/>
            <a:ext cx="431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tr-TR"/>
          </a:p>
        </p:txBody>
      </p:sp>
      <p:sp>
        <p:nvSpPr>
          <p:cNvPr id="374801" name="Text Box 17"/>
          <p:cNvSpPr txBox="1">
            <a:spLocks noChangeArrowheads="1"/>
          </p:cNvSpPr>
          <p:nvPr/>
        </p:nvSpPr>
        <p:spPr bwMode="auto">
          <a:xfrm>
            <a:off x="2603627" y="5949950"/>
            <a:ext cx="400050" cy="823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tr-TR" i="1" dirty="0">
                <a:latin typeface="+mj-lt"/>
              </a:rPr>
              <a:t>η</a:t>
            </a:r>
          </a:p>
          <a:p>
            <a:endParaRPr lang="tr-TR" sz="2400" i="1" baseline="30000" dirty="0">
              <a:latin typeface="Lucida Bright" pitchFamily="18" charset="0"/>
            </a:endParaRPr>
          </a:p>
        </p:txBody>
      </p:sp>
      <p:sp>
        <p:nvSpPr>
          <p:cNvPr id="374805" name="Line 21"/>
          <p:cNvSpPr>
            <a:spLocks noChangeShapeType="1"/>
          </p:cNvSpPr>
          <p:nvPr/>
        </p:nvSpPr>
        <p:spPr bwMode="auto">
          <a:xfrm>
            <a:off x="4546727" y="2636838"/>
            <a:ext cx="2016125" cy="2592387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tr-TR"/>
          </a:p>
        </p:txBody>
      </p:sp>
      <p:sp>
        <p:nvSpPr>
          <p:cNvPr id="374808" name="Line 24"/>
          <p:cNvSpPr>
            <a:spLocks noChangeShapeType="1"/>
          </p:cNvSpPr>
          <p:nvPr/>
        </p:nvSpPr>
        <p:spPr bwMode="auto">
          <a:xfrm flipH="1" flipV="1">
            <a:off x="2170240" y="3284538"/>
            <a:ext cx="433387" cy="0"/>
          </a:xfrm>
          <a:prstGeom prst="line">
            <a:avLst/>
          </a:prstGeom>
          <a:noFill/>
          <a:ln w="9525">
            <a:solidFill>
              <a:srgbClr val="B2B2B2"/>
            </a:solidFill>
            <a:round/>
            <a:headEnd/>
            <a:tailEnd/>
          </a:ln>
          <a:effectLst/>
        </p:spPr>
        <p:txBody>
          <a:bodyPr/>
          <a:lstStyle/>
          <a:p>
            <a:endParaRPr lang="tr-TR"/>
          </a:p>
        </p:txBody>
      </p:sp>
      <p:sp>
        <p:nvSpPr>
          <p:cNvPr id="374809" name="Text Box 25"/>
          <p:cNvSpPr txBox="1">
            <a:spLocks noChangeArrowheads="1"/>
          </p:cNvSpPr>
          <p:nvPr/>
        </p:nvSpPr>
        <p:spPr bwMode="auto">
          <a:xfrm>
            <a:off x="1090740" y="2852738"/>
            <a:ext cx="87908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tr-TR" sz="2400" i="1" dirty="0">
                <a:latin typeface="+mj-lt"/>
              </a:rPr>
              <a:t>E </a:t>
            </a:r>
            <a:r>
              <a:rPr lang="tr-TR" sz="2400" dirty="0">
                <a:latin typeface="+mj-lt"/>
              </a:rPr>
              <a:t>(</a:t>
            </a:r>
            <a:r>
              <a:rPr lang="tr-TR" sz="2400" i="1" dirty="0">
                <a:latin typeface="+mj-lt"/>
              </a:rPr>
              <a:t>w</a:t>
            </a:r>
            <a:r>
              <a:rPr lang="tr-TR" sz="2400" i="1" baseline="30000" dirty="0">
                <a:latin typeface="+mj-lt"/>
              </a:rPr>
              <a:t>t</a:t>
            </a:r>
            <a:r>
              <a:rPr lang="tr-TR" sz="2400" i="1" dirty="0">
                <a:latin typeface="+mj-lt"/>
              </a:rPr>
              <a:t>)</a:t>
            </a:r>
          </a:p>
        </p:txBody>
      </p:sp>
      <p:sp>
        <p:nvSpPr>
          <p:cNvPr id="374811" name="Text Box 27"/>
          <p:cNvSpPr txBox="1">
            <a:spLocks noChangeArrowheads="1"/>
          </p:cNvSpPr>
          <p:nvPr/>
        </p:nvSpPr>
        <p:spPr bwMode="auto">
          <a:xfrm>
            <a:off x="911352" y="3500438"/>
            <a:ext cx="108587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tr-TR" sz="2400" i="1" dirty="0">
                <a:latin typeface="+mj-lt"/>
              </a:rPr>
              <a:t>E </a:t>
            </a:r>
            <a:r>
              <a:rPr lang="tr-TR" sz="2400" dirty="0">
                <a:latin typeface="+mj-lt"/>
              </a:rPr>
              <a:t>(</a:t>
            </a:r>
            <a:r>
              <a:rPr lang="tr-TR" sz="2400" i="1" dirty="0">
                <a:latin typeface="+mj-lt"/>
              </a:rPr>
              <a:t>w</a:t>
            </a:r>
            <a:r>
              <a:rPr lang="tr-TR" sz="2400" i="1" baseline="30000" dirty="0">
                <a:latin typeface="+mj-lt"/>
              </a:rPr>
              <a:t>t</a:t>
            </a:r>
            <a:r>
              <a:rPr lang="tr-TR" sz="2400" baseline="30000" dirty="0">
                <a:latin typeface="+mj-lt"/>
              </a:rPr>
              <a:t>+1</a:t>
            </a:r>
            <a:r>
              <a:rPr lang="tr-TR" sz="2400" dirty="0">
                <a:latin typeface="+mj-lt"/>
              </a:rPr>
              <a:t>)</a:t>
            </a:r>
          </a:p>
        </p:txBody>
      </p:sp>
      <p:sp>
        <p:nvSpPr>
          <p:cNvPr id="374793" name="Oval 9"/>
          <p:cNvSpPr>
            <a:spLocks noChangeArrowheads="1"/>
          </p:cNvSpPr>
          <p:nvPr/>
        </p:nvSpPr>
        <p:spPr bwMode="auto">
          <a:xfrm>
            <a:off x="2530602" y="3213100"/>
            <a:ext cx="144463" cy="144463"/>
          </a:xfrm>
          <a:prstGeom prst="ellipse">
            <a:avLst/>
          </a:prstGeom>
          <a:solidFill>
            <a:srgbClr val="66FF33"/>
          </a:solidFill>
          <a:ln w="38100">
            <a:solidFill>
              <a:srgbClr val="66FF33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GB">
              <a:solidFill>
                <a:srgbClr val="66FF33"/>
              </a:solidFill>
            </a:endParaRPr>
          </a:p>
        </p:txBody>
      </p:sp>
      <p:sp>
        <p:nvSpPr>
          <p:cNvPr id="374818" name="Oval 34"/>
          <p:cNvSpPr>
            <a:spLocks noChangeArrowheads="1"/>
          </p:cNvSpPr>
          <p:nvPr/>
        </p:nvSpPr>
        <p:spPr bwMode="auto">
          <a:xfrm>
            <a:off x="2962402" y="3716338"/>
            <a:ext cx="144463" cy="144462"/>
          </a:xfrm>
          <a:prstGeom prst="ellipse">
            <a:avLst/>
          </a:prstGeom>
          <a:solidFill>
            <a:srgbClr val="66FF33"/>
          </a:solidFill>
          <a:ln w="38100">
            <a:solidFill>
              <a:srgbClr val="66FF33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GB">
              <a:solidFill>
                <a:srgbClr val="66FF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51619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834" name="Rectangle 2"/>
          <p:cNvSpPr>
            <a:spLocks noGrp="1" noChangeArrowheads="1"/>
          </p:cNvSpPr>
          <p:nvPr>
            <p:ph type="title"/>
          </p:nvPr>
        </p:nvSpPr>
        <p:spPr>
          <a:xfrm>
            <a:off x="1295400" y="260648"/>
            <a:ext cx="7545760" cy="868094"/>
          </a:xfrm>
        </p:spPr>
        <p:txBody>
          <a:bodyPr>
            <a:normAutofit fontScale="90000"/>
          </a:bodyPr>
          <a:lstStyle/>
          <a:p>
            <a:r>
              <a:rPr lang="tr-TR" dirty="0" err="1"/>
              <a:t>Logistic</a:t>
            </a:r>
            <a:r>
              <a:rPr lang="tr-TR" dirty="0"/>
              <a:t> </a:t>
            </a:r>
            <a:r>
              <a:rPr lang="en-US" altLang="zh-CN" dirty="0"/>
              <a:t>Regression(</a:t>
            </a:r>
            <a:r>
              <a:rPr lang="tr-TR" dirty="0" err="1"/>
              <a:t>Discrimination</a:t>
            </a:r>
            <a:r>
              <a:rPr lang="en-US" altLang="zh-CN"/>
              <a:t>)</a:t>
            </a:r>
            <a:endParaRPr lang="tr-TR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9F2C84C-58DE-4C80-A043-238A89359032}" type="slidenum">
              <a:rPr lang="tr-TR"/>
              <a:pPr/>
              <a:t>14</a:t>
            </a:fld>
            <a:endParaRPr lang="tr-TR"/>
          </a:p>
        </p:txBody>
      </p:sp>
      <p:graphicFrame>
        <p:nvGraphicFramePr>
          <p:cNvPr id="376840" name="Object 8"/>
          <p:cNvGraphicFramePr>
            <a:graphicFrameLocks noGrp="1" noChangeAspect="1"/>
          </p:cNvGraphicFramePr>
          <p:nvPr>
            <p:ph sz="quarter" idx="1"/>
          </p:nvPr>
        </p:nvGraphicFramePr>
        <p:xfrm>
          <a:off x="1357313" y="2306638"/>
          <a:ext cx="6330950" cy="3681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429000" imgH="1993680" progId="Equation.3">
                  <p:embed/>
                </p:oleObj>
              </mc:Choice>
              <mc:Fallback>
                <p:oleObj name="Equation" r:id="rId2" imgW="3429000" imgH="1993680" progId="Equation.3">
                  <p:embed/>
                  <p:pic>
                    <p:nvPicPr>
                      <p:cNvPr id="37684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7313" y="2306638"/>
                        <a:ext cx="6330950" cy="36814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683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914400" y="1219200"/>
            <a:ext cx="8229600" cy="4381500"/>
          </a:xfrm>
        </p:spPr>
        <p:txBody>
          <a:bodyPr/>
          <a:lstStyle/>
          <a:p>
            <a:pPr>
              <a:buNone/>
            </a:pPr>
            <a:r>
              <a:rPr lang="tr-TR" dirty="0">
                <a:solidFill>
                  <a:schemeClr val="tx2"/>
                </a:solidFill>
                <a:latin typeface="+mj-lt"/>
              </a:rPr>
              <a:t>Two classes: Assume log likelihood ratio is linear</a:t>
            </a:r>
          </a:p>
        </p:txBody>
      </p:sp>
    </p:spTree>
    <p:extLst>
      <p:ext uri="{BB962C8B-B14F-4D97-AF65-F5344CB8AC3E}">
        <p14:creationId xmlns:p14="http://schemas.microsoft.com/office/powerpoint/2010/main" val="29452206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8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Training: Two Classes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B1158810-B672-4491-97BF-E3E988EE4BA2}" type="slidenum">
              <a:rPr lang="tr-TR"/>
              <a:pPr/>
              <a:t>15</a:t>
            </a:fld>
            <a:endParaRPr lang="tr-TR"/>
          </a:p>
        </p:txBody>
      </p:sp>
      <p:graphicFrame>
        <p:nvGraphicFramePr>
          <p:cNvPr id="377866" name="Object 10"/>
          <p:cNvGraphicFramePr>
            <a:graphicFrameLocks noGrp="1" noChangeAspect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1416502644"/>
              </p:ext>
            </p:extLst>
          </p:nvPr>
        </p:nvGraphicFramePr>
        <p:xfrm>
          <a:off x="1778000" y="2166938"/>
          <a:ext cx="5637213" cy="3529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920680" imgH="1828800" progId="Equation.DSMT4">
                  <p:embed/>
                </p:oleObj>
              </mc:Choice>
              <mc:Fallback>
                <p:oleObj name="Equation" r:id="rId2" imgW="2920680" imgH="1828800" progId="Equation.DSMT4">
                  <p:embed/>
                  <p:pic>
                    <p:nvPicPr>
                      <p:cNvPr id="377866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8000" y="2166938"/>
                        <a:ext cx="5637213" cy="35290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164837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82" name="Rectangle 2"/>
          <p:cNvSpPr>
            <a:spLocks noGrp="1" noChangeArrowheads="1"/>
          </p:cNvSpPr>
          <p:nvPr>
            <p:ph type="title"/>
          </p:nvPr>
        </p:nvSpPr>
        <p:spPr>
          <a:xfrm>
            <a:off x="1219200" y="260648"/>
            <a:ext cx="7621960" cy="868664"/>
          </a:xfrm>
        </p:spPr>
        <p:txBody>
          <a:bodyPr>
            <a:normAutofit/>
          </a:bodyPr>
          <a:lstStyle/>
          <a:p>
            <a:r>
              <a:rPr lang="tr-TR" dirty="0"/>
              <a:t>Training: Gradient-Descent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AF0A4983-73BC-4544-9D3B-0DE25CCE8F32}" type="slidenum">
              <a:rPr lang="tr-TR"/>
              <a:pPr/>
              <a:t>16</a:t>
            </a:fld>
            <a:endParaRPr lang="tr-TR"/>
          </a:p>
        </p:txBody>
      </p:sp>
      <p:graphicFrame>
        <p:nvGraphicFramePr>
          <p:cNvPr id="378888" name="Object 8"/>
          <p:cNvGraphicFramePr>
            <a:graphicFrameLocks noGrp="1" noChangeAspect="1"/>
          </p:cNvGraphicFramePr>
          <p:nvPr>
            <p:ph sz="quarter" idx="1"/>
          </p:nvPr>
        </p:nvGraphicFramePr>
        <p:xfrm>
          <a:off x="944563" y="1628775"/>
          <a:ext cx="6892925" cy="4421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187440" imgH="2044440" progId="Equation.3">
                  <p:embed/>
                </p:oleObj>
              </mc:Choice>
              <mc:Fallback>
                <p:oleObj name="Equation" r:id="rId2" imgW="3187440" imgH="2044440" progId="Equation.3">
                  <p:embed/>
                  <p:pic>
                    <p:nvPicPr>
                      <p:cNvPr id="37888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4563" y="1628775"/>
                        <a:ext cx="6892925" cy="44211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404058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745017DD-B607-49DE-9B53-972E4720B1A0}" type="slidenum">
              <a:rPr lang="tr-TR"/>
              <a:pPr/>
              <a:t>17</a:t>
            </a:fld>
            <a:endParaRPr lang="tr-TR"/>
          </a:p>
        </p:txBody>
      </p:sp>
      <p:pic>
        <p:nvPicPr>
          <p:cNvPr id="379911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14563" y="661988"/>
            <a:ext cx="4714875" cy="553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79914" name="Rectangle 10"/>
          <p:cNvSpPr>
            <a:spLocks noChangeArrowheads="1"/>
          </p:cNvSpPr>
          <p:nvPr/>
        </p:nvSpPr>
        <p:spPr bwMode="auto">
          <a:xfrm>
            <a:off x="3419475" y="3141663"/>
            <a:ext cx="2592388" cy="1366837"/>
          </a:xfrm>
          <a:prstGeom prst="rect">
            <a:avLst/>
          </a:prstGeom>
          <a:noFill/>
          <a:ln w="9525">
            <a:solidFill>
              <a:srgbClr val="00FF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379915" name="Rectangle 11"/>
          <p:cNvSpPr>
            <a:spLocks noChangeArrowheads="1"/>
          </p:cNvSpPr>
          <p:nvPr/>
        </p:nvSpPr>
        <p:spPr bwMode="auto">
          <a:xfrm>
            <a:off x="3419475" y="4508500"/>
            <a:ext cx="3384550" cy="433388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375223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D03BF-57A3-431F-BF78-E75FC443CF21}" type="slidenum">
              <a:rPr lang="tr-TR"/>
              <a:pPr/>
              <a:t>18</a:t>
            </a:fld>
            <a:endParaRPr lang="tr-TR"/>
          </a:p>
        </p:txBody>
      </p:sp>
      <p:pic>
        <p:nvPicPr>
          <p:cNvPr id="380934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52550" y="928688"/>
            <a:ext cx="6438900" cy="500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80935" name="Text Box 7"/>
          <p:cNvSpPr txBox="1">
            <a:spLocks noChangeArrowheads="1"/>
          </p:cNvSpPr>
          <p:nvPr/>
        </p:nvSpPr>
        <p:spPr bwMode="auto">
          <a:xfrm>
            <a:off x="3040063" y="2174875"/>
            <a:ext cx="4318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tr-TR" sz="1600">
                <a:latin typeface="Lucida Bright" pitchFamily="18" charset="0"/>
              </a:rPr>
              <a:t>10</a:t>
            </a:r>
          </a:p>
        </p:txBody>
      </p:sp>
      <p:sp>
        <p:nvSpPr>
          <p:cNvPr id="380936" name="Text Box 8"/>
          <p:cNvSpPr txBox="1">
            <a:spLocks noChangeArrowheads="1"/>
          </p:cNvSpPr>
          <p:nvPr/>
        </p:nvSpPr>
        <p:spPr bwMode="auto">
          <a:xfrm>
            <a:off x="3492500" y="1628775"/>
            <a:ext cx="5556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tr-TR" sz="1600">
                <a:latin typeface="Lucida Bright" pitchFamily="18" charset="0"/>
              </a:rPr>
              <a:t>100</a:t>
            </a:r>
          </a:p>
        </p:txBody>
      </p:sp>
      <p:sp>
        <p:nvSpPr>
          <p:cNvPr id="380937" name="Text Box 9"/>
          <p:cNvSpPr txBox="1">
            <a:spLocks noChangeArrowheads="1"/>
          </p:cNvSpPr>
          <p:nvPr/>
        </p:nvSpPr>
        <p:spPr bwMode="auto">
          <a:xfrm>
            <a:off x="4427538" y="1628775"/>
            <a:ext cx="6794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tr-TR" sz="1600">
                <a:latin typeface="Lucida Bright" pitchFamily="18" charset="0"/>
              </a:rPr>
              <a:t>1000</a:t>
            </a:r>
          </a:p>
        </p:txBody>
      </p:sp>
    </p:spTree>
    <p:extLst>
      <p:ext uri="{BB962C8B-B14F-4D97-AF65-F5344CB8AC3E}">
        <p14:creationId xmlns:p14="http://schemas.microsoft.com/office/powerpoint/2010/main" val="25790391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954" name="Rectangle 2"/>
          <p:cNvSpPr>
            <a:spLocks noGrp="1" noChangeArrowheads="1"/>
          </p:cNvSpPr>
          <p:nvPr>
            <p:ph type="title"/>
          </p:nvPr>
        </p:nvSpPr>
        <p:spPr>
          <a:xfrm>
            <a:off x="611560" y="332656"/>
            <a:ext cx="8229600" cy="792088"/>
          </a:xfrm>
        </p:spPr>
        <p:txBody>
          <a:bodyPr>
            <a:normAutofit/>
          </a:bodyPr>
          <a:lstStyle/>
          <a:p>
            <a:r>
              <a:rPr lang="tr-TR" i="1" dirty="0"/>
              <a:t>K</a:t>
            </a:r>
            <a:r>
              <a:rPr lang="tr-TR" dirty="0"/>
              <a:t>&gt;2 Classes</a:t>
            </a:r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DEA6802-74BA-468E-A26D-E56FE529753E}" type="slidenum">
              <a:rPr lang="tr-TR"/>
              <a:pPr/>
              <a:t>19</a:t>
            </a:fld>
            <a:endParaRPr lang="tr-TR"/>
          </a:p>
        </p:txBody>
      </p:sp>
      <p:graphicFrame>
        <p:nvGraphicFramePr>
          <p:cNvPr id="381966" name="Object 14"/>
          <p:cNvGraphicFramePr>
            <a:graphicFrameLocks noGrp="1" noChangeAspect="1"/>
          </p:cNvGraphicFramePr>
          <p:nvPr>
            <p:ph sz="quarter" idx="1"/>
          </p:nvPr>
        </p:nvGraphicFramePr>
        <p:xfrm>
          <a:off x="990600" y="1557338"/>
          <a:ext cx="5581650" cy="4799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717640" imgH="2336760" progId="Equation.3">
                  <p:embed/>
                </p:oleObj>
              </mc:Choice>
              <mc:Fallback>
                <p:oleObj name="Equation" r:id="rId2" imgW="2717640" imgH="2336760" progId="Equation.3">
                  <p:embed/>
                  <p:pic>
                    <p:nvPicPr>
                      <p:cNvPr id="381966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1557338"/>
                        <a:ext cx="5581650" cy="47990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1963" name="Text Box 11"/>
          <p:cNvSpPr txBox="1">
            <a:spLocks noChangeArrowheads="1"/>
          </p:cNvSpPr>
          <p:nvPr/>
        </p:nvSpPr>
        <p:spPr bwMode="auto">
          <a:xfrm>
            <a:off x="7143768" y="3214686"/>
            <a:ext cx="119616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tr-TR" sz="2400" i="1" dirty="0">
                <a:solidFill>
                  <a:schemeClr val="tx2"/>
                </a:solidFill>
                <a:latin typeface="+mj-lt"/>
              </a:rPr>
              <a:t>softmax</a:t>
            </a:r>
          </a:p>
        </p:txBody>
      </p:sp>
      <p:sp>
        <p:nvSpPr>
          <p:cNvPr id="381965" name="Rectangle 13"/>
          <p:cNvSpPr>
            <a:spLocks noChangeArrowheads="1"/>
          </p:cNvSpPr>
          <p:nvPr/>
        </p:nvSpPr>
        <p:spPr bwMode="auto">
          <a:xfrm>
            <a:off x="2700338" y="2997200"/>
            <a:ext cx="3025775" cy="1152525"/>
          </a:xfrm>
          <a:prstGeom prst="rect">
            <a:avLst/>
          </a:prstGeom>
          <a:noFill/>
          <a:ln w="9525">
            <a:solidFill>
              <a:srgbClr val="66FF33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457949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4133A-C71C-4A68-96F1-25A7A8C5B188}" type="slidenum">
              <a:rPr lang="tr-TR"/>
              <a:pPr/>
              <a:t>20</a:t>
            </a:fld>
            <a:endParaRPr lang="tr-TR"/>
          </a:p>
        </p:txBody>
      </p:sp>
      <p:pic>
        <p:nvPicPr>
          <p:cNvPr id="382981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85888" y="762000"/>
            <a:ext cx="6372225" cy="533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82982" name="Rectangle 6"/>
          <p:cNvSpPr>
            <a:spLocks noChangeArrowheads="1"/>
          </p:cNvSpPr>
          <p:nvPr/>
        </p:nvSpPr>
        <p:spPr bwMode="auto">
          <a:xfrm>
            <a:off x="2484438" y="2060575"/>
            <a:ext cx="3095625" cy="1800225"/>
          </a:xfrm>
          <a:prstGeom prst="rect">
            <a:avLst/>
          </a:prstGeom>
          <a:noFill/>
          <a:ln w="9525">
            <a:solidFill>
              <a:srgbClr val="00FF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382983" name="Rectangle 7"/>
          <p:cNvSpPr>
            <a:spLocks noChangeArrowheads="1"/>
          </p:cNvSpPr>
          <p:nvPr/>
        </p:nvSpPr>
        <p:spPr bwMode="auto">
          <a:xfrm>
            <a:off x="2484438" y="3860800"/>
            <a:ext cx="3743325" cy="93662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611488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032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Example</a:t>
            </a:r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A34F76E2-156B-4EA3-8CA3-AB1A65C496A8}" type="slidenum">
              <a:rPr lang="tr-TR"/>
              <a:pPr/>
              <a:t>21</a:t>
            </a:fld>
            <a:endParaRPr lang="tr-TR"/>
          </a:p>
        </p:txBody>
      </p:sp>
      <p:pic>
        <p:nvPicPr>
          <p:cNvPr id="385031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850" y="1700213"/>
            <a:ext cx="3867150" cy="3267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85035" name="Picture 1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211638" y="2997200"/>
            <a:ext cx="4286250" cy="336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85037" name="Picture 1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787900" y="476250"/>
            <a:ext cx="3476625" cy="2647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7878878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07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11560" y="1700808"/>
            <a:ext cx="8229600" cy="3886200"/>
          </a:xfrm>
        </p:spPr>
        <p:txBody>
          <a:bodyPr>
            <a:noAutofit/>
          </a:bodyPr>
          <a:lstStyle/>
          <a:p>
            <a:r>
              <a:rPr lang="tr-TR" sz="2400" dirty="0">
                <a:solidFill>
                  <a:schemeClr val="tx2"/>
                </a:solidFill>
                <a:latin typeface="+mj-lt"/>
              </a:rPr>
              <a:t>Quadratic:</a:t>
            </a:r>
          </a:p>
          <a:p>
            <a:endParaRPr lang="tr-TR" sz="2400" dirty="0">
              <a:solidFill>
                <a:schemeClr val="tx2"/>
              </a:solidFill>
              <a:latin typeface="+mj-lt"/>
            </a:endParaRPr>
          </a:p>
          <a:p>
            <a:endParaRPr lang="tr-TR" sz="2400" dirty="0">
              <a:solidFill>
                <a:schemeClr val="tx2"/>
              </a:solidFill>
              <a:latin typeface="+mj-lt"/>
            </a:endParaRPr>
          </a:p>
          <a:p>
            <a:r>
              <a:rPr lang="tr-TR" sz="2400" dirty="0">
                <a:solidFill>
                  <a:schemeClr val="tx2"/>
                </a:solidFill>
                <a:latin typeface="+mj-lt"/>
              </a:rPr>
              <a:t>Sum of basis functions:</a:t>
            </a:r>
          </a:p>
          <a:p>
            <a:endParaRPr lang="tr-TR" sz="2400" dirty="0">
              <a:solidFill>
                <a:schemeClr val="tx2"/>
              </a:solidFill>
              <a:latin typeface="+mj-lt"/>
            </a:endParaRPr>
          </a:p>
          <a:p>
            <a:endParaRPr lang="tr-TR" sz="2400" dirty="0">
              <a:solidFill>
                <a:schemeClr val="tx2"/>
              </a:solidFill>
              <a:latin typeface="+mj-lt"/>
            </a:endParaRPr>
          </a:p>
          <a:p>
            <a:pPr>
              <a:buFont typeface="Wingdings" pitchFamily="2" charset="2"/>
              <a:buNone/>
            </a:pPr>
            <a:r>
              <a:rPr lang="tr-TR" sz="2400" dirty="0">
                <a:solidFill>
                  <a:schemeClr val="tx2"/>
                </a:solidFill>
                <a:latin typeface="+mj-lt"/>
              </a:rPr>
              <a:t>	where </a:t>
            </a:r>
            <a:r>
              <a:rPr lang="tr-TR" sz="2400" b="1" i="1" dirty="0">
                <a:solidFill>
                  <a:schemeClr val="tx2"/>
                </a:solidFill>
                <a:latin typeface="Palatino Linotype" pitchFamily="18" charset="0"/>
              </a:rPr>
              <a:t>φ</a:t>
            </a:r>
            <a:r>
              <a:rPr lang="tr-TR" sz="2400" dirty="0">
                <a:solidFill>
                  <a:schemeClr val="tx2"/>
                </a:solidFill>
                <a:latin typeface="+mj-lt"/>
              </a:rPr>
              <a:t>(</a:t>
            </a:r>
            <a:r>
              <a:rPr lang="tr-TR" sz="2400" b="1" i="1" dirty="0">
                <a:solidFill>
                  <a:schemeClr val="tx2"/>
                </a:solidFill>
                <a:latin typeface="+mj-lt"/>
              </a:rPr>
              <a:t>x</a:t>
            </a:r>
            <a:r>
              <a:rPr lang="tr-TR" sz="2400" dirty="0">
                <a:solidFill>
                  <a:schemeClr val="tx2"/>
                </a:solidFill>
                <a:latin typeface="+mj-lt"/>
              </a:rPr>
              <a:t>) are basis functions. Examples: </a:t>
            </a:r>
          </a:p>
          <a:p>
            <a:pPr lvl="1"/>
            <a:r>
              <a:rPr lang="tr-TR" sz="2400" dirty="0">
                <a:solidFill>
                  <a:schemeClr val="tx2"/>
                </a:solidFill>
                <a:latin typeface="+mj-lt"/>
              </a:rPr>
              <a:t>Hidden units in neural networks (Chapters 11 and 12)</a:t>
            </a:r>
          </a:p>
          <a:p>
            <a:pPr lvl="1"/>
            <a:r>
              <a:rPr lang="tr-TR" sz="2400" dirty="0">
                <a:solidFill>
                  <a:schemeClr val="tx2"/>
                </a:solidFill>
                <a:latin typeface="+mj-lt"/>
              </a:rPr>
              <a:t>Kernels in SVM (Chapter 13)</a:t>
            </a:r>
          </a:p>
        </p:txBody>
      </p:sp>
      <p:sp>
        <p:nvSpPr>
          <p:cNvPr id="387074" name="Rectangle 2"/>
          <p:cNvSpPr>
            <a:spLocks noGrp="1" noChangeArrowheads="1"/>
          </p:cNvSpPr>
          <p:nvPr>
            <p:ph type="title"/>
          </p:nvPr>
        </p:nvSpPr>
        <p:spPr>
          <a:xfrm>
            <a:off x="611560" y="260648"/>
            <a:ext cx="8229600" cy="868664"/>
          </a:xfrm>
        </p:spPr>
        <p:txBody>
          <a:bodyPr>
            <a:normAutofit/>
          </a:bodyPr>
          <a:lstStyle/>
          <a:p>
            <a:r>
              <a:rPr lang="tr-TR" dirty="0"/>
              <a:t>Generalizing the Linear Model</a:t>
            </a:r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25C47B7-5C53-4C06-8E78-7660FF04D6B8}" type="slidenum">
              <a:rPr lang="tr-TR"/>
              <a:pPr/>
              <a:t>22</a:t>
            </a:fld>
            <a:endParaRPr lang="tr-TR"/>
          </a:p>
        </p:txBody>
      </p:sp>
      <p:graphicFrame>
        <p:nvGraphicFramePr>
          <p:cNvPr id="387078" name="Object 6"/>
          <p:cNvGraphicFramePr>
            <a:graphicFrameLocks noGrp="1" noChangeAspect="1"/>
          </p:cNvGraphicFramePr>
          <p:nvPr>
            <p:ph sz="quarter" idx="1"/>
          </p:nvPr>
        </p:nvGraphicFramePr>
        <p:xfrm>
          <a:off x="2627784" y="2060848"/>
          <a:ext cx="39878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93680" imgH="431640" progId="Equation.3">
                  <p:embed/>
                </p:oleObj>
              </mc:Choice>
              <mc:Fallback>
                <p:oleObj name="Equation" r:id="rId2" imgW="1993680" imgH="431640" progId="Equation.3">
                  <p:embed/>
                  <p:pic>
                    <p:nvPicPr>
                      <p:cNvPr id="38707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784" y="2060848"/>
                        <a:ext cx="3987800" cy="863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7080" name="Object 8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2699792" y="3501008"/>
          <a:ext cx="3429000" cy="896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50960" imgH="431640" progId="Equation.3">
                  <p:embed/>
                </p:oleObj>
              </mc:Choice>
              <mc:Fallback>
                <p:oleObj name="Equation" r:id="rId4" imgW="1650960" imgH="431640" progId="Equation.3">
                  <p:embed/>
                  <p:pic>
                    <p:nvPicPr>
                      <p:cNvPr id="38708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9792" y="3501008"/>
                        <a:ext cx="3429000" cy="8969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592388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Discrimination by Regression</a:t>
            </a: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778022D-6361-4E4D-B0E6-29974ECB5733}" type="slidenum">
              <a:rPr lang="tr-TR"/>
              <a:pPr/>
              <a:t>23</a:t>
            </a:fld>
            <a:endParaRPr lang="tr-TR"/>
          </a:p>
        </p:txBody>
      </p:sp>
      <p:graphicFrame>
        <p:nvGraphicFramePr>
          <p:cNvPr id="388107" name="Object 11"/>
          <p:cNvGraphicFramePr>
            <a:graphicFrameLocks noGrp="1" noChangeAspect="1"/>
          </p:cNvGraphicFramePr>
          <p:nvPr>
            <p:ph sz="quarter" idx="1"/>
          </p:nvPr>
        </p:nvGraphicFramePr>
        <p:xfrm>
          <a:off x="1403648" y="2276872"/>
          <a:ext cx="5934075" cy="3956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009600" imgH="2006280" progId="Equation.3">
                  <p:embed/>
                </p:oleObj>
              </mc:Choice>
              <mc:Fallback>
                <p:oleObj name="Equation" r:id="rId2" imgW="3009600" imgH="2006280" progId="Equation.3">
                  <p:embed/>
                  <p:pic>
                    <p:nvPicPr>
                      <p:cNvPr id="388107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648" y="2276872"/>
                        <a:ext cx="5934075" cy="3956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809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846564" y="1219200"/>
            <a:ext cx="8229600" cy="3886200"/>
          </a:xfrm>
        </p:spPr>
        <p:txBody>
          <a:bodyPr/>
          <a:lstStyle/>
          <a:p>
            <a:r>
              <a:rPr lang="tr-TR" dirty="0">
                <a:solidFill>
                  <a:schemeClr val="tx2"/>
                </a:solidFill>
                <a:latin typeface="+mj-lt"/>
              </a:rPr>
              <a:t>Classes are NOT mutually exclusive and exhaustive</a:t>
            </a:r>
          </a:p>
        </p:txBody>
      </p:sp>
    </p:spTree>
    <p:extLst>
      <p:ext uri="{BB962C8B-B14F-4D97-AF65-F5344CB8AC3E}">
        <p14:creationId xmlns:p14="http://schemas.microsoft.com/office/powerpoint/2010/main" val="5682599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Learning to Rank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75236DEA-E907-4A0C-A8BB-812E7F7F3428}" type="slidenum">
              <a:rPr lang="tr-TR" smtClean="0"/>
              <a:pPr/>
              <a:t>24</a:t>
            </a:fld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709120"/>
          </a:xfrm>
        </p:spPr>
        <p:txBody>
          <a:bodyPr>
            <a:normAutofit fontScale="92500"/>
          </a:bodyPr>
          <a:lstStyle/>
          <a:p>
            <a:r>
              <a:rPr lang="tr-TR" dirty="0"/>
              <a:t>Ranking: A different problem than classification or regression</a:t>
            </a:r>
          </a:p>
          <a:p>
            <a:r>
              <a:rPr lang="tr-TR" dirty="0"/>
              <a:t>Let us say </a:t>
            </a:r>
            <a:r>
              <a:rPr lang="tr-TR" b="1" i="1" dirty="0"/>
              <a:t>x</a:t>
            </a:r>
            <a:r>
              <a:rPr lang="tr-TR" i="1" baseline="30000" dirty="0"/>
              <a:t>u</a:t>
            </a:r>
            <a:r>
              <a:rPr lang="tr-TR" dirty="0"/>
              <a:t> and </a:t>
            </a:r>
            <a:r>
              <a:rPr lang="tr-TR" b="1" i="1" dirty="0"/>
              <a:t>x</a:t>
            </a:r>
            <a:r>
              <a:rPr lang="tr-TR" i="1" baseline="30000" dirty="0"/>
              <a:t>v</a:t>
            </a:r>
            <a:r>
              <a:rPr lang="tr-TR" dirty="0"/>
              <a:t> are two instances, e.g., two movies </a:t>
            </a:r>
          </a:p>
          <a:p>
            <a:pPr>
              <a:buNone/>
            </a:pPr>
            <a:r>
              <a:rPr lang="tr-TR" dirty="0"/>
              <a:t>	We prefer </a:t>
            </a:r>
            <a:r>
              <a:rPr lang="tr-TR" i="1" dirty="0"/>
              <a:t>u</a:t>
            </a:r>
            <a:r>
              <a:rPr lang="tr-TR" dirty="0"/>
              <a:t> to </a:t>
            </a:r>
            <a:r>
              <a:rPr lang="tr-TR" i="1" dirty="0"/>
              <a:t>v</a:t>
            </a:r>
            <a:r>
              <a:rPr lang="tr-TR" dirty="0"/>
              <a:t> implies that </a:t>
            </a:r>
            <a:r>
              <a:rPr lang="tr-TR" i="1" dirty="0"/>
              <a:t>g</a:t>
            </a:r>
            <a:r>
              <a:rPr lang="tr-TR" dirty="0"/>
              <a:t>(</a:t>
            </a:r>
            <a:r>
              <a:rPr lang="tr-TR" b="1" i="1" dirty="0"/>
              <a:t>x</a:t>
            </a:r>
            <a:r>
              <a:rPr lang="tr-TR" i="1" baseline="30000" dirty="0"/>
              <a:t>u</a:t>
            </a:r>
            <a:r>
              <a:rPr lang="tr-TR" dirty="0"/>
              <a:t>)&gt;</a:t>
            </a:r>
            <a:r>
              <a:rPr lang="tr-TR" i="1" dirty="0"/>
              <a:t>g</a:t>
            </a:r>
            <a:r>
              <a:rPr lang="tr-TR" dirty="0"/>
              <a:t>(</a:t>
            </a:r>
            <a:r>
              <a:rPr lang="tr-TR" b="1" i="1" dirty="0"/>
              <a:t>x</a:t>
            </a:r>
            <a:r>
              <a:rPr lang="tr-TR" i="1" baseline="30000" dirty="0"/>
              <a:t>v</a:t>
            </a:r>
            <a:r>
              <a:rPr lang="tr-TR" dirty="0"/>
              <a:t>)</a:t>
            </a:r>
          </a:p>
          <a:p>
            <a:pPr>
              <a:buNone/>
            </a:pPr>
            <a:r>
              <a:rPr lang="tr-TR" dirty="0"/>
              <a:t>	where </a:t>
            </a:r>
            <a:r>
              <a:rPr lang="tr-TR" i="1" dirty="0"/>
              <a:t>g</a:t>
            </a:r>
            <a:r>
              <a:rPr lang="tr-TR" dirty="0"/>
              <a:t>(</a:t>
            </a:r>
            <a:r>
              <a:rPr lang="tr-TR" b="1" i="1" dirty="0"/>
              <a:t>x</a:t>
            </a:r>
            <a:r>
              <a:rPr lang="tr-TR" dirty="0"/>
              <a:t>) is a score function, here linear:</a:t>
            </a:r>
          </a:p>
          <a:p>
            <a:pPr>
              <a:buNone/>
            </a:pPr>
            <a:r>
              <a:rPr lang="tr-TR" dirty="0"/>
              <a:t>			</a:t>
            </a:r>
            <a:r>
              <a:rPr lang="tr-TR" i="1" dirty="0"/>
              <a:t>g</a:t>
            </a:r>
            <a:r>
              <a:rPr lang="tr-TR" dirty="0"/>
              <a:t>(</a:t>
            </a:r>
            <a:r>
              <a:rPr lang="tr-TR" b="1" i="1" dirty="0"/>
              <a:t>x</a:t>
            </a:r>
            <a:r>
              <a:rPr lang="tr-TR" dirty="0"/>
              <a:t>)=</a:t>
            </a:r>
            <a:r>
              <a:rPr lang="tr-TR" b="1" i="1" dirty="0"/>
              <a:t>w</a:t>
            </a:r>
            <a:r>
              <a:rPr lang="tr-TR" baseline="30000" dirty="0"/>
              <a:t>T</a:t>
            </a:r>
            <a:r>
              <a:rPr lang="tr-TR" b="1" i="1" dirty="0"/>
              <a:t>x</a:t>
            </a:r>
            <a:r>
              <a:rPr lang="tr-TR" dirty="0"/>
              <a:t> </a:t>
            </a:r>
          </a:p>
          <a:p>
            <a:r>
              <a:rPr lang="tr-TR" dirty="0"/>
              <a:t>Find a direction </a:t>
            </a:r>
            <a:r>
              <a:rPr lang="tr-TR" b="1" i="1" dirty="0"/>
              <a:t>w</a:t>
            </a:r>
            <a:r>
              <a:rPr lang="tr-TR" dirty="0"/>
              <a:t> such that we get the desired ranks when instances are projected along </a:t>
            </a:r>
            <a:r>
              <a:rPr lang="tr-TR" b="1" i="1" dirty="0"/>
              <a:t>w</a:t>
            </a:r>
          </a:p>
        </p:txBody>
      </p:sp>
    </p:spTree>
    <p:extLst>
      <p:ext uri="{BB962C8B-B14F-4D97-AF65-F5344CB8AC3E}">
        <p14:creationId xmlns:p14="http://schemas.microsoft.com/office/powerpoint/2010/main" val="22065638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Ranking Error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75236DEA-E907-4A0C-A8BB-812E7F7F3428}" type="slidenum">
              <a:rPr lang="tr-TR" smtClean="0"/>
              <a:pPr/>
              <a:t>25</a:t>
            </a:fld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tr-TR" dirty="0"/>
              <a:t>We prefer </a:t>
            </a:r>
            <a:r>
              <a:rPr lang="tr-TR" i="1" dirty="0"/>
              <a:t>u</a:t>
            </a:r>
            <a:r>
              <a:rPr lang="tr-TR" dirty="0"/>
              <a:t> to </a:t>
            </a:r>
            <a:r>
              <a:rPr lang="tr-TR" i="1" dirty="0"/>
              <a:t>v</a:t>
            </a:r>
            <a:r>
              <a:rPr lang="tr-TR" dirty="0"/>
              <a:t> implies that </a:t>
            </a:r>
            <a:r>
              <a:rPr lang="tr-TR" i="1" dirty="0"/>
              <a:t>g</a:t>
            </a:r>
            <a:r>
              <a:rPr lang="tr-TR" dirty="0"/>
              <a:t>(</a:t>
            </a:r>
            <a:r>
              <a:rPr lang="tr-TR" b="1" i="1" dirty="0"/>
              <a:t>x</a:t>
            </a:r>
            <a:r>
              <a:rPr lang="tr-TR" i="1" baseline="30000" dirty="0"/>
              <a:t>u</a:t>
            </a:r>
            <a:r>
              <a:rPr lang="tr-TR" dirty="0"/>
              <a:t>)&gt;</a:t>
            </a:r>
            <a:r>
              <a:rPr lang="tr-TR" i="1" dirty="0"/>
              <a:t>g</a:t>
            </a:r>
            <a:r>
              <a:rPr lang="tr-TR" dirty="0"/>
              <a:t>(</a:t>
            </a:r>
            <a:r>
              <a:rPr lang="tr-TR" b="1" i="1" dirty="0"/>
              <a:t>x</a:t>
            </a:r>
            <a:r>
              <a:rPr lang="tr-TR" i="1" baseline="30000" dirty="0"/>
              <a:t>v</a:t>
            </a:r>
            <a:r>
              <a:rPr lang="tr-TR" dirty="0"/>
              <a:t>), so </a:t>
            </a:r>
          </a:p>
          <a:p>
            <a:pPr>
              <a:buNone/>
            </a:pPr>
            <a:r>
              <a:rPr lang="tr-TR" dirty="0"/>
              <a:t>	error is </a:t>
            </a:r>
            <a:r>
              <a:rPr lang="tr-TR" i="1" dirty="0"/>
              <a:t>g</a:t>
            </a:r>
            <a:r>
              <a:rPr lang="tr-TR" dirty="0"/>
              <a:t>(</a:t>
            </a:r>
            <a:r>
              <a:rPr lang="tr-TR" b="1" i="1" dirty="0"/>
              <a:t>x</a:t>
            </a:r>
            <a:r>
              <a:rPr lang="tr-TR" i="1" baseline="30000" dirty="0"/>
              <a:t>v</a:t>
            </a:r>
            <a:r>
              <a:rPr lang="tr-TR" dirty="0"/>
              <a:t>)</a:t>
            </a:r>
            <a:r>
              <a:rPr lang="tr-TR" i="1" dirty="0"/>
              <a:t>-g</a:t>
            </a:r>
            <a:r>
              <a:rPr lang="tr-TR" dirty="0"/>
              <a:t>(</a:t>
            </a:r>
            <a:r>
              <a:rPr lang="tr-TR" b="1" i="1" dirty="0"/>
              <a:t>x</a:t>
            </a:r>
            <a:r>
              <a:rPr lang="tr-TR" i="1" baseline="30000" dirty="0"/>
              <a:t>u</a:t>
            </a:r>
            <a:r>
              <a:rPr lang="tr-TR" dirty="0"/>
              <a:t>), if </a:t>
            </a:r>
            <a:r>
              <a:rPr lang="tr-TR" i="1" dirty="0"/>
              <a:t>g</a:t>
            </a:r>
            <a:r>
              <a:rPr lang="tr-TR" dirty="0"/>
              <a:t>(</a:t>
            </a:r>
            <a:r>
              <a:rPr lang="tr-TR" b="1" i="1" dirty="0"/>
              <a:t>x</a:t>
            </a:r>
            <a:r>
              <a:rPr lang="tr-TR" i="1" baseline="30000" dirty="0"/>
              <a:t>u</a:t>
            </a:r>
            <a:r>
              <a:rPr lang="tr-TR" dirty="0"/>
              <a:t>)&lt;</a:t>
            </a:r>
            <a:r>
              <a:rPr lang="tr-TR" i="1" dirty="0"/>
              <a:t>g</a:t>
            </a:r>
            <a:r>
              <a:rPr lang="tr-TR" dirty="0"/>
              <a:t>(</a:t>
            </a:r>
            <a:r>
              <a:rPr lang="tr-TR" b="1" i="1" dirty="0"/>
              <a:t>x</a:t>
            </a:r>
            <a:r>
              <a:rPr lang="tr-TR" i="1" baseline="30000" dirty="0"/>
              <a:t>v</a:t>
            </a:r>
            <a:r>
              <a:rPr lang="tr-TR" dirty="0"/>
              <a:t>) </a:t>
            </a:r>
          </a:p>
          <a:p>
            <a:pPr>
              <a:buNone/>
            </a:pPr>
            <a:endParaRPr lang="tr-TR" dirty="0"/>
          </a:p>
          <a:p>
            <a:pPr>
              <a:buNone/>
            </a:pPr>
            <a:endParaRPr lang="tr-TR" dirty="0"/>
          </a:p>
          <a:p>
            <a:pPr>
              <a:buNone/>
            </a:pPr>
            <a:endParaRPr lang="tr-TR" dirty="0"/>
          </a:p>
          <a:p>
            <a:endParaRPr lang="tr-TR" dirty="0"/>
          </a:p>
        </p:txBody>
      </p:sp>
      <p:pic>
        <p:nvPicPr>
          <p:cNvPr id="40345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00200" y="3200400"/>
            <a:ext cx="6505575" cy="146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1728441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Decision</a:t>
            </a:r>
            <a:r>
              <a:rPr lang="zh-CN" altLang="en-US" dirty="0"/>
              <a:t> </a:t>
            </a:r>
            <a:r>
              <a:rPr lang="en-US" altLang="zh-CN" dirty="0"/>
              <a:t>Tree</a:t>
            </a:r>
            <a:endParaRPr lang="en-US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8720" y="1676400"/>
            <a:ext cx="7498080" cy="4525963"/>
          </a:xfrm>
        </p:spPr>
        <p:txBody>
          <a:bodyPr rtlCol="0">
            <a:normAutofit/>
          </a:bodyPr>
          <a:lstStyle/>
          <a:p>
            <a:pPr marL="274320" indent="-274320" eaLnBrk="1" fontAlgn="auto" hangingPunct="1">
              <a:lnSpc>
                <a:spcPct val="140000"/>
              </a:lnSpc>
              <a:spcBef>
                <a:spcPts val="58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What is Decision Tree?</a:t>
            </a:r>
          </a:p>
          <a:p>
            <a:pPr marL="274320" indent="-274320" eaLnBrk="1" fontAlgn="auto" hangingPunct="1">
              <a:lnSpc>
                <a:spcPct val="140000"/>
              </a:lnSpc>
              <a:spcBef>
                <a:spcPts val="58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Information Theory</a:t>
            </a:r>
          </a:p>
          <a:p>
            <a:pPr marL="274320" indent="-274320" eaLnBrk="1" fontAlgn="auto" hangingPunct="1">
              <a:lnSpc>
                <a:spcPct val="140000"/>
              </a:lnSpc>
              <a:spcBef>
                <a:spcPts val="58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How to build Decision Tree</a:t>
            </a:r>
          </a:p>
          <a:p>
            <a:pPr marL="274320" indent="-274320" eaLnBrk="1" fontAlgn="auto" hangingPunct="1">
              <a:lnSpc>
                <a:spcPct val="140000"/>
              </a:lnSpc>
              <a:spcBef>
                <a:spcPts val="58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Summary</a:t>
            </a:r>
          </a:p>
          <a:p>
            <a:pPr marL="274320" indent="-274320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Char char=""/>
              <a:defRPr/>
            </a:pPr>
            <a:endParaRPr lang="en-US" dirty="0"/>
          </a:p>
          <a:p>
            <a:pPr marL="274320" indent="-274320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Char char=""/>
              <a:defRPr/>
            </a:pPr>
            <a:endParaRPr lang="en-US" dirty="0"/>
          </a:p>
        </p:txBody>
      </p:sp>
      <p:pic>
        <p:nvPicPr>
          <p:cNvPr id="14340" name="Picture 5" descr="http://gautam.lis.illinois.edu/monkmiddleware/public/analytics/decision_tree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1143000"/>
            <a:ext cx="3810000" cy="268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985596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Review of Classification</a:t>
            </a:r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 fontScale="92500" lnSpcReduction="1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Given a set of attributes (X1,X2, …, Xn) of an object, predict its label/class (C) based on training examples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Three types of attributes: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sz="2200" i="1"/>
              <a:t>Numerical/continuous</a:t>
            </a:r>
            <a:r>
              <a:rPr lang="en-US" sz="2200"/>
              <a:t>: Domain is ordered and can be represented on the real line (e.g., age, income)</a:t>
            </a:r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en-US" sz="1800"/>
              <a:t>(0.3, 0.4, 0. 5, …)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sz="2200" i="1"/>
              <a:t>Ordinal</a:t>
            </a:r>
            <a:r>
              <a:rPr lang="en-US" sz="2200"/>
              <a:t>: Domain is ordered, but absolute differences between values is unknown (e.g., preference scale, severity of an injury)  </a:t>
            </a:r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en-US" sz="1800"/>
              <a:t>Grade: (A, B, C, D)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sz="2200" i="1"/>
              <a:t>Nominal</a:t>
            </a:r>
            <a:r>
              <a:rPr lang="en-US" sz="2200"/>
              <a:t> or </a:t>
            </a:r>
            <a:r>
              <a:rPr lang="en-US" sz="2200" i="1"/>
              <a:t>categorical</a:t>
            </a:r>
            <a:r>
              <a:rPr lang="en-US" sz="2200"/>
              <a:t>: Domain is a finite set without any natural ordering (e.g., occupation, marital status, race)</a:t>
            </a:r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en-US" sz="1800"/>
              <a:t>Color: (red, blue, yellow)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7415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 b="1"/>
              <a:t>What is Decision Tree? </a:t>
            </a:r>
            <a:br>
              <a:rPr lang="en-US" altLang="en-US" sz="2400" b="1"/>
            </a:br>
            <a:endParaRPr lang="en-US" altLang="en-US" sz="1800"/>
          </a:p>
        </p:txBody>
      </p:sp>
      <p:pic>
        <p:nvPicPr>
          <p:cNvPr id="16387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592388" y="1600200"/>
            <a:ext cx="3959225" cy="4525963"/>
          </a:xfrm>
        </p:spPr>
      </p:pic>
      <p:sp>
        <p:nvSpPr>
          <p:cNvPr id="16388" name="Rectangle 4"/>
          <p:cNvSpPr>
            <a:spLocks noChangeArrowheads="1"/>
          </p:cNvSpPr>
          <p:nvPr/>
        </p:nvSpPr>
        <p:spPr bwMode="auto">
          <a:xfrm>
            <a:off x="762000" y="1295400"/>
            <a:ext cx="4572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latin typeface="Times New Roman" panose="02020603050405020304" pitchFamily="18" charset="0"/>
              </a:rPr>
              <a:t>REGA HIV-1 Subtying Decision Tree Classifier</a:t>
            </a:r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37023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What is Decision Tree?</a:t>
            </a:r>
          </a:p>
        </p:txBody>
      </p:sp>
      <p:sp>
        <p:nvSpPr>
          <p:cNvPr id="143363" name="Rectangle 3"/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 fontScale="92500" lnSpcReduction="10000"/>
          </a:bodyPr>
          <a:lstStyle/>
          <a:p>
            <a:pPr marL="274320" indent="-274320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US" sz="2800" dirty="0"/>
              <a:t>They do </a:t>
            </a:r>
            <a:r>
              <a:rPr lang="en-US" sz="2800" b="1" dirty="0"/>
              <a:t>classification</a:t>
            </a:r>
            <a:r>
              <a:rPr lang="en-US" sz="2800" dirty="0"/>
              <a:t>: predict a categorical output from categorical and/or real inputs</a:t>
            </a:r>
          </a:p>
          <a:p>
            <a:pPr marL="274320" indent="-274320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US" sz="2800" dirty="0"/>
              <a:t>Decision trees are the single </a:t>
            </a:r>
            <a:r>
              <a:rPr lang="en-US" sz="2800" b="1" i="1" dirty="0"/>
              <a:t>most popular data mining tool</a:t>
            </a:r>
          </a:p>
          <a:p>
            <a:pPr marL="548640" lvl="1" eaLnBrk="1" fontAlgn="auto" hangingPunct="1">
              <a:spcBef>
                <a:spcPts val="37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/>
              <a:t>Easy to understand</a:t>
            </a:r>
          </a:p>
          <a:p>
            <a:pPr marL="548640" lvl="1" eaLnBrk="1" fontAlgn="auto" hangingPunct="1">
              <a:spcBef>
                <a:spcPts val="37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/>
              <a:t>Easy to implement</a:t>
            </a:r>
          </a:p>
          <a:p>
            <a:pPr marL="548640" lvl="1" eaLnBrk="1" fontAlgn="auto" hangingPunct="1">
              <a:spcBef>
                <a:spcPts val="37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/>
              <a:t>Easy to use</a:t>
            </a:r>
          </a:p>
          <a:p>
            <a:pPr marL="548640" lvl="1" eaLnBrk="1" fontAlgn="auto" hangingPunct="1">
              <a:spcBef>
                <a:spcPts val="37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/>
              <a:t>Computationally cheap</a:t>
            </a:r>
          </a:p>
          <a:p>
            <a:pPr marL="274320" indent="-274320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US" b="1" dirty="0"/>
              <a:t>Mature, Easy-to-use software package freely available </a:t>
            </a:r>
            <a:r>
              <a:rPr lang="en-US" dirty="0"/>
              <a:t>(used for the assignment 2)</a:t>
            </a:r>
          </a:p>
          <a:p>
            <a:pPr marL="274320" indent="-274320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US" b="1" dirty="0"/>
              <a:t>NO programming needed!</a:t>
            </a:r>
          </a:p>
        </p:txBody>
      </p:sp>
    </p:spTree>
    <p:extLst>
      <p:ext uri="{BB962C8B-B14F-4D97-AF65-F5344CB8AC3E}">
        <p14:creationId xmlns:p14="http://schemas.microsoft.com/office/powerpoint/2010/main" val="25256742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What is Decision Tree?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Extremely popular method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/>
              <a:t>Credit risk assessment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b="1"/>
              <a:t>Medical diagnosis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/>
              <a:t>Market analysis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/>
              <a:t>Bioinformatics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/>
              <a:t>Chemistry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/>
              <a:t>A literature search in pubmed.org retrieves </a:t>
            </a:r>
            <a:r>
              <a:rPr lang="en-US" b="1"/>
              <a:t>6906</a:t>
            </a:r>
            <a:r>
              <a:rPr lang="en-US"/>
              <a:t> papers related to decision trees!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Good at dealing with symbolic feature</a:t>
            </a:r>
          </a:p>
        </p:txBody>
      </p:sp>
    </p:spTree>
    <p:extLst>
      <p:ext uri="{BB962C8B-B14F-4D97-AF65-F5344CB8AC3E}">
        <p14:creationId xmlns:p14="http://schemas.microsoft.com/office/powerpoint/2010/main" val="9602466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1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2453" y="1196975"/>
            <a:ext cx="4506985" cy="291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59" name="Rectangle 7"/>
          <p:cNvSpPr>
            <a:spLocks noChangeArrowheads="1"/>
          </p:cNvSpPr>
          <p:nvPr/>
        </p:nvSpPr>
        <p:spPr bwMode="auto">
          <a:xfrm>
            <a:off x="1066800" y="4800600"/>
            <a:ext cx="7489825" cy="152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"/>
            </a:pPr>
            <a:r>
              <a:rPr lang="en-US" altLang="zh-CN" sz="2800">
                <a:latin typeface="Times New Roman" panose="02020603050405020304" pitchFamily="18" charset="0"/>
              </a:rPr>
              <a:t>Each </a:t>
            </a:r>
            <a:r>
              <a:rPr lang="en-US" altLang="zh-CN" sz="2800" b="1">
                <a:latin typeface="Times New Roman" panose="02020603050405020304" pitchFamily="18" charset="0"/>
              </a:rPr>
              <a:t>branch</a:t>
            </a:r>
            <a:r>
              <a:rPr lang="en-US" altLang="zh-CN" sz="2800">
                <a:latin typeface="Times New Roman" panose="02020603050405020304" pitchFamily="18" charset="0"/>
              </a:rPr>
              <a:t> corresponds to attribute value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"/>
            </a:pPr>
            <a:r>
              <a:rPr lang="en-US" altLang="zh-CN" sz="2800">
                <a:latin typeface="Times New Roman" panose="02020603050405020304" pitchFamily="18" charset="0"/>
              </a:rPr>
              <a:t>Each </a:t>
            </a:r>
            <a:r>
              <a:rPr lang="en-US" altLang="zh-CN" sz="2800" b="1">
                <a:latin typeface="Times New Roman" panose="02020603050405020304" pitchFamily="18" charset="0"/>
              </a:rPr>
              <a:t>internal node </a:t>
            </a:r>
            <a:r>
              <a:rPr lang="en-US" altLang="zh-CN" sz="2800">
                <a:latin typeface="Times New Roman" panose="02020603050405020304" pitchFamily="18" charset="0"/>
              </a:rPr>
              <a:t>has a splitting predicate</a:t>
            </a:r>
          </a:p>
          <a:p>
            <a:pPr eaLnBrk="1" hangingPunct="1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"/>
            </a:pPr>
            <a:r>
              <a:rPr lang="en-US" altLang="zh-CN" sz="2800">
                <a:latin typeface="Times New Roman" panose="02020603050405020304" pitchFamily="18" charset="0"/>
              </a:rPr>
              <a:t>Each </a:t>
            </a:r>
            <a:r>
              <a:rPr lang="en-US" altLang="zh-CN" sz="2800" b="1">
                <a:latin typeface="Times New Roman" panose="02020603050405020304" pitchFamily="18" charset="0"/>
              </a:rPr>
              <a:t>leaf node </a:t>
            </a:r>
            <a:r>
              <a:rPr lang="en-US" altLang="zh-CN" sz="2800">
                <a:latin typeface="Times New Roman" panose="02020603050405020304" pitchFamily="18" charset="0"/>
              </a:rPr>
              <a:t>assigns a classification</a:t>
            </a:r>
          </a:p>
        </p:txBody>
      </p:sp>
      <p:sp>
        <p:nvSpPr>
          <p:cNvPr id="15364" name="Rectangle 19"/>
          <p:cNvSpPr>
            <a:spLocks noGrp="1" noChangeArrowheads="1"/>
          </p:cNvSpPr>
          <p:nvPr>
            <p:ph type="title"/>
          </p:nvPr>
        </p:nvSpPr>
        <p:spPr>
          <a:xfrm>
            <a:off x="1066800" y="381000"/>
            <a:ext cx="7640638" cy="60960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dirty="0"/>
              <a:t>Decision Tree Representation</a:t>
            </a:r>
          </a:p>
        </p:txBody>
      </p:sp>
      <p:sp>
        <p:nvSpPr>
          <p:cNvPr id="19461" name="Rectangle 20"/>
          <p:cNvSpPr>
            <a:spLocks noChangeArrowheads="1"/>
          </p:cNvSpPr>
          <p:nvPr/>
        </p:nvSpPr>
        <p:spPr bwMode="auto">
          <a:xfrm>
            <a:off x="5292725" y="1989138"/>
            <a:ext cx="3529013" cy="172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Classify instances by sorting them down the tree from the root to some leaf node</a:t>
            </a:r>
          </a:p>
        </p:txBody>
      </p:sp>
    </p:spTree>
    <p:extLst>
      <p:ext uri="{BB962C8B-B14F-4D97-AF65-F5344CB8AC3E}">
        <p14:creationId xmlns:p14="http://schemas.microsoft.com/office/powerpoint/2010/main" val="2643851072"/>
      </p:ext>
    </p:extLst>
  </p:cSld>
  <p:clrMapOvr>
    <a:masterClrMapping/>
  </p:clrMapOvr>
  <p:transition>
    <p:zoom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Internal Nodes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Each internal node has an associated </a:t>
            </a:r>
            <a:r>
              <a:rPr lang="en-US" altLang="en-US" i="1"/>
              <a:t>splitting predicate</a:t>
            </a:r>
            <a:r>
              <a:rPr lang="en-US" altLang="en-US"/>
              <a:t>. Most common are binary predicates.</a:t>
            </a:r>
            <a:br>
              <a:rPr lang="en-US" altLang="en-US"/>
            </a:br>
            <a:r>
              <a:rPr lang="en-US" altLang="en-US"/>
              <a:t>Example predicates:</a:t>
            </a:r>
          </a:p>
          <a:p>
            <a:pPr lvl="1" eaLnBrk="1" hangingPunct="1"/>
            <a:r>
              <a:rPr lang="en-US" altLang="en-US"/>
              <a:t>Age &lt;= 20</a:t>
            </a:r>
          </a:p>
          <a:p>
            <a:pPr lvl="1" eaLnBrk="1" hangingPunct="1"/>
            <a:r>
              <a:rPr lang="en-US" altLang="en-US"/>
              <a:t>Profession in {student, teacher}</a:t>
            </a:r>
          </a:p>
          <a:p>
            <a:pPr lvl="1" eaLnBrk="1" hangingPunct="1"/>
            <a:r>
              <a:rPr lang="en-US" altLang="en-US"/>
              <a:t>5000*Age + 3*Salary – 10000 &gt; 0</a:t>
            </a:r>
          </a:p>
        </p:txBody>
      </p:sp>
    </p:spTree>
    <p:extLst>
      <p:ext uri="{BB962C8B-B14F-4D97-AF65-F5344CB8AC3E}">
        <p14:creationId xmlns:p14="http://schemas.microsoft.com/office/powerpoint/2010/main" val="16228550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Internal Nodes: Splitting Predicates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Binary Univariate splits:</a:t>
            </a:r>
          </a:p>
          <a:p>
            <a:pPr lvl="1" eaLnBrk="1" hangingPunct="1"/>
            <a:r>
              <a:rPr lang="en-US" altLang="en-US"/>
              <a:t>Numerical or ordered X: X &lt;= c, c in dom(X)</a:t>
            </a:r>
          </a:p>
          <a:p>
            <a:pPr lvl="1" eaLnBrk="1" hangingPunct="1"/>
            <a:r>
              <a:rPr lang="en-US" altLang="en-US"/>
              <a:t>Categorical X: X </a:t>
            </a:r>
            <a:r>
              <a:rPr lang="en-US" altLang="en-US">
                <a:cs typeface="Tahoma" panose="020B0604030504040204" pitchFamily="34" charset="0"/>
              </a:rPr>
              <a:t>in</a:t>
            </a:r>
            <a:r>
              <a:rPr lang="en-US" altLang="en-US"/>
              <a:t> A, A subset dom(X)</a:t>
            </a:r>
          </a:p>
          <a:p>
            <a:pPr eaLnBrk="1" hangingPunct="1"/>
            <a:r>
              <a:rPr lang="en-US" altLang="en-US"/>
              <a:t>Binary Multivariate splits:</a:t>
            </a:r>
          </a:p>
          <a:p>
            <a:pPr lvl="1" eaLnBrk="1" hangingPunct="1"/>
            <a:r>
              <a:rPr lang="en-US" altLang="en-US"/>
              <a:t>Linear combination split on numerical variables:</a:t>
            </a:r>
            <a:br>
              <a:rPr lang="en-US" altLang="en-US"/>
            </a:br>
            <a:r>
              <a:rPr lang="en-US" altLang="en-US">
                <a:cs typeface="Tahoma" panose="020B0604030504040204" pitchFamily="34" charset="0"/>
              </a:rPr>
              <a:t>Σ</a:t>
            </a:r>
            <a:r>
              <a:rPr lang="en-US" altLang="en-US"/>
              <a:t> a</a:t>
            </a:r>
            <a:r>
              <a:rPr lang="en-US" altLang="en-US" baseline="-25000"/>
              <a:t>i</a:t>
            </a:r>
            <a:r>
              <a:rPr lang="en-US" altLang="en-US"/>
              <a:t>X</a:t>
            </a:r>
            <a:r>
              <a:rPr lang="en-US" altLang="en-US" baseline="-25000"/>
              <a:t>i</a:t>
            </a:r>
            <a:r>
              <a:rPr lang="en-US" altLang="en-US"/>
              <a:t> &lt;= c</a:t>
            </a:r>
          </a:p>
          <a:p>
            <a:pPr eaLnBrk="1" hangingPunct="1"/>
            <a:r>
              <a:rPr lang="en-US" altLang="en-US"/>
              <a:t>k-ary (k&gt;2) splits analogous</a:t>
            </a:r>
          </a:p>
        </p:txBody>
      </p:sp>
    </p:spTree>
    <p:extLst>
      <p:ext uri="{BB962C8B-B14F-4D97-AF65-F5344CB8AC3E}">
        <p14:creationId xmlns:p14="http://schemas.microsoft.com/office/powerpoint/2010/main" val="278309653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Building Decision Tree Classifiers for DELL </a:t>
            </a:r>
            <a:br>
              <a:rPr lang="en-US" altLang="en-US" sz="2800"/>
            </a:br>
            <a:r>
              <a:rPr lang="en-US" altLang="en-US" sz="2800">
                <a:solidFill>
                  <a:srgbClr val="FF0000"/>
                </a:solidFill>
              </a:rPr>
              <a:t>to Predict if a customer would buy a computer</a:t>
            </a:r>
          </a:p>
        </p:txBody>
      </p:sp>
      <p:sp>
        <p:nvSpPr>
          <p:cNvPr id="2253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Training Data</a:t>
            </a:r>
          </a:p>
        </p:txBody>
      </p:sp>
      <p:graphicFrame>
        <p:nvGraphicFramePr>
          <p:cNvPr id="22532" name="Object 2"/>
          <p:cNvGraphicFramePr>
            <a:graphicFrameLocks/>
          </p:cNvGraphicFramePr>
          <p:nvPr/>
        </p:nvGraphicFramePr>
        <p:xfrm>
          <a:off x="1371600" y="1676400"/>
          <a:ext cx="6629400" cy="480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6115050" imgH="4457802" progId="Excel.Sheet.8">
                  <p:embed/>
                </p:oleObj>
              </mc:Choice>
              <mc:Fallback>
                <p:oleObj name="Worksheet" r:id="rId3" imgW="6115050" imgH="4457802" progId="Excel.Sheet.8">
                  <p:embed/>
                  <p:pic>
                    <p:nvPicPr>
                      <p:cNvPr id="22532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676400"/>
                        <a:ext cx="6629400" cy="480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6352326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1219200" y="304800"/>
            <a:ext cx="7924800" cy="609600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sz="2800" dirty="0"/>
              <a:t>Output: A Decision Tree for “</a:t>
            </a:r>
            <a:r>
              <a:rPr lang="en-US" altLang="en-US" sz="2800" dirty="0" err="1"/>
              <a:t>buys_computer</a:t>
            </a:r>
            <a:r>
              <a:rPr lang="en-US" altLang="en-US" sz="2800" dirty="0"/>
              <a:t>”</a:t>
            </a:r>
          </a:p>
        </p:txBody>
      </p:sp>
      <p:sp>
        <p:nvSpPr>
          <p:cNvPr id="30722" name="Date Placeholder 2"/>
          <p:cNvSpPr>
            <a:spLocks noGrp="1"/>
          </p:cNvSpPr>
          <p:nvPr>
            <p:ph type="dt" sz="quarter" idx="10"/>
          </p:nvPr>
        </p:nvSpPr>
        <p:spPr bwMode="auto">
          <a:ln>
            <a:miter lim="800000"/>
            <a:headEnd/>
            <a:tailEnd/>
          </a:ln>
        </p:spPr>
        <p:txBody>
          <a:bodyPr wrap="square" numCol="1" compatLnSpc="1">
            <a:prstTxWarp prst="textNoShape">
              <a:avLst/>
            </a:prstTxWarp>
          </a:bodyPr>
          <a:lstStyle/>
          <a:p>
            <a:pPr>
              <a:defRPr/>
            </a:pPr>
            <a:fld id="{0B29D2E4-6EC3-4975-A1F2-45BEA5616E6A}" type="datetime4">
              <a:rPr lang="en-US"/>
              <a:pPr>
                <a:defRPr/>
              </a:pPr>
              <a:t>September 8, 2026</a:t>
            </a:fld>
            <a:endParaRPr lang="en-US"/>
          </a:p>
        </p:txBody>
      </p:sp>
      <p:sp>
        <p:nvSpPr>
          <p:cNvPr id="30723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numCol="1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/>
              <a:t>Data Mining: Concepts and Techniques</a:t>
            </a:r>
          </a:p>
        </p:txBody>
      </p:sp>
      <p:sp>
        <p:nvSpPr>
          <p:cNvPr id="30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FA15473-7AB7-4058-90A4-20C4D1CC14ED}" type="slidenum">
              <a:rPr lang="en-US" altLang="en-US">
                <a:solidFill>
                  <a:srgbClr val="898989"/>
                </a:solidFill>
              </a:rPr>
              <a:pPr eaLnBrk="1" hangingPunct="1"/>
              <a:t>35</a:t>
            </a:fld>
            <a:endParaRPr lang="en-US" altLang="en-US">
              <a:solidFill>
                <a:srgbClr val="898989"/>
              </a:solidFill>
            </a:endParaRPr>
          </a:p>
        </p:txBody>
      </p:sp>
      <p:grpSp>
        <p:nvGrpSpPr>
          <p:cNvPr id="23558" name="Group 63"/>
          <p:cNvGrpSpPr>
            <a:grpSpLocks/>
          </p:cNvGrpSpPr>
          <p:nvPr/>
        </p:nvGrpSpPr>
        <p:grpSpPr bwMode="auto">
          <a:xfrm>
            <a:off x="1219200" y="1524000"/>
            <a:ext cx="6305550" cy="3810000"/>
            <a:chOff x="768" y="1152"/>
            <a:chExt cx="3972" cy="2400"/>
          </a:xfrm>
        </p:grpSpPr>
        <p:sp>
          <p:nvSpPr>
            <p:cNvPr id="23561" name="Rectangle 3"/>
            <p:cNvSpPr>
              <a:spLocks noChangeArrowheads="1"/>
            </p:cNvSpPr>
            <p:nvPr/>
          </p:nvSpPr>
          <p:spPr bwMode="auto">
            <a:xfrm>
              <a:off x="2387" y="1152"/>
              <a:ext cx="475" cy="296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2400">
                  <a:latin typeface="Times New Roman" panose="02020603050405020304" pitchFamily="18" charset="0"/>
                </a:rPr>
                <a:t>age?</a:t>
              </a:r>
            </a:p>
          </p:txBody>
        </p:sp>
        <p:sp>
          <p:nvSpPr>
            <p:cNvPr id="23562" name="Rectangle 4"/>
            <p:cNvSpPr>
              <a:spLocks noChangeArrowheads="1"/>
            </p:cNvSpPr>
            <p:nvPr/>
          </p:nvSpPr>
          <p:spPr bwMode="auto">
            <a:xfrm>
              <a:off x="2245" y="1766"/>
              <a:ext cx="7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2400">
                  <a:latin typeface="Times New Roman" panose="02020603050405020304" pitchFamily="18" charset="0"/>
                </a:rPr>
                <a:t>overcast</a:t>
              </a:r>
            </a:p>
          </p:txBody>
        </p:sp>
        <p:sp>
          <p:nvSpPr>
            <p:cNvPr id="23563" name="Rectangle 5"/>
            <p:cNvSpPr>
              <a:spLocks noChangeArrowheads="1"/>
            </p:cNvSpPr>
            <p:nvPr/>
          </p:nvSpPr>
          <p:spPr bwMode="auto">
            <a:xfrm>
              <a:off x="1229" y="2342"/>
              <a:ext cx="763" cy="296"/>
            </a:xfrm>
            <a:prstGeom prst="rect">
              <a:avLst/>
            </a:prstGeom>
            <a:solidFill>
              <a:srgbClr val="00FF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2400">
                  <a:latin typeface="Times New Roman" panose="02020603050405020304" pitchFamily="18" charset="0"/>
                </a:rPr>
                <a:t>student?</a:t>
              </a:r>
            </a:p>
          </p:txBody>
        </p:sp>
        <p:sp>
          <p:nvSpPr>
            <p:cNvPr id="23564" name="Rectangle 6"/>
            <p:cNvSpPr>
              <a:spLocks noChangeArrowheads="1"/>
            </p:cNvSpPr>
            <p:nvPr/>
          </p:nvSpPr>
          <p:spPr bwMode="auto">
            <a:xfrm>
              <a:off x="3432" y="2342"/>
              <a:ext cx="1140" cy="296"/>
            </a:xfrm>
            <a:prstGeom prst="rect">
              <a:avLst/>
            </a:prstGeom>
            <a:solidFill>
              <a:srgbClr val="99CC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2400">
                  <a:latin typeface="Times New Roman" panose="02020603050405020304" pitchFamily="18" charset="0"/>
                </a:rPr>
                <a:t>credit rating?</a:t>
              </a:r>
            </a:p>
          </p:txBody>
        </p:sp>
        <p:sp>
          <p:nvSpPr>
            <p:cNvPr id="23565" name="Line 11"/>
            <p:cNvSpPr>
              <a:spLocks noChangeShapeType="1"/>
            </p:cNvSpPr>
            <p:nvPr/>
          </p:nvSpPr>
          <p:spPr bwMode="auto">
            <a:xfrm flipH="1">
              <a:off x="1619" y="1462"/>
              <a:ext cx="625" cy="83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66" name="Line 12"/>
            <p:cNvSpPr>
              <a:spLocks noChangeShapeType="1"/>
            </p:cNvSpPr>
            <p:nvPr/>
          </p:nvSpPr>
          <p:spPr bwMode="auto">
            <a:xfrm flipH="1">
              <a:off x="2622" y="1491"/>
              <a:ext cx="1" cy="34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67" name="Line 13"/>
            <p:cNvSpPr>
              <a:spLocks noChangeShapeType="1"/>
            </p:cNvSpPr>
            <p:nvPr/>
          </p:nvSpPr>
          <p:spPr bwMode="auto">
            <a:xfrm>
              <a:off x="2928" y="1440"/>
              <a:ext cx="1051" cy="89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68" name="Rectangle 14"/>
            <p:cNvSpPr>
              <a:spLocks noChangeArrowheads="1"/>
            </p:cNvSpPr>
            <p:nvPr/>
          </p:nvSpPr>
          <p:spPr bwMode="auto">
            <a:xfrm>
              <a:off x="1513" y="1730"/>
              <a:ext cx="534" cy="296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2400" b="1">
                  <a:latin typeface="Times New Roman" panose="02020603050405020304" pitchFamily="18" charset="0"/>
                </a:rPr>
                <a:t>&lt;=30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3569" name="Rectangle 15"/>
            <p:cNvSpPr>
              <a:spLocks noChangeArrowheads="1"/>
            </p:cNvSpPr>
            <p:nvPr/>
          </p:nvSpPr>
          <p:spPr bwMode="auto">
            <a:xfrm>
              <a:off x="3364" y="1804"/>
              <a:ext cx="417" cy="288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2400" b="1">
                  <a:latin typeface="Times New Roman" panose="02020603050405020304" pitchFamily="18" charset="0"/>
                </a:rPr>
                <a:t>&gt;40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3570" name="Line 16"/>
            <p:cNvSpPr>
              <a:spLocks noChangeShapeType="1"/>
            </p:cNvSpPr>
            <p:nvPr/>
          </p:nvSpPr>
          <p:spPr bwMode="auto">
            <a:xfrm flipH="1">
              <a:off x="960" y="2640"/>
              <a:ext cx="528" cy="62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71" name="Line 17"/>
            <p:cNvSpPr>
              <a:spLocks noChangeShapeType="1"/>
            </p:cNvSpPr>
            <p:nvPr/>
          </p:nvSpPr>
          <p:spPr bwMode="auto">
            <a:xfrm>
              <a:off x="1728" y="2640"/>
              <a:ext cx="480" cy="62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72" name="Line 18"/>
            <p:cNvSpPr>
              <a:spLocks noChangeShapeType="1"/>
            </p:cNvSpPr>
            <p:nvPr/>
          </p:nvSpPr>
          <p:spPr bwMode="auto">
            <a:xfrm flipH="1">
              <a:off x="3360" y="2640"/>
              <a:ext cx="480" cy="57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73" name="Line 19"/>
            <p:cNvSpPr>
              <a:spLocks noChangeShapeType="1"/>
            </p:cNvSpPr>
            <p:nvPr/>
          </p:nvSpPr>
          <p:spPr bwMode="auto">
            <a:xfrm>
              <a:off x="4128" y="2640"/>
              <a:ext cx="432" cy="57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74" name="Line 24"/>
            <p:cNvSpPr>
              <a:spLocks noChangeShapeType="1"/>
            </p:cNvSpPr>
            <p:nvPr/>
          </p:nvSpPr>
          <p:spPr bwMode="auto">
            <a:xfrm>
              <a:off x="2623" y="2029"/>
              <a:ext cx="0" cy="27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75" name="Rectangle 25"/>
            <p:cNvSpPr>
              <a:spLocks noChangeArrowheads="1"/>
            </p:cNvSpPr>
            <p:nvPr/>
          </p:nvSpPr>
          <p:spPr bwMode="auto">
            <a:xfrm>
              <a:off x="768" y="3264"/>
              <a:ext cx="308" cy="288"/>
            </a:xfrm>
            <a:prstGeom prst="rect">
              <a:avLst/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2400">
                  <a:latin typeface="Times New Roman" panose="02020603050405020304" pitchFamily="18" charset="0"/>
                </a:rPr>
                <a:t>no</a:t>
              </a:r>
            </a:p>
          </p:txBody>
        </p:sp>
        <p:sp>
          <p:nvSpPr>
            <p:cNvPr id="23576" name="Rectangle 27"/>
            <p:cNvSpPr>
              <a:spLocks noChangeArrowheads="1"/>
            </p:cNvSpPr>
            <p:nvPr/>
          </p:nvSpPr>
          <p:spPr bwMode="auto">
            <a:xfrm>
              <a:off x="2028" y="3264"/>
              <a:ext cx="372" cy="288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2400">
                  <a:latin typeface="Times New Roman" panose="02020603050405020304" pitchFamily="18" charset="0"/>
                </a:rPr>
                <a:t>yes</a:t>
              </a:r>
            </a:p>
          </p:txBody>
        </p:sp>
        <p:sp>
          <p:nvSpPr>
            <p:cNvPr id="23577" name="Rectangle 28"/>
            <p:cNvSpPr>
              <a:spLocks noChangeArrowheads="1"/>
            </p:cNvSpPr>
            <p:nvPr/>
          </p:nvSpPr>
          <p:spPr bwMode="auto">
            <a:xfrm>
              <a:off x="4368" y="3216"/>
              <a:ext cx="372" cy="288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2400">
                  <a:latin typeface="Times New Roman" panose="02020603050405020304" pitchFamily="18" charset="0"/>
                </a:rPr>
                <a:t>yes</a:t>
              </a:r>
            </a:p>
          </p:txBody>
        </p:sp>
        <p:sp>
          <p:nvSpPr>
            <p:cNvPr id="23578" name="Rectangle 29"/>
            <p:cNvSpPr>
              <a:spLocks noChangeArrowheads="1"/>
            </p:cNvSpPr>
            <p:nvPr/>
          </p:nvSpPr>
          <p:spPr bwMode="auto">
            <a:xfrm>
              <a:off x="2437" y="2344"/>
              <a:ext cx="372" cy="288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2400">
                  <a:latin typeface="Times New Roman" panose="02020603050405020304" pitchFamily="18" charset="0"/>
                </a:rPr>
                <a:t>yes</a:t>
              </a:r>
            </a:p>
          </p:txBody>
        </p:sp>
        <p:sp>
          <p:nvSpPr>
            <p:cNvPr id="23579" name="Rectangle 30"/>
            <p:cNvSpPr>
              <a:spLocks noChangeArrowheads="1"/>
            </p:cNvSpPr>
            <p:nvPr/>
          </p:nvSpPr>
          <p:spPr bwMode="auto">
            <a:xfrm>
              <a:off x="2256" y="1824"/>
              <a:ext cx="672" cy="192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2000" b="1">
                  <a:latin typeface="Times New Roman" panose="02020603050405020304" pitchFamily="18" charset="0"/>
                </a:rPr>
                <a:t>31..40</a:t>
              </a: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23580" name="Rectangle 62"/>
            <p:cNvSpPr>
              <a:spLocks noChangeArrowheads="1"/>
            </p:cNvSpPr>
            <p:nvPr/>
          </p:nvSpPr>
          <p:spPr bwMode="auto">
            <a:xfrm rot="-143156">
              <a:off x="3168" y="3216"/>
              <a:ext cx="308" cy="288"/>
            </a:xfrm>
            <a:prstGeom prst="rect">
              <a:avLst/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2400">
                  <a:latin typeface="Times New Roman" panose="02020603050405020304" pitchFamily="18" charset="0"/>
                </a:rPr>
                <a:t>no</a:t>
              </a:r>
            </a:p>
          </p:txBody>
        </p:sp>
        <p:sp>
          <p:nvSpPr>
            <p:cNvPr id="23581" name="Rectangle 9"/>
            <p:cNvSpPr>
              <a:spLocks noChangeArrowheads="1"/>
            </p:cNvSpPr>
            <p:nvPr/>
          </p:nvSpPr>
          <p:spPr bwMode="auto">
            <a:xfrm>
              <a:off x="4176" y="2784"/>
              <a:ext cx="382" cy="288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2400">
                  <a:latin typeface="Times New Roman" panose="02020603050405020304" pitchFamily="18" charset="0"/>
                </a:rPr>
                <a:t>fair</a:t>
              </a:r>
            </a:p>
          </p:txBody>
        </p:sp>
        <p:sp>
          <p:nvSpPr>
            <p:cNvPr id="23582" name="Rectangle 10"/>
            <p:cNvSpPr>
              <a:spLocks noChangeArrowheads="1"/>
            </p:cNvSpPr>
            <p:nvPr/>
          </p:nvSpPr>
          <p:spPr bwMode="auto">
            <a:xfrm>
              <a:off x="3072" y="2784"/>
              <a:ext cx="807" cy="288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2400">
                  <a:latin typeface="Times New Roman" panose="02020603050405020304" pitchFamily="18" charset="0"/>
                </a:rPr>
                <a:t>excellent</a:t>
              </a:r>
            </a:p>
          </p:txBody>
        </p:sp>
        <p:sp>
          <p:nvSpPr>
            <p:cNvPr id="23583" name="Rectangle 8"/>
            <p:cNvSpPr>
              <a:spLocks noChangeArrowheads="1"/>
            </p:cNvSpPr>
            <p:nvPr/>
          </p:nvSpPr>
          <p:spPr bwMode="auto">
            <a:xfrm>
              <a:off x="1872" y="2832"/>
              <a:ext cx="372" cy="288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2400">
                  <a:latin typeface="Times New Roman" panose="02020603050405020304" pitchFamily="18" charset="0"/>
                </a:rPr>
                <a:t>yes</a:t>
              </a:r>
            </a:p>
          </p:txBody>
        </p:sp>
        <p:sp>
          <p:nvSpPr>
            <p:cNvPr id="23584" name="Rectangle 7"/>
            <p:cNvSpPr>
              <a:spLocks noChangeArrowheads="1"/>
            </p:cNvSpPr>
            <p:nvPr/>
          </p:nvSpPr>
          <p:spPr bwMode="auto">
            <a:xfrm>
              <a:off x="960" y="2832"/>
              <a:ext cx="432" cy="288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2400">
                  <a:latin typeface="Times New Roman" panose="02020603050405020304" pitchFamily="18" charset="0"/>
                </a:rPr>
                <a:t>no</a:t>
              </a:r>
            </a:p>
          </p:txBody>
        </p:sp>
      </p:grpSp>
      <p:sp>
        <p:nvSpPr>
          <p:cNvPr id="23559" name="TextBox 30"/>
          <p:cNvSpPr txBox="1">
            <a:spLocks noChangeArrowheads="1"/>
          </p:cNvSpPr>
          <p:nvPr/>
        </p:nvSpPr>
        <p:spPr bwMode="auto">
          <a:xfrm>
            <a:off x="2667000" y="5410200"/>
            <a:ext cx="2667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Times New Roman" panose="02020603050405020304" pitchFamily="18" charset="0"/>
              </a:rPr>
              <a:t>Homogeneous: All  labels of the instances are YES</a:t>
            </a:r>
          </a:p>
        </p:txBody>
      </p:sp>
      <p:sp>
        <p:nvSpPr>
          <p:cNvPr id="23560" name="TextBox 31"/>
          <p:cNvSpPr txBox="1">
            <a:spLocks noChangeArrowheads="1"/>
          </p:cNvSpPr>
          <p:nvPr/>
        </p:nvSpPr>
        <p:spPr bwMode="auto">
          <a:xfrm>
            <a:off x="6477000" y="5410200"/>
            <a:ext cx="18288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Times New Roman" panose="02020603050405020304" pitchFamily="18" charset="0"/>
              </a:rPr>
              <a:t>Majority Voting 4/5</a:t>
            </a:r>
          </a:p>
        </p:txBody>
      </p:sp>
    </p:spTree>
    <p:extLst>
      <p:ext uri="{BB962C8B-B14F-4D97-AF65-F5344CB8AC3E}">
        <p14:creationId xmlns:p14="http://schemas.microsoft.com/office/powerpoint/2010/main" val="2778850730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/>
              <a:t>TDIDT Algorithm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eaLnBrk="1" hangingPunct="1">
              <a:lnSpc>
                <a:spcPct val="110000"/>
              </a:lnSpc>
            </a:pPr>
            <a:r>
              <a:rPr lang="en-US" altLang="en-US"/>
              <a:t>Also known as ID3 (Quinlan)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/>
              <a:t>To construct decision tree T from learning set S: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b="1"/>
              <a:t>If</a:t>
            </a:r>
            <a:r>
              <a:rPr lang="en-US" altLang="en-US"/>
              <a:t> all examples in S belong to some class C </a:t>
            </a:r>
            <a:r>
              <a:rPr lang="en-US" altLang="en-US" b="1"/>
              <a:t>Then</a:t>
            </a:r>
            <a:br>
              <a:rPr lang="en-US" altLang="en-US"/>
            </a:br>
            <a:r>
              <a:rPr lang="en-US" altLang="en-US"/>
              <a:t>make leaf labeled C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b="1"/>
              <a:t>Otherwise</a:t>
            </a:r>
          </a:p>
          <a:p>
            <a:pPr lvl="2" eaLnBrk="1" hangingPunct="1">
              <a:lnSpc>
                <a:spcPct val="110000"/>
              </a:lnSpc>
            </a:pPr>
            <a:r>
              <a:rPr lang="en-US" altLang="en-US"/>
              <a:t>select the “most informative” attribute A</a:t>
            </a:r>
          </a:p>
          <a:p>
            <a:pPr lvl="2" eaLnBrk="1" hangingPunct="1">
              <a:lnSpc>
                <a:spcPct val="110000"/>
              </a:lnSpc>
            </a:pPr>
            <a:r>
              <a:rPr lang="en-US" altLang="en-US"/>
              <a:t>partition S according to A’s values</a:t>
            </a:r>
          </a:p>
          <a:p>
            <a:pPr lvl="2" eaLnBrk="1" hangingPunct="1">
              <a:lnSpc>
                <a:spcPct val="110000"/>
              </a:lnSpc>
            </a:pPr>
            <a:r>
              <a:rPr lang="en-US" altLang="en-US"/>
              <a:t>recursively construct subtrees T1, T2, ..., for the subsets of S</a:t>
            </a:r>
          </a:p>
        </p:txBody>
      </p:sp>
    </p:spTree>
    <p:extLst>
      <p:ext uri="{BB962C8B-B14F-4D97-AF65-F5344CB8AC3E}">
        <p14:creationId xmlns:p14="http://schemas.microsoft.com/office/powerpoint/2010/main" val="2626453569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8962" name="Rectangle 1026"/>
          <p:cNvSpPr>
            <a:spLocks noGrp="1" noChangeArrowheads="1"/>
          </p:cNvSpPr>
          <p:nvPr>
            <p:ph type="title"/>
          </p:nvPr>
        </p:nvSpPr>
        <p:spPr>
          <a:xfrm>
            <a:off x="762000" y="304800"/>
            <a:ext cx="8382000" cy="60960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Algorithm for Decision Tree Induction</a:t>
            </a:r>
          </a:p>
        </p:txBody>
      </p:sp>
      <p:sp>
        <p:nvSpPr>
          <p:cNvPr id="25603" name="Rectangle 1027"/>
          <p:cNvSpPr>
            <a:spLocks noGrp="1" noChangeArrowheads="1"/>
          </p:cNvSpPr>
          <p:nvPr>
            <p:ph idx="1"/>
          </p:nvPr>
        </p:nvSpPr>
        <p:spPr>
          <a:xfrm>
            <a:off x="381000" y="1371600"/>
            <a:ext cx="8382000" cy="5334000"/>
          </a:xfrm>
        </p:spPr>
        <p:txBody>
          <a:bodyPr/>
          <a:lstStyle/>
          <a:p>
            <a:pPr eaLnBrk="1" hangingPunct="1">
              <a:lnSpc>
                <a:spcPct val="105000"/>
              </a:lnSpc>
            </a:pPr>
            <a:r>
              <a:rPr lang="en-US" altLang="en-US" sz="2000"/>
              <a:t>Basic algorithm (a greedy algorithm)</a:t>
            </a:r>
          </a:p>
          <a:p>
            <a:pPr lvl="1" eaLnBrk="1" hangingPunct="1">
              <a:lnSpc>
                <a:spcPct val="105000"/>
              </a:lnSpc>
            </a:pPr>
            <a:r>
              <a:rPr lang="en-US" altLang="en-US" sz="2000"/>
              <a:t>Tree is constructed in a </a:t>
            </a:r>
            <a:r>
              <a:rPr lang="en-US" altLang="en-US" sz="2000">
                <a:solidFill>
                  <a:schemeClr val="hlink"/>
                </a:solidFill>
              </a:rPr>
              <a:t>top-down recursive divide-and-conquer manner</a:t>
            </a:r>
          </a:p>
          <a:p>
            <a:pPr lvl="1" eaLnBrk="1" hangingPunct="1">
              <a:lnSpc>
                <a:spcPct val="105000"/>
              </a:lnSpc>
            </a:pPr>
            <a:r>
              <a:rPr lang="en-US" altLang="en-US" sz="2000"/>
              <a:t>At start, all the training examples are at the root</a:t>
            </a:r>
          </a:p>
          <a:p>
            <a:pPr lvl="1" eaLnBrk="1" hangingPunct="1">
              <a:lnSpc>
                <a:spcPct val="105000"/>
              </a:lnSpc>
            </a:pPr>
            <a:r>
              <a:rPr lang="en-US" altLang="en-US" sz="2000"/>
              <a:t>Attributes are categorical (if continuous-valued, they are discretized in advance)</a:t>
            </a:r>
          </a:p>
          <a:p>
            <a:pPr lvl="1" eaLnBrk="1" hangingPunct="1">
              <a:lnSpc>
                <a:spcPct val="105000"/>
              </a:lnSpc>
            </a:pPr>
            <a:r>
              <a:rPr lang="en-US" altLang="en-US" sz="2000"/>
              <a:t>Examples are partitioned recursively based on selected attributes</a:t>
            </a:r>
          </a:p>
          <a:p>
            <a:pPr lvl="1" eaLnBrk="1" hangingPunct="1">
              <a:lnSpc>
                <a:spcPct val="105000"/>
              </a:lnSpc>
            </a:pPr>
            <a:r>
              <a:rPr lang="en-US" altLang="en-US" sz="2000"/>
              <a:t>Test attributes are selected on the basis of a heuristic or statistical measure (e.g., </a:t>
            </a:r>
            <a:r>
              <a:rPr lang="en-US" altLang="en-US" sz="2000">
                <a:solidFill>
                  <a:schemeClr val="hlink"/>
                </a:solidFill>
              </a:rPr>
              <a:t>information gain</a:t>
            </a:r>
            <a:r>
              <a:rPr lang="en-US" altLang="en-US" sz="2000"/>
              <a:t>)</a:t>
            </a:r>
          </a:p>
          <a:p>
            <a:pPr eaLnBrk="1" hangingPunct="1">
              <a:lnSpc>
                <a:spcPct val="105000"/>
              </a:lnSpc>
            </a:pPr>
            <a:r>
              <a:rPr lang="en-US" altLang="en-US" sz="2000"/>
              <a:t>Conditions for </a:t>
            </a:r>
            <a:r>
              <a:rPr lang="en-US" altLang="en-US" sz="2000" b="1"/>
              <a:t>stopping partitioning</a:t>
            </a:r>
          </a:p>
          <a:p>
            <a:pPr lvl="1" eaLnBrk="1" hangingPunct="1">
              <a:lnSpc>
                <a:spcPct val="105000"/>
              </a:lnSpc>
            </a:pPr>
            <a:r>
              <a:rPr lang="en-US" altLang="en-US" sz="2000"/>
              <a:t>All samples for a given node belong to the same class</a:t>
            </a:r>
          </a:p>
          <a:p>
            <a:pPr lvl="1" eaLnBrk="1" hangingPunct="1">
              <a:lnSpc>
                <a:spcPct val="105000"/>
              </a:lnSpc>
            </a:pPr>
            <a:r>
              <a:rPr lang="en-US" altLang="en-US" sz="2000"/>
              <a:t>There are no remaining attributes for further partitioning – </a:t>
            </a:r>
            <a:r>
              <a:rPr lang="en-US" altLang="en-US" sz="2000">
                <a:solidFill>
                  <a:schemeClr val="hlink"/>
                </a:solidFill>
              </a:rPr>
              <a:t>majority voting</a:t>
            </a:r>
            <a:r>
              <a:rPr lang="en-US" altLang="en-US" sz="2000"/>
              <a:t> is employed for classifying the leaf</a:t>
            </a:r>
          </a:p>
          <a:p>
            <a:pPr lvl="1" eaLnBrk="1" hangingPunct="1">
              <a:lnSpc>
                <a:spcPct val="105000"/>
              </a:lnSpc>
            </a:pPr>
            <a:r>
              <a:rPr lang="en-US" altLang="en-US" sz="2000"/>
              <a:t>There are no samples left</a:t>
            </a:r>
          </a:p>
        </p:txBody>
      </p:sp>
      <p:sp>
        <p:nvSpPr>
          <p:cNvPr id="32770" name="Date Placeholder 3"/>
          <p:cNvSpPr>
            <a:spLocks noGrp="1"/>
          </p:cNvSpPr>
          <p:nvPr>
            <p:ph type="dt" sz="quarter" idx="10"/>
          </p:nvPr>
        </p:nvSpPr>
        <p:spPr bwMode="auto">
          <a:ln>
            <a:miter lim="800000"/>
            <a:headEnd/>
            <a:tailEnd/>
          </a:ln>
        </p:spPr>
        <p:txBody>
          <a:bodyPr wrap="square" numCol="1" compatLnSpc="1">
            <a:prstTxWarp prst="textNoShape">
              <a:avLst/>
            </a:prstTxWarp>
          </a:bodyPr>
          <a:lstStyle/>
          <a:p>
            <a:pPr>
              <a:defRPr/>
            </a:pPr>
            <a:fld id="{CB096607-6E6F-49CC-ACD2-27FEF5D34E08}" type="datetime4">
              <a:rPr lang="en-US"/>
              <a:pPr>
                <a:defRPr/>
              </a:pPr>
              <a:t>September 8, 2026</a:t>
            </a:fld>
            <a:endParaRPr lang="en-US"/>
          </a:p>
        </p:txBody>
      </p:sp>
      <p:sp>
        <p:nvSpPr>
          <p:cNvPr id="32771" name="Footer Placeholder 4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numCol="1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/>
              <a:t>Data Mining: Concepts and Techniques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370465B-8936-4BCB-89D8-DB6B904AEE5E}" type="slidenum">
              <a:rPr lang="en-US" altLang="en-US">
                <a:solidFill>
                  <a:srgbClr val="898989"/>
                </a:solidFill>
              </a:rPr>
              <a:pPr eaLnBrk="1" hangingPunct="1"/>
              <a:t>37</a:t>
            </a:fld>
            <a:endParaRPr lang="en-US" altLang="en-US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3667658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Design Issues of Decision Trees</a:t>
            </a:r>
          </a:p>
        </p:txBody>
      </p:sp>
      <p:grpSp>
        <p:nvGrpSpPr>
          <p:cNvPr id="26627" name="Group 63"/>
          <p:cNvGrpSpPr>
            <a:grpSpLocks noGrp="1"/>
          </p:cNvGrpSpPr>
          <p:nvPr/>
        </p:nvGrpSpPr>
        <p:grpSpPr bwMode="auto">
          <a:xfrm>
            <a:off x="304800" y="1371600"/>
            <a:ext cx="4191000" cy="5105400"/>
            <a:chOff x="768" y="1152"/>
            <a:chExt cx="4008" cy="2400"/>
          </a:xfrm>
        </p:grpSpPr>
        <p:sp>
          <p:nvSpPr>
            <p:cNvPr id="26629" name="Rectangle 3"/>
            <p:cNvSpPr>
              <a:spLocks noChangeArrowheads="1"/>
            </p:cNvSpPr>
            <p:nvPr/>
          </p:nvSpPr>
          <p:spPr bwMode="auto">
            <a:xfrm>
              <a:off x="2298" y="1152"/>
              <a:ext cx="802" cy="217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2400">
                  <a:latin typeface="Times New Roman" panose="02020603050405020304" pitchFamily="18" charset="0"/>
                </a:rPr>
                <a:t>age?</a:t>
              </a:r>
            </a:p>
          </p:txBody>
        </p:sp>
        <p:sp>
          <p:nvSpPr>
            <p:cNvPr id="26630" name="Rectangle 4"/>
            <p:cNvSpPr>
              <a:spLocks noChangeArrowheads="1"/>
            </p:cNvSpPr>
            <p:nvPr/>
          </p:nvSpPr>
          <p:spPr bwMode="auto">
            <a:xfrm>
              <a:off x="2245" y="1766"/>
              <a:ext cx="7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2400">
                  <a:latin typeface="Times New Roman" panose="02020603050405020304" pitchFamily="18" charset="0"/>
                </a:rPr>
                <a:t>overcast</a:t>
              </a:r>
            </a:p>
          </p:txBody>
        </p:sp>
        <p:sp>
          <p:nvSpPr>
            <p:cNvPr id="26631" name="Rectangle 5"/>
            <p:cNvSpPr>
              <a:spLocks noChangeArrowheads="1"/>
            </p:cNvSpPr>
            <p:nvPr/>
          </p:nvSpPr>
          <p:spPr bwMode="auto">
            <a:xfrm>
              <a:off x="1060" y="2342"/>
              <a:ext cx="1093" cy="391"/>
            </a:xfrm>
            <a:prstGeom prst="rect">
              <a:avLst/>
            </a:prstGeom>
            <a:solidFill>
              <a:srgbClr val="00FF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2400">
                  <a:latin typeface="Times New Roman" panose="02020603050405020304" pitchFamily="18" charset="0"/>
                </a:rPr>
                <a:t>student?</a:t>
              </a:r>
            </a:p>
          </p:txBody>
        </p:sp>
        <p:sp>
          <p:nvSpPr>
            <p:cNvPr id="26632" name="Rectangle 6"/>
            <p:cNvSpPr>
              <a:spLocks noChangeArrowheads="1"/>
            </p:cNvSpPr>
            <p:nvPr/>
          </p:nvSpPr>
          <p:spPr bwMode="auto">
            <a:xfrm>
              <a:off x="2954" y="2342"/>
              <a:ext cx="1822" cy="217"/>
            </a:xfrm>
            <a:prstGeom prst="rect">
              <a:avLst/>
            </a:prstGeom>
            <a:solidFill>
              <a:srgbClr val="99CC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2400">
                  <a:latin typeface="Times New Roman" panose="02020603050405020304" pitchFamily="18" charset="0"/>
                </a:rPr>
                <a:t>credit rating?</a:t>
              </a:r>
            </a:p>
          </p:txBody>
        </p:sp>
        <p:sp>
          <p:nvSpPr>
            <p:cNvPr id="26633" name="Line 11"/>
            <p:cNvSpPr>
              <a:spLocks noChangeShapeType="1"/>
            </p:cNvSpPr>
            <p:nvPr/>
          </p:nvSpPr>
          <p:spPr bwMode="auto">
            <a:xfrm flipH="1">
              <a:off x="1619" y="1462"/>
              <a:ext cx="625" cy="83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34" name="Line 12"/>
            <p:cNvSpPr>
              <a:spLocks noChangeShapeType="1"/>
            </p:cNvSpPr>
            <p:nvPr/>
          </p:nvSpPr>
          <p:spPr bwMode="auto">
            <a:xfrm flipH="1">
              <a:off x="2622" y="1491"/>
              <a:ext cx="1" cy="34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35" name="Line 13"/>
            <p:cNvSpPr>
              <a:spLocks noChangeShapeType="1"/>
            </p:cNvSpPr>
            <p:nvPr/>
          </p:nvSpPr>
          <p:spPr bwMode="auto">
            <a:xfrm>
              <a:off x="2928" y="1440"/>
              <a:ext cx="1051" cy="89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36" name="Rectangle 14"/>
            <p:cNvSpPr>
              <a:spLocks noChangeArrowheads="1"/>
            </p:cNvSpPr>
            <p:nvPr/>
          </p:nvSpPr>
          <p:spPr bwMode="auto">
            <a:xfrm>
              <a:off x="1513" y="1730"/>
              <a:ext cx="534" cy="296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2400" b="1">
                  <a:latin typeface="Times New Roman" panose="02020603050405020304" pitchFamily="18" charset="0"/>
                </a:rPr>
                <a:t>&lt;=30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6637" name="Rectangle 15"/>
            <p:cNvSpPr>
              <a:spLocks noChangeArrowheads="1"/>
            </p:cNvSpPr>
            <p:nvPr/>
          </p:nvSpPr>
          <p:spPr bwMode="auto">
            <a:xfrm>
              <a:off x="3364" y="1804"/>
              <a:ext cx="417" cy="288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2400" b="1">
                  <a:latin typeface="Times New Roman" panose="02020603050405020304" pitchFamily="18" charset="0"/>
                </a:rPr>
                <a:t>&gt;40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6638" name="Line 16"/>
            <p:cNvSpPr>
              <a:spLocks noChangeShapeType="1"/>
            </p:cNvSpPr>
            <p:nvPr/>
          </p:nvSpPr>
          <p:spPr bwMode="auto">
            <a:xfrm flipH="1">
              <a:off x="960" y="2640"/>
              <a:ext cx="528" cy="62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39" name="Line 17"/>
            <p:cNvSpPr>
              <a:spLocks noChangeShapeType="1"/>
            </p:cNvSpPr>
            <p:nvPr/>
          </p:nvSpPr>
          <p:spPr bwMode="auto">
            <a:xfrm>
              <a:off x="1728" y="2640"/>
              <a:ext cx="480" cy="62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40" name="Line 18"/>
            <p:cNvSpPr>
              <a:spLocks noChangeShapeType="1"/>
            </p:cNvSpPr>
            <p:nvPr/>
          </p:nvSpPr>
          <p:spPr bwMode="auto">
            <a:xfrm flipH="1">
              <a:off x="3360" y="2640"/>
              <a:ext cx="480" cy="57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41" name="Line 19"/>
            <p:cNvSpPr>
              <a:spLocks noChangeShapeType="1"/>
            </p:cNvSpPr>
            <p:nvPr/>
          </p:nvSpPr>
          <p:spPr bwMode="auto">
            <a:xfrm>
              <a:off x="4128" y="2640"/>
              <a:ext cx="432" cy="57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42" name="Line 24"/>
            <p:cNvSpPr>
              <a:spLocks noChangeShapeType="1"/>
            </p:cNvSpPr>
            <p:nvPr/>
          </p:nvSpPr>
          <p:spPr bwMode="auto">
            <a:xfrm>
              <a:off x="2623" y="2029"/>
              <a:ext cx="0" cy="27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43" name="Rectangle 25"/>
            <p:cNvSpPr>
              <a:spLocks noChangeArrowheads="1"/>
            </p:cNvSpPr>
            <p:nvPr/>
          </p:nvSpPr>
          <p:spPr bwMode="auto">
            <a:xfrm>
              <a:off x="768" y="3264"/>
              <a:ext cx="308" cy="288"/>
            </a:xfrm>
            <a:prstGeom prst="rect">
              <a:avLst/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2400">
                  <a:latin typeface="Times New Roman" panose="02020603050405020304" pitchFamily="18" charset="0"/>
                </a:rPr>
                <a:t>no</a:t>
              </a:r>
            </a:p>
          </p:txBody>
        </p:sp>
        <p:sp>
          <p:nvSpPr>
            <p:cNvPr id="26644" name="Rectangle 27"/>
            <p:cNvSpPr>
              <a:spLocks noChangeArrowheads="1"/>
            </p:cNvSpPr>
            <p:nvPr/>
          </p:nvSpPr>
          <p:spPr bwMode="auto">
            <a:xfrm>
              <a:off x="2028" y="3264"/>
              <a:ext cx="372" cy="288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2400">
                  <a:latin typeface="Times New Roman" panose="02020603050405020304" pitchFamily="18" charset="0"/>
                </a:rPr>
                <a:t>yes</a:t>
              </a:r>
            </a:p>
          </p:txBody>
        </p:sp>
        <p:sp>
          <p:nvSpPr>
            <p:cNvPr id="26645" name="Rectangle 28"/>
            <p:cNvSpPr>
              <a:spLocks noChangeArrowheads="1"/>
            </p:cNvSpPr>
            <p:nvPr/>
          </p:nvSpPr>
          <p:spPr bwMode="auto">
            <a:xfrm>
              <a:off x="4368" y="3216"/>
              <a:ext cx="372" cy="288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2400">
                  <a:latin typeface="Times New Roman" panose="02020603050405020304" pitchFamily="18" charset="0"/>
                </a:rPr>
                <a:t>yes</a:t>
              </a:r>
            </a:p>
          </p:txBody>
        </p:sp>
        <p:sp>
          <p:nvSpPr>
            <p:cNvPr id="26646" name="Rectangle 29"/>
            <p:cNvSpPr>
              <a:spLocks noChangeArrowheads="1"/>
            </p:cNvSpPr>
            <p:nvPr/>
          </p:nvSpPr>
          <p:spPr bwMode="auto">
            <a:xfrm>
              <a:off x="2437" y="2344"/>
              <a:ext cx="372" cy="288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2400">
                  <a:latin typeface="Times New Roman" panose="02020603050405020304" pitchFamily="18" charset="0"/>
                </a:rPr>
                <a:t>yes</a:t>
              </a:r>
            </a:p>
          </p:txBody>
        </p:sp>
        <p:sp>
          <p:nvSpPr>
            <p:cNvPr id="26647" name="Rectangle 30"/>
            <p:cNvSpPr>
              <a:spLocks noChangeArrowheads="1"/>
            </p:cNvSpPr>
            <p:nvPr/>
          </p:nvSpPr>
          <p:spPr bwMode="auto">
            <a:xfrm>
              <a:off x="2256" y="1824"/>
              <a:ext cx="672" cy="192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2000" b="1">
                  <a:latin typeface="Times New Roman" panose="02020603050405020304" pitchFamily="18" charset="0"/>
                </a:rPr>
                <a:t>31..40</a:t>
              </a: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26648" name="Rectangle 62"/>
            <p:cNvSpPr>
              <a:spLocks noChangeArrowheads="1"/>
            </p:cNvSpPr>
            <p:nvPr/>
          </p:nvSpPr>
          <p:spPr bwMode="auto">
            <a:xfrm rot="-143156">
              <a:off x="3168" y="3216"/>
              <a:ext cx="308" cy="288"/>
            </a:xfrm>
            <a:prstGeom prst="rect">
              <a:avLst/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2400">
                  <a:latin typeface="Times New Roman" panose="02020603050405020304" pitchFamily="18" charset="0"/>
                </a:rPr>
                <a:t>no</a:t>
              </a:r>
            </a:p>
          </p:txBody>
        </p:sp>
        <p:sp>
          <p:nvSpPr>
            <p:cNvPr id="26649" name="Rectangle 9"/>
            <p:cNvSpPr>
              <a:spLocks noChangeArrowheads="1"/>
            </p:cNvSpPr>
            <p:nvPr/>
          </p:nvSpPr>
          <p:spPr bwMode="auto">
            <a:xfrm>
              <a:off x="4176" y="2784"/>
              <a:ext cx="382" cy="288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2400">
                  <a:latin typeface="Times New Roman" panose="02020603050405020304" pitchFamily="18" charset="0"/>
                </a:rPr>
                <a:t>fair</a:t>
              </a:r>
            </a:p>
          </p:txBody>
        </p:sp>
        <p:sp>
          <p:nvSpPr>
            <p:cNvPr id="26650" name="Rectangle 10"/>
            <p:cNvSpPr>
              <a:spLocks noChangeArrowheads="1"/>
            </p:cNvSpPr>
            <p:nvPr/>
          </p:nvSpPr>
          <p:spPr bwMode="auto">
            <a:xfrm>
              <a:off x="3072" y="2784"/>
              <a:ext cx="807" cy="288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2400">
                  <a:latin typeface="Times New Roman" panose="02020603050405020304" pitchFamily="18" charset="0"/>
                </a:rPr>
                <a:t>excellent</a:t>
              </a:r>
            </a:p>
          </p:txBody>
        </p:sp>
        <p:sp>
          <p:nvSpPr>
            <p:cNvPr id="26651" name="Rectangle 8"/>
            <p:cNvSpPr>
              <a:spLocks noChangeArrowheads="1"/>
            </p:cNvSpPr>
            <p:nvPr/>
          </p:nvSpPr>
          <p:spPr bwMode="auto">
            <a:xfrm>
              <a:off x="1872" y="2832"/>
              <a:ext cx="372" cy="288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2400">
                  <a:latin typeface="Times New Roman" panose="02020603050405020304" pitchFamily="18" charset="0"/>
                </a:rPr>
                <a:t>yes</a:t>
              </a:r>
            </a:p>
          </p:txBody>
        </p:sp>
        <p:sp>
          <p:nvSpPr>
            <p:cNvPr id="26652" name="Rectangle 7"/>
            <p:cNvSpPr>
              <a:spLocks noChangeArrowheads="1"/>
            </p:cNvSpPr>
            <p:nvPr/>
          </p:nvSpPr>
          <p:spPr bwMode="auto">
            <a:xfrm>
              <a:off x="960" y="2832"/>
              <a:ext cx="432" cy="288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2400">
                  <a:latin typeface="Times New Roman" panose="02020603050405020304" pitchFamily="18" charset="0"/>
                </a:rPr>
                <a:t>no</a:t>
              </a:r>
            </a:p>
          </p:txBody>
        </p:sp>
      </p:grpSp>
      <p:sp>
        <p:nvSpPr>
          <p:cNvPr id="26628" name="Content Placeholder 4"/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10000"/>
          </a:bodyPr>
          <a:lstStyle/>
          <a:p>
            <a:pPr eaLnBrk="1" hangingPunct="1"/>
            <a:r>
              <a:rPr lang="en-US" altLang="en-US"/>
              <a:t>Which decision tree is the best?</a:t>
            </a:r>
          </a:p>
          <a:p>
            <a:pPr eaLnBrk="1" hangingPunct="1"/>
            <a:r>
              <a:rPr lang="en-US" altLang="en-US"/>
              <a:t>Which attributes to check first? How to split?</a:t>
            </a:r>
          </a:p>
          <a:p>
            <a:pPr eaLnBrk="1" hangingPunct="1"/>
            <a:r>
              <a:rPr lang="en-US" altLang="en-US"/>
              <a:t>How to decide the split values of real-value attributes (e.g. age)?</a:t>
            </a:r>
          </a:p>
          <a:p>
            <a:pPr eaLnBrk="1" hangingPunct="1"/>
            <a:r>
              <a:rPr lang="en-US" altLang="en-US"/>
              <a:t>When to stop splitting?</a:t>
            </a:r>
          </a:p>
          <a:p>
            <a:pPr eaLnBrk="1" hangingPunct="1"/>
            <a:r>
              <a:rPr lang="en-US" altLang="en-US"/>
              <a:t>How to evaluate decision trees?</a:t>
            </a:r>
          </a:p>
        </p:txBody>
      </p:sp>
    </p:spTree>
    <p:extLst>
      <p:ext uri="{BB962C8B-B14F-4D97-AF65-F5344CB8AC3E}">
        <p14:creationId xmlns:p14="http://schemas.microsoft.com/office/powerpoint/2010/main" val="1432120033"/>
      </p:ext>
    </p:extLst>
  </p:cSld>
  <p:clrMapOvr>
    <a:masterClrMapping/>
  </p:clrMapOvr>
  <p:transition>
    <p:zoom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Which Decision Tree is the Best?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143000"/>
            <a:ext cx="7772400" cy="5334000"/>
          </a:xfrm>
        </p:spPr>
        <p:txBody>
          <a:bodyPr rtlCol="0">
            <a:normAutofit fontScale="92500" lnSpcReduction="20000"/>
          </a:bodyPr>
          <a:lstStyle/>
          <a:p>
            <a:pPr marL="274320" indent="-274320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US" altLang="zh-CN" b="1" dirty="0"/>
              <a:t>Occam’s razor</a:t>
            </a:r>
            <a:r>
              <a:rPr lang="en-US" altLang="zh-CN" dirty="0"/>
              <a:t>: (year 1320)</a:t>
            </a:r>
          </a:p>
          <a:p>
            <a:pPr marL="548640" lvl="1" eaLnBrk="1" fontAlgn="auto" hangingPunct="1">
              <a:spcBef>
                <a:spcPts val="37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US" altLang="zh-CN" dirty="0"/>
              <a:t>Prefer the simplest hypothesis that fits the data.</a:t>
            </a:r>
          </a:p>
          <a:p>
            <a:pPr marL="548640" lvl="1" eaLnBrk="1" fontAlgn="auto" hangingPunct="1">
              <a:spcBef>
                <a:spcPts val="37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/>
              <a:t>The principle states that the explanation of any </a:t>
            </a:r>
            <a:r>
              <a:rPr lang="en-US" dirty="0">
                <a:hlinkClick r:id="rId3" tooltip="Phenomenon"/>
              </a:rPr>
              <a:t>phenomenon</a:t>
            </a:r>
            <a:r>
              <a:rPr lang="en-US" dirty="0"/>
              <a:t> should make as few assumptions as possible, eliminating those that make no difference in the observable predictions of the explanatory </a:t>
            </a:r>
            <a:r>
              <a:rPr lang="en-US" dirty="0">
                <a:hlinkClick r:id="rId4" tooltip="Hypothesis"/>
              </a:rPr>
              <a:t>hypothesis</a:t>
            </a:r>
            <a:r>
              <a:rPr lang="en-US" dirty="0"/>
              <a:t> or </a:t>
            </a:r>
            <a:r>
              <a:rPr lang="en-US" dirty="0">
                <a:hlinkClick r:id="rId5" tooltip="Theory"/>
              </a:rPr>
              <a:t>theory</a:t>
            </a:r>
            <a:endParaRPr lang="en-US" altLang="zh-CN" dirty="0"/>
          </a:p>
          <a:p>
            <a:pPr marL="274320" indent="-274320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US" b="1" dirty="0"/>
              <a:t>Albert Einstein</a:t>
            </a:r>
            <a:r>
              <a:rPr lang="en-US" dirty="0"/>
              <a:t>: Make everything as simple as possible, but not simpler. </a:t>
            </a:r>
            <a:endParaRPr lang="en-US" altLang="zh-CN" dirty="0"/>
          </a:p>
          <a:p>
            <a:pPr marL="274320" indent="-274320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US" altLang="zh-CN" dirty="0"/>
              <a:t>Why? </a:t>
            </a:r>
          </a:p>
          <a:p>
            <a:pPr marL="548640" lvl="1" eaLnBrk="1" fontAlgn="auto" hangingPunct="1">
              <a:spcBef>
                <a:spcPts val="37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US" altLang="zh-CN" dirty="0"/>
              <a:t>It’s a philosophical problem.</a:t>
            </a:r>
          </a:p>
          <a:p>
            <a:pPr marL="548640" lvl="1" eaLnBrk="1" fontAlgn="auto" hangingPunct="1">
              <a:spcBef>
                <a:spcPts val="37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US" altLang="zh-CN" dirty="0"/>
              <a:t>Simple explanation/classifiers are more robust</a:t>
            </a:r>
          </a:p>
          <a:p>
            <a:pPr marL="548640" lvl="1" eaLnBrk="1" fontAlgn="auto" hangingPunct="1">
              <a:spcBef>
                <a:spcPts val="37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US" altLang="zh-CN" dirty="0"/>
              <a:t>Simple classifiers are more understandable</a:t>
            </a:r>
          </a:p>
        </p:txBody>
      </p:sp>
    </p:spTree>
    <p:extLst>
      <p:ext uri="{BB962C8B-B14F-4D97-AF65-F5344CB8AC3E}">
        <p14:creationId xmlns:p14="http://schemas.microsoft.com/office/powerpoint/2010/main" val="294863261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>
          <a:xfrm>
            <a:off x="914400" y="427038"/>
            <a:ext cx="7772400" cy="7921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3200"/>
              <a:t>How To Build a Simple Decision Tree?: Attribute Selection</a:t>
            </a:r>
          </a:p>
        </p:txBody>
      </p:sp>
      <p:sp>
        <p:nvSpPr>
          <p:cNvPr id="28675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en-US" altLang="en-US" b="1"/>
              <a:t>Intuitively</a:t>
            </a:r>
            <a:r>
              <a:rPr lang="en-US" altLang="en-US"/>
              <a:t> (as in the game):</a:t>
            </a:r>
          </a:p>
          <a:p>
            <a:pPr lvl="1" eaLnBrk="1" hangingPunct="1"/>
            <a:r>
              <a:rPr lang="en-US" altLang="en-US"/>
              <a:t>We want to reduce the search space (ambiguity) ASAP by asking each question </a:t>
            </a:r>
          </a:p>
          <a:p>
            <a:pPr eaLnBrk="1" hangingPunct="1"/>
            <a:r>
              <a:rPr lang="en-US" altLang="en-US" b="1"/>
              <a:t>Scientifically</a:t>
            </a:r>
            <a:r>
              <a:rPr lang="en-US" altLang="en-US"/>
              <a:t>:</a:t>
            </a:r>
          </a:p>
          <a:p>
            <a:pPr lvl="1" eaLnBrk="1" hangingPunct="1"/>
            <a:r>
              <a:rPr lang="en-US" altLang="en-US"/>
              <a:t>Test attributes that </a:t>
            </a:r>
            <a:r>
              <a:rPr lang="en-US" altLang="en-US" b="1"/>
              <a:t>gain most information</a:t>
            </a:r>
            <a:r>
              <a:rPr lang="en-US" altLang="en-US"/>
              <a:t>.</a:t>
            </a:r>
          </a:p>
          <a:p>
            <a:pPr eaLnBrk="1" hangingPunct="1"/>
            <a:r>
              <a:rPr lang="en-US" altLang="en-US"/>
              <a:t>Remember: The splitting process of decision tree stops only when the labels of all instances in a node becomes pure (homogeneous) except other special cases. </a:t>
            </a:r>
          </a:p>
        </p:txBody>
      </p:sp>
    </p:spTree>
    <p:extLst>
      <p:ext uri="{BB962C8B-B14F-4D97-AF65-F5344CB8AC3E}">
        <p14:creationId xmlns:p14="http://schemas.microsoft.com/office/powerpoint/2010/main" val="67653419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pPr eaLnBrk="1" hangingPunct="1"/>
            <a:r>
              <a:rPr lang="en-US" altLang="en-US" sz="3200"/>
              <a:t>How To Build a Simple Decision Tree</a:t>
            </a:r>
          </a:p>
        </p:txBody>
      </p:sp>
      <p:sp>
        <p:nvSpPr>
          <p:cNvPr id="2969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800"/>
              <a:t>Objective: Shorter trees are preferred over larger Trees </a:t>
            </a:r>
          </a:p>
          <a:p>
            <a:pPr eaLnBrk="1" hangingPunct="1"/>
            <a:r>
              <a:rPr lang="en-US" altLang="zh-CN" sz="2800"/>
              <a:t>Idea: want attributes that classifies examples well. The best attribute is selected.</a:t>
            </a:r>
          </a:p>
          <a:p>
            <a:pPr marL="273050" lvl="1" indent="-273050" eaLnBrk="1" hangingPunct="1">
              <a:spcBef>
                <a:spcPts val="575"/>
              </a:spcBef>
              <a:buClr>
                <a:schemeClr val="accent1"/>
              </a:buClr>
            </a:pPr>
            <a:r>
              <a:rPr lang="en-US" altLang="en-US"/>
              <a:t>Select attribute which partitions the learning set into subsets as “pure” as possible</a:t>
            </a:r>
          </a:p>
          <a:p>
            <a:pPr eaLnBrk="1" hangingPunct="1"/>
            <a:r>
              <a:rPr lang="en-US" altLang="zh-CN" sz="2800"/>
              <a:t> How well an attribute alone classifies the training data?</a:t>
            </a:r>
          </a:p>
        </p:txBody>
      </p:sp>
    </p:spTree>
    <p:extLst>
      <p:ext uri="{BB962C8B-B14F-4D97-AF65-F5344CB8AC3E}">
        <p14:creationId xmlns:p14="http://schemas.microsoft.com/office/powerpoint/2010/main" val="397572529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Information Theory</a:t>
            </a:r>
          </a:p>
        </p:txBody>
      </p:sp>
      <p:sp>
        <p:nvSpPr>
          <p:cNvPr id="30723" name="Content Placeholder 2"/>
          <p:cNvSpPr>
            <a:spLocks noGrp="1"/>
          </p:cNvSpPr>
          <p:nvPr>
            <p:ph idx="1"/>
          </p:nvPr>
        </p:nvSpPr>
        <p:spPr>
          <a:xfrm>
            <a:off x="914400" y="1143000"/>
            <a:ext cx="7772400" cy="5257800"/>
          </a:xfrm>
        </p:spPr>
        <p:txBody>
          <a:bodyPr>
            <a:normAutofit fontScale="92500" lnSpcReduction="20000"/>
          </a:bodyPr>
          <a:lstStyle/>
          <a:p>
            <a:pPr eaLnBrk="1" hangingPunct="1"/>
            <a:r>
              <a:rPr lang="en-US" altLang="en-US">
                <a:hlinkClick r:id="rId3" tooltip="Claude E. Shannon"/>
              </a:rPr>
              <a:t>Claude E. Shannon</a:t>
            </a:r>
            <a:r>
              <a:rPr lang="en-US" altLang="en-US"/>
              <a:t>'s classic paper "</a:t>
            </a:r>
            <a:r>
              <a:rPr lang="en-US" altLang="en-US">
                <a:hlinkClick r:id="rId4" tooltip="A Mathematical Theory of Communication"/>
              </a:rPr>
              <a:t>A Mathematical Theory of Communication</a:t>
            </a:r>
            <a:r>
              <a:rPr lang="en-US" altLang="en-US"/>
              <a:t>" in the </a:t>
            </a:r>
            <a:r>
              <a:rPr lang="en-US" altLang="en-US" i="1"/>
              <a:t>Bell System Technical Journal</a:t>
            </a:r>
            <a:r>
              <a:rPr lang="en-US" altLang="en-US"/>
              <a:t> in July and October of 1948.</a:t>
            </a:r>
          </a:p>
          <a:p>
            <a:pPr eaLnBrk="1" hangingPunct="1"/>
            <a:r>
              <a:rPr lang="en-US" altLang="en-US"/>
              <a:t>Key Concepts:</a:t>
            </a:r>
          </a:p>
          <a:p>
            <a:pPr lvl="1" eaLnBrk="1" hangingPunct="1"/>
            <a:r>
              <a:rPr lang="en-US" altLang="en-US" b="1">
                <a:hlinkClick r:id="rId5" tooltip="Information entropy"/>
              </a:rPr>
              <a:t>Entropy</a:t>
            </a:r>
            <a:r>
              <a:rPr lang="en-US" altLang="en-US"/>
              <a:t>, </a:t>
            </a:r>
            <a:r>
              <a:rPr lang="en-US" altLang="en-US" i="1"/>
              <a:t>H</a:t>
            </a:r>
            <a:r>
              <a:rPr lang="en-US" altLang="en-US"/>
              <a:t>, of a discrete random variable </a:t>
            </a:r>
            <a:r>
              <a:rPr lang="en-US" altLang="en-US" i="1"/>
              <a:t>X</a:t>
            </a:r>
            <a:r>
              <a:rPr lang="en-US" altLang="en-US"/>
              <a:t> is a measure of the amount of </a:t>
            </a:r>
            <a:r>
              <a:rPr lang="en-US" altLang="en-US" i="1"/>
              <a:t>uncertainty</a:t>
            </a:r>
            <a:r>
              <a:rPr lang="en-US" altLang="en-US"/>
              <a:t> associated with the value of </a:t>
            </a:r>
            <a:r>
              <a:rPr lang="en-US" altLang="en-US" i="1"/>
              <a:t>X</a:t>
            </a:r>
            <a:r>
              <a:rPr lang="en-US" altLang="en-US"/>
              <a:t>. </a:t>
            </a:r>
          </a:p>
          <a:p>
            <a:pPr lvl="1" eaLnBrk="1" hangingPunct="1"/>
            <a:r>
              <a:rPr lang="en-US" altLang="en-US" b="1"/>
              <a:t>Information (Gain)</a:t>
            </a:r>
            <a:r>
              <a:rPr lang="en-US" altLang="en-US"/>
              <a:t>: reduction of entropy (uncertainty)</a:t>
            </a:r>
          </a:p>
          <a:p>
            <a:pPr lvl="1" eaLnBrk="1" hangingPunct="1"/>
            <a:r>
              <a:rPr lang="en-US" altLang="en-US" b="1"/>
              <a:t>Mutual Information: </a:t>
            </a:r>
            <a:r>
              <a:rPr lang="en-US" altLang="en-US"/>
              <a:t>measures the amount of information that can be obtained about one random variable by observing another. (can be used for </a:t>
            </a:r>
            <a:r>
              <a:rPr lang="en-US" altLang="en-US" b="1"/>
              <a:t>feature selection</a:t>
            </a:r>
            <a:r>
              <a:rPr lang="en-US" altLang="en-US"/>
              <a:t>)</a:t>
            </a:r>
            <a:endParaRPr lang="en-US" altLang="en-US" b="1"/>
          </a:p>
          <a:p>
            <a:pPr lvl="1"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0734903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Measuring Entropy</a:t>
            </a:r>
          </a:p>
        </p:txBody>
      </p:sp>
      <p:sp>
        <p:nvSpPr>
          <p:cNvPr id="31747" name="Content Placeholder 2"/>
          <p:cNvSpPr>
            <a:spLocks noGrp="1"/>
          </p:cNvSpPr>
          <p:nvPr>
            <p:ph idx="1"/>
          </p:nvPr>
        </p:nvSpPr>
        <p:spPr>
          <a:xfrm>
            <a:off x="1435608" y="1143000"/>
            <a:ext cx="7498080" cy="5105400"/>
          </a:xfrm>
        </p:spPr>
        <p:txBody>
          <a:bodyPr/>
          <a:lstStyle/>
          <a:p>
            <a:pPr lvl="1" eaLnBrk="1" hangingPunct="1"/>
            <a:r>
              <a:rPr lang="en-US" altLang="en-US" b="1" dirty="0">
                <a:hlinkClick r:id="rId3" tooltip="Information entropy"/>
              </a:rPr>
              <a:t>Entropy</a:t>
            </a:r>
            <a:r>
              <a:rPr lang="en-US" altLang="en-US" dirty="0"/>
              <a:t>, </a:t>
            </a:r>
            <a:r>
              <a:rPr lang="en-US" altLang="en-US" i="1" dirty="0"/>
              <a:t>H</a:t>
            </a:r>
            <a:r>
              <a:rPr lang="en-US" altLang="en-US" dirty="0"/>
              <a:t>, of a discrete random variable </a:t>
            </a:r>
            <a:r>
              <a:rPr lang="en-US" altLang="en-US" i="1" dirty="0"/>
              <a:t>X</a:t>
            </a:r>
            <a:r>
              <a:rPr lang="en-US" altLang="en-US" dirty="0"/>
              <a:t> is a measure of the amount of </a:t>
            </a:r>
            <a:r>
              <a:rPr lang="en-US" altLang="en-US" i="1" dirty="0"/>
              <a:t>uncertainty</a:t>
            </a:r>
            <a:r>
              <a:rPr lang="en-US" altLang="en-US" dirty="0"/>
              <a:t> associated with the value of </a:t>
            </a:r>
            <a:r>
              <a:rPr lang="en-US" altLang="en-US" i="1" dirty="0"/>
              <a:t>X</a:t>
            </a:r>
            <a:r>
              <a:rPr lang="en-US" altLang="en-US" dirty="0"/>
              <a:t>. </a:t>
            </a:r>
          </a:p>
          <a:p>
            <a:pPr lvl="2" eaLnBrk="1" hangingPunct="1"/>
            <a:r>
              <a:rPr lang="en-US" altLang="en-US" dirty="0"/>
              <a:t>In our case:  the random variable is the class label of an instance (C) </a:t>
            </a:r>
          </a:p>
          <a:p>
            <a:pPr lvl="2" eaLnBrk="1" hangingPunct="1"/>
            <a:r>
              <a:rPr lang="en-US" altLang="en-US" dirty="0"/>
              <a:t>For two training data with 10 instances at the root node</a:t>
            </a:r>
          </a:p>
          <a:p>
            <a:pPr lvl="2" eaLnBrk="1" hangingPunct="1"/>
            <a:r>
              <a:rPr lang="en-US" altLang="en-US" dirty="0"/>
              <a:t>Data 1:    9 positive,  1 negative</a:t>
            </a:r>
          </a:p>
          <a:p>
            <a:pPr lvl="2" eaLnBrk="1" hangingPunct="1"/>
            <a:r>
              <a:rPr lang="en-US" altLang="en-US" dirty="0"/>
              <a:t>Data 2:    5 positive,  5 negative</a:t>
            </a:r>
          </a:p>
          <a:p>
            <a:pPr lvl="1" eaLnBrk="1" hangingPunct="1"/>
            <a:r>
              <a:rPr lang="en-US" altLang="en-US" dirty="0"/>
              <a:t>For objects of Data 1 and 2, whose label is more uncertain? </a:t>
            </a:r>
          </a:p>
          <a:p>
            <a:pPr eaLnBrk="1" hangingPunct="1"/>
            <a:endParaRPr lang="en-US" altLang="en-US" dirty="0"/>
          </a:p>
        </p:txBody>
      </p:sp>
      <p:pic>
        <p:nvPicPr>
          <p:cNvPr id="3174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3695700"/>
            <a:ext cx="5715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749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6019800"/>
            <a:ext cx="63611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1351008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Measuring Mutual Information</a:t>
            </a:r>
          </a:p>
        </p:txBody>
      </p:sp>
      <p:sp>
        <p:nvSpPr>
          <p:cNvPr id="32771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/>
            <a:r>
              <a:rPr lang="en-US" altLang="en-US"/>
              <a:t>measures the amount of information that can be obtained about one random variable by observing another.</a:t>
            </a:r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lvl="1" eaLnBrk="1" hangingPunct="1"/>
            <a:r>
              <a:rPr lang="en-US" altLang="en-US"/>
              <a:t>Exercise: calculate the mutual information between the class label and an attribute</a:t>
            </a:r>
          </a:p>
          <a:p>
            <a:pPr eaLnBrk="1" hangingPunct="1"/>
            <a:r>
              <a:rPr lang="en-US" altLang="en-US"/>
              <a:t>Mutual information in feature selection:</a:t>
            </a:r>
          </a:p>
          <a:p>
            <a:pPr lvl="1" eaLnBrk="1" hangingPunct="1"/>
            <a:r>
              <a:rPr lang="en-US" altLang="en-US" sz="2000"/>
              <a:t>Input Feature Selection by Mutual Information Based on Parzen Windows</a:t>
            </a:r>
          </a:p>
          <a:p>
            <a:pPr lvl="1" eaLnBrk="1" hangingPunct="1"/>
            <a:r>
              <a:rPr lang="en-US" altLang="en-US" sz="2000"/>
              <a:t>Mutual information functions versus correlation functions. Journal of Statistical Physics, 2005</a:t>
            </a:r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</p:txBody>
      </p:sp>
      <p:pic>
        <p:nvPicPr>
          <p:cNvPr id="3277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9659" y="2743200"/>
            <a:ext cx="6659563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5820956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>
                <a:solidFill>
                  <a:srgbClr val="FF0000"/>
                </a:solidFill>
                <a:latin typeface="CMSSBX10"/>
              </a:rPr>
              <a:t>Information Gain ( used in ID3)</a:t>
            </a:r>
            <a:endParaRPr lang="en-US" altLang="zh-CN">
              <a:solidFill>
                <a:srgbClr val="000000"/>
              </a:solidFill>
              <a:latin typeface="CMSSBX10"/>
            </a:endParaRPr>
          </a:p>
        </p:txBody>
      </p:sp>
      <p:sp>
        <p:nvSpPr>
          <p:cNvPr id="33795" name="Rectangle 3"/>
          <p:cNvSpPr>
            <a:spLocks noGrp="1" noRot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solidFill>
                  <a:srgbClr val="000000"/>
                </a:solidFill>
                <a:latin typeface="CMSS10"/>
              </a:rPr>
              <a:t>What is the uncertainty removed by splitting on the value of </a:t>
            </a:r>
            <a:r>
              <a:rPr lang="en-US" altLang="zh-CN">
                <a:solidFill>
                  <a:srgbClr val="000000"/>
                </a:solidFill>
                <a:latin typeface="CMMI10"/>
              </a:rPr>
              <a:t>A</a:t>
            </a:r>
            <a:r>
              <a:rPr lang="en-US" altLang="zh-CN">
                <a:solidFill>
                  <a:srgbClr val="000000"/>
                </a:solidFill>
                <a:latin typeface="CMSS10"/>
              </a:rPr>
              <a:t>?</a:t>
            </a:r>
          </a:p>
          <a:p>
            <a:pPr eaLnBrk="1" hangingPunct="1"/>
            <a:r>
              <a:rPr lang="en-US" altLang="zh-CN">
                <a:solidFill>
                  <a:srgbClr val="000000"/>
                </a:solidFill>
                <a:latin typeface="CMSS10"/>
              </a:rPr>
              <a:t>The information gain of </a:t>
            </a:r>
            <a:r>
              <a:rPr lang="en-US" altLang="zh-CN">
                <a:solidFill>
                  <a:srgbClr val="000000"/>
                </a:solidFill>
                <a:latin typeface="CMMI10"/>
              </a:rPr>
              <a:t>S </a:t>
            </a:r>
            <a:r>
              <a:rPr lang="en-US" altLang="zh-CN">
                <a:solidFill>
                  <a:srgbClr val="000000"/>
                </a:solidFill>
                <a:latin typeface="CMSS10"/>
              </a:rPr>
              <a:t>relative to attribute </a:t>
            </a:r>
            <a:r>
              <a:rPr lang="en-US" altLang="zh-CN">
                <a:solidFill>
                  <a:srgbClr val="000000"/>
                </a:solidFill>
                <a:latin typeface="CMMI10"/>
              </a:rPr>
              <a:t>A </a:t>
            </a:r>
            <a:r>
              <a:rPr lang="en-US" altLang="zh-CN">
                <a:solidFill>
                  <a:srgbClr val="000000"/>
                </a:solidFill>
                <a:latin typeface="CMSS10"/>
              </a:rPr>
              <a:t>is the expected reduction in entropy caused by knowing the value of </a:t>
            </a:r>
            <a:r>
              <a:rPr lang="en-US" altLang="zh-CN">
                <a:solidFill>
                  <a:srgbClr val="000000"/>
                </a:solidFill>
                <a:latin typeface="CMMI10"/>
              </a:rPr>
              <a:t>A</a:t>
            </a:r>
          </a:p>
          <a:p>
            <a:pPr lvl="1" eaLnBrk="1" hangingPunct="1"/>
            <a:r>
              <a:rPr lang="en-US" altLang="zh-CN">
                <a:solidFill>
                  <a:srgbClr val="000000"/>
                </a:solidFill>
                <a:latin typeface="CMSS10"/>
              </a:rPr>
              <a:t>   : the set of examples in </a:t>
            </a:r>
            <a:r>
              <a:rPr lang="en-US" altLang="zh-CN">
                <a:solidFill>
                  <a:srgbClr val="000000"/>
                </a:solidFill>
                <a:latin typeface="CMMI10"/>
              </a:rPr>
              <a:t>S </a:t>
            </a:r>
            <a:r>
              <a:rPr lang="en-US" altLang="zh-CN">
                <a:solidFill>
                  <a:srgbClr val="000000"/>
                </a:solidFill>
                <a:latin typeface="CMSS10"/>
              </a:rPr>
              <a:t>where attribute </a:t>
            </a:r>
            <a:r>
              <a:rPr lang="en-US" altLang="zh-CN">
                <a:solidFill>
                  <a:srgbClr val="000000"/>
                </a:solidFill>
                <a:latin typeface="CMMI10"/>
              </a:rPr>
              <a:t>A </a:t>
            </a:r>
            <a:r>
              <a:rPr lang="en-US" altLang="zh-CN">
                <a:solidFill>
                  <a:srgbClr val="000000"/>
                </a:solidFill>
                <a:latin typeface="CMSS10"/>
              </a:rPr>
              <a:t>has value </a:t>
            </a:r>
            <a:r>
              <a:rPr lang="en-US" altLang="zh-CN">
                <a:solidFill>
                  <a:srgbClr val="000000"/>
                </a:solidFill>
                <a:latin typeface="CMMI10"/>
              </a:rPr>
              <a:t>v</a:t>
            </a:r>
            <a:endParaRPr lang="en-US" altLang="zh-CN">
              <a:solidFill>
                <a:srgbClr val="000000"/>
              </a:solidFill>
              <a:latin typeface="CMSS10"/>
            </a:endParaRPr>
          </a:p>
          <a:p>
            <a:pPr lvl="1" eaLnBrk="1" hangingPunct="1"/>
            <a:endParaRPr lang="en-US" altLang="zh-CN"/>
          </a:p>
        </p:txBody>
      </p:sp>
      <p:graphicFrame>
        <p:nvGraphicFramePr>
          <p:cNvPr id="33796" name="Object 4"/>
          <p:cNvGraphicFramePr>
            <a:graphicFrameLocks noChangeAspect="1"/>
          </p:cNvGraphicFramePr>
          <p:nvPr/>
        </p:nvGraphicFramePr>
        <p:xfrm>
          <a:off x="1676400" y="5715000"/>
          <a:ext cx="5121275" cy="1100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184400" imgH="469900" progId="Equation.3">
                  <p:embed/>
                </p:oleObj>
              </mc:Choice>
              <mc:Fallback>
                <p:oleObj name="Equation" r:id="rId3" imgW="2184400" imgH="469900" progId="Equation.3">
                  <p:embed/>
                  <p:pic>
                    <p:nvPicPr>
                      <p:cNvPr id="3379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5715000"/>
                        <a:ext cx="5121275" cy="1100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7" name="Object 5"/>
          <p:cNvGraphicFramePr>
            <a:graphicFrameLocks noChangeAspect="1"/>
          </p:cNvGraphicFramePr>
          <p:nvPr/>
        </p:nvGraphicFramePr>
        <p:xfrm>
          <a:off x="1524000" y="3276600"/>
          <a:ext cx="3556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77646" imgH="228402" progId="Equation.3">
                  <p:embed/>
                </p:oleObj>
              </mc:Choice>
              <mc:Fallback>
                <p:oleObj name="Equation" r:id="rId5" imgW="177646" imgH="228402" progId="Equation.3">
                  <p:embed/>
                  <p:pic>
                    <p:nvPicPr>
                      <p:cNvPr id="3379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3276600"/>
                        <a:ext cx="3556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0404886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Play Tennis Example</a:t>
            </a:r>
          </a:p>
        </p:txBody>
      </p:sp>
      <p:pic>
        <p:nvPicPr>
          <p:cNvPr id="3481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447800"/>
            <a:ext cx="8162925" cy="521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5563111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 b="1">
                <a:latin typeface="Times New Roman" panose="02020603050405020304" pitchFamily="18" charset="0"/>
              </a:rPr>
              <a:t>Which attribute is the best classifier?</a:t>
            </a:r>
            <a:endParaRPr lang="en-US" altLang="zh-CN" sz="3200">
              <a:latin typeface="Times New Roman" panose="02020603050405020304" pitchFamily="18" charset="0"/>
            </a:endParaRPr>
          </a:p>
        </p:txBody>
      </p:sp>
      <p:pic>
        <p:nvPicPr>
          <p:cNvPr id="35843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23950" y="1600200"/>
            <a:ext cx="6896100" cy="4525963"/>
          </a:xfrm>
        </p:spPr>
      </p:pic>
    </p:spTree>
    <p:extLst>
      <p:ext uri="{BB962C8B-B14F-4D97-AF65-F5344CB8AC3E}">
        <p14:creationId xmlns:p14="http://schemas.microsoft.com/office/powerpoint/2010/main" val="214678303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36867" name="Rectangle 3"/>
          <p:cNvSpPr>
            <a:spLocks noGrp="1" noChangeAspect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 altLang="en-US"/>
          </a:p>
        </p:txBody>
      </p:sp>
      <p:pic>
        <p:nvPicPr>
          <p:cNvPr id="3686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28600"/>
            <a:ext cx="7696200" cy="6122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3543862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ext Box 4"/>
          <p:cNvSpPr txBox="1">
            <a:spLocks noChangeArrowheads="1"/>
          </p:cNvSpPr>
          <p:nvPr/>
        </p:nvSpPr>
        <p:spPr bwMode="auto">
          <a:xfrm>
            <a:off x="5105400" y="4572000"/>
            <a:ext cx="2209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latin typeface="Times New Roman" panose="02020603050405020304" pitchFamily="18" charset="0"/>
              </a:rPr>
              <a:t>See/C 5.0</a:t>
            </a:r>
          </a:p>
        </p:txBody>
      </p:sp>
      <p:pic>
        <p:nvPicPr>
          <p:cNvPr id="37891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533400"/>
            <a:ext cx="6953250" cy="354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2" name="Text Box 7"/>
          <p:cNvSpPr txBox="1">
            <a:spLocks noChangeArrowheads="1"/>
          </p:cNvSpPr>
          <p:nvPr/>
        </p:nvSpPr>
        <p:spPr bwMode="auto">
          <a:xfrm>
            <a:off x="1447800" y="4191000"/>
            <a:ext cx="2212975" cy="228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>
                <a:latin typeface="CMTT10"/>
              </a:rPr>
              <a:t>A1 = overcast: + (4.0)</a:t>
            </a:r>
          </a:p>
          <a:p>
            <a:pPr eaLnBrk="1" hangingPunct="1"/>
            <a:r>
              <a:rPr lang="en-US" altLang="zh-CN">
                <a:latin typeface="CMTT10"/>
              </a:rPr>
              <a:t>A1 = sunny:</a:t>
            </a:r>
          </a:p>
          <a:p>
            <a:pPr eaLnBrk="1" hangingPunct="1"/>
            <a:r>
              <a:rPr lang="en-US" altLang="zh-CN">
                <a:latin typeface="CMTT10"/>
              </a:rPr>
              <a:t>| A3 = high: - (3.0)</a:t>
            </a:r>
          </a:p>
          <a:p>
            <a:pPr eaLnBrk="1" hangingPunct="1"/>
            <a:r>
              <a:rPr lang="en-US" altLang="zh-CN">
                <a:latin typeface="CMTT10"/>
              </a:rPr>
              <a:t>| A3 = normal: + (2.0)</a:t>
            </a:r>
          </a:p>
          <a:p>
            <a:pPr eaLnBrk="1" hangingPunct="1"/>
            <a:r>
              <a:rPr lang="en-US" altLang="zh-CN">
                <a:latin typeface="CMTT10"/>
              </a:rPr>
              <a:t>A1 = rain:</a:t>
            </a:r>
          </a:p>
          <a:p>
            <a:pPr eaLnBrk="1" hangingPunct="1"/>
            <a:r>
              <a:rPr lang="en-US" altLang="zh-CN">
                <a:latin typeface="CMTT10"/>
              </a:rPr>
              <a:t>| A4 = weak: + (3.0)</a:t>
            </a:r>
          </a:p>
          <a:p>
            <a:pPr eaLnBrk="1" hangingPunct="1"/>
            <a:r>
              <a:rPr lang="en-US" altLang="zh-CN">
                <a:latin typeface="CMTT10"/>
              </a:rPr>
              <a:t>| A4 = strong: - (2.0)</a:t>
            </a:r>
          </a:p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432358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Gain Ratio (used in C4.5)</a:t>
            </a:r>
          </a:p>
        </p:txBody>
      </p:sp>
      <p:sp>
        <p:nvSpPr>
          <p:cNvPr id="38915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/>
            <a:r>
              <a:rPr lang="en-US" altLang="en-US" dirty="0"/>
              <a:t>Limitation of Information Gain</a:t>
            </a:r>
          </a:p>
          <a:p>
            <a:pPr lvl="1" eaLnBrk="1" hangingPunct="1"/>
            <a:r>
              <a:rPr lang="en-US" altLang="en-US" dirty="0"/>
              <a:t>Biased towards attributes with many outcomes: not robust</a:t>
            </a:r>
          </a:p>
          <a:p>
            <a:pPr lvl="1" eaLnBrk="1" hangingPunct="1"/>
            <a:r>
              <a:rPr lang="en-US" altLang="en-US" dirty="0"/>
              <a:t>Example: suppose an attribute  A has 14 distinct values (</a:t>
            </a:r>
            <a:r>
              <a:rPr lang="en-US" altLang="en-US" dirty="0" err="1"/>
              <a:t>product_id</a:t>
            </a:r>
            <a:r>
              <a:rPr lang="en-US" altLang="en-US" dirty="0"/>
              <a:t>), splitting on A, will result maximum information gain.  H(Di)=0. </a:t>
            </a:r>
          </a:p>
          <a:p>
            <a:pPr eaLnBrk="1" hangingPunct="1"/>
            <a:r>
              <a:rPr lang="en-US" altLang="en-US" dirty="0"/>
              <a:t>Gain Ratio: normalization applied to information gain</a:t>
            </a:r>
          </a:p>
          <a:p>
            <a:pPr lvl="1" eaLnBrk="1" hangingPunct="1"/>
            <a:r>
              <a:rPr lang="en-US" altLang="en-US" dirty="0"/>
              <a:t>Normalized by the split information (penalize multiple-valued attributes/splits)</a:t>
            </a:r>
          </a:p>
          <a:p>
            <a:pPr lvl="1" eaLnBrk="1" hangingPunct="1"/>
            <a:r>
              <a:rPr lang="en-US" altLang="en-US" sz="2000" dirty="0"/>
              <a:t>J.R. Quinlan (1986). Induction of Decision Trees, Machine Learning, (1), 81-106</a:t>
            </a:r>
          </a:p>
          <a:p>
            <a:pPr lvl="1" eaLnBrk="1" hangingPunct="1"/>
            <a:endParaRPr lang="en-US" altLang="en-US" dirty="0"/>
          </a:p>
          <a:p>
            <a:pPr lvl="1" eaLnBrk="1" hangingPunct="1"/>
            <a:endParaRPr lang="en-US" altLang="en-US" dirty="0"/>
          </a:p>
          <a:p>
            <a:pPr eaLnBrk="1" hangingPunct="1"/>
            <a:endParaRPr lang="en-US" altLang="en-US" dirty="0"/>
          </a:p>
        </p:txBody>
      </p:sp>
      <p:graphicFrame>
        <p:nvGraphicFramePr>
          <p:cNvPr id="3891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2618509"/>
              </p:ext>
            </p:extLst>
          </p:nvPr>
        </p:nvGraphicFramePr>
        <p:xfrm>
          <a:off x="3352800" y="5791200"/>
          <a:ext cx="4948237" cy="12869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394200" imgH="1143000" progId="Equation.DSMT4">
                  <p:embed/>
                </p:oleObj>
              </mc:Choice>
              <mc:Fallback>
                <p:oleObj name="Equation" r:id="rId3" imgW="4394200" imgH="1143000" progId="Equation.DSMT4">
                  <p:embed/>
                  <p:pic>
                    <p:nvPicPr>
                      <p:cNvPr id="3891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5791200"/>
                        <a:ext cx="4948237" cy="12869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3192342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/>
              <a:t>Gini Index (CART, IBM IntelligentMiner)</a:t>
            </a:r>
          </a:p>
        </p:txBody>
      </p:sp>
      <p:sp>
        <p:nvSpPr>
          <p:cNvPr id="39939" name="Rectangle 102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/>
              <a:t>Another sensible measure of impurity</a:t>
            </a:r>
            <a:br>
              <a:rPr lang="en-US" altLang="en-US" sz="2400"/>
            </a:br>
            <a:r>
              <a:rPr lang="en-US" altLang="en-US" sz="2400"/>
              <a:t>(i and j are classes) 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a function the maximize when x=y? f=xy  given x+y=1 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/>
          </a:p>
          <a:p>
            <a:pPr eaLnBrk="1" hangingPunct="1">
              <a:lnSpc>
                <a:spcPct val="90000"/>
              </a:lnSpc>
            </a:pPr>
            <a:endParaRPr lang="en-US" altLang="en-US" sz="2400"/>
          </a:p>
          <a:p>
            <a:pPr eaLnBrk="1" hangingPunct="1">
              <a:lnSpc>
                <a:spcPct val="90000"/>
              </a:lnSpc>
            </a:pPr>
            <a:endParaRPr lang="en-US" altLang="en-US" sz="2400"/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After applying attribute A, the resulting Gini index is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/>
          </a:p>
          <a:p>
            <a:pPr eaLnBrk="1" hangingPunct="1">
              <a:lnSpc>
                <a:spcPct val="90000"/>
              </a:lnSpc>
            </a:pPr>
            <a:endParaRPr lang="en-US" altLang="en-US" sz="2400"/>
          </a:p>
          <a:p>
            <a:pPr eaLnBrk="1" hangingPunct="1">
              <a:lnSpc>
                <a:spcPct val="90000"/>
              </a:lnSpc>
            </a:pPr>
            <a:endParaRPr lang="en-US" altLang="en-US" sz="2400"/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Gini can be interpreted as expected error rate</a:t>
            </a:r>
          </a:p>
        </p:txBody>
      </p:sp>
      <p:pic>
        <p:nvPicPr>
          <p:cNvPr id="39940" name="Picture 102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2733675"/>
            <a:ext cx="2762250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39941" name="Picture 102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1829" y="4410869"/>
            <a:ext cx="4905375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graphicFrame>
        <p:nvGraphicFramePr>
          <p:cNvPr id="3994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0836887"/>
              </p:ext>
            </p:extLst>
          </p:nvPr>
        </p:nvGraphicFramePr>
        <p:xfrm>
          <a:off x="6176169" y="2661444"/>
          <a:ext cx="1725612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825500" imgH="431800" progId="Equation.DSMT4">
                  <p:embed/>
                </p:oleObj>
              </mc:Choice>
              <mc:Fallback>
                <p:oleObj name="Equation" r:id="rId5" imgW="825500" imgH="431800" progId="Equation.DSMT4">
                  <p:embed/>
                  <p:pic>
                    <p:nvPicPr>
                      <p:cNvPr id="3994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6169" y="2661444"/>
                        <a:ext cx="1725612" cy="90170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6187196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Gini Index</a:t>
            </a:r>
          </a:p>
        </p:txBody>
      </p:sp>
      <p:sp>
        <p:nvSpPr>
          <p:cNvPr id="40963" name="AutoShape 4"/>
          <p:cNvSpPr>
            <a:spLocks noChangeArrowheads="1"/>
          </p:cNvSpPr>
          <p:nvPr/>
        </p:nvSpPr>
        <p:spPr bwMode="auto">
          <a:xfrm>
            <a:off x="3571875" y="2438400"/>
            <a:ext cx="381000" cy="304800"/>
          </a:xfrm>
          <a:prstGeom prst="triangle">
            <a:avLst>
              <a:gd name="adj" fmla="val 50000"/>
            </a:avLst>
          </a:prstGeom>
          <a:solidFill>
            <a:srgbClr val="FF0000"/>
          </a:solidFill>
          <a:ln w="28575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sl-SI" altLang="en-US">
                <a:latin typeface="Times New Roman" panose="02020603050405020304" pitchFamily="18" charset="0"/>
              </a:rPr>
              <a:t>.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0964" name="Rectangle 5"/>
          <p:cNvSpPr>
            <a:spLocks noChangeArrowheads="1"/>
          </p:cNvSpPr>
          <p:nvPr/>
        </p:nvSpPr>
        <p:spPr bwMode="auto">
          <a:xfrm>
            <a:off x="2809875" y="1981200"/>
            <a:ext cx="304800" cy="304800"/>
          </a:xfrm>
          <a:prstGeom prst="rect">
            <a:avLst/>
          </a:prstGeom>
          <a:solidFill>
            <a:srgbClr val="FFFF00"/>
          </a:solidFill>
          <a:ln w="12700" cap="rnd">
            <a:solidFill>
              <a:schemeClr val="tx1"/>
            </a:solidFill>
            <a:prstDash val="sysDot"/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0965" name="AutoShape 6"/>
          <p:cNvSpPr>
            <a:spLocks noChangeArrowheads="1"/>
          </p:cNvSpPr>
          <p:nvPr/>
        </p:nvSpPr>
        <p:spPr bwMode="auto">
          <a:xfrm>
            <a:off x="2352675" y="2057400"/>
            <a:ext cx="381000" cy="304800"/>
          </a:xfrm>
          <a:prstGeom prst="triangle">
            <a:avLst>
              <a:gd name="adj" fmla="val 50000"/>
            </a:avLst>
          </a:prstGeom>
          <a:solidFill>
            <a:srgbClr val="FF0000"/>
          </a:solidFill>
          <a:ln w="12700" cap="rnd">
            <a:solidFill>
              <a:schemeClr val="tx1"/>
            </a:solidFill>
            <a:prstDash val="sysDot"/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sl-SI" altLang="en-US">
                <a:latin typeface="Times New Roman" panose="02020603050405020304" pitchFamily="18" charset="0"/>
              </a:rPr>
              <a:t>.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0966" name="AutoShape 7"/>
          <p:cNvSpPr>
            <a:spLocks noChangeArrowheads="1"/>
          </p:cNvSpPr>
          <p:nvPr/>
        </p:nvSpPr>
        <p:spPr bwMode="auto">
          <a:xfrm>
            <a:off x="3419475" y="2895600"/>
            <a:ext cx="381000" cy="304800"/>
          </a:xfrm>
          <a:prstGeom prst="triangle">
            <a:avLst>
              <a:gd name="adj" fmla="val 50000"/>
            </a:avLst>
          </a:prstGeom>
          <a:solidFill>
            <a:srgbClr val="66FF66"/>
          </a:solidFill>
          <a:ln w="12700" cap="rnd">
            <a:solidFill>
              <a:schemeClr val="tx1"/>
            </a:solidFill>
            <a:prstDash val="sysDot"/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0967" name="AutoShape 8"/>
          <p:cNvSpPr>
            <a:spLocks noChangeArrowheads="1"/>
          </p:cNvSpPr>
          <p:nvPr/>
        </p:nvSpPr>
        <p:spPr bwMode="auto">
          <a:xfrm>
            <a:off x="3190875" y="2057400"/>
            <a:ext cx="381000" cy="304800"/>
          </a:xfrm>
          <a:prstGeom prst="triangle">
            <a:avLst>
              <a:gd name="adj" fmla="val 50000"/>
            </a:avLst>
          </a:prstGeom>
          <a:solidFill>
            <a:srgbClr val="66FF66"/>
          </a:solidFill>
          <a:ln w="12700" cap="rnd">
            <a:solidFill>
              <a:schemeClr val="tx1"/>
            </a:solidFill>
            <a:prstDash val="sysDot"/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0968" name="AutoShape 9"/>
          <p:cNvSpPr>
            <a:spLocks noChangeArrowheads="1"/>
          </p:cNvSpPr>
          <p:nvPr/>
        </p:nvSpPr>
        <p:spPr bwMode="auto">
          <a:xfrm>
            <a:off x="2733675" y="2743200"/>
            <a:ext cx="381000" cy="304800"/>
          </a:xfrm>
          <a:prstGeom prst="triangle">
            <a:avLst>
              <a:gd name="adj" fmla="val 50000"/>
            </a:avLst>
          </a:prstGeom>
          <a:solidFill>
            <a:srgbClr val="66FF66"/>
          </a:solidFill>
          <a:ln w="12700" cap="rnd">
            <a:solidFill>
              <a:schemeClr val="tx1"/>
            </a:solidFill>
            <a:prstDash val="sysDot"/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sl-SI" altLang="en-US">
                <a:latin typeface="Times New Roman" panose="02020603050405020304" pitchFamily="18" charset="0"/>
              </a:rPr>
              <a:t>.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0969" name="Rectangle 10"/>
          <p:cNvSpPr>
            <a:spLocks noChangeArrowheads="1"/>
          </p:cNvSpPr>
          <p:nvPr/>
        </p:nvSpPr>
        <p:spPr bwMode="auto">
          <a:xfrm>
            <a:off x="3038475" y="2438400"/>
            <a:ext cx="304800" cy="304800"/>
          </a:xfrm>
          <a:prstGeom prst="rect">
            <a:avLst/>
          </a:prstGeom>
          <a:solidFill>
            <a:srgbClr val="FF0000"/>
          </a:solidFill>
          <a:ln w="12700" cap="rnd">
            <a:solidFill>
              <a:schemeClr val="tx1"/>
            </a:solidFill>
            <a:prstDash val="sysDot"/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0970" name="Rectangle 11"/>
          <p:cNvSpPr>
            <a:spLocks noChangeArrowheads="1"/>
          </p:cNvSpPr>
          <p:nvPr/>
        </p:nvSpPr>
        <p:spPr bwMode="auto">
          <a:xfrm>
            <a:off x="4105275" y="2362200"/>
            <a:ext cx="304800" cy="304800"/>
          </a:xfrm>
          <a:prstGeom prst="rect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sl-SI" altLang="en-US">
              <a:latin typeface="Times New Roman" panose="02020603050405020304" pitchFamily="18" charset="0"/>
            </a:endParaRPr>
          </a:p>
        </p:txBody>
      </p:sp>
      <p:sp>
        <p:nvSpPr>
          <p:cNvPr id="40971" name="Rectangle 12"/>
          <p:cNvSpPr>
            <a:spLocks noChangeArrowheads="1"/>
          </p:cNvSpPr>
          <p:nvPr/>
        </p:nvSpPr>
        <p:spPr bwMode="auto">
          <a:xfrm>
            <a:off x="2428875" y="2590800"/>
            <a:ext cx="304800" cy="304800"/>
          </a:xfrm>
          <a:prstGeom prst="rect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sl-SI" altLang="en-US">
                <a:latin typeface="Times New Roman" panose="02020603050405020304" pitchFamily="18" charset="0"/>
              </a:rPr>
              <a:t>.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0972" name="Rectangle 13"/>
          <p:cNvSpPr>
            <a:spLocks noChangeArrowheads="1"/>
          </p:cNvSpPr>
          <p:nvPr/>
        </p:nvSpPr>
        <p:spPr bwMode="auto">
          <a:xfrm>
            <a:off x="2581275" y="3200400"/>
            <a:ext cx="304800" cy="304800"/>
          </a:xfrm>
          <a:prstGeom prst="rect">
            <a:avLst/>
          </a:prstGeom>
          <a:solidFill>
            <a:srgbClr val="FF0000"/>
          </a:solidFill>
          <a:ln w="28575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0973" name="Rectangle 14"/>
          <p:cNvSpPr>
            <a:spLocks noChangeArrowheads="1"/>
          </p:cNvSpPr>
          <p:nvPr/>
        </p:nvSpPr>
        <p:spPr bwMode="auto">
          <a:xfrm>
            <a:off x="3648075" y="2057400"/>
            <a:ext cx="304800" cy="304800"/>
          </a:xfrm>
          <a:prstGeom prst="rect">
            <a:avLst/>
          </a:prstGeom>
          <a:solidFill>
            <a:srgbClr val="FFFF00"/>
          </a:solidFill>
          <a:ln w="12700" cap="rnd">
            <a:solidFill>
              <a:schemeClr val="tx1"/>
            </a:solidFill>
            <a:prstDash val="sysDot"/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sl-SI" altLang="en-US">
                <a:latin typeface="Times New Roman" panose="02020603050405020304" pitchFamily="18" charset="0"/>
              </a:rPr>
              <a:t>.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0974" name="Rectangle 15"/>
          <p:cNvSpPr>
            <a:spLocks noChangeArrowheads="1"/>
          </p:cNvSpPr>
          <p:nvPr/>
        </p:nvSpPr>
        <p:spPr bwMode="auto">
          <a:xfrm>
            <a:off x="3114675" y="3276600"/>
            <a:ext cx="304800" cy="304800"/>
          </a:xfrm>
          <a:prstGeom prst="rect">
            <a:avLst/>
          </a:prstGeom>
          <a:solidFill>
            <a:srgbClr val="66FF66"/>
          </a:solidFill>
          <a:ln w="28575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0975" name="Rectangle 16"/>
          <p:cNvSpPr>
            <a:spLocks noChangeArrowheads="1"/>
          </p:cNvSpPr>
          <p:nvPr/>
        </p:nvSpPr>
        <p:spPr bwMode="auto">
          <a:xfrm>
            <a:off x="3876675" y="2819400"/>
            <a:ext cx="304800" cy="304800"/>
          </a:xfrm>
          <a:prstGeom prst="rect">
            <a:avLst/>
          </a:prstGeom>
          <a:solidFill>
            <a:srgbClr val="66FF66"/>
          </a:solidFill>
          <a:ln w="28575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sl-SI" altLang="en-US">
                <a:latin typeface="Times New Roman" panose="02020603050405020304" pitchFamily="18" charset="0"/>
              </a:rPr>
              <a:t>.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0976" name="Rectangle 17"/>
          <p:cNvSpPr>
            <a:spLocks noChangeArrowheads="1"/>
          </p:cNvSpPr>
          <p:nvPr/>
        </p:nvSpPr>
        <p:spPr bwMode="auto">
          <a:xfrm>
            <a:off x="3724275" y="3276600"/>
            <a:ext cx="304800" cy="304800"/>
          </a:xfrm>
          <a:prstGeom prst="rect">
            <a:avLst/>
          </a:prstGeom>
          <a:solidFill>
            <a:srgbClr val="FF0000"/>
          </a:solidFill>
          <a:ln w="28575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0977" name="Oval 18"/>
          <p:cNvSpPr>
            <a:spLocks noChangeArrowheads="1"/>
          </p:cNvSpPr>
          <p:nvPr/>
        </p:nvSpPr>
        <p:spPr bwMode="auto">
          <a:xfrm>
            <a:off x="1971675" y="1752600"/>
            <a:ext cx="2667000" cy="20574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  <p:pic>
        <p:nvPicPr>
          <p:cNvPr id="40978" name="Picture 1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5875" y="1828800"/>
            <a:ext cx="1762125" cy="204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40979" name="Picture 2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5715000"/>
            <a:ext cx="3495675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40980" name="Picture 2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4572000"/>
            <a:ext cx="2790825" cy="87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5069003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050"/>
          <p:cNvSpPr>
            <a:spLocks noGrp="1" noChangeArrowheads="1"/>
          </p:cNvSpPr>
          <p:nvPr>
            <p:ph type="title"/>
          </p:nvPr>
        </p:nvSpPr>
        <p:spPr>
          <a:xfrm rot="16200000">
            <a:off x="-2209800" y="2743200"/>
            <a:ext cx="5715000" cy="685800"/>
          </a:xfrm>
        </p:spPr>
        <p:txBody>
          <a:bodyPr/>
          <a:lstStyle/>
          <a:p>
            <a:pPr eaLnBrk="1" hangingPunct="1"/>
            <a:r>
              <a:rPr lang="en-US" altLang="en-US" sz="3200"/>
              <a:t>Gini Index for Color</a:t>
            </a:r>
          </a:p>
        </p:txBody>
      </p:sp>
      <p:sp>
        <p:nvSpPr>
          <p:cNvPr id="41987" name="AutoShape 2051"/>
          <p:cNvSpPr>
            <a:spLocks noChangeArrowheads="1"/>
          </p:cNvSpPr>
          <p:nvPr/>
        </p:nvSpPr>
        <p:spPr bwMode="auto">
          <a:xfrm>
            <a:off x="3267075" y="1252538"/>
            <a:ext cx="306388" cy="244475"/>
          </a:xfrm>
          <a:prstGeom prst="triangle">
            <a:avLst>
              <a:gd name="adj" fmla="val 50000"/>
            </a:avLst>
          </a:prstGeom>
          <a:solidFill>
            <a:srgbClr val="FF0000"/>
          </a:solidFill>
          <a:ln w="28575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sl-SI" altLang="en-US">
                <a:latin typeface="Times New Roman" panose="02020603050405020304" pitchFamily="18" charset="0"/>
              </a:rPr>
              <a:t>.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1988" name="Rectangle 2052"/>
          <p:cNvSpPr>
            <a:spLocks noChangeArrowheads="1"/>
          </p:cNvSpPr>
          <p:nvPr/>
        </p:nvSpPr>
        <p:spPr bwMode="auto">
          <a:xfrm>
            <a:off x="2655888" y="885825"/>
            <a:ext cx="244475" cy="244475"/>
          </a:xfrm>
          <a:prstGeom prst="rect">
            <a:avLst/>
          </a:prstGeom>
          <a:solidFill>
            <a:srgbClr val="FFFF00"/>
          </a:solidFill>
          <a:ln w="12700" cap="rnd">
            <a:solidFill>
              <a:schemeClr val="tx1"/>
            </a:solidFill>
            <a:prstDash val="sysDot"/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1989" name="AutoShape 2053"/>
          <p:cNvSpPr>
            <a:spLocks noChangeArrowheads="1"/>
          </p:cNvSpPr>
          <p:nvPr/>
        </p:nvSpPr>
        <p:spPr bwMode="auto">
          <a:xfrm>
            <a:off x="2289175" y="946150"/>
            <a:ext cx="304800" cy="244475"/>
          </a:xfrm>
          <a:prstGeom prst="triangle">
            <a:avLst>
              <a:gd name="adj" fmla="val 50000"/>
            </a:avLst>
          </a:prstGeom>
          <a:solidFill>
            <a:srgbClr val="FF0000"/>
          </a:solidFill>
          <a:ln w="12700" cap="rnd">
            <a:solidFill>
              <a:schemeClr val="tx1"/>
            </a:solidFill>
            <a:prstDash val="sysDot"/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sl-SI" altLang="en-US">
                <a:latin typeface="Times New Roman" panose="02020603050405020304" pitchFamily="18" charset="0"/>
              </a:rPr>
              <a:t>.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1990" name="AutoShape 2054"/>
          <p:cNvSpPr>
            <a:spLocks noChangeArrowheads="1"/>
          </p:cNvSpPr>
          <p:nvPr/>
        </p:nvSpPr>
        <p:spPr bwMode="auto">
          <a:xfrm>
            <a:off x="3144838" y="1619250"/>
            <a:ext cx="306387" cy="244475"/>
          </a:xfrm>
          <a:prstGeom prst="triangle">
            <a:avLst>
              <a:gd name="adj" fmla="val 50000"/>
            </a:avLst>
          </a:prstGeom>
          <a:solidFill>
            <a:srgbClr val="66FF66"/>
          </a:solidFill>
          <a:ln w="12700" cap="rnd">
            <a:solidFill>
              <a:schemeClr val="tx1"/>
            </a:solidFill>
            <a:prstDash val="sysDot"/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1991" name="AutoShape 2055"/>
          <p:cNvSpPr>
            <a:spLocks noChangeArrowheads="1"/>
          </p:cNvSpPr>
          <p:nvPr/>
        </p:nvSpPr>
        <p:spPr bwMode="auto">
          <a:xfrm>
            <a:off x="2962275" y="946150"/>
            <a:ext cx="304800" cy="244475"/>
          </a:xfrm>
          <a:prstGeom prst="triangle">
            <a:avLst>
              <a:gd name="adj" fmla="val 50000"/>
            </a:avLst>
          </a:prstGeom>
          <a:solidFill>
            <a:srgbClr val="66FF66"/>
          </a:solidFill>
          <a:ln w="12700" cap="rnd">
            <a:solidFill>
              <a:schemeClr val="tx1"/>
            </a:solidFill>
            <a:prstDash val="sysDot"/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1992" name="AutoShape 2056"/>
          <p:cNvSpPr>
            <a:spLocks noChangeArrowheads="1"/>
          </p:cNvSpPr>
          <p:nvPr/>
        </p:nvSpPr>
        <p:spPr bwMode="auto">
          <a:xfrm>
            <a:off x="2593975" y="1497013"/>
            <a:ext cx="306388" cy="244475"/>
          </a:xfrm>
          <a:prstGeom prst="triangle">
            <a:avLst>
              <a:gd name="adj" fmla="val 50000"/>
            </a:avLst>
          </a:prstGeom>
          <a:solidFill>
            <a:srgbClr val="66FF66"/>
          </a:solidFill>
          <a:ln w="12700" cap="rnd">
            <a:solidFill>
              <a:schemeClr val="tx1"/>
            </a:solidFill>
            <a:prstDash val="sysDot"/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sl-SI" altLang="en-US">
                <a:latin typeface="Times New Roman" panose="02020603050405020304" pitchFamily="18" charset="0"/>
              </a:rPr>
              <a:t>.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1993" name="Rectangle 2057"/>
          <p:cNvSpPr>
            <a:spLocks noChangeArrowheads="1"/>
          </p:cNvSpPr>
          <p:nvPr/>
        </p:nvSpPr>
        <p:spPr bwMode="auto">
          <a:xfrm>
            <a:off x="2840038" y="1252538"/>
            <a:ext cx="244475" cy="244475"/>
          </a:xfrm>
          <a:prstGeom prst="rect">
            <a:avLst/>
          </a:prstGeom>
          <a:solidFill>
            <a:srgbClr val="FF0000"/>
          </a:solidFill>
          <a:ln w="12700" cap="rnd">
            <a:solidFill>
              <a:schemeClr val="tx1"/>
            </a:solidFill>
            <a:prstDash val="sysDot"/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1994" name="Rectangle 2058"/>
          <p:cNvSpPr>
            <a:spLocks noChangeArrowheads="1"/>
          </p:cNvSpPr>
          <p:nvPr/>
        </p:nvSpPr>
        <p:spPr bwMode="auto">
          <a:xfrm>
            <a:off x="3695700" y="1190625"/>
            <a:ext cx="244475" cy="244475"/>
          </a:xfrm>
          <a:prstGeom prst="rect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sl-SI" altLang="en-US">
              <a:latin typeface="Times New Roman" panose="02020603050405020304" pitchFamily="18" charset="0"/>
            </a:endParaRPr>
          </a:p>
        </p:txBody>
      </p:sp>
      <p:sp>
        <p:nvSpPr>
          <p:cNvPr id="41995" name="Rectangle 2059"/>
          <p:cNvSpPr>
            <a:spLocks noChangeArrowheads="1"/>
          </p:cNvSpPr>
          <p:nvPr/>
        </p:nvSpPr>
        <p:spPr bwMode="auto">
          <a:xfrm>
            <a:off x="2349500" y="1374775"/>
            <a:ext cx="244475" cy="244475"/>
          </a:xfrm>
          <a:prstGeom prst="rect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sl-SI" altLang="en-US">
                <a:latin typeface="Times New Roman" panose="02020603050405020304" pitchFamily="18" charset="0"/>
              </a:rPr>
              <a:t>.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1996" name="Rectangle 2060"/>
          <p:cNvSpPr>
            <a:spLocks noChangeArrowheads="1"/>
          </p:cNvSpPr>
          <p:nvPr/>
        </p:nvSpPr>
        <p:spPr bwMode="auto">
          <a:xfrm>
            <a:off x="2471738" y="1863725"/>
            <a:ext cx="246062" cy="244475"/>
          </a:xfrm>
          <a:prstGeom prst="rect">
            <a:avLst/>
          </a:prstGeom>
          <a:solidFill>
            <a:srgbClr val="FF0000"/>
          </a:solidFill>
          <a:ln w="28575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1997" name="Rectangle 2061"/>
          <p:cNvSpPr>
            <a:spLocks noChangeArrowheads="1"/>
          </p:cNvSpPr>
          <p:nvPr/>
        </p:nvSpPr>
        <p:spPr bwMode="auto">
          <a:xfrm>
            <a:off x="3328988" y="946150"/>
            <a:ext cx="244475" cy="244475"/>
          </a:xfrm>
          <a:prstGeom prst="rect">
            <a:avLst/>
          </a:prstGeom>
          <a:solidFill>
            <a:srgbClr val="FFFF00"/>
          </a:solidFill>
          <a:ln w="12700" cap="rnd">
            <a:solidFill>
              <a:schemeClr val="tx1"/>
            </a:solidFill>
            <a:prstDash val="sysDot"/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sl-SI" altLang="en-US">
                <a:latin typeface="Times New Roman" panose="02020603050405020304" pitchFamily="18" charset="0"/>
              </a:rPr>
              <a:t>.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1998" name="Rectangle 2062"/>
          <p:cNvSpPr>
            <a:spLocks noChangeArrowheads="1"/>
          </p:cNvSpPr>
          <p:nvPr/>
        </p:nvSpPr>
        <p:spPr bwMode="auto">
          <a:xfrm>
            <a:off x="2900363" y="1925638"/>
            <a:ext cx="244475" cy="244475"/>
          </a:xfrm>
          <a:prstGeom prst="rect">
            <a:avLst/>
          </a:prstGeom>
          <a:solidFill>
            <a:srgbClr val="66FF66"/>
          </a:solidFill>
          <a:ln w="28575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1999" name="Rectangle 2063"/>
          <p:cNvSpPr>
            <a:spLocks noChangeArrowheads="1"/>
          </p:cNvSpPr>
          <p:nvPr/>
        </p:nvSpPr>
        <p:spPr bwMode="auto">
          <a:xfrm>
            <a:off x="3511550" y="1557338"/>
            <a:ext cx="244475" cy="246062"/>
          </a:xfrm>
          <a:prstGeom prst="rect">
            <a:avLst/>
          </a:prstGeom>
          <a:solidFill>
            <a:srgbClr val="66FF66"/>
          </a:solidFill>
          <a:ln w="28575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sl-SI" altLang="en-US">
                <a:latin typeface="Times New Roman" panose="02020603050405020304" pitchFamily="18" charset="0"/>
              </a:rPr>
              <a:t>.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2000" name="Rectangle 2064"/>
          <p:cNvSpPr>
            <a:spLocks noChangeArrowheads="1"/>
          </p:cNvSpPr>
          <p:nvPr/>
        </p:nvSpPr>
        <p:spPr bwMode="auto">
          <a:xfrm>
            <a:off x="3389313" y="1925638"/>
            <a:ext cx="244475" cy="244475"/>
          </a:xfrm>
          <a:prstGeom prst="rect">
            <a:avLst/>
          </a:prstGeom>
          <a:solidFill>
            <a:srgbClr val="FF0000"/>
          </a:solidFill>
          <a:ln w="28575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2001" name="Oval 2065"/>
          <p:cNvSpPr>
            <a:spLocks noChangeArrowheads="1"/>
          </p:cNvSpPr>
          <p:nvPr/>
        </p:nvSpPr>
        <p:spPr bwMode="auto">
          <a:xfrm>
            <a:off x="1982788" y="701675"/>
            <a:ext cx="2141537" cy="16510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  <p:grpSp>
        <p:nvGrpSpPr>
          <p:cNvPr id="42002" name="Group 2066"/>
          <p:cNvGrpSpPr>
            <a:grpSpLocks/>
          </p:cNvGrpSpPr>
          <p:nvPr/>
        </p:nvGrpSpPr>
        <p:grpSpPr bwMode="auto">
          <a:xfrm>
            <a:off x="5346700" y="885825"/>
            <a:ext cx="1528763" cy="1039813"/>
            <a:chOff x="3648" y="576"/>
            <a:chExt cx="1200" cy="816"/>
          </a:xfrm>
        </p:grpSpPr>
        <p:sp>
          <p:nvSpPr>
            <p:cNvPr id="42029" name="AutoShape 2067"/>
            <p:cNvSpPr>
              <a:spLocks noChangeArrowheads="1"/>
            </p:cNvSpPr>
            <p:nvPr/>
          </p:nvSpPr>
          <p:spPr bwMode="auto">
            <a:xfrm>
              <a:off x="4368" y="672"/>
              <a:ext cx="240" cy="192"/>
            </a:xfrm>
            <a:prstGeom prst="triangle">
              <a:avLst>
                <a:gd name="adj" fmla="val 50000"/>
              </a:avLst>
            </a:prstGeom>
            <a:solidFill>
              <a:srgbClr val="FF0000"/>
            </a:solidFill>
            <a:ln w="2857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sl-SI" altLang="en-US">
                  <a:latin typeface="Times New Roman" panose="02020603050405020304" pitchFamily="18" charset="0"/>
                </a:rPr>
                <a:t>.</a:t>
              </a: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42030" name="AutoShape 2068"/>
            <p:cNvSpPr>
              <a:spLocks noChangeArrowheads="1"/>
            </p:cNvSpPr>
            <p:nvPr/>
          </p:nvSpPr>
          <p:spPr bwMode="auto">
            <a:xfrm>
              <a:off x="3792" y="720"/>
              <a:ext cx="240" cy="192"/>
            </a:xfrm>
            <a:prstGeom prst="triangle">
              <a:avLst>
                <a:gd name="adj" fmla="val 50000"/>
              </a:avLst>
            </a:prstGeom>
            <a:solidFill>
              <a:srgbClr val="FF0000"/>
            </a:solidFill>
            <a:ln w="12700" cap="rnd">
              <a:solidFill>
                <a:schemeClr val="tx1"/>
              </a:solidFill>
              <a:prstDash val="sysDot"/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sl-SI" altLang="en-US">
                  <a:latin typeface="Times New Roman" panose="02020603050405020304" pitchFamily="18" charset="0"/>
                </a:rPr>
                <a:t>.</a:t>
              </a: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42031" name="Rectangle 2069"/>
            <p:cNvSpPr>
              <a:spLocks noChangeArrowheads="1"/>
            </p:cNvSpPr>
            <p:nvPr/>
          </p:nvSpPr>
          <p:spPr bwMode="auto">
            <a:xfrm>
              <a:off x="4128" y="864"/>
              <a:ext cx="192" cy="192"/>
            </a:xfrm>
            <a:prstGeom prst="rect">
              <a:avLst/>
            </a:prstGeom>
            <a:solidFill>
              <a:srgbClr val="FF0000"/>
            </a:solidFill>
            <a:ln w="12700" cap="rnd">
              <a:solidFill>
                <a:schemeClr val="tx1"/>
              </a:solidFill>
              <a:prstDash val="sysDot"/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42032" name="Rectangle 2070"/>
            <p:cNvSpPr>
              <a:spLocks noChangeArrowheads="1"/>
            </p:cNvSpPr>
            <p:nvPr/>
          </p:nvSpPr>
          <p:spPr bwMode="auto">
            <a:xfrm>
              <a:off x="3888" y="1056"/>
              <a:ext cx="192" cy="192"/>
            </a:xfrm>
            <a:prstGeom prst="rect">
              <a:avLst/>
            </a:prstGeom>
            <a:solidFill>
              <a:srgbClr val="FF0000"/>
            </a:solidFill>
            <a:ln w="2857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42033" name="Rectangle 2071"/>
            <p:cNvSpPr>
              <a:spLocks noChangeArrowheads="1"/>
            </p:cNvSpPr>
            <p:nvPr/>
          </p:nvSpPr>
          <p:spPr bwMode="auto">
            <a:xfrm>
              <a:off x="4416" y="1056"/>
              <a:ext cx="192" cy="192"/>
            </a:xfrm>
            <a:prstGeom prst="rect">
              <a:avLst/>
            </a:prstGeom>
            <a:solidFill>
              <a:srgbClr val="FF0000"/>
            </a:solidFill>
            <a:ln w="2857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42034" name="Oval 2072"/>
            <p:cNvSpPr>
              <a:spLocks noChangeArrowheads="1"/>
            </p:cNvSpPr>
            <p:nvPr/>
          </p:nvSpPr>
          <p:spPr bwMode="auto">
            <a:xfrm>
              <a:off x="3648" y="576"/>
              <a:ext cx="1200" cy="81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2003" name="Group 2073"/>
          <p:cNvGrpSpPr>
            <a:grpSpLocks/>
          </p:cNvGrpSpPr>
          <p:nvPr/>
        </p:nvGrpSpPr>
        <p:grpSpPr bwMode="auto">
          <a:xfrm>
            <a:off x="5530850" y="2781300"/>
            <a:ext cx="1344613" cy="1284288"/>
            <a:chOff x="3792" y="2304"/>
            <a:chExt cx="1056" cy="1008"/>
          </a:xfrm>
        </p:grpSpPr>
        <p:sp>
          <p:nvSpPr>
            <p:cNvPr id="42023" name="AutoShape 2074"/>
            <p:cNvSpPr>
              <a:spLocks noChangeArrowheads="1"/>
            </p:cNvSpPr>
            <p:nvPr/>
          </p:nvSpPr>
          <p:spPr bwMode="auto">
            <a:xfrm>
              <a:off x="4320" y="2736"/>
              <a:ext cx="240" cy="192"/>
            </a:xfrm>
            <a:prstGeom prst="triangle">
              <a:avLst>
                <a:gd name="adj" fmla="val 50000"/>
              </a:avLst>
            </a:prstGeom>
            <a:solidFill>
              <a:srgbClr val="66FF66"/>
            </a:solidFill>
            <a:ln w="12700" cap="rnd">
              <a:solidFill>
                <a:schemeClr val="tx1"/>
              </a:solidFill>
              <a:prstDash val="sysDot"/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42024" name="AutoShape 2075"/>
            <p:cNvSpPr>
              <a:spLocks noChangeArrowheads="1"/>
            </p:cNvSpPr>
            <p:nvPr/>
          </p:nvSpPr>
          <p:spPr bwMode="auto">
            <a:xfrm>
              <a:off x="4128" y="2448"/>
              <a:ext cx="240" cy="192"/>
            </a:xfrm>
            <a:prstGeom prst="triangle">
              <a:avLst>
                <a:gd name="adj" fmla="val 50000"/>
              </a:avLst>
            </a:prstGeom>
            <a:solidFill>
              <a:srgbClr val="66FF66"/>
            </a:solidFill>
            <a:ln w="12700" cap="rnd">
              <a:solidFill>
                <a:schemeClr val="tx1"/>
              </a:solidFill>
              <a:prstDash val="sysDot"/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42025" name="AutoShape 2076"/>
            <p:cNvSpPr>
              <a:spLocks noChangeArrowheads="1"/>
            </p:cNvSpPr>
            <p:nvPr/>
          </p:nvSpPr>
          <p:spPr bwMode="auto">
            <a:xfrm>
              <a:off x="3888" y="2640"/>
              <a:ext cx="240" cy="192"/>
            </a:xfrm>
            <a:prstGeom prst="triangle">
              <a:avLst>
                <a:gd name="adj" fmla="val 50000"/>
              </a:avLst>
            </a:prstGeom>
            <a:solidFill>
              <a:srgbClr val="66FF66"/>
            </a:solidFill>
            <a:ln w="12700" cap="rnd">
              <a:solidFill>
                <a:schemeClr val="tx1"/>
              </a:solidFill>
              <a:prstDash val="sysDot"/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sl-SI" altLang="en-US">
                  <a:latin typeface="Times New Roman" panose="02020603050405020304" pitchFamily="18" charset="0"/>
                </a:rPr>
                <a:t>.</a:t>
              </a: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42026" name="Rectangle 2077"/>
            <p:cNvSpPr>
              <a:spLocks noChangeArrowheads="1"/>
            </p:cNvSpPr>
            <p:nvPr/>
          </p:nvSpPr>
          <p:spPr bwMode="auto">
            <a:xfrm>
              <a:off x="4128" y="2976"/>
              <a:ext cx="192" cy="192"/>
            </a:xfrm>
            <a:prstGeom prst="rect">
              <a:avLst/>
            </a:prstGeom>
            <a:solidFill>
              <a:srgbClr val="66FF66"/>
            </a:solidFill>
            <a:ln w="2857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42027" name="Rectangle 2078"/>
            <p:cNvSpPr>
              <a:spLocks noChangeArrowheads="1"/>
            </p:cNvSpPr>
            <p:nvPr/>
          </p:nvSpPr>
          <p:spPr bwMode="auto">
            <a:xfrm>
              <a:off x="4416" y="2448"/>
              <a:ext cx="192" cy="192"/>
            </a:xfrm>
            <a:prstGeom prst="rect">
              <a:avLst/>
            </a:prstGeom>
            <a:solidFill>
              <a:srgbClr val="66FF66"/>
            </a:solidFill>
            <a:ln w="2857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sl-SI" altLang="en-US">
                  <a:latin typeface="Times New Roman" panose="02020603050405020304" pitchFamily="18" charset="0"/>
                </a:rPr>
                <a:t>.</a:t>
              </a: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42028" name="Oval 2079"/>
            <p:cNvSpPr>
              <a:spLocks noChangeArrowheads="1"/>
            </p:cNvSpPr>
            <p:nvPr/>
          </p:nvSpPr>
          <p:spPr bwMode="auto">
            <a:xfrm>
              <a:off x="3792" y="2304"/>
              <a:ext cx="1056" cy="100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2004" name="Group 2080"/>
          <p:cNvGrpSpPr>
            <a:grpSpLocks/>
          </p:cNvGrpSpPr>
          <p:nvPr/>
        </p:nvGrpSpPr>
        <p:grpSpPr bwMode="auto">
          <a:xfrm>
            <a:off x="2900363" y="3881438"/>
            <a:ext cx="1162050" cy="1039812"/>
            <a:chOff x="2208" y="2928"/>
            <a:chExt cx="912" cy="816"/>
          </a:xfrm>
        </p:grpSpPr>
        <p:sp>
          <p:nvSpPr>
            <p:cNvPr id="42018" name="Rectangle 2081"/>
            <p:cNvSpPr>
              <a:spLocks noChangeArrowheads="1"/>
            </p:cNvSpPr>
            <p:nvPr/>
          </p:nvSpPr>
          <p:spPr bwMode="auto">
            <a:xfrm>
              <a:off x="2400" y="3072"/>
              <a:ext cx="192" cy="192"/>
            </a:xfrm>
            <a:prstGeom prst="rect">
              <a:avLst/>
            </a:prstGeom>
            <a:solidFill>
              <a:srgbClr val="FFFF00"/>
            </a:solidFill>
            <a:ln w="12700" cap="rnd">
              <a:solidFill>
                <a:schemeClr val="tx1"/>
              </a:solidFill>
              <a:prstDash val="sysDot"/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42019" name="Rectangle 2082"/>
            <p:cNvSpPr>
              <a:spLocks noChangeArrowheads="1"/>
            </p:cNvSpPr>
            <p:nvPr/>
          </p:nvSpPr>
          <p:spPr bwMode="auto">
            <a:xfrm>
              <a:off x="2352" y="3360"/>
              <a:ext cx="192" cy="192"/>
            </a:xfrm>
            <a:prstGeom prst="rect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sl-SI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42020" name="Rectangle 2083"/>
            <p:cNvSpPr>
              <a:spLocks noChangeArrowheads="1"/>
            </p:cNvSpPr>
            <p:nvPr/>
          </p:nvSpPr>
          <p:spPr bwMode="auto">
            <a:xfrm>
              <a:off x="2688" y="3408"/>
              <a:ext cx="192" cy="192"/>
            </a:xfrm>
            <a:prstGeom prst="rect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sl-SI" altLang="en-US">
                  <a:latin typeface="Times New Roman" panose="02020603050405020304" pitchFamily="18" charset="0"/>
                </a:rPr>
                <a:t>.</a:t>
              </a: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42021" name="Rectangle 2084"/>
            <p:cNvSpPr>
              <a:spLocks noChangeArrowheads="1"/>
            </p:cNvSpPr>
            <p:nvPr/>
          </p:nvSpPr>
          <p:spPr bwMode="auto">
            <a:xfrm>
              <a:off x="2688" y="3120"/>
              <a:ext cx="192" cy="192"/>
            </a:xfrm>
            <a:prstGeom prst="rect">
              <a:avLst/>
            </a:prstGeom>
            <a:solidFill>
              <a:srgbClr val="FFFF00"/>
            </a:solidFill>
            <a:ln w="12700" cap="rnd">
              <a:solidFill>
                <a:schemeClr val="tx1"/>
              </a:solidFill>
              <a:prstDash val="sysDot"/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sl-SI" altLang="en-US">
                  <a:latin typeface="Times New Roman" panose="02020603050405020304" pitchFamily="18" charset="0"/>
                </a:rPr>
                <a:t>.</a:t>
              </a: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42022" name="Oval 2085"/>
            <p:cNvSpPr>
              <a:spLocks noChangeArrowheads="1"/>
            </p:cNvSpPr>
            <p:nvPr/>
          </p:nvSpPr>
          <p:spPr bwMode="auto">
            <a:xfrm>
              <a:off x="2208" y="2928"/>
              <a:ext cx="912" cy="81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>
                <a:latin typeface="Times New Roman" panose="02020603050405020304" pitchFamily="18" charset="0"/>
              </a:endParaRPr>
            </a:p>
          </p:txBody>
        </p:sp>
      </p:grpSp>
      <p:sp>
        <p:nvSpPr>
          <p:cNvPr id="42005" name="Line 2086"/>
          <p:cNvSpPr>
            <a:spLocks noChangeShapeType="1"/>
          </p:cNvSpPr>
          <p:nvPr/>
        </p:nvSpPr>
        <p:spPr bwMode="auto">
          <a:xfrm flipH="1">
            <a:off x="3695700" y="2414588"/>
            <a:ext cx="182563" cy="14065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2006" name="Line 2087"/>
          <p:cNvSpPr>
            <a:spLocks noChangeShapeType="1"/>
          </p:cNvSpPr>
          <p:nvPr/>
        </p:nvSpPr>
        <p:spPr bwMode="auto">
          <a:xfrm>
            <a:off x="3878263" y="2414588"/>
            <a:ext cx="1590675" cy="6731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2007" name="Line 2088"/>
          <p:cNvSpPr>
            <a:spLocks noChangeShapeType="1"/>
          </p:cNvSpPr>
          <p:nvPr/>
        </p:nvSpPr>
        <p:spPr bwMode="auto">
          <a:xfrm flipV="1">
            <a:off x="3878263" y="1679575"/>
            <a:ext cx="1468437" cy="73501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2008" name="Text Box 2089"/>
          <p:cNvSpPr txBox="1">
            <a:spLocks noChangeArrowheads="1"/>
          </p:cNvSpPr>
          <p:nvPr/>
        </p:nvSpPr>
        <p:spPr bwMode="auto">
          <a:xfrm>
            <a:off x="2895600" y="2414588"/>
            <a:ext cx="9286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Times New Roman" panose="02020603050405020304" pitchFamily="18" charset="0"/>
              </a:rPr>
              <a:t>Color</a:t>
            </a:r>
            <a:r>
              <a:rPr lang="sl-SI" altLang="en-US">
                <a:latin typeface="Times New Roman" panose="02020603050405020304" pitchFamily="18" charset="0"/>
              </a:rPr>
              <a:t>?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2009" name="Text Box 2090"/>
          <p:cNvSpPr txBox="1">
            <a:spLocks noChangeArrowheads="1"/>
          </p:cNvSpPr>
          <p:nvPr/>
        </p:nvSpPr>
        <p:spPr bwMode="auto">
          <a:xfrm>
            <a:off x="4038600" y="1741488"/>
            <a:ext cx="5127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>
                <a:latin typeface="Times New Roman" panose="02020603050405020304" pitchFamily="18" charset="0"/>
              </a:rPr>
              <a:t>red</a:t>
            </a:r>
          </a:p>
        </p:txBody>
      </p:sp>
      <p:sp>
        <p:nvSpPr>
          <p:cNvPr id="42010" name="Text Box 2091"/>
          <p:cNvSpPr txBox="1">
            <a:spLocks noChangeArrowheads="1"/>
          </p:cNvSpPr>
          <p:nvPr/>
        </p:nvSpPr>
        <p:spPr bwMode="auto">
          <a:xfrm>
            <a:off x="3817938" y="3209925"/>
            <a:ext cx="7588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>
                <a:latin typeface="Times New Roman" panose="02020603050405020304" pitchFamily="18" charset="0"/>
              </a:rPr>
              <a:t>yellow</a:t>
            </a:r>
          </a:p>
        </p:txBody>
      </p:sp>
      <p:sp>
        <p:nvSpPr>
          <p:cNvPr id="42011" name="Text Box 2092"/>
          <p:cNvSpPr txBox="1">
            <a:spLocks noChangeArrowheads="1"/>
          </p:cNvSpPr>
          <p:nvPr/>
        </p:nvSpPr>
        <p:spPr bwMode="auto">
          <a:xfrm>
            <a:off x="4613275" y="2474913"/>
            <a:ext cx="7191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>
                <a:latin typeface="Times New Roman" panose="02020603050405020304" pitchFamily="18" charset="0"/>
              </a:rPr>
              <a:t>green</a:t>
            </a:r>
          </a:p>
        </p:txBody>
      </p:sp>
      <p:grpSp>
        <p:nvGrpSpPr>
          <p:cNvPr id="42012" name="Group 2097"/>
          <p:cNvGrpSpPr>
            <a:grpSpLocks/>
          </p:cNvGrpSpPr>
          <p:nvPr/>
        </p:nvGrpSpPr>
        <p:grpSpPr bwMode="auto">
          <a:xfrm>
            <a:off x="2286000" y="1828800"/>
            <a:ext cx="3667125" cy="1770063"/>
            <a:chOff x="1440" y="1152"/>
            <a:chExt cx="2310" cy="1115"/>
          </a:xfrm>
        </p:grpSpPr>
        <p:pic>
          <p:nvPicPr>
            <p:cNvPr id="42015" name="Picture 2098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35" y="1152"/>
              <a:ext cx="715" cy="2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</p:pic>
        <p:pic>
          <p:nvPicPr>
            <p:cNvPr id="42016" name="Picture 2099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48" y="1728"/>
              <a:ext cx="798" cy="2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</p:pic>
        <p:pic>
          <p:nvPicPr>
            <p:cNvPr id="42017" name="Picture 2100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40" y="1968"/>
              <a:ext cx="840" cy="2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</p:pic>
      </p:grpSp>
      <p:pic>
        <p:nvPicPr>
          <p:cNvPr id="42013" name="Picture 210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4648200"/>
            <a:ext cx="3705225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42014" name="Picture 210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5715000"/>
            <a:ext cx="7181850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9235176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Gain of Gini Index</a:t>
            </a:r>
          </a:p>
        </p:txBody>
      </p:sp>
      <p:pic>
        <p:nvPicPr>
          <p:cNvPr id="4301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9888" y="1828800"/>
            <a:ext cx="3495675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4301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3048000"/>
            <a:ext cx="7181850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43013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2588" y="4419600"/>
            <a:ext cx="6010275" cy="581025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447689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304800"/>
            <a:ext cx="8382000" cy="685800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sz="3200"/>
              <a:t>Comparing Attribute Selection Measures</a:t>
            </a:r>
            <a:endParaRPr lang="en-US" altLang="en-US" sz="2800"/>
          </a:p>
        </p:txBody>
      </p:sp>
      <p:sp>
        <p:nvSpPr>
          <p:cNvPr id="44035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143000"/>
            <a:ext cx="8458200" cy="5257800"/>
          </a:xfrm>
        </p:spPr>
        <p:txBody>
          <a:bodyPr lIns="92075" tIns="46038" rIns="92075" bIns="46038">
            <a:normAutofit lnSpcReduction="10000"/>
          </a:bodyPr>
          <a:lstStyle/>
          <a:p>
            <a:pPr eaLnBrk="1" hangingPunct="1">
              <a:lnSpc>
                <a:spcPct val="110000"/>
              </a:lnSpc>
            </a:pPr>
            <a:r>
              <a:rPr lang="en-US" altLang="en-US" sz="2400"/>
              <a:t>The three measures, in general, return good results but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/>
              <a:t>Information gain: </a:t>
            </a:r>
          </a:p>
          <a:p>
            <a:pPr lvl="2" eaLnBrk="1" hangingPunct="1">
              <a:lnSpc>
                <a:spcPct val="110000"/>
              </a:lnSpc>
            </a:pPr>
            <a:r>
              <a:rPr lang="en-US" altLang="en-US"/>
              <a:t>biased towards multivalued attributes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/>
              <a:t>Gain ratio: </a:t>
            </a:r>
          </a:p>
          <a:p>
            <a:pPr lvl="2" eaLnBrk="1" hangingPunct="1">
              <a:lnSpc>
                <a:spcPct val="110000"/>
              </a:lnSpc>
            </a:pPr>
            <a:r>
              <a:rPr lang="en-US" altLang="en-US"/>
              <a:t>tends to prefer unbalanced splits in which one partition is much smaller than the others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/>
              <a:t>Gini index: </a:t>
            </a:r>
          </a:p>
          <a:p>
            <a:pPr lvl="2" eaLnBrk="1" hangingPunct="1">
              <a:lnSpc>
                <a:spcPct val="110000"/>
              </a:lnSpc>
            </a:pPr>
            <a:r>
              <a:rPr lang="en-US" altLang="en-US"/>
              <a:t>biased to multivalued attributes</a:t>
            </a:r>
          </a:p>
          <a:p>
            <a:pPr lvl="2" eaLnBrk="1" hangingPunct="1">
              <a:lnSpc>
                <a:spcPct val="110000"/>
              </a:lnSpc>
            </a:pPr>
            <a:r>
              <a:rPr lang="en-US" altLang="en-US"/>
              <a:t>has difficulty when # of classes is large</a:t>
            </a:r>
          </a:p>
          <a:p>
            <a:pPr lvl="2" eaLnBrk="1" hangingPunct="1">
              <a:lnSpc>
                <a:spcPct val="110000"/>
              </a:lnSpc>
            </a:pPr>
            <a:r>
              <a:rPr lang="en-US" altLang="en-US"/>
              <a:t>tends to favor tests that result in equal-sized partitions and purity in both partitions</a:t>
            </a:r>
          </a:p>
        </p:txBody>
      </p:sp>
      <p:sp>
        <p:nvSpPr>
          <p:cNvPr id="48130" name="Date Placeholder 3"/>
          <p:cNvSpPr>
            <a:spLocks noGrp="1"/>
          </p:cNvSpPr>
          <p:nvPr>
            <p:ph type="dt" sz="quarter" idx="10"/>
          </p:nvPr>
        </p:nvSpPr>
        <p:spPr bwMode="auto">
          <a:ln>
            <a:miter lim="800000"/>
            <a:headEnd/>
            <a:tailEnd/>
          </a:ln>
        </p:spPr>
        <p:txBody>
          <a:bodyPr wrap="square" numCol="1" compatLnSpc="1">
            <a:prstTxWarp prst="textNoShape">
              <a:avLst/>
            </a:prstTxWarp>
          </a:bodyPr>
          <a:lstStyle/>
          <a:p>
            <a:pPr>
              <a:defRPr/>
            </a:pPr>
            <a:fld id="{CF789FB3-715E-4C12-B128-EB5D1E67AF57}" type="datetime4">
              <a:rPr lang="en-US"/>
              <a:pPr>
                <a:defRPr/>
              </a:pPr>
              <a:t>September 8, 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912546"/>
      </p:ext>
    </p:extLst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9986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8153400" cy="99060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/>
              <a:t>Computing Information-Gain for Continuous-Value Attributes</a:t>
            </a:r>
            <a:endParaRPr lang="en-US" sz="3200" i="1">
              <a:solidFill>
                <a:srgbClr val="CC0000"/>
              </a:solidFill>
            </a:endParaRPr>
          </a:p>
        </p:txBody>
      </p:sp>
      <p:sp>
        <p:nvSpPr>
          <p:cNvPr id="45059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203325"/>
            <a:ext cx="8610600" cy="5273675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115000"/>
              </a:lnSpc>
              <a:spcBef>
                <a:spcPct val="25000"/>
              </a:spcBef>
            </a:pPr>
            <a:r>
              <a:rPr lang="en-US" altLang="en-US" sz="2400"/>
              <a:t>Let attribute A be a continuous-valued attribute</a:t>
            </a:r>
          </a:p>
          <a:p>
            <a:pPr eaLnBrk="1" hangingPunct="1">
              <a:lnSpc>
                <a:spcPct val="115000"/>
              </a:lnSpc>
              <a:spcBef>
                <a:spcPct val="25000"/>
              </a:spcBef>
            </a:pPr>
            <a:r>
              <a:rPr lang="en-US" altLang="en-US" sz="2400"/>
              <a:t>Must determine the </a:t>
            </a:r>
            <a:r>
              <a:rPr lang="en-US" altLang="en-US" sz="2400" i="1">
                <a:solidFill>
                  <a:schemeClr val="hlink"/>
                </a:solidFill>
              </a:rPr>
              <a:t>best split point</a:t>
            </a:r>
            <a:r>
              <a:rPr lang="en-US" altLang="en-US" sz="2400"/>
              <a:t> for A</a:t>
            </a:r>
          </a:p>
          <a:p>
            <a:pPr lvl="1" eaLnBrk="1" hangingPunct="1">
              <a:lnSpc>
                <a:spcPct val="115000"/>
              </a:lnSpc>
              <a:spcBef>
                <a:spcPct val="25000"/>
              </a:spcBef>
            </a:pPr>
            <a:r>
              <a:rPr lang="en-US" altLang="en-US"/>
              <a:t>Sort the value A in increasing order</a:t>
            </a:r>
          </a:p>
          <a:p>
            <a:pPr lvl="1" eaLnBrk="1" hangingPunct="1">
              <a:lnSpc>
                <a:spcPct val="115000"/>
              </a:lnSpc>
              <a:spcBef>
                <a:spcPct val="25000"/>
              </a:spcBef>
            </a:pPr>
            <a:r>
              <a:rPr lang="en-US" altLang="en-US"/>
              <a:t>Typically, the midpoint between each pair of adjacent values is considered as a possible </a:t>
            </a:r>
            <a:r>
              <a:rPr lang="en-US" altLang="en-US" i="1"/>
              <a:t>split point</a:t>
            </a:r>
          </a:p>
          <a:p>
            <a:pPr lvl="2" eaLnBrk="1" hangingPunct="1">
              <a:lnSpc>
                <a:spcPct val="115000"/>
              </a:lnSpc>
              <a:spcBef>
                <a:spcPct val="25000"/>
              </a:spcBef>
            </a:pPr>
            <a:r>
              <a:rPr lang="en-US" altLang="en-US"/>
              <a:t>(a</a:t>
            </a:r>
            <a:r>
              <a:rPr lang="en-US" altLang="en-US" baseline="-25000"/>
              <a:t>i</a:t>
            </a:r>
            <a:r>
              <a:rPr lang="en-US" altLang="en-US"/>
              <a:t>+a</a:t>
            </a:r>
            <a:r>
              <a:rPr lang="en-US" altLang="en-US" baseline="-25000"/>
              <a:t>i+1</a:t>
            </a:r>
            <a:r>
              <a:rPr lang="en-US" altLang="en-US"/>
              <a:t>)/2 is the midpoint between the values of a</a:t>
            </a:r>
            <a:r>
              <a:rPr lang="en-US" altLang="en-US" baseline="-25000"/>
              <a:t>i</a:t>
            </a:r>
            <a:r>
              <a:rPr lang="en-US" altLang="en-US"/>
              <a:t> and a</a:t>
            </a:r>
            <a:r>
              <a:rPr lang="en-US" altLang="en-US" baseline="-25000"/>
              <a:t>i+1</a:t>
            </a:r>
          </a:p>
          <a:p>
            <a:pPr lvl="1" eaLnBrk="1" hangingPunct="1">
              <a:lnSpc>
                <a:spcPct val="115000"/>
              </a:lnSpc>
              <a:spcBef>
                <a:spcPct val="25000"/>
              </a:spcBef>
            </a:pPr>
            <a:r>
              <a:rPr lang="en-US" altLang="en-US"/>
              <a:t>The point with the </a:t>
            </a:r>
            <a:r>
              <a:rPr lang="en-US" altLang="en-US" i="1"/>
              <a:t>minimum expected information requirement</a:t>
            </a:r>
            <a:r>
              <a:rPr lang="en-US" altLang="en-US"/>
              <a:t> for A is selected as the split-point for A</a:t>
            </a:r>
          </a:p>
          <a:p>
            <a:pPr eaLnBrk="1" hangingPunct="1">
              <a:lnSpc>
                <a:spcPct val="115000"/>
              </a:lnSpc>
            </a:pPr>
            <a:r>
              <a:rPr lang="en-US" altLang="en-US" sz="2400"/>
              <a:t>Split:</a:t>
            </a:r>
          </a:p>
          <a:p>
            <a:pPr lvl="1" eaLnBrk="1" hangingPunct="1">
              <a:lnSpc>
                <a:spcPct val="115000"/>
              </a:lnSpc>
            </a:pPr>
            <a:r>
              <a:rPr lang="en-US" altLang="en-US"/>
              <a:t>D1 is the set of tuples in D satisfying A ≤ split-point, and D2 is the set of tuples in D satisfying A &gt; split-point</a:t>
            </a:r>
          </a:p>
        </p:txBody>
      </p:sp>
      <p:sp>
        <p:nvSpPr>
          <p:cNvPr id="49154" name="Date Placeholder 3"/>
          <p:cNvSpPr>
            <a:spLocks noGrp="1"/>
          </p:cNvSpPr>
          <p:nvPr>
            <p:ph type="dt" sz="quarter" idx="10"/>
          </p:nvPr>
        </p:nvSpPr>
        <p:spPr bwMode="auto">
          <a:ln>
            <a:miter lim="800000"/>
            <a:headEnd/>
            <a:tailEnd/>
          </a:ln>
        </p:spPr>
        <p:txBody>
          <a:bodyPr wrap="square" numCol="1" compatLnSpc="1">
            <a:prstTxWarp prst="textNoShape">
              <a:avLst/>
            </a:prstTxWarp>
          </a:bodyPr>
          <a:lstStyle/>
          <a:p>
            <a:pPr>
              <a:defRPr/>
            </a:pPr>
            <a:fld id="{D3AC3483-D846-4FCF-B2C9-77AF30275963}" type="datetime4">
              <a:rPr lang="en-US"/>
              <a:pPr>
                <a:defRPr/>
              </a:pPr>
              <a:t>September 8, 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704150"/>
      </p:ext>
    </p:extLst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729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685800"/>
          </a:xfrm>
        </p:spPr>
        <p:txBody>
          <a:bodyPr lIns="92075" tIns="46038" rIns="92075" bIns="46038"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Other Attribute Selection Measures</a:t>
            </a:r>
            <a:endParaRPr lang="en-US" sz="3200"/>
          </a:p>
        </p:txBody>
      </p:sp>
      <p:sp>
        <p:nvSpPr>
          <p:cNvPr id="46083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143000"/>
            <a:ext cx="8458200" cy="5257800"/>
          </a:xfrm>
        </p:spPr>
        <p:txBody>
          <a:bodyPr lIns="92075" tIns="46038" rIns="92075" bIns="46038"/>
          <a:lstStyle/>
          <a:p>
            <a:pPr eaLnBrk="1" hangingPunct="1">
              <a:lnSpc>
                <a:spcPct val="120000"/>
              </a:lnSpc>
            </a:pPr>
            <a:r>
              <a:rPr lang="en-US" altLang="en-US" sz="2000"/>
              <a:t>CHAID: a popular decision tree algorithm, measure based on </a:t>
            </a:r>
            <a:r>
              <a:rPr lang="el-GR" altLang="en-US" sz="2000"/>
              <a:t>χ</a:t>
            </a:r>
            <a:r>
              <a:rPr lang="en-US" altLang="en-US" sz="2000" baseline="30000"/>
              <a:t>2</a:t>
            </a:r>
            <a:r>
              <a:rPr lang="en-US" altLang="en-US" sz="2000"/>
              <a:t> test for independence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000"/>
              <a:t>C-SEP: performs better than info. gain and gini index in certain cases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000"/>
              <a:t>G-statistics: has a close approximation to </a:t>
            </a:r>
            <a:r>
              <a:rPr lang="el-GR" altLang="en-US" sz="2000"/>
              <a:t>χ</a:t>
            </a:r>
            <a:r>
              <a:rPr lang="en-US" altLang="en-US" sz="2000" baseline="30000"/>
              <a:t>2</a:t>
            </a:r>
            <a:r>
              <a:rPr lang="en-US" altLang="en-US" sz="2000"/>
              <a:t> distribution 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000"/>
              <a:t>MDL (Minimal Description Length) principle (i.e., the simplest solution is preferred): 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000"/>
              <a:t>The best tree as the one that requires the fewest # of bits to both (1) encode the tree, and (2) encode the exceptions to the tree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000"/>
              <a:t>Multivariate splits (partition based on multiple variable combinations)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000"/>
              <a:t>CART: finds multivariate splits based on a linear comb. of attrs.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000"/>
              <a:t>Which attribute selection measure is the best?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000"/>
              <a:t> Most give good results, none is significantly superior than others</a:t>
            </a:r>
          </a:p>
        </p:txBody>
      </p:sp>
      <p:sp>
        <p:nvSpPr>
          <p:cNvPr id="50178" name="Date Placeholder 3"/>
          <p:cNvSpPr>
            <a:spLocks noGrp="1"/>
          </p:cNvSpPr>
          <p:nvPr>
            <p:ph type="dt" sz="quarter" idx="10"/>
          </p:nvPr>
        </p:nvSpPr>
        <p:spPr bwMode="auto">
          <a:ln>
            <a:miter lim="800000"/>
            <a:headEnd/>
            <a:tailEnd/>
          </a:ln>
        </p:spPr>
        <p:txBody>
          <a:bodyPr wrap="square" numCol="1" compatLnSpc="1">
            <a:prstTxWarp prst="textNoShape">
              <a:avLst/>
            </a:prstTxWarp>
          </a:bodyPr>
          <a:lstStyle/>
          <a:p>
            <a:pPr>
              <a:defRPr/>
            </a:pPr>
            <a:fld id="{7BC4620A-55C4-49F9-B525-4743DA1708D3}" type="datetime4">
              <a:rPr lang="en-US"/>
              <a:pPr>
                <a:defRPr/>
              </a:pPr>
              <a:t>September 8, 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739232"/>
      </p:ext>
    </p:extLst>
  </p:cSld>
  <p:clrMapOvr>
    <a:masterClrMapping/>
  </p:clrMapOvr>
  <p:transition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Issues in Decision Tree</a:t>
            </a:r>
          </a:p>
        </p:txBody>
      </p:sp>
      <p:sp>
        <p:nvSpPr>
          <p:cNvPr id="48131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1295400" y="1371600"/>
            <a:ext cx="7315200" cy="4953000"/>
          </a:xfrm>
        </p:spPr>
        <p:txBody>
          <a:bodyPr/>
          <a:lstStyle/>
          <a:p>
            <a:pPr eaLnBrk="1" hangingPunct="1"/>
            <a:r>
              <a:rPr lang="en-US" altLang="zh-CN" dirty="0" err="1"/>
              <a:t>Overfiting</a:t>
            </a:r>
            <a:endParaRPr lang="en-US" altLang="zh-CN" dirty="0"/>
          </a:p>
          <a:p>
            <a:pPr eaLnBrk="1" hangingPunct="1"/>
            <a:r>
              <a:rPr lang="en-US" altLang="zh-CN" dirty="0"/>
              <a:t>Tree Pruning</a:t>
            </a:r>
          </a:p>
          <a:p>
            <a:pPr eaLnBrk="1" hangingPunct="1"/>
            <a:r>
              <a:rPr lang="en-US" altLang="zh-CN" dirty="0"/>
              <a:t>Cross-validation</a:t>
            </a:r>
          </a:p>
          <a:p>
            <a:pPr eaLnBrk="1" hangingPunct="1"/>
            <a:r>
              <a:rPr lang="en-US" altLang="zh-CN" dirty="0"/>
              <a:t>Model Evaluation</a:t>
            </a:r>
          </a:p>
          <a:p>
            <a:pPr eaLnBrk="1" hangingPunct="1"/>
            <a:r>
              <a:rPr lang="en-US" altLang="zh-CN" dirty="0"/>
              <a:t>Advanced Decision Tree</a:t>
            </a:r>
          </a:p>
          <a:p>
            <a:pPr eaLnBrk="1" hangingPunct="1"/>
            <a:r>
              <a:rPr lang="en-US" altLang="zh-CN" dirty="0"/>
              <a:t>C4.5 Software Package</a:t>
            </a:r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2044628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20A0E-BC07-89D0-4EDB-987B0F599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Forests</a:t>
            </a:r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4F2E8DC7-1330-083D-F24A-7E6BE2A7568F}"/>
              </a:ext>
            </a:extLst>
          </p:cNvPr>
          <p:cNvSpPr/>
          <p:nvPr/>
        </p:nvSpPr>
        <p:spPr>
          <a:xfrm>
            <a:off x="1745723" y="4208631"/>
            <a:ext cx="5726430" cy="967264"/>
          </a:xfrm>
          <a:custGeom>
            <a:avLst/>
            <a:gdLst/>
            <a:ahLst/>
            <a:cxnLst/>
            <a:rect l="l" t="t" r="r" b="b"/>
            <a:pathLst>
              <a:path w="7635240" h="1289685">
                <a:moveTo>
                  <a:pt x="0" y="1289303"/>
                </a:moveTo>
                <a:lnTo>
                  <a:pt x="7635240" y="1289303"/>
                </a:lnTo>
                <a:lnTo>
                  <a:pt x="7635240" y="0"/>
                </a:lnTo>
                <a:lnTo>
                  <a:pt x="0" y="0"/>
                </a:lnTo>
                <a:lnTo>
                  <a:pt x="0" y="1289303"/>
                </a:lnTo>
                <a:close/>
              </a:path>
            </a:pathLst>
          </a:custGeom>
          <a:solidFill>
            <a:srgbClr val="5D6079">
              <a:alpha val="9411"/>
            </a:srgbClr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B69AA03D-83F1-90F6-A068-65917DB4BDE7}"/>
              </a:ext>
            </a:extLst>
          </p:cNvPr>
          <p:cNvSpPr/>
          <p:nvPr/>
        </p:nvSpPr>
        <p:spPr>
          <a:xfrm>
            <a:off x="1745723" y="4208631"/>
            <a:ext cx="5726430" cy="967264"/>
          </a:xfrm>
          <a:custGeom>
            <a:avLst/>
            <a:gdLst/>
            <a:ahLst/>
            <a:cxnLst/>
            <a:rect l="l" t="t" r="r" b="b"/>
            <a:pathLst>
              <a:path w="7635240" h="1289685">
                <a:moveTo>
                  <a:pt x="0" y="1289303"/>
                </a:moveTo>
                <a:lnTo>
                  <a:pt x="7635240" y="1289303"/>
                </a:lnTo>
                <a:lnTo>
                  <a:pt x="7635240" y="0"/>
                </a:lnTo>
                <a:lnTo>
                  <a:pt x="0" y="0"/>
                </a:lnTo>
                <a:lnTo>
                  <a:pt x="0" y="1289303"/>
                </a:lnTo>
                <a:close/>
              </a:path>
            </a:pathLst>
          </a:custGeom>
          <a:ln w="19812">
            <a:solidFill>
              <a:schemeClr val="tx1"/>
            </a:solidFill>
            <a:prstDash val="sysDash"/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7F392A43-C405-70DA-0CDC-01773184C36B}"/>
              </a:ext>
            </a:extLst>
          </p:cNvPr>
          <p:cNvSpPr/>
          <p:nvPr/>
        </p:nvSpPr>
        <p:spPr>
          <a:xfrm>
            <a:off x="3751878" y="2258126"/>
            <a:ext cx="346234" cy="148590"/>
          </a:xfrm>
          <a:custGeom>
            <a:avLst/>
            <a:gdLst/>
            <a:ahLst/>
            <a:cxnLst/>
            <a:rect l="l" t="t" r="r" b="b"/>
            <a:pathLst>
              <a:path w="461645" h="198119">
                <a:moveTo>
                  <a:pt x="0" y="198120"/>
                </a:moveTo>
                <a:lnTo>
                  <a:pt x="461581" y="198120"/>
                </a:lnTo>
                <a:lnTo>
                  <a:pt x="461581" y="0"/>
                </a:lnTo>
                <a:lnTo>
                  <a:pt x="0" y="0"/>
                </a:lnTo>
                <a:lnTo>
                  <a:pt x="0" y="1981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4C2093D2-EAD7-4C6D-0A1F-48825D6F034C}"/>
              </a:ext>
            </a:extLst>
          </p:cNvPr>
          <p:cNvSpPr/>
          <p:nvPr/>
        </p:nvSpPr>
        <p:spPr>
          <a:xfrm>
            <a:off x="4098016" y="2258126"/>
            <a:ext cx="346234" cy="148590"/>
          </a:xfrm>
          <a:custGeom>
            <a:avLst/>
            <a:gdLst/>
            <a:ahLst/>
            <a:cxnLst/>
            <a:rect l="l" t="t" r="r" b="b"/>
            <a:pathLst>
              <a:path w="461645" h="198119">
                <a:moveTo>
                  <a:pt x="0" y="198120"/>
                </a:moveTo>
                <a:lnTo>
                  <a:pt x="461581" y="198120"/>
                </a:lnTo>
                <a:lnTo>
                  <a:pt x="461581" y="0"/>
                </a:lnTo>
                <a:lnTo>
                  <a:pt x="0" y="0"/>
                </a:lnTo>
                <a:lnTo>
                  <a:pt x="0" y="1981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4820D8BC-38B6-CC87-0D30-66E478BDE197}"/>
              </a:ext>
            </a:extLst>
          </p:cNvPr>
          <p:cNvSpPr/>
          <p:nvPr/>
        </p:nvSpPr>
        <p:spPr>
          <a:xfrm>
            <a:off x="4444251" y="2258126"/>
            <a:ext cx="346234" cy="148590"/>
          </a:xfrm>
          <a:custGeom>
            <a:avLst/>
            <a:gdLst/>
            <a:ahLst/>
            <a:cxnLst/>
            <a:rect l="l" t="t" r="r" b="b"/>
            <a:pathLst>
              <a:path w="461645" h="198119">
                <a:moveTo>
                  <a:pt x="0" y="198120"/>
                </a:moveTo>
                <a:lnTo>
                  <a:pt x="461581" y="198120"/>
                </a:lnTo>
                <a:lnTo>
                  <a:pt x="461581" y="0"/>
                </a:lnTo>
                <a:lnTo>
                  <a:pt x="0" y="0"/>
                </a:lnTo>
                <a:lnTo>
                  <a:pt x="0" y="1981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F5272F32-C1C4-12F9-4156-210EE6BF1CEA}"/>
              </a:ext>
            </a:extLst>
          </p:cNvPr>
          <p:cNvSpPr/>
          <p:nvPr/>
        </p:nvSpPr>
        <p:spPr>
          <a:xfrm>
            <a:off x="4790388" y="2258126"/>
            <a:ext cx="346234" cy="148590"/>
          </a:xfrm>
          <a:custGeom>
            <a:avLst/>
            <a:gdLst/>
            <a:ahLst/>
            <a:cxnLst/>
            <a:rect l="l" t="t" r="r" b="b"/>
            <a:pathLst>
              <a:path w="461645" h="198119">
                <a:moveTo>
                  <a:pt x="0" y="198120"/>
                </a:moveTo>
                <a:lnTo>
                  <a:pt x="461581" y="198120"/>
                </a:lnTo>
                <a:lnTo>
                  <a:pt x="461581" y="0"/>
                </a:lnTo>
                <a:lnTo>
                  <a:pt x="0" y="0"/>
                </a:lnTo>
                <a:lnTo>
                  <a:pt x="0" y="1981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FC5FA7F2-1A8C-6F1B-09E2-87B5DA2C654D}"/>
              </a:ext>
            </a:extLst>
          </p:cNvPr>
          <p:cNvSpPr/>
          <p:nvPr/>
        </p:nvSpPr>
        <p:spPr>
          <a:xfrm>
            <a:off x="5136623" y="2258126"/>
            <a:ext cx="346234" cy="148590"/>
          </a:xfrm>
          <a:custGeom>
            <a:avLst/>
            <a:gdLst/>
            <a:ahLst/>
            <a:cxnLst/>
            <a:rect l="l" t="t" r="r" b="b"/>
            <a:pathLst>
              <a:path w="461645" h="198119">
                <a:moveTo>
                  <a:pt x="0" y="198120"/>
                </a:moveTo>
                <a:lnTo>
                  <a:pt x="461581" y="198120"/>
                </a:lnTo>
                <a:lnTo>
                  <a:pt x="461581" y="0"/>
                </a:lnTo>
                <a:lnTo>
                  <a:pt x="0" y="0"/>
                </a:lnTo>
                <a:lnTo>
                  <a:pt x="0" y="1981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256BDEDE-1469-468F-A274-7BA1742D0481}"/>
              </a:ext>
            </a:extLst>
          </p:cNvPr>
          <p:cNvSpPr/>
          <p:nvPr/>
        </p:nvSpPr>
        <p:spPr>
          <a:xfrm>
            <a:off x="3751878" y="2406631"/>
            <a:ext cx="346234" cy="99536"/>
          </a:xfrm>
          <a:custGeom>
            <a:avLst/>
            <a:gdLst/>
            <a:ahLst/>
            <a:cxnLst/>
            <a:rect l="l" t="t" r="r" b="b"/>
            <a:pathLst>
              <a:path w="461645" h="132715">
                <a:moveTo>
                  <a:pt x="0" y="132702"/>
                </a:moveTo>
                <a:lnTo>
                  <a:pt x="461581" y="132702"/>
                </a:lnTo>
                <a:lnTo>
                  <a:pt x="461581" y="0"/>
                </a:lnTo>
                <a:lnTo>
                  <a:pt x="0" y="0"/>
                </a:lnTo>
                <a:lnTo>
                  <a:pt x="0" y="132702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B473F5D5-1966-9D72-898B-1688C394BE86}"/>
              </a:ext>
            </a:extLst>
          </p:cNvPr>
          <p:cNvSpPr/>
          <p:nvPr/>
        </p:nvSpPr>
        <p:spPr>
          <a:xfrm>
            <a:off x="4098016" y="2406631"/>
            <a:ext cx="346234" cy="99536"/>
          </a:xfrm>
          <a:custGeom>
            <a:avLst/>
            <a:gdLst/>
            <a:ahLst/>
            <a:cxnLst/>
            <a:rect l="l" t="t" r="r" b="b"/>
            <a:pathLst>
              <a:path w="461645" h="132715">
                <a:moveTo>
                  <a:pt x="0" y="132702"/>
                </a:moveTo>
                <a:lnTo>
                  <a:pt x="461581" y="132702"/>
                </a:lnTo>
                <a:lnTo>
                  <a:pt x="461581" y="0"/>
                </a:lnTo>
                <a:lnTo>
                  <a:pt x="0" y="0"/>
                </a:lnTo>
                <a:lnTo>
                  <a:pt x="0" y="132702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F6D5054C-488B-03FE-645B-8DBF85A6C32F}"/>
              </a:ext>
            </a:extLst>
          </p:cNvPr>
          <p:cNvSpPr/>
          <p:nvPr/>
        </p:nvSpPr>
        <p:spPr>
          <a:xfrm>
            <a:off x="4444251" y="2406631"/>
            <a:ext cx="346234" cy="99536"/>
          </a:xfrm>
          <a:custGeom>
            <a:avLst/>
            <a:gdLst/>
            <a:ahLst/>
            <a:cxnLst/>
            <a:rect l="l" t="t" r="r" b="b"/>
            <a:pathLst>
              <a:path w="461645" h="132715">
                <a:moveTo>
                  <a:pt x="0" y="132702"/>
                </a:moveTo>
                <a:lnTo>
                  <a:pt x="461581" y="132702"/>
                </a:lnTo>
                <a:lnTo>
                  <a:pt x="461581" y="0"/>
                </a:lnTo>
                <a:lnTo>
                  <a:pt x="0" y="0"/>
                </a:lnTo>
                <a:lnTo>
                  <a:pt x="0" y="132702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B6A3CFED-F52A-1FFA-88C2-8D638C8A6DD2}"/>
              </a:ext>
            </a:extLst>
          </p:cNvPr>
          <p:cNvSpPr/>
          <p:nvPr/>
        </p:nvSpPr>
        <p:spPr>
          <a:xfrm>
            <a:off x="4790388" y="2406631"/>
            <a:ext cx="346234" cy="99536"/>
          </a:xfrm>
          <a:custGeom>
            <a:avLst/>
            <a:gdLst/>
            <a:ahLst/>
            <a:cxnLst/>
            <a:rect l="l" t="t" r="r" b="b"/>
            <a:pathLst>
              <a:path w="461645" h="132715">
                <a:moveTo>
                  <a:pt x="0" y="132702"/>
                </a:moveTo>
                <a:lnTo>
                  <a:pt x="461581" y="132702"/>
                </a:lnTo>
                <a:lnTo>
                  <a:pt x="461581" y="0"/>
                </a:lnTo>
                <a:lnTo>
                  <a:pt x="0" y="0"/>
                </a:lnTo>
                <a:lnTo>
                  <a:pt x="0" y="132702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D8FC18A7-6091-1353-8315-E72ABC250FC7}"/>
              </a:ext>
            </a:extLst>
          </p:cNvPr>
          <p:cNvSpPr/>
          <p:nvPr/>
        </p:nvSpPr>
        <p:spPr>
          <a:xfrm>
            <a:off x="5136623" y="2406631"/>
            <a:ext cx="346234" cy="99536"/>
          </a:xfrm>
          <a:custGeom>
            <a:avLst/>
            <a:gdLst/>
            <a:ahLst/>
            <a:cxnLst/>
            <a:rect l="l" t="t" r="r" b="b"/>
            <a:pathLst>
              <a:path w="461645" h="132715">
                <a:moveTo>
                  <a:pt x="0" y="132702"/>
                </a:moveTo>
                <a:lnTo>
                  <a:pt x="461581" y="132702"/>
                </a:lnTo>
                <a:lnTo>
                  <a:pt x="461581" y="0"/>
                </a:lnTo>
                <a:lnTo>
                  <a:pt x="0" y="0"/>
                </a:lnTo>
                <a:lnTo>
                  <a:pt x="0" y="132702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DAD70094-AA3F-F09D-8132-73F86416E602}"/>
              </a:ext>
            </a:extLst>
          </p:cNvPr>
          <p:cNvSpPr/>
          <p:nvPr/>
        </p:nvSpPr>
        <p:spPr>
          <a:xfrm>
            <a:off x="3751878" y="2605703"/>
            <a:ext cx="346234" cy="99536"/>
          </a:xfrm>
          <a:custGeom>
            <a:avLst/>
            <a:gdLst/>
            <a:ahLst/>
            <a:cxnLst/>
            <a:rect l="l" t="t" r="r" b="b"/>
            <a:pathLst>
              <a:path w="461645" h="132714">
                <a:moveTo>
                  <a:pt x="0" y="132702"/>
                </a:moveTo>
                <a:lnTo>
                  <a:pt x="461581" y="132702"/>
                </a:lnTo>
                <a:lnTo>
                  <a:pt x="461581" y="0"/>
                </a:lnTo>
                <a:lnTo>
                  <a:pt x="0" y="0"/>
                </a:lnTo>
                <a:lnTo>
                  <a:pt x="0" y="132702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60BD2DCC-9ECA-92F5-6AB7-FAC110ECD580}"/>
              </a:ext>
            </a:extLst>
          </p:cNvPr>
          <p:cNvSpPr/>
          <p:nvPr/>
        </p:nvSpPr>
        <p:spPr>
          <a:xfrm>
            <a:off x="4098016" y="2605703"/>
            <a:ext cx="346234" cy="99536"/>
          </a:xfrm>
          <a:custGeom>
            <a:avLst/>
            <a:gdLst/>
            <a:ahLst/>
            <a:cxnLst/>
            <a:rect l="l" t="t" r="r" b="b"/>
            <a:pathLst>
              <a:path w="461645" h="132714">
                <a:moveTo>
                  <a:pt x="0" y="132702"/>
                </a:moveTo>
                <a:lnTo>
                  <a:pt x="461581" y="132702"/>
                </a:lnTo>
                <a:lnTo>
                  <a:pt x="461581" y="0"/>
                </a:lnTo>
                <a:lnTo>
                  <a:pt x="0" y="0"/>
                </a:lnTo>
                <a:lnTo>
                  <a:pt x="0" y="132702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16161E23-9EB9-65CD-1F9E-08039CF1BD97}"/>
              </a:ext>
            </a:extLst>
          </p:cNvPr>
          <p:cNvSpPr/>
          <p:nvPr/>
        </p:nvSpPr>
        <p:spPr>
          <a:xfrm>
            <a:off x="4444251" y="2605703"/>
            <a:ext cx="346234" cy="99536"/>
          </a:xfrm>
          <a:custGeom>
            <a:avLst/>
            <a:gdLst/>
            <a:ahLst/>
            <a:cxnLst/>
            <a:rect l="l" t="t" r="r" b="b"/>
            <a:pathLst>
              <a:path w="461645" h="132714">
                <a:moveTo>
                  <a:pt x="0" y="132702"/>
                </a:moveTo>
                <a:lnTo>
                  <a:pt x="461581" y="132702"/>
                </a:lnTo>
                <a:lnTo>
                  <a:pt x="461581" y="0"/>
                </a:lnTo>
                <a:lnTo>
                  <a:pt x="0" y="0"/>
                </a:lnTo>
                <a:lnTo>
                  <a:pt x="0" y="132702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86719320-48F7-6127-5B8C-4AD3CEEF9BC1}"/>
              </a:ext>
            </a:extLst>
          </p:cNvPr>
          <p:cNvSpPr/>
          <p:nvPr/>
        </p:nvSpPr>
        <p:spPr>
          <a:xfrm>
            <a:off x="4790388" y="2605703"/>
            <a:ext cx="346234" cy="99536"/>
          </a:xfrm>
          <a:custGeom>
            <a:avLst/>
            <a:gdLst/>
            <a:ahLst/>
            <a:cxnLst/>
            <a:rect l="l" t="t" r="r" b="b"/>
            <a:pathLst>
              <a:path w="461645" h="132714">
                <a:moveTo>
                  <a:pt x="0" y="132702"/>
                </a:moveTo>
                <a:lnTo>
                  <a:pt x="461581" y="132702"/>
                </a:lnTo>
                <a:lnTo>
                  <a:pt x="461581" y="0"/>
                </a:lnTo>
                <a:lnTo>
                  <a:pt x="0" y="0"/>
                </a:lnTo>
                <a:lnTo>
                  <a:pt x="0" y="132702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06E1E92E-700E-8DFB-C7E0-CA8A2853821B}"/>
              </a:ext>
            </a:extLst>
          </p:cNvPr>
          <p:cNvSpPr/>
          <p:nvPr/>
        </p:nvSpPr>
        <p:spPr>
          <a:xfrm>
            <a:off x="5136623" y="2605703"/>
            <a:ext cx="346234" cy="99536"/>
          </a:xfrm>
          <a:custGeom>
            <a:avLst/>
            <a:gdLst/>
            <a:ahLst/>
            <a:cxnLst/>
            <a:rect l="l" t="t" r="r" b="b"/>
            <a:pathLst>
              <a:path w="461645" h="132714">
                <a:moveTo>
                  <a:pt x="0" y="132702"/>
                </a:moveTo>
                <a:lnTo>
                  <a:pt x="461581" y="132702"/>
                </a:lnTo>
                <a:lnTo>
                  <a:pt x="461581" y="0"/>
                </a:lnTo>
                <a:lnTo>
                  <a:pt x="0" y="0"/>
                </a:lnTo>
                <a:lnTo>
                  <a:pt x="0" y="132702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1DFDF5A6-BB52-7ECE-3BEB-505A67E956F5}"/>
              </a:ext>
            </a:extLst>
          </p:cNvPr>
          <p:cNvSpPr/>
          <p:nvPr/>
        </p:nvSpPr>
        <p:spPr>
          <a:xfrm>
            <a:off x="3751878" y="2804776"/>
            <a:ext cx="346234" cy="99536"/>
          </a:xfrm>
          <a:custGeom>
            <a:avLst/>
            <a:gdLst/>
            <a:ahLst/>
            <a:cxnLst/>
            <a:rect l="l" t="t" r="r" b="b"/>
            <a:pathLst>
              <a:path w="461645" h="132714">
                <a:moveTo>
                  <a:pt x="0" y="132702"/>
                </a:moveTo>
                <a:lnTo>
                  <a:pt x="461581" y="132702"/>
                </a:lnTo>
                <a:lnTo>
                  <a:pt x="461581" y="0"/>
                </a:lnTo>
                <a:lnTo>
                  <a:pt x="0" y="0"/>
                </a:lnTo>
                <a:lnTo>
                  <a:pt x="0" y="132702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C89468DB-02BD-60CB-6295-2087917DFCEB}"/>
              </a:ext>
            </a:extLst>
          </p:cNvPr>
          <p:cNvSpPr/>
          <p:nvPr/>
        </p:nvSpPr>
        <p:spPr>
          <a:xfrm>
            <a:off x="4098016" y="2804776"/>
            <a:ext cx="346234" cy="99536"/>
          </a:xfrm>
          <a:custGeom>
            <a:avLst/>
            <a:gdLst/>
            <a:ahLst/>
            <a:cxnLst/>
            <a:rect l="l" t="t" r="r" b="b"/>
            <a:pathLst>
              <a:path w="461645" h="132714">
                <a:moveTo>
                  <a:pt x="0" y="132702"/>
                </a:moveTo>
                <a:lnTo>
                  <a:pt x="461581" y="132702"/>
                </a:lnTo>
                <a:lnTo>
                  <a:pt x="461581" y="0"/>
                </a:lnTo>
                <a:lnTo>
                  <a:pt x="0" y="0"/>
                </a:lnTo>
                <a:lnTo>
                  <a:pt x="0" y="132702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0CCC2B2D-0249-11C6-A663-CB83ED6E7E26}"/>
              </a:ext>
            </a:extLst>
          </p:cNvPr>
          <p:cNvSpPr/>
          <p:nvPr/>
        </p:nvSpPr>
        <p:spPr>
          <a:xfrm>
            <a:off x="4444251" y="2804776"/>
            <a:ext cx="346234" cy="99536"/>
          </a:xfrm>
          <a:custGeom>
            <a:avLst/>
            <a:gdLst/>
            <a:ahLst/>
            <a:cxnLst/>
            <a:rect l="l" t="t" r="r" b="b"/>
            <a:pathLst>
              <a:path w="461645" h="132714">
                <a:moveTo>
                  <a:pt x="0" y="132702"/>
                </a:moveTo>
                <a:lnTo>
                  <a:pt x="461581" y="132702"/>
                </a:lnTo>
                <a:lnTo>
                  <a:pt x="461581" y="0"/>
                </a:lnTo>
                <a:lnTo>
                  <a:pt x="0" y="0"/>
                </a:lnTo>
                <a:lnTo>
                  <a:pt x="0" y="132702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64A8F055-C79A-0B8C-7D0E-5FDDCE7A60FE}"/>
              </a:ext>
            </a:extLst>
          </p:cNvPr>
          <p:cNvSpPr/>
          <p:nvPr/>
        </p:nvSpPr>
        <p:spPr>
          <a:xfrm>
            <a:off x="4790388" y="2804776"/>
            <a:ext cx="346234" cy="99536"/>
          </a:xfrm>
          <a:custGeom>
            <a:avLst/>
            <a:gdLst/>
            <a:ahLst/>
            <a:cxnLst/>
            <a:rect l="l" t="t" r="r" b="b"/>
            <a:pathLst>
              <a:path w="461645" h="132714">
                <a:moveTo>
                  <a:pt x="0" y="132702"/>
                </a:moveTo>
                <a:lnTo>
                  <a:pt x="461581" y="132702"/>
                </a:lnTo>
                <a:lnTo>
                  <a:pt x="461581" y="0"/>
                </a:lnTo>
                <a:lnTo>
                  <a:pt x="0" y="0"/>
                </a:lnTo>
                <a:lnTo>
                  <a:pt x="0" y="132702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8F8C5847-463D-0CC3-7B6F-223BEEB09E1F}"/>
              </a:ext>
            </a:extLst>
          </p:cNvPr>
          <p:cNvSpPr/>
          <p:nvPr/>
        </p:nvSpPr>
        <p:spPr>
          <a:xfrm>
            <a:off x="5136623" y="2804776"/>
            <a:ext cx="346234" cy="99536"/>
          </a:xfrm>
          <a:custGeom>
            <a:avLst/>
            <a:gdLst/>
            <a:ahLst/>
            <a:cxnLst/>
            <a:rect l="l" t="t" r="r" b="b"/>
            <a:pathLst>
              <a:path w="461645" h="132714">
                <a:moveTo>
                  <a:pt x="0" y="132702"/>
                </a:moveTo>
                <a:lnTo>
                  <a:pt x="461581" y="132702"/>
                </a:lnTo>
                <a:lnTo>
                  <a:pt x="461581" y="0"/>
                </a:lnTo>
                <a:lnTo>
                  <a:pt x="0" y="0"/>
                </a:lnTo>
                <a:lnTo>
                  <a:pt x="0" y="132702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3664558E-5397-45EC-35EC-2B2007071EDF}"/>
              </a:ext>
            </a:extLst>
          </p:cNvPr>
          <p:cNvSpPr/>
          <p:nvPr/>
        </p:nvSpPr>
        <p:spPr>
          <a:xfrm>
            <a:off x="3751878" y="3003848"/>
            <a:ext cx="346234" cy="99536"/>
          </a:xfrm>
          <a:custGeom>
            <a:avLst/>
            <a:gdLst/>
            <a:ahLst/>
            <a:cxnLst/>
            <a:rect l="l" t="t" r="r" b="b"/>
            <a:pathLst>
              <a:path w="461645" h="132714">
                <a:moveTo>
                  <a:pt x="0" y="132702"/>
                </a:moveTo>
                <a:lnTo>
                  <a:pt x="461581" y="132702"/>
                </a:lnTo>
                <a:lnTo>
                  <a:pt x="461581" y="0"/>
                </a:lnTo>
                <a:lnTo>
                  <a:pt x="0" y="0"/>
                </a:lnTo>
                <a:lnTo>
                  <a:pt x="0" y="132702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51BAB7D5-0252-4719-1C8B-8EDE8A3B88C8}"/>
              </a:ext>
            </a:extLst>
          </p:cNvPr>
          <p:cNvSpPr/>
          <p:nvPr/>
        </p:nvSpPr>
        <p:spPr>
          <a:xfrm>
            <a:off x="4098016" y="3003848"/>
            <a:ext cx="346234" cy="99536"/>
          </a:xfrm>
          <a:custGeom>
            <a:avLst/>
            <a:gdLst/>
            <a:ahLst/>
            <a:cxnLst/>
            <a:rect l="l" t="t" r="r" b="b"/>
            <a:pathLst>
              <a:path w="461645" h="132714">
                <a:moveTo>
                  <a:pt x="0" y="132702"/>
                </a:moveTo>
                <a:lnTo>
                  <a:pt x="461581" y="132702"/>
                </a:lnTo>
                <a:lnTo>
                  <a:pt x="461581" y="0"/>
                </a:lnTo>
                <a:lnTo>
                  <a:pt x="0" y="0"/>
                </a:lnTo>
                <a:lnTo>
                  <a:pt x="0" y="132702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24C9598F-A6BE-9E3F-8C9A-183D27BB52DD}"/>
              </a:ext>
            </a:extLst>
          </p:cNvPr>
          <p:cNvSpPr/>
          <p:nvPr/>
        </p:nvSpPr>
        <p:spPr>
          <a:xfrm>
            <a:off x="4444251" y="3003848"/>
            <a:ext cx="346234" cy="99536"/>
          </a:xfrm>
          <a:custGeom>
            <a:avLst/>
            <a:gdLst/>
            <a:ahLst/>
            <a:cxnLst/>
            <a:rect l="l" t="t" r="r" b="b"/>
            <a:pathLst>
              <a:path w="461645" h="132714">
                <a:moveTo>
                  <a:pt x="0" y="132702"/>
                </a:moveTo>
                <a:lnTo>
                  <a:pt x="461581" y="132702"/>
                </a:lnTo>
                <a:lnTo>
                  <a:pt x="461581" y="0"/>
                </a:lnTo>
                <a:lnTo>
                  <a:pt x="0" y="0"/>
                </a:lnTo>
                <a:lnTo>
                  <a:pt x="0" y="132702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D728DB0D-CF99-1FC6-D4A5-85540C9D6AED}"/>
              </a:ext>
            </a:extLst>
          </p:cNvPr>
          <p:cNvSpPr/>
          <p:nvPr/>
        </p:nvSpPr>
        <p:spPr>
          <a:xfrm>
            <a:off x="4790388" y="3003848"/>
            <a:ext cx="346234" cy="99536"/>
          </a:xfrm>
          <a:custGeom>
            <a:avLst/>
            <a:gdLst/>
            <a:ahLst/>
            <a:cxnLst/>
            <a:rect l="l" t="t" r="r" b="b"/>
            <a:pathLst>
              <a:path w="461645" h="132714">
                <a:moveTo>
                  <a:pt x="0" y="132702"/>
                </a:moveTo>
                <a:lnTo>
                  <a:pt x="461581" y="132702"/>
                </a:lnTo>
                <a:lnTo>
                  <a:pt x="461581" y="0"/>
                </a:lnTo>
                <a:lnTo>
                  <a:pt x="0" y="0"/>
                </a:lnTo>
                <a:lnTo>
                  <a:pt x="0" y="132702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349F0BE7-C40B-582B-DC67-C70AEBE4280C}"/>
              </a:ext>
            </a:extLst>
          </p:cNvPr>
          <p:cNvSpPr/>
          <p:nvPr/>
        </p:nvSpPr>
        <p:spPr>
          <a:xfrm>
            <a:off x="5136623" y="3003848"/>
            <a:ext cx="346234" cy="99536"/>
          </a:xfrm>
          <a:custGeom>
            <a:avLst/>
            <a:gdLst/>
            <a:ahLst/>
            <a:cxnLst/>
            <a:rect l="l" t="t" r="r" b="b"/>
            <a:pathLst>
              <a:path w="461645" h="132714">
                <a:moveTo>
                  <a:pt x="0" y="132702"/>
                </a:moveTo>
                <a:lnTo>
                  <a:pt x="461581" y="132702"/>
                </a:lnTo>
                <a:lnTo>
                  <a:pt x="461581" y="0"/>
                </a:lnTo>
                <a:lnTo>
                  <a:pt x="0" y="0"/>
                </a:lnTo>
                <a:lnTo>
                  <a:pt x="0" y="132702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1F472394-E5C7-E14C-390B-8EACEB46D5D3}"/>
              </a:ext>
            </a:extLst>
          </p:cNvPr>
          <p:cNvSpPr/>
          <p:nvPr/>
        </p:nvSpPr>
        <p:spPr>
          <a:xfrm>
            <a:off x="3751878" y="2406716"/>
            <a:ext cx="1731169" cy="0"/>
          </a:xfrm>
          <a:custGeom>
            <a:avLst/>
            <a:gdLst/>
            <a:ahLst/>
            <a:cxnLst/>
            <a:rect l="l" t="t" r="r" b="b"/>
            <a:pathLst>
              <a:path w="2308225">
                <a:moveTo>
                  <a:pt x="0" y="0"/>
                </a:moveTo>
                <a:lnTo>
                  <a:pt x="2307844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AC6178C3-2C7B-9D72-C2E6-60A6DFF371A8}"/>
              </a:ext>
            </a:extLst>
          </p:cNvPr>
          <p:cNvSpPr/>
          <p:nvPr/>
        </p:nvSpPr>
        <p:spPr>
          <a:xfrm>
            <a:off x="3751878" y="2258126"/>
            <a:ext cx="1731169" cy="0"/>
          </a:xfrm>
          <a:custGeom>
            <a:avLst/>
            <a:gdLst/>
            <a:ahLst/>
            <a:cxnLst/>
            <a:rect l="l" t="t" r="r" b="b"/>
            <a:pathLst>
              <a:path w="2308225">
                <a:moveTo>
                  <a:pt x="0" y="0"/>
                </a:moveTo>
                <a:lnTo>
                  <a:pt x="2307844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graphicFrame>
        <p:nvGraphicFramePr>
          <p:cNvPr id="32" name="object 32">
            <a:extLst>
              <a:ext uri="{FF2B5EF4-FFF2-40B4-BE49-F238E27FC236}">
                <a16:creationId xmlns:a16="http://schemas.microsoft.com/office/drawing/2014/main" id="{CA458245-2221-97A1-2AE4-ECDBAF157B5B}"/>
              </a:ext>
            </a:extLst>
          </p:cNvPr>
          <p:cNvGraphicFramePr>
            <a:graphicFrameLocks noGrp="1"/>
          </p:cNvGraphicFramePr>
          <p:nvPr/>
        </p:nvGraphicFramePr>
        <p:xfrm>
          <a:off x="3751878" y="2248601"/>
          <a:ext cx="1728788" cy="8547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1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2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95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14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95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421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06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972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94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963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94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963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0067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3" name="object 33">
            <a:extLst>
              <a:ext uri="{FF2B5EF4-FFF2-40B4-BE49-F238E27FC236}">
                <a16:creationId xmlns:a16="http://schemas.microsoft.com/office/drawing/2014/main" id="{DF2A130D-DD52-9326-6011-D577339E4B6F}"/>
              </a:ext>
            </a:extLst>
          </p:cNvPr>
          <p:cNvSpPr/>
          <p:nvPr/>
        </p:nvSpPr>
        <p:spPr>
          <a:xfrm>
            <a:off x="3788835" y="2281272"/>
            <a:ext cx="306295" cy="948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34" name="object 34">
            <a:extLst>
              <a:ext uri="{FF2B5EF4-FFF2-40B4-BE49-F238E27FC236}">
                <a16:creationId xmlns:a16="http://schemas.microsoft.com/office/drawing/2014/main" id="{E63B568F-4E26-86CB-5C97-176514EF5F90}"/>
              </a:ext>
            </a:extLst>
          </p:cNvPr>
          <p:cNvSpPr/>
          <p:nvPr/>
        </p:nvSpPr>
        <p:spPr>
          <a:xfrm>
            <a:off x="4186599" y="2281272"/>
            <a:ext cx="202997" cy="9486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35" name="object 35">
            <a:extLst>
              <a:ext uri="{FF2B5EF4-FFF2-40B4-BE49-F238E27FC236}">
                <a16:creationId xmlns:a16="http://schemas.microsoft.com/office/drawing/2014/main" id="{12E8E882-5EB9-E576-0BBC-D03087E1F89F}"/>
              </a:ext>
            </a:extLst>
          </p:cNvPr>
          <p:cNvSpPr/>
          <p:nvPr/>
        </p:nvSpPr>
        <p:spPr>
          <a:xfrm>
            <a:off x="4494066" y="2281272"/>
            <a:ext cx="282159" cy="9486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7B926607-92AC-D28D-807B-2FE16B4EF372}"/>
              </a:ext>
            </a:extLst>
          </p:cNvPr>
          <p:cNvSpPr/>
          <p:nvPr/>
        </p:nvSpPr>
        <p:spPr>
          <a:xfrm>
            <a:off x="4921357" y="2281272"/>
            <a:ext cx="128588" cy="9486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37" name="object 37">
            <a:extLst>
              <a:ext uri="{FF2B5EF4-FFF2-40B4-BE49-F238E27FC236}">
                <a16:creationId xmlns:a16="http://schemas.microsoft.com/office/drawing/2014/main" id="{32EBCB44-435E-F94C-34D8-9860C7ABD0B3}"/>
              </a:ext>
            </a:extLst>
          </p:cNvPr>
          <p:cNvSpPr/>
          <p:nvPr/>
        </p:nvSpPr>
        <p:spPr>
          <a:xfrm>
            <a:off x="5226539" y="2281272"/>
            <a:ext cx="201625" cy="9486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38" name="object 38">
            <a:extLst>
              <a:ext uri="{FF2B5EF4-FFF2-40B4-BE49-F238E27FC236}">
                <a16:creationId xmlns:a16="http://schemas.microsoft.com/office/drawing/2014/main" id="{8EAFC6F1-EE45-517F-4606-DD7DB6F674EF}"/>
              </a:ext>
            </a:extLst>
          </p:cNvPr>
          <p:cNvSpPr/>
          <p:nvPr/>
        </p:nvSpPr>
        <p:spPr>
          <a:xfrm>
            <a:off x="3786549" y="2405383"/>
            <a:ext cx="129540" cy="9601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39" name="object 39">
            <a:extLst>
              <a:ext uri="{FF2B5EF4-FFF2-40B4-BE49-F238E27FC236}">
                <a16:creationId xmlns:a16="http://schemas.microsoft.com/office/drawing/2014/main" id="{289A5E23-327A-019C-6995-BCF933829BF2}"/>
              </a:ext>
            </a:extLst>
          </p:cNvPr>
          <p:cNvSpPr/>
          <p:nvPr/>
        </p:nvSpPr>
        <p:spPr>
          <a:xfrm>
            <a:off x="4132878" y="2405383"/>
            <a:ext cx="229057" cy="9601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40" name="object 40">
            <a:extLst>
              <a:ext uri="{FF2B5EF4-FFF2-40B4-BE49-F238E27FC236}">
                <a16:creationId xmlns:a16="http://schemas.microsoft.com/office/drawing/2014/main" id="{560A576F-D8AC-CB9D-FB12-01523CF096B5}"/>
              </a:ext>
            </a:extLst>
          </p:cNvPr>
          <p:cNvSpPr/>
          <p:nvPr/>
        </p:nvSpPr>
        <p:spPr>
          <a:xfrm>
            <a:off x="4479016" y="2405383"/>
            <a:ext cx="282702" cy="9601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41" name="object 41">
            <a:extLst>
              <a:ext uri="{FF2B5EF4-FFF2-40B4-BE49-F238E27FC236}">
                <a16:creationId xmlns:a16="http://schemas.microsoft.com/office/drawing/2014/main" id="{48C661F0-8930-577A-927A-613498FB9BBB}"/>
              </a:ext>
            </a:extLst>
          </p:cNvPr>
          <p:cNvSpPr/>
          <p:nvPr/>
        </p:nvSpPr>
        <p:spPr>
          <a:xfrm>
            <a:off x="4825346" y="2405383"/>
            <a:ext cx="131063" cy="96011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42" name="object 42">
            <a:extLst>
              <a:ext uri="{FF2B5EF4-FFF2-40B4-BE49-F238E27FC236}">
                <a16:creationId xmlns:a16="http://schemas.microsoft.com/office/drawing/2014/main" id="{D2A4EE71-27BB-28FD-1595-9E77E89A1430}"/>
              </a:ext>
            </a:extLst>
          </p:cNvPr>
          <p:cNvSpPr/>
          <p:nvPr/>
        </p:nvSpPr>
        <p:spPr>
          <a:xfrm>
            <a:off x="5218538" y="2405383"/>
            <a:ext cx="219456" cy="94868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43" name="object 43">
            <a:extLst>
              <a:ext uri="{FF2B5EF4-FFF2-40B4-BE49-F238E27FC236}">
                <a16:creationId xmlns:a16="http://schemas.microsoft.com/office/drawing/2014/main" id="{A953DCF6-FECF-5424-DF2C-24E13C2DC5EB}"/>
              </a:ext>
            </a:extLst>
          </p:cNvPr>
          <p:cNvSpPr/>
          <p:nvPr/>
        </p:nvSpPr>
        <p:spPr>
          <a:xfrm>
            <a:off x="3786549" y="2504824"/>
            <a:ext cx="132588" cy="96011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44" name="object 44">
            <a:extLst>
              <a:ext uri="{FF2B5EF4-FFF2-40B4-BE49-F238E27FC236}">
                <a16:creationId xmlns:a16="http://schemas.microsoft.com/office/drawing/2014/main" id="{A22D302E-2B3A-0391-DE32-CAF25C96C77A}"/>
              </a:ext>
            </a:extLst>
          </p:cNvPr>
          <p:cNvSpPr/>
          <p:nvPr/>
        </p:nvSpPr>
        <p:spPr>
          <a:xfrm>
            <a:off x="4132879" y="2504824"/>
            <a:ext cx="269366" cy="96011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45" name="object 45">
            <a:extLst>
              <a:ext uri="{FF2B5EF4-FFF2-40B4-BE49-F238E27FC236}">
                <a16:creationId xmlns:a16="http://schemas.microsoft.com/office/drawing/2014/main" id="{5AEBE029-A7AB-A2CF-6CF6-F7CD364C556D}"/>
              </a:ext>
            </a:extLst>
          </p:cNvPr>
          <p:cNvSpPr/>
          <p:nvPr/>
        </p:nvSpPr>
        <p:spPr>
          <a:xfrm>
            <a:off x="4479016" y="2504824"/>
            <a:ext cx="240029" cy="96011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46" name="object 46">
            <a:extLst>
              <a:ext uri="{FF2B5EF4-FFF2-40B4-BE49-F238E27FC236}">
                <a16:creationId xmlns:a16="http://schemas.microsoft.com/office/drawing/2014/main" id="{DE319331-7E07-1C23-9E00-7C9817DECF55}"/>
              </a:ext>
            </a:extLst>
          </p:cNvPr>
          <p:cNvSpPr/>
          <p:nvPr/>
        </p:nvSpPr>
        <p:spPr>
          <a:xfrm>
            <a:off x="4825346" y="2504824"/>
            <a:ext cx="131063" cy="96011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47" name="object 47">
            <a:extLst>
              <a:ext uri="{FF2B5EF4-FFF2-40B4-BE49-F238E27FC236}">
                <a16:creationId xmlns:a16="http://schemas.microsoft.com/office/drawing/2014/main" id="{2613A2FB-4A24-4689-B56D-773FA1283B5D}"/>
              </a:ext>
            </a:extLst>
          </p:cNvPr>
          <p:cNvSpPr/>
          <p:nvPr/>
        </p:nvSpPr>
        <p:spPr>
          <a:xfrm>
            <a:off x="5195677" y="2504824"/>
            <a:ext cx="268033" cy="94868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48" name="object 48">
            <a:extLst>
              <a:ext uri="{FF2B5EF4-FFF2-40B4-BE49-F238E27FC236}">
                <a16:creationId xmlns:a16="http://schemas.microsoft.com/office/drawing/2014/main" id="{817C1533-CEB4-8B02-DE1D-26D7600965AC}"/>
              </a:ext>
            </a:extLst>
          </p:cNvPr>
          <p:cNvSpPr/>
          <p:nvPr/>
        </p:nvSpPr>
        <p:spPr>
          <a:xfrm>
            <a:off x="3786549" y="2604550"/>
            <a:ext cx="120015" cy="96011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49" name="object 49">
            <a:extLst>
              <a:ext uri="{FF2B5EF4-FFF2-40B4-BE49-F238E27FC236}">
                <a16:creationId xmlns:a16="http://schemas.microsoft.com/office/drawing/2014/main" id="{D095BB36-0EBD-57B6-984E-B57D87213392}"/>
              </a:ext>
            </a:extLst>
          </p:cNvPr>
          <p:cNvSpPr/>
          <p:nvPr/>
        </p:nvSpPr>
        <p:spPr>
          <a:xfrm>
            <a:off x="4132879" y="2604550"/>
            <a:ext cx="161543" cy="96011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50" name="object 50">
            <a:extLst>
              <a:ext uri="{FF2B5EF4-FFF2-40B4-BE49-F238E27FC236}">
                <a16:creationId xmlns:a16="http://schemas.microsoft.com/office/drawing/2014/main" id="{FCAFB902-BFAB-FC3D-147C-E2C2F1CC7E0D}"/>
              </a:ext>
            </a:extLst>
          </p:cNvPr>
          <p:cNvSpPr/>
          <p:nvPr/>
        </p:nvSpPr>
        <p:spPr>
          <a:xfrm>
            <a:off x="4825346" y="2604550"/>
            <a:ext cx="131063" cy="96011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51" name="object 51">
            <a:extLst>
              <a:ext uri="{FF2B5EF4-FFF2-40B4-BE49-F238E27FC236}">
                <a16:creationId xmlns:a16="http://schemas.microsoft.com/office/drawing/2014/main" id="{DA893556-B4C2-4D7D-F0D1-29EDC53C53A5}"/>
              </a:ext>
            </a:extLst>
          </p:cNvPr>
          <p:cNvSpPr/>
          <p:nvPr/>
        </p:nvSpPr>
        <p:spPr>
          <a:xfrm>
            <a:off x="5218538" y="2604550"/>
            <a:ext cx="219456" cy="94868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52" name="object 52">
            <a:extLst>
              <a:ext uri="{FF2B5EF4-FFF2-40B4-BE49-F238E27FC236}">
                <a16:creationId xmlns:a16="http://schemas.microsoft.com/office/drawing/2014/main" id="{8F078293-80C2-1DB6-E7EB-B6A6C5198EF5}"/>
              </a:ext>
            </a:extLst>
          </p:cNvPr>
          <p:cNvSpPr/>
          <p:nvPr/>
        </p:nvSpPr>
        <p:spPr>
          <a:xfrm>
            <a:off x="4479016" y="2604550"/>
            <a:ext cx="282702" cy="195452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53" name="object 53">
            <a:extLst>
              <a:ext uri="{FF2B5EF4-FFF2-40B4-BE49-F238E27FC236}">
                <a16:creationId xmlns:a16="http://schemas.microsoft.com/office/drawing/2014/main" id="{4FE904CF-2D19-47E2-AAB1-21AA4E68BCB3}"/>
              </a:ext>
            </a:extLst>
          </p:cNvPr>
          <p:cNvSpPr/>
          <p:nvPr/>
        </p:nvSpPr>
        <p:spPr>
          <a:xfrm>
            <a:off x="3786549" y="2703991"/>
            <a:ext cx="132588" cy="96011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54" name="object 54">
            <a:extLst>
              <a:ext uri="{FF2B5EF4-FFF2-40B4-BE49-F238E27FC236}">
                <a16:creationId xmlns:a16="http://schemas.microsoft.com/office/drawing/2014/main" id="{DE2636B9-6974-5530-BCAE-49A63347BE17}"/>
              </a:ext>
            </a:extLst>
          </p:cNvPr>
          <p:cNvSpPr/>
          <p:nvPr/>
        </p:nvSpPr>
        <p:spPr>
          <a:xfrm>
            <a:off x="4132879" y="2703991"/>
            <a:ext cx="269366" cy="96011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55" name="object 55">
            <a:extLst>
              <a:ext uri="{FF2B5EF4-FFF2-40B4-BE49-F238E27FC236}">
                <a16:creationId xmlns:a16="http://schemas.microsoft.com/office/drawing/2014/main" id="{B49F8C51-9E7F-E644-D26E-B3605FBC7525}"/>
              </a:ext>
            </a:extLst>
          </p:cNvPr>
          <p:cNvSpPr/>
          <p:nvPr/>
        </p:nvSpPr>
        <p:spPr>
          <a:xfrm>
            <a:off x="4825346" y="2703991"/>
            <a:ext cx="126491" cy="96011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56" name="object 56">
            <a:extLst>
              <a:ext uri="{FF2B5EF4-FFF2-40B4-BE49-F238E27FC236}">
                <a16:creationId xmlns:a16="http://schemas.microsoft.com/office/drawing/2014/main" id="{437C570D-0318-1C24-4774-6220CB5509BE}"/>
              </a:ext>
            </a:extLst>
          </p:cNvPr>
          <p:cNvSpPr/>
          <p:nvPr/>
        </p:nvSpPr>
        <p:spPr>
          <a:xfrm>
            <a:off x="5195677" y="2703991"/>
            <a:ext cx="268033" cy="94868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57" name="object 57">
            <a:extLst>
              <a:ext uri="{FF2B5EF4-FFF2-40B4-BE49-F238E27FC236}">
                <a16:creationId xmlns:a16="http://schemas.microsoft.com/office/drawing/2014/main" id="{55A73260-04F8-D5F9-218F-81465A703DA3}"/>
              </a:ext>
            </a:extLst>
          </p:cNvPr>
          <p:cNvSpPr/>
          <p:nvPr/>
        </p:nvSpPr>
        <p:spPr>
          <a:xfrm>
            <a:off x="3786549" y="2803624"/>
            <a:ext cx="118872" cy="96011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58" name="object 58">
            <a:extLst>
              <a:ext uri="{FF2B5EF4-FFF2-40B4-BE49-F238E27FC236}">
                <a16:creationId xmlns:a16="http://schemas.microsoft.com/office/drawing/2014/main" id="{F78CAF87-B012-E940-CB5A-AE5FBCBE6A74}"/>
              </a:ext>
            </a:extLst>
          </p:cNvPr>
          <p:cNvSpPr/>
          <p:nvPr/>
        </p:nvSpPr>
        <p:spPr>
          <a:xfrm>
            <a:off x="4132878" y="2803624"/>
            <a:ext cx="229057" cy="9601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59" name="object 59">
            <a:extLst>
              <a:ext uri="{FF2B5EF4-FFF2-40B4-BE49-F238E27FC236}">
                <a16:creationId xmlns:a16="http://schemas.microsoft.com/office/drawing/2014/main" id="{2FB7E121-BCC0-261D-A42F-3F04FC7A542E}"/>
              </a:ext>
            </a:extLst>
          </p:cNvPr>
          <p:cNvSpPr/>
          <p:nvPr/>
        </p:nvSpPr>
        <p:spPr>
          <a:xfrm>
            <a:off x="4479016" y="2803624"/>
            <a:ext cx="240029" cy="96011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60" name="object 60">
            <a:extLst>
              <a:ext uri="{FF2B5EF4-FFF2-40B4-BE49-F238E27FC236}">
                <a16:creationId xmlns:a16="http://schemas.microsoft.com/office/drawing/2014/main" id="{602C9BB7-36FF-494C-27AC-0B1B248FD57F}"/>
              </a:ext>
            </a:extLst>
          </p:cNvPr>
          <p:cNvSpPr/>
          <p:nvPr/>
        </p:nvSpPr>
        <p:spPr>
          <a:xfrm>
            <a:off x="4825346" y="2803624"/>
            <a:ext cx="131063" cy="96011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61" name="object 61">
            <a:extLst>
              <a:ext uri="{FF2B5EF4-FFF2-40B4-BE49-F238E27FC236}">
                <a16:creationId xmlns:a16="http://schemas.microsoft.com/office/drawing/2014/main" id="{4576F782-76D4-0B8F-189A-06133DDAB96E}"/>
              </a:ext>
            </a:extLst>
          </p:cNvPr>
          <p:cNvSpPr/>
          <p:nvPr/>
        </p:nvSpPr>
        <p:spPr>
          <a:xfrm>
            <a:off x="5218538" y="2803624"/>
            <a:ext cx="219456" cy="94868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62" name="object 62">
            <a:extLst>
              <a:ext uri="{FF2B5EF4-FFF2-40B4-BE49-F238E27FC236}">
                <a16:creationId xmlns:a16="http://schemas.microsoft.com/office/drawing/2014/main" id="{08FF6FF2-C009-168A-C05B-40BD7633BD00}"/>
              </a:ext>
            </a:extLst>
          </p:cNvPr>
          <p:cNvSpPr/>
          <p:nvPr/>
        </p:nvSpPr>
        <p:spPr>
          <a:xfrm>
            <a:off x="3786550" y="2903064"/>
            <a:ext cx="109727" cy="96012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23" name="object 63">
            <a:extLst>
              <a:ext uri="{FF2B5EF4-FFF2-40B4-BE49-F238E27FC236}">
                <a16:creationId xmlns:a16="http://schemas.microsoft.com/office/drawing/2014/main" id="{C6F554DE-0F6A-4F9A-CDB4-EC032F3AC822}"/>
              </a:ext>
            </a:extLst>
          </p:cNvPr>
          <p:cNvSpPr/>
          <p:nvPr/>
        </p:nvSpPr>
        <p:spPr>
          <a:xfrm>
            <a:off x="3786550" y="3002695"/>
            <a:ext cx="128015" cy="96012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24" name="object 64">
            <a:extLst>
              <a:ext uri="{FF2B5EF4-FFF2-40B4-BE49-F238E27FC236}">
                <a16:creationId xmlns:a16="http://schemas.microsoft.com/office/drawing/2014/main" id="{4276F870-9B84-B3CC-B50D-5A6D132381CA}"/>
              </a:ext>
            </a:extLst>
          </p:cNvPr>
          <p:cNvSpPr/>
          <p:nvPr/>
        </p:nvSpPr>
        <p:spPr>
          <a:xfrm>
            <a:off x="4132879" y="3002695"/>
            <a:ext cx="161543" cy="96012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25" name="object 65">
            <a:extLst>
              <a:ext uri="{FF2B5EF4-FFF2-40B4-BE49-F238E27FC236}">
                <a16:creationId xmlns:a16="http://schemas.microsoft.com/office/drawing/2014/main" id="{EDCE8070-81C6-F7B6-321E-7EEEE298ED6B}"/>
              </a:ext>
            </a:extLst>
          </p:cNvPr>
          <p:cNvSpPr/>
          <p:nvPr/>
        </p:nvSpPr>
        <p:spPr>
          <a:xfrm>
            <a:off x="4479016" y="3002695"/>
            <a:ext cx="240029" cy="96012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26" name="object 66">
            <a:extLst>
              <a:ext uri="{FF2B5EF4-FFF2-40B4-BE49-F238E27FC236}">
                <a16:creationId xmlns:a16="http://schemas.microsoft.com/office/drawing/2014/main" id="{8F916DC1-0CF1-0E09-08AB-269A7ADE861B}"/>
              </a:ext>
            </a:extLst>
          </p:cNvPr>
          <p:cNvSpPr/>
          <p:nvPr/>
        </p:nvSpPr>
        <p:spPr>
          <a:xfrm>
            <a:off x="4825346" y="3002695"/>
            <a:ext cx="131063" cy="96012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27" name="object 67">
            <a:extLst>
              <a:ext uri="{FF2B5EF4-FFF2-40B4-BE49-F238E27FC236}">
                <a16:creationId xmlns:a16="http://schemas.microsoft.com/office/drawing/2014/main" id="{E83339FF-A5B3-0661-959B-781C9BDEC143}"/>
              </a:ext>
            </a:extLst>
          </p:cNvPr>
          <p:cNvSpPr/>
          <p:nvPr/>
        </p:nvSpPr>
        <p:spPr>
          <a:xfrm>
            <a:off x="5195677" y="3002695"/>
            <a:ext cx="268033" cy="94869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28" name="object 68">
            <a:extLst>
              <a:ext uri="{FF2B5EF4-FFF2-40B4-BE49-F238E27FC236}">
                <a16:creationId xmlns:a16="http://schemas.microsoft.com/office/drawing/2014/main" id="{743BAFB3-181E-AAD8-596D-B7CF5C6C6565}"/>
              </a:ext>
            </a:extLst>
          </p:cNvPr>
          <p:cNvSpPr/>
          <p:nvPr/>
        </p:nvSpPr>
        <p:spPr>
          <a:xfrm>
            <a:off x="3648243" y="3466230"/>
            <a:ext cx="1980253" cy="425812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29" name="object 69">
            <a:extLst>
              <a:ext uri="{FF2B5EF4-FFF2-40B4-BE49-F238E27FC236}">
                <a16:creationId xmlns:a16="http://schemas.microsoft.com/office/drawing/2014/main" id="{32918518-6802-898B-B7BD-30F63E0723A1}"/>
              </a:ext>
            </a:extLst>
          </p:cNvPr>
          <p:cNvSpPr/>
          <p:nvPr/>
        </p:nvSpPr>
        <p:spPr>
          <a:xfrm>
            <a:off x="3882561" y="3478825"/>
            <a:ext cx="1510475" cy="425767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30" name="object 70">
            <a:extLst>
              <a:ext uri="{FF2B5EF4-FFF2-40B4-BE49-F238E27FC236}">
                <a16:creationId xmlns:a16="http://schemas.microsoft.com/office/drawing/2014/main" id="{F95822C4-3E94-926D-CB69-8A1718D5CF1A}"/>
              </a:ext>
            </a:extLst>
          </p:cNvPr>
          <p:cNvSpPr/>
          <p:nvPr/>
        </p:nvSpPr>
        <p:spPr>
          <a:xfrm>
            <a:off x="3649389" y="3467395"/>
            <a:ext cx="1938814" cy="384334"/>
          </a:xfrm>
          <a:custGeom>
            <a:avLst/>
            <a:gdLst/>
            <a:ahLst/>
            <a:cxnLst/>
            <a:rect l="l" t="t" r="r" b="b"/>
            <a:pathLst>
              <a:path w="2585085" h="512444">
                <a:moveTo>
                  <a:pt x="0" y="512063"/>
                </a:moveTo>
                <a:lnTo>
                  <a:pt x="2584704" y="512063"/>
                </a:lnTo>
                <a:lnTo>
                  <a:pt x="2584704" y="0"/>
                </a:lnTo>
                <a:lnTo>
                  <a:pt x="0" y="0"/>
                </a:lnTo>
                <a:lnTo>
                  <a:pt x="0" y="512063"/>
                </a:lnTo>
                <a:close/>
              </a:path>
            </a:pathLst>
          </a:custGeom>
          <a:solidFill>
            <a:srgbClr val="7030A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31" name="object 71">
            <a:extLst>
              <a:ext uri="{FF2B5EF4-FFF2-40B4-BE49-F238E27FC236}">
                <a16:creationId xmlns:a16="http://schemas.microsoft.com/office/drawing/2014/main" id="{F98F572D-B762-AE40-3474-5B8FAE784FB4}"/>
              </a:ext>
            </a:extLst>
          </p:cNvPr>
          <p:cNvSpPr/>
          <p:nvPr/>
        </p:nvSpPr>
        <p:spPr>
          <a:xfrm>
            <a:off x="3649389" y="3467395"/>
            <a:ext cx="1938814" cy="384334"/>
          </a:xfrm>
          <a:custGeom>
            <a:avLst/>
            <a:gdLst/>
            <a:ahLst/>
            <a:cxnLst/>
            <a:rect l="l" t="t" r="r" b="b"/>
            <a:pathLst>
              <a:path w="2585085" h="512444">
                <a:moveTo>
                  <a:pt x="0" y="512063"/>
                </a:moveTo>
                <a:lnTo>
                  <a:pt x="2584704" y="512063"/>
                </a:lnTo>
                <a:lnTo>
                  <a:pt x="2584704" y="0"/>
                </a:lnTo>
                <a:lnTo>
                  <a:pt x="0" y="0"/>
                </a:lnTo>
                <a:lnTo>
                  <a:pt x="0" y="512063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32" name="object 72">
            <a:extLst>
              <a:ext uri="{FF2B5EF4-FFF2-40B4-BE49-F238E27FC236}">
                <a16:creationId xmlns:a16="http://schemas.microsoft.com/office/drawing/2014/main" id="{A8F2C984-EA70-08EB-782F-3D08E5F58502}"/>
              </a:ext>
            </a:extLst>
          </p:cNvPr>
          <p:cNvSpPr/>
          <p:nvPr/>
        </p:nvSpPr>
        <p:spPr>
          <a:xfrm>
            <a:off x="4417961" y="3492122"/>
            <a:ext cx="469220" cy="122529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33" name="object 73">
            <a:extLst>
              <a:ext uri="{FF2B5EF4-FFF2-40B4-BE49-F238E27FC236}">
                <a16:creationId xmlns:a16="http://schemas.microsoft.com/office/drawing/2014/main" id="{BECA6504-25C2-8ABA-9166-DA05ED25938D}"/>
              </a:ext>
            </a:extLst>
          </p:cNvPr>
          <p:cNvSpPr/>
          <p:nvPr/>
        </p:nvSpPr>
        <p:spPr>
          <a:xfrm>
            <a:off x="4040770" y="3595220"/>
            <a:ext cx="1227011" cy="122301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34" name="object 74">
            <a:extLst>
              <a:ext uri="{FF2B5EF4-FFF2-40B4-BE49-F238E27FC236}">
                <a16:creationId xmlns:a16="http://schemas.microsoft.com/office/drawing/2014/main" id="{B68CF63C-2C37-616B-34BF-395E7FEB1CE9}"/>
              </a:ext>
            </a:extLst>
          </p:cNvPr>
          <p:cNvSpPr/>
          <p:nvPr/>
        </p:nvSpPr>
        <p:spPr>
          <a:xfrm>
            <a:off x="3934473" y="3698090"/>
            <a:ext cx="1411129" cy="122301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35" name="object 76">
            <a:extLst>
              <a:ext uri="{FF2B5EF4-FFF2-40B4-BE49-F238E27FC236}">
                <a16:creationId xmlns:a16="http://schemas.microsoft.com/office/drawing/2014/main" id="{73FC4C26-5292-481F-A2F5-2D0D4275F395}"/>
              </a:ext>
            </a:extLst>
          </p:cNvPr>
          <p:cNvSpPr/>
          <p:nvPr/>
        </p:nvSpPr>
        <p:spPr>
          <a:xfrm>
            <a:off x="4860016" y="4547676"/>
            <a:ext cx="530352" cy="379704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36" name="object 77">
            <a:extLst>
              <a:ext uri="{FF2B5EF4-FFF2-40B4-BE49-F238E27FC236}">
                <a16:creationId xmlns:a16="http://schemas.microsoft.com/office/drawing/2014/main" id="{D11A3E41-3395-8560-4F86-FC76AA0960FA}"/>
              </a:ext>
            </a:extLst>
          </p:cNvPr>
          <p:cNvSpPr/>
          <p:nvPr/>
        </p:nvSpPr>
        <p:spPr>
          <a:xfrm>
            <a:off x="2233575" y="4449699"/>
            <a:ext cx="190976" cy="95250"/>
          </a:xfrm>
          <a:custGeom>
            <a:avLst/>
            <a:gdLst/>
            <a:ahLst/>
            <a:cxnLst/>
            <a:rect l="l" t="t" r="r" b="b"/>
            <a:pathLst>
              <a:path w="254635" h="127000">
                <a:moveTo>
                  <a:pt x="0" y="126491"/>
                </a:moveTo>
                <a:lnTo>
                  <a:pt x="254507" y="126491"/>
                </a:lnTo>
                <a:lnTo>
                  <a:pt x="254507" y="0"/>
                </a:lnTo>
                <a:lnTo>
                  <a:pt x="0" y="0"/>
                </a:lnTo>
                <a:lnTo>
                  <a:pt x="0" y="126491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37" name="object 78">
            <a:extLst>
              <a:ext uri="{FF2B5EF4-FFF2-40B4-BE49-F238E27FC236}">
                <a16:creationId xmlns:a16="http://schemas.microsoft.com/office/drawing/2014/main" id="{2CF729D0-DE78-A489-8791-15D4EDE9F25A}"/>
              </a:ext>
            </a:extLst>
          </p:cNvPr>
          <p:cNvSpPr/>
          <p:nvPr/>
        </p:nvSpPr>
        <p:spPr>
          <a:xfrm>
            <a:off x="2233575" y="4449699"/>
            <a:ext cx="190976" cy="95250"/>
          </a:xfrm>
          <a:custGeom>
            <a:avLst/>
            <a:gdLst/>
            <a:ahLst/>
            <a:cxnLst/>
            <a:rect l="l" t="t" r="r" b="b"/>
            <a:pathLst>
              <a:path w="254635" h="127000">
                <a:moveTo>
                  <a:pt x="0" y="126491"/>
                </a:moveTo>
                <a:lnTo>
                  <a:pt x="254507" y="126491"/>
                </a:lnTo>
                <a:lnTo>
                  <a:pt x="254507" y="0"/>
                </a:lnTo>
                <a:lnTo>
                  <a:pt x="0" y="0"/>
                </a:lnTo>
                <a:lnTo>
                  <a:pt x="0" y="126491"/>
                </a:lnTo>
                <a:close/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38" name="object 79">
            <a:extLst>
              <a:ext uri="{FF2B5EF4-FFF2-40B4-BE49-F238E27FC236}">
                <a16:creationId xmlns:a16="http://schemas.microsoft.com/office/drawing/2014/main" id="{82362AB4-58EA-BF3A-4DB6-6671A6C60311}"/>
              </a:ext>
            </a:extLst>
          </p:cNvPr>
          <p:cNvSpPr/>
          <p:nvPr/>
        </p:nvSpPr>
        <p:spPr>
          <a:xfrm>
            <a:off x="2127847" y="4540235"/>
            <a:ext cx="203359" cy="159544"/>
          </a:xfrm>
          <a:custGeom>
            <a:avLst/>
            <a:gdLst/>
            <a:ahLst/>
            <a:cxnLst/>
            <a:rect l="l" t="t" r="r" b="b"/>
            <a:pathLst>
              <a:path w="271144" h="212725">
                <a:moveTo>
                  <a:pt x="36830" y="135496"/>
                </a:moveTo>
                <a:lnTo>
                  <a:pt x="0" y="212331"/>
                </a:lnTo>
                <a:lnTo>
                  <a:pt x="83565" y="195681"/>
                </a:lnTo>
                <a:lnTo>
                  <a:pt x="70143" y="178396"/>
                </a:lnTo>
                <a:lnTo>
                  <a:pt x="54102" y="178396"/>
                </a:lnTo>
                <a:lnTo>
                  <a:pt x="46228" y="168363"/>
                </a:lnTo>
                <a:lnTo>
                  <a:pt x="56286" y="160552"/>
                </a:lnTo>
                <a:lnTo>
                  <a:pt x="36830" y="135496"/>
                </a:lnTo>
                <a:close/>
              </a:path>
              <a:path w="271144" h="212725">
                <a:moveTo>
                  <a:pt x="56286" y="160552"/>
                </a:moveTo>
                <a:lnTo>
                  <a:pt x="46228" y="168363"/>
                </a:lnTo>
                <a:lnTo>
                  <a:pt x="54102" y="178396"/>
                </a:lnTo>
                <a:lnTo>
                  <a:pt x="64108" y="170625"/>
                </a:lnTo>
                <a:lnTo>
                  <a:pt x="56286" y="160552"/>
                </a:lnTo>
                <a:close/>
              </a:path>
              <a:path w="271144" h="212725">
                <a:moveTo>
                  <a:pt x="64108" y="170625"/>
                </a:moveTo>
                <a:lnTo>
                  <a:pt x="54102" y="178396"/>
                </a:lnTo>
                <a:lnTo>
                  <a:pt x="70143" y="178396"/>
                </a:lnTo>
                <a:lnTo>
                  <a:pt x="64108" y="170625"/>
                </a:lnTo>
                <a:close/>
              </a:path>
              <a:path w="271144" h="212725">
                <a:moveTo>
                  <a:pt x="263017" y="0"/>
                </a:moveTo>
                <a:lnTo>
                  <a:pt x="56286" y="160552"/>
                </a:lnTo>
                <a:lnTo>
                  <a:pt x="64108" y="170625"/>
                </a:lnTo>
                <a:lnTo>
                  <a:pt x="270891" y="10032"/>
                </a:lnTo>
                <a:lnTo>
                  <a:pt x="26301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39" name="object 80">
            <a:extLst>
              <a:ext uri="{FF2B5EF4-FFF2-40B4-BE49-F238E27FC236}">
                <a16:creationId xmlns:a16="http://schemas.microsoft.com/office/drawing/2014/main" id="{39685F73-0D3B-302B-9811-50DC1FD655C1}"/>
              </a:ext>
            </a:extLst>
          </p:cNvPr>
          <p:cNvSpPr/>
          <p:nvPr/>
        </p:nvSpPr>
        <p:spPr>
          <a:xfrm>
            <a:off x="2325013" y="4540197"/>
            <a:ext cx="208598" cy="159544"/>
          </a:xfrm>
          <a:custGeom>
            <a:avLst/>
            <a:gdLst/>
            <a:ahLst/>
            <a:cxnLst/>
            <a:rect l="l" t="t" r="r" b="b"/>
            <a:pathLst>
              <a:path w="278130" h="212725">
                <a:moveTo>
                  <a:pt x="213357" y="171461"/>
                </a:moveTo>
                <a:lnTo>
                  <a:pt x="194182" y="196811"/>
                </a:lnTo>
                <a:lnTo>
                  <a:pt x="277875" y="212382"/>
                </a:lnTo>
                <a:lnTo>
                  <a:pt x="261457" y="179146"/>
                </a:lnTo>
                <a:lnTo>
                  <a:pt x="223519" y="179146"/>
                </a:lnTo>
                <a:lnTo>
                  <a:pt x="213357" y="171461"/>
                </a:lnTo>
                <a:close/>
              </a:path>
              <a:path w="278130" h="212725">
                <a:moveTo>
                  <a:pt x="221006" y="161349"/>
                </a:moveTo>
                <a:lnTo>
                  <a:pt x="213357" y="171461"/>
                </a:lnTo>
                <a:lnTo>
                  <a:pt x="223519" y="179146"/>
                </a:lnTo>
                <a:lnTo>
                  <a:pt x="231139" y="169011"/>
                </a:lnTo>
                <a:lnTo>
                  <a:pt x="221006" y="161349"/>
                </a:lnTo>
                <a:close/>
              </a:path>
              <a:path w="278130" h="212725">
                <a:moveTo>
                  <a:pt x="240156" y="136029"/>
                </a:moveTo>
                <a:lnTo>
                  <a:pt x="221006" y="161349"/>
                </a:lnTo>
                <a:lnTo>
                  <a:pt x="231139" y="169011"/>
                </a:lnTo>
                <a:lnTo>
                  <a:pt x="223519" y="179146"/>
                </a:lnTo>
                <a:lnTo>
                  <a:pt x="261457" y="179146"/>
                </a:lnTo>
                <a:lnTo>
                  <a:pt x="240156" y="136029"/>
                </a:lnTo>
                <a:close/>
              </a:path>
              <a:path w="278130" h="212725">
                <a:moveTo>
                  <a:pt x="7619" y="0"/>
                </a:moveTo>
                <a:lnTo>
                  <a:pt x="0" y="10134"/>
                </a:lnTo>
                <a:lnTo>
                  <a:pt x="213357" y="171461"/>
                </a:lnTo>
                <a:lnTo>
                  <a:pt x="221006" y="161349"/>
                </a:lnTo>
                <a:lnTo>
                  <a:pt x="761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40" name="object 81">
            <a:extLst>
              <a:ext uri="{FF2B5EF4-FFF2-40B4-BE49-F238E27FC236}">
                <a16:creationId xmlns:a16="http://schemas.microsoft.com/office/drawing/2014/main" id="{6A89A8C7-900E-DE57-EF68-7FE1FFACCF9F}"/>
              </a:ext>
            </a:extLst>
          </p:cNvPr>
          <p:cNvSpPr/>
          <p:nvPr/>
        </p:nvSpPr>
        <p:spPr>
          <a:xfrm>
            <a:off x="2301011" y="4543911"/>
            <a:ext cx="57150" cy="155572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41" name="object 82">
            <a:extLst>
              <a:ext uri="{FF2B5EF4-FFF2-40B4-BE49-F238E27FC236}">
                <a16:creationId xmlns:a16="http://schemas.microsoft.com/office/drawing/2014/main" id="{E65C6837-7E04-0023-4310-C839B0EB61F5}"/>
              </a:ext>
            </a:extLst>
          </p:cNvPr>
          <p:cNvSpPr/>
          <p:nvPr/>
        </p:nvSpPr>
        <p:spPr>
          <a:xfrm>
            <a:off x="2033550" y="4700016"/>
            <a:ext cx="190024" cy="95250"/>
          </a:xfrm>
          <a:custGeom>
            <a:avLst/>
            <a:gdLst/>
            <a:ahLst/>
            <a:cxnLst/>
            <a:rect l="l" t="t" r="r" b="b"/>
            <a:pathLst>
              <a:path w="253365" h="127000">
                <a:moveTo>
                  <a:pt x="0" y="126492"/>
                </a:moveTo>
                <a:lnTo>
                  <a:pt x="252984" y="126492"/>
                </a:lnTo>
                <a:lnTo>
                  <a:pt x="252984" y="0"/>
                </a:lnTo>
                <a:lnTo>
                  <a:pt x="0" y="0"/>
                </a:lnTo>
                <a:lnTo>
                  <a:pt x="0" y="126492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42" name="object 83">
            <a:extLst>
              <a:ext uri="{FF2B5EF4-FFF2-40B4-BE49-F238E27FC236}">
                <a16:creationId xmlns:a16="http://schemas.microsoft.com/office/drawing/2014/main" id="{59328E3B-5575-BE2B-45B4-8EDE919CEC27}"/>
              </a:ext>
            </a:extLst>
          </p:cNvPr>
          <p:cNvSpPr/>
          <p:nvPr/>
        </p:nvSpPr>
        <p:spPr>
          <a:xfrm>
            <a:off x="2033550" y="4700016"/>
            <a:ext cx="190024" cy="95250"/>
          </a:xfrm>
          <a:custGeom>
            <a:avLst/>
            <a:gdLst/>
            <a:ahLst/>
            <a:cxnLst/>
            <a:rect l="l" t="t" r="r" b="b"/>
            <a:pathLst>
              <a:path w="253365" h="127000">
                <a:moveTo>
                  <a:pt x="0" y="126492"/>
                </a:moveTo>
                <a:lnTo>
                  <a:pt x="252984" y="126492"/>
                </a:lnTo>
                <a:lnTo>
                  <a:pt x="252984" y="0"/>
                </a:lnTo>
                <a:lnTo>
                  <a:pt x="0" y="0"/>
                </a:lnTo>
                <a:lnTo>
                  <a:pt x="0" y="126492"/>
                </a:lnTo>
                <a:close/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43" name="object 84">
            <a:extLst>
              <a:ext uri="{FF2B5EF4-FFF2-40B4-BE49-F238E27FC236}">
                <a16:creationId xmlns:a16="http://schemas.microsoft.com/office/drawing/2014/main" id="{F6DE82EC-321F-FF77-7321-58EE1EFBC4A6}"/>
              </a:ext>
            </a:extLst>
          </p:cNvPr>
          <p:cNvSpPr/>
          <p:nvPr/>
        </p:nvSpPr>
        <p:spPr>
          <a:xfrm>
            <a:off x="2439314" y="4700016"/>
            <a:ext cx="190024" cy="95250"/>
          </a:xfrm>
          <a:custGeom>
            <a:avLst/>
            <a:gdLst/>
            <a:ahLst/>
            <a:cxnLst/>
            <a:rect l="l" t="t" r="r" b="b"/>
            <a:pathLst>
              <a:path w="253364" h="127000">
                <a:moveTo>
                  <a:pt x="0" y="126492"/>
                </a:moveTo>
                <a:lnTo>
                  <a:pt x="252983" y="126492"/>
                </a:lnTo>
                <a:lnTo>
                  <a:pt x="252983" y="0"/>
                </a:lnTo>
                <a:lnTo>
                  <a:pt x="0" y="0"/>
                </a:lnTo>
                <a:lnTo>
                  <a:pt x="0" y="126492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44" name="object 85">
            <a:extLst>
              <a:ext uri="{FF2B5EF4-FFF2-40B4-BE49-F238E27FC236}">
                <a16:creationId xmlns:a16="http://schemas.microsoft.com/office/drawing/2014/main" id="{49D72170-7148-759E-5699-69D2C6D39F11}"/>
              </a:ext>
            </a:extLst>
          </p:cNvPr>
          <p:cNvSpPr/>
          <p:nvPr/>
        </p:nvSpPr>
        <p:spPr>
          <a:xfrm>
            <a:off x="2439314" y="4700016"/>
            <a:ext cx="190024" cy="95250"/>
          </a:xfrm>
          <a:custGeom>
            <a:avLst/>
            <a:gdLst/>
            <a:ahLst/>
            <a:cxnLst/>
            <a:rect l="l" t="t" r="r" b="b"/>
            <a:pathLst>
              <a:path w="253364" h="127000">
                <a:moveTo>
                  <a:pt x="0" y="126492"/>
                </a:moveTo>
                <a:lnTo>
                  <a:pt x="252983" y="126492"/>
                </a:lnTo>
                <a:lnTo>
                  <a:pt x="252983" y="0"/>
                </a:lnTo>
                <a:lnTo>
                  <a:pt x="0" y="0"/>
                </a:lnTo>
                <a:lnTo>
                  <a:pt x="0" y="126492"/>
                </a:lnTo>
                <a:close/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45" name="object 86">
            <a:extLst>
              <a:ext uri="{FF2B5EF4-FFF2-40B4-BE49-F238E27FC236}">
                <a16:creationId xmlns:a16="http://schemas.microsoft.com/office/drawing/2014/main" id="{9F0EC574-AC44-3A9C-1957-69E6B2649BBC}"/>
              </a:ext>
            </a:extLst>
          </p:cNvPr>
          <p:cNvSpPr/>
          <p:nvPr/>
        </p:nvSpPr>
        <p:spPr>
          <a:xfrm>
            <a:off x="2023834" y="4791456"/>
            <a:ext cx="297752" cy="238887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46" name="object 87">
            <a:extLst>
              <a:ext uri="{FF2B5EF4-FFF2-40B4-BE49-F238E27FC236}">
                <a16:creationId xmlns:a16="http://schemas.microsoft.com/office/drawing/2014/main" id="{9A1B95D6-C2BB-F955-070D-24B5C50B4ADF}"/>
              </a:ext>
            </a:extLst>
          </p:cNvPr>
          <p:cNvSpPr/>
          <p:nvPr/>
        </p:nvSpPr>
        <p:spPr>
          <a:xfrm>
            <a:off x="2144420" y="4934331"/>
            <a:ext cx="177165" cy="96203"/>
          </a:xfrm>
          <a:custGeom>
            <a:avLst/>
            <a:gdLst/>
            <a:ahLst/>
            <a:cxnLst/>
            <a:rect l="l" t="t" r="r" b="b"/>
            <a:pathLst>
              <a:path w="236219" h="128270">
                <a:moveTo>
                  <a:pt x="37973" y="0"/>
                </a:moveTo>
                <a:lnTo>
                  <a:pt x="198247" y="0"/>
                </a:lnTo>
                <a:lnTo>
                  <a:pt x="213020" y="5029"/>
                </a:lnTo>
                <a:lnTo>
                  <a:pt x="225091" y="18745"/>
                </a:lnTo>
                <a:lnTo>
                  <a:pt x="233233" y="39090"/>
                </a:lnTo>
                <a:lnTo>
                  <a:pt x="236220" y="64007"/>
                </a:lnTo>
                <a:lnTo>
                  <a:pt x="233233" y="88920"/>
                </a:lnTo>
                <a:lnTo>
                  <a:pt x="225091" y="109266"/>
                </a:lnTo>
                <a:lnTo>
                  <a:pt x="213020" y="122985"/>
                </a:lnTo>
                <a:lnTo>
                  <a:pt x="198247" y="128015"/>
                </a:lnTo>
                <a:lnTo>
                  <a:pt x="37973" y="128015"/>
                </a:lnTo>
                <a:lnTo>
                  <a:pt x="23199" y="122985"/>
                </a:lnTo>
                <a:lnTo>
                  <a:pt x="11128" y="109266"/>
                </a:lnTo>
                <a:lnTo>
                  <a:pt x="2986" y="88920"/>
                </a:lnTo>
                <a:lnTo>
                  <a:pt x="0" y="64007"/>
                </a:lnTo>
                <a:lnTo>
                  <a:pt x="2986" y="39090"/>
                </a:lnTo>
                <a:lnTo>
                  <a:pt x="11128" y="18745"/>
                </a:lnTo>
                <a:lnTo>
                  <a:pt x="23199" y="5029"/>
                </a:lnTo>
                <a:lnTo>
                  <a:pt x="37973" y="0"/>
                </a:lnTo>
                <a:close/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47" name="object 88">
            <a:extLst>
              <a:ext uri="{FF2B5EF4-FFF2-40B4-BE49-F238E27FC236}">
                <a16:creationId xmlns:a16="http://schemas.microsoft.com/office/drawing/2014/main" id="{B91CB1E5-98C2-896C-C6F3-A79F9424B888}"/>
              </a:ext>
            </a:extLst>
          </p:cNvPr>
          <p:cNvSpPr/>
          <p:nvPr/>
        </p:nvSpPr>
        <p:spPr>
          <a:xfrm>
            <a:off x="1935252" y="4934332"/>
            <a:ext cx="177164" cy="96011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48" name="object 89">
            <a:extLst>
              <a:ext uri="{FF2B5EF4-FFF2-40B4-BE49-F238E27FC236}">
                <a16:creationId xmlns:a16="http://schemas.microsoft.com/office/drawing/2014/main" id="{C03F0403-087F-F5F7-249C-EE7E640C9589}"/>
              </a:ext>
            </a:extLst>
          </p:cNvPr>
          <p:cNvSpPr/>
          <p:nvPr/>
        </p:nvSpPr>
        <p:spPr>
          <a:xfrm>
            <a:off x="1935251" y="4934331"/>
            <a:ext cx="177165" cy="96203"/>
          </a:xfrm>
          <a:custGeom>
            <a:avLst/>
            <a:gdLst/>
            <a:ahLst/>
            <a:cxnLst/>
            <a:rect l="l" t="t" r="r" b="b"/>
            <a:pathLst>
              <a:path w="236219" h="128270">
                <a:moveTo>
                  <a:pt x="37998" y="0"/>
                </a:moveTo>
                <a:lnTo>
                  <a:pt x="198221" y="0"/>
                </a:lnTo>
                <a:lnTo>
                  <a:pt x="213009" y="5029"/>
                </a:lnTo>
                <a:lnTo>
                  <a:pt x="225088" y="18745"/>
                </a:lnTo>
                <a:lnTo>
                  <a:pt x="233233" y="39090"/>
                </a:lnTo>
                <a:lnTo>
                  <a:pt x="236219" y="64007"/>
                </a:lnTo>
                <a:lnTo>
                  <a:pt x="233233" y="88920"/>
                </a:lnTo>
                <a:lnTo>
                  <a:pt x="225088" y="109266"/>
                </a:lnTo>
                <a:lnTo>
                  <a:pt x="213009" y="122985"/>
                </a:lnTo>
                <a:lnTo>
                  <a:pt x="198221" y="128015"/>
                </a:lnTo>
                <a:lnTo>
                  <a:pt x="37998" y="128015"/>
                </a:lnTo>
                <a:lnTo>
                  <a:pt x="23210" y="122985"/>
                </a:lnTo>
                <a:lnTo>
                  <a:pt x="11131" y="109266"/>
                </a:lnTo>
                <a:lnTo>
                  <a:pt x="2986" y="88920"/>
                </a:lnTo>
                <a:lnTo>
                  <a:pt x="0" y="64007"/>
                </a:lnTo>
                <a:lnTo>
                  <a:pt x="2986" y="39090"/>
                </a:lnTo>
                <a:lnTo>
                  <a:pt x="11131" y="18745"/>
                </a:lnTo>
                <a:lnTo>
                  <a:pt x="23210" y="5029"/>
                </a:lnTo>
                <a:lnTo>
                  <a:pt x="37998" y="0"/>
                </a:lnTo>
                <a:close/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49" name="object 90">
            <a:extLst>
              <a:ext uri="{FF2B5EF4-FFF2-40B4-BE49-F238E27FC236}">
                <a16:creationId xmlns:a16="http://schemas.microsoft.com/office/drawing/2014/main" id="{3D55D056-130F-1755-375B-7E0D425C10ED}"/>
              </a:ext>
            </a:extLst>
          </p:cNvPr>
          <p:cNvSpPr/>
          <p:nvPr/>
        </p:nvSpPr>
        <p:spPr>
          <a:xfrm>
            <a:off x="2242718" y="4700016"/>
            <a:ext cx="177165" cy="94869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50" name="object 91">
            <a:extLst>
              <a:ext uri="{FF2B5EF4-FFF2-40B4-BE49-F238E27FC236}">
                <a16:creationId xmlns:a16="http://schemas.microsoft.com/office/drawing/2014/main" id="{2A7ED660-7B3A-17FE-D35C-943C6623E01A}"/>
              </a:ext>
            </a:extLst>
          </p:cNvPr>
          <p:cNvSpPr/>
          <p:nvPr/>
        </p:nvSpPr>
        <p:spPr>
          <a:xfrm>
            <a:off x="2242718" y="4700016"/>
            <a:ext cx="177165" cy="95250"/>
          </a:xfrm>
          <a:custGeom>
            <a:avLst/>
            <a:gdLst/>
            <a:ahLst/>
            <a:cxnLst/>
            <a:rect l="l" t="t" r="r" b="b"/>
            <a:pathLst>
              <a:path w="236219" h="127000">
                <a:moveTo>
                  <a:pt x="37972" y="0"/>
                </a:moveTo>
                <a:lnTo>
                  <a:pt x="198247" y="0"/>
                </a:lnTo>
                <a:lnTo>
                  <a:pt x="213020" y="4970"/>
                </a:lnTo>
                <a:lnTo>
                  <a:pt x="225091" y="18526"/>
                </a:lnTo>
                <a:lnTo>
                  <a:pt x="233233" y="38629"/>
                </a:lnTo>
                <a:lnTo>
                  <a:pt x="236220" y="63246"/>
                </a:lnTo>
                <a:lnTo>
                  <a:pt x="233233" y="87862"/>
                </a:lnTo>
                <a:lnTo>
                  <a:pt x="225091" y="107965"/>
                </a:lnTo>
                <a:lnTo>
                  <a:pt x="213020" y="121521"/>
                </a:lnTo>
                <a:lnTo>
                  <a:pt x="198247" y="126492"/>
                </a:lnTo>
                <a:lnTo>
                  <a:pt x="37972" y="126492"/>
                </a:lnTo>
                <a:lnTo>
                  <a:pt x="23199" y="121521"/>
                </a:lnTo>
                <a:lnTo>
                  <a:pt x="11128" y="107965"/>
                </a:lnTo>
                <a:lnTo>
                  <a:pt x="2986" y="87862"/>
                </a:lnTo>
                <a:lnTo>
                  <a:pt x="0" y="63246"/>
                </a:lnTo>
                <a:lnTo>
                  <a:pt x="2986" y="38629"/>
                </a:lnTo>
                <a:lnTo>
                  <a:pt x="11128" y="18526"/>
                </a:lnTo>
                <a:lnTo>
                  <a:pt x="23199" y="4970"/>
                </a:lnTo>
                <a:lnTo>
                  <a:pt x="37972" y="0"/>
                </a:lnTo>
                <a:close/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51" name="object 92">
            <a:extLst>
              <a:ext uri="{FF2B5EF4-FFF2-40B4-BE49-F238E27FC236}">
                <a16:creationId xmlns:a16="http://schemas.microsoft.com/office/drawing/2014/main" id="{51544485-0003-5713-38C6-A2DA29F2E923}"/>
              </a:ext>
            </a:extLst>
          </p:cNvPr>
          <p:cNvSpPr/>
          <p:nvPr/>
        </p:nvSpPr>
        <p:spPr>
          <a:xfrm>
            <a:off x="2441029" y="4790123"/>
            <a:ext cx="297751" cy="240221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52" name="object 93">
            <a:extLst>
              <a:ext uri="{FF2B5EF4-FFF2-40B4-BE49-F238E27FC236}">
                <a16:creationId xmlns:a16="http://schemas.microsoft.com/office/drawing/2014/main" id="{9C55022B-2C59-C01A-5748-CFC12527EC96}"/>
              </a:ext>
            </a:extLst>
          </p:cNvPr>
          <p:cNvSpPr/>
          <p:nvPr/>
        </p:nvSpPr>
        <p:spPr>
          <a:xfrm>
            <a:off x="2561615" y="4934331"/>
            <a:ext cx="177165" cy="96203"/>
          </a:xfrm>
          <a:custGeom>
            <a:avLst/>
            <a:gdLst/>
            <a:ahLst/>
            <a:cxnLst/>
            <a:rect l="l" t="t" r="r" b="b"/>
            <a:pathLst>
              <a:path w="236219" h="128270">
                <a:moveTo>
                  <a:pt x="37973" y="0"/>
                </a:moveTo>
                <a:lnTo>
                  <a:pt x="198246" y="0"/>
                </a:lnTo>
                <a:lnTo>
                  <a:pt x="213020" y="5029"/>
                </a:lnTo>
                <a:lnTo>
                  <a:pt x="225091" y="18745"/>
                </a:lnTo>
                <a:lnTo>
                  <a:pt x="233233" y="39090"/>
                </a:lnTo>
                <a:lnTo>
                  <a:pt x="236219" y="64007"/>
                </a:lnTo>
                <a:lnTo>
                  <a:pt x="233233" y="88920"/>
                </a:lnTo>
                <a:lnTo>
                  <a:pt x="225091" y="109266"/>
                </a:lnTo>
                <a:lnTo>
                  <a:pt x="213020" y="122985"/>
                </a:lnTo>
                <a:lnTo>
                  <a:pt x="198246" y="128015"/>
                </a:lnTo>
                <a:lnTo>
                  <a:pt x="37973" y="128015"/>
                </a:lnTo>
                <a:lnTo>
                  <a:pt x="23199" y="122985"/>
                </a:lnTo>
                <a:lnTo>
                  <a:pt x="11128" y="109266"/>
                </a:lnTo>
                <a:lnTo>
                  <a:pt x="2986" y="88920"/>
                </a:lnTo>
                <a:lnTo>
                  <a:pt x="0" y="64007"/>
                </a:lnTo>
                <a:lnTo>
                  <a:pt x="2986" y="39090"/>
                </a:lnTo>
                <a:lnTo>
                  <a:pt x="11128" y="18745"/>
                </a:lnTo>
                <a:lnTo>
                  <a:pt x="23199" y="5029"/>
                </a:lnTo>
                <a:lnTo>
                  <a:pt x="37973" y="0"/>
                </a:lnTo>
                <a:close/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53" name="object 94">
            <a:extLst>
              <a:ext uri="{FF2B5EF4-FFF2-40B4-BE49-F238E27FC236}">
                <a16:creationId xmlns:a16="http://schemas.microsoft.com/office/drawing/2014/main" id="{9BB10597-A075-EE08-45E5-061E1FDE4402}"/>
              </a:ext>
            </a:extLst>
          </p:cNvPr>
          <p:cNvSpPr/>
          <p:nvPr/>
        </p:nvSpPr>
        <p:spPr>
          <a:xfrm>
            <a:off x="2352447" y="4934332"/>
            <a:ext cx="177164" cy="96011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54" name="object 95">
            <a:extLst>
              <a:ext uri="{FF2B5EF4-FFF2-40B4-BE49-F238E27FC236}">
                <a16:creationId xmlns:a16="http://schemas.microsoft.com/office/drawing/2014/main" id="{E7AE7A1F-3D5C-8148-4596-A37D525138E4}"/>
              </a:ext>
            </a:extLst>
          </p:cNvPr>
          <p:cNvSpPr/>
          <p:nvPr/>
        </p:nvSpPr>
        <p:spPr>
          <a:xfrm>
            <a:off x="2352446" y="4934331"/>
            <a:ext cx="177165" cy="96203"/>
          </a:xfrm>
          <a:custGeom>
            <a:avLst/>
            <a:gdLst/>
            <a:ahLst/>
            <a:cxnLst/>
            <a:rect l="l" t="t" r="r" b="b"/>
            <a:pathLst>
              <a:path w="236219" h="128270">
                <a:moveTo>
                  <a:pt x="37973" y="0"/>
                </a:moveTo>
                <a:lnTo>
                  <a:pt x="198247" y="0"/>
                </a:lnTo>
                <a:lnTo>
                  <a:pt x="213020" y="5029"/>
                </a:lnTo>
                <a:lnTo>
                  <a:pt x="225091" y="18745"/>
                </a:lnTo>
                <a:lnTo>
                  <a:pt x="233233" y="39090"/>
                </a:lnTo>
                <a:lnTo>
                  <a:pt x="236219" y="64007"/>
                </a:lnTo>
                <a:lnTo>
                  <a:pt x="233233" y="88920"/>
                </a:lnTo>
                <a:lnTo>
                  <a:pt x="225091" y="109266"/>
                </a:lnTo>
                <a:lnTo>
                  <a:pt x="213020" y="122985"/>
                </a:lnTo>
                <a:lnTo>
                  <a:pt x="198247" y="128015"/>
                </a:lnTo>
                <a:lnTo>
                  <a:pt x="37973" y="128015"/>
                </a:lnTo>
                <a:lnTo>
                  <a:pt x="23199" y="122985"/>
                </a:lnTo>
                <a:lnTo>
                  <a:pt x="11128" y="109266"/>
                </a:lnTo>
                <a:lnTo>
                  <a:pt x="2986" y="88920"/>
                </a:lnTo>
                <a:lnTo>
                  <a:pt x="0" y="64007"/>
                </a:lnTo>
                <a:lnTo>
                  <a:pt x="2986" y="39090"/>
                </a:lnTo>
                <a:lnTo>
                  <a:pt x="11128" y="18745"/>
                </a:lnTo>
                <a:lnTo>
                  <a:pt x="23199" y="5029"/>
                </a:lnTo>
                <a:lnTo>
                  <a:pt x="37973" y="0"/>
                </a:lnTo>
                <a:close/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55" name="object 96">
            <a:extLst>
              <a:ext uri="{FF2B5EF4-FFF2-40B4-BE49-F238E27FC236}">
                <a16:creationId xmlns:a16="http://schemas.microsoft.com/office/drawing/2014/main" id="{9D97DBB8-E6F5-672B-6F10-C43D2A36C98C}"/>
              </a:ext>
            </a:extLst>
          </p:cNvPr>
          <p:cNvSpPr txBox="1"/>
          <p:nvPr/>
        </p:nvSpPr>
        <p:spPr>
          <a:xfrm>
            <a:off x="2183472" y="4271106"/>
            <a:ext cx="308134" cy="131350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spcBef>
                <a:spcPts val="79"/>
              </a:spcBef>
            </a:pPr>
            <a:r>
              <a:rPr lang="en-US" sz="788" dirty="0"/>
              <a:t>T</a:t>
            </a:r>
            <a:r>
              <a:rPr sz="788" dirty="0">
                <a:latin typeface="Arial"/>
                <a:cs typeface="Arial"/>
              </a:rPr>
              <a:t>ree</a:t>
            </a:r>
            <a:r>
              <a:rPr sz="788" spc="-64" dirty="0">
                <a:latin typeface="Arial"/>
                <a:cs typeface="Arial"/>
              </a:rPr>
              <a:t> </a:t>
            </a:r>
            <a:r>
              <a:rPr sz="788" dirty="0">
                <a:latin typeface="Arial"/>
                <a:cs typeface="Arial"/>
              </a:rPr>
              <a:t>1</a:t>
            </a:r>
          </a:p>
        </p:txBody>
      </p:sp>
      <p:sp>
        <p:nvSpPr>
          <p:cNvPr id="156" name="object 97">
            <a:extLst>
              <a:ext uri="{FF2B5EF4-FFF2-40B4-BE49-F238E27FC236}">
                <a16:creationId xmlns:a16="http://schemas.microsoft.com/office/drawing/2014/main" id="{CC5C0A25-ECE1-9162-DBCD-CEEFC195DB7A}"/>
              </a:ext>
            </a:extLst>
          </p:cNvPr>
          <p:cNvSpPr/>
          <p:nvPr/>
        </p:nvSpPr>
        <p:spPr>
          <a:xfrm>
            <a:off x="3318281" y="4449699"/>
            <a:ext cx="190976" cy="95250"/>
          </a:xfrm>
          <a:custGeom>
            <a:avLst/>
            <a:gdLst/>
            <a:ahLst/>
            <a:cxnLst/>
            <a:rect l="l" t="t" r="r" b="b"/>
            <a:pathLst>
              <a:path w="254635" h="127000">
                <a:moveTo>
                  <a:pt x="0" y="126491"/>
                </a:moveTo>
                <a:lnTo>
                  <a:pt x="254507" y="126491"/>
                </a:lnTo>
                <a:lnTo>
                  <a:pt x="254507" y="0"/>
                </a:lnTo>
                <a:lnTo>
                  <a:pt x="0" y="0"/>
                </a:lnTo>
                <a:lnTo>
                  <a:pt x="0" y="126491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57" name="object 98">
            <a:extLst>
              <a:ext uri="{FF2B5EF4-FFF2-40B4-BE49-F238E27FC236}">
                <a16:creationId xmlns:a16="http://schemas.microsoft.com/office/drawing/2014/main" id="{1CC10873-3177-C2B6-C24E-1B2237B35C03}"/>
              </a:ext>
            </a:extLst>
          </p:cNvPr>
          <p:cNvSpPr/>
          <p:nvPr/>
        </p:nvSpPr>
        <p:spPr>
          <a:xfrm>
            <a:off x="3318281" y="4449699"/>
            <a:ext cx="190976" cy="95250"/>
          </a:xfrm>
          <a:custGeom>
            <a:avLst/>
            <a:gdLst/>
            <a:ahLst/>
            <a:cxnLst/>
            <a:rect l="l" t="t" r="r" b="b"/>
            <a:pathLst>
              <a:path w="254635" h="127000">
                <a:moveTo>
                  <a:pt x="0" y="126491"/>
                </a:moveTo>
                <a:lnTo>
                  <a:pt x="254507" y="126491"/>
                </a:lnTo>
                <a:lnTo>
                  <a:pt x="254507" y="0"/>
                </a:lnTo>
                <a:lnTo>
                  <a:pt x="0" y="0"/>
                </a:lnTo>
                <a:lnTo>
                  <a:pt x="0" y="126491"/>
                </a:lnTo>
                <a:close/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58" name="object 99">
            <a:extLst>
              <a:ext uri="{FF2B5EF4-FFF2-40B4-BE49-F238E27FC236}">
                <a16:creationId xmlns:a16="http://schemas.microsoft.com/office/drawing/2014/main" id="{02C5487B-6381-63C7-BBFA-3766DEEFBDD3}"/>
              </a:ext>
            </a:extLst>
          </p:cNvPr>
          <p:cNvSpPr/>
          <p:nvPr/>
        </p:nvSpPr>
        <p:spPr>
          <a:xfrm>
            <a:off x="3212554" y="4540235"/>
            <a:ext cx="203359" cy="159544"/>
          </a:xfrm>
          <a:custGeom>
            <a:avLst/>
            <a:gdLst/>
            <a:ahLst/>
            <a:cxnLst/>
            <a:rect l="l" t="t" r="r" b="b"/>
            <a:pathLst>
              <a:path w="271144" h="212725">
                <a:moveTo>
                  <a:pt x="36830" y="135496"/>
                </a:moveTo>
                <a:lnTo>
                  <a:pt x="0" y="212331"/>
                </a:lnTo>
                <a:lnTo>
                  <a:pt x="83565" y="195681"/>
                </a:lnTo>
                <a:lnTo>
                  <a:pt x="70143" y="178396"/>
                </a:lnTo>
                <a:lnTo>
                  <a:pt x="54101" y="178396"/>
                </a:lnTo>
                <a:lnTo>
                  <a:pt x="46227" y="168363"/>
                </a:lnTo>
                <a:lnTo>
                  <a:pt x="56286" y="160552"/>
                </a:lnTo>
                <a:lnTo>
                  <a:pt x="36830" y="135496"/>
                </a:lnTo>
                <a:close/>
              </a:path>
              <a:path w="271144" h="212725">
                <a:moveTo>
                  <a:pt x="56286" y="160552"/>
                </a:moveTo>
                <a:lnTo>
                  <a:pt x="46227" y="168363"/>
                </a:lnTo>
                <a:lnTo>
                  <a:pt x="54101" y="178396"/>
                </a:lnTo>
                <a:lnTo>
                  <a:pt x="64108" y="170625"/>
                </a:lnTo>
                <a:lnTo>
                  <a:pt x="56286" y="160552"/>
                </a:lnTo>
                <a:close/>
              </a:path>
              <a:path w="271144" h="212725">
                <a:moveTo>
                  <a:pt x="64108" y="170625"/>
                </a:moveTo>
                <a:lnTo>
                  <a:pt x="54101" y="178396"/>
                </a:lnTo>
                <a:lnTo>
                  <a:pt x="70143" y="178396"/>
                </a:lnTo>
                <a:lnTo>
                  <a:pt x="64108" y="170625"/>
                </a:lnTo>
                <a:close/>
              </a:path>
              <a:path w="271144" h="212725">
                <a:moveTo>
                  <a:pt x="263016" y="0"/>
                </a:moveTo>
                <a:lnTo>
                  <a:pt x="56286" y="160552"/>
                </a:lnTo>
                <a:lnTo>
                  <a:pt x="64108" y="170625"/>
                </a:lnTo>
                <a:lnTo>
                  <a:pt x="270890" y="10032"/>
                </a:lnTo>
                <a:lnTo>
                  <a:pt x="26301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59" name="object 100">
            <a:extLst>
              <a:ext uri="{FF2B5EF4-FFF2-40B4-BE49-F238E27FC236}">
                <a16:creationId xmlns:a16="http://schemas.microsoft.com/office/drawing/2014/main" id="{590F40FD-4FB4-205A-31D9-2EBF210C02AA}"/>
              </a:ext>
            </a:extLst>
          </p:cNvPr>
          <p:cNvSpPr/>
          <p:nvPr/>
        </p:nvSpPr>
        <p:spPr>
          <a:xfrm>
            <a:off x="3410863" y="4540197"/>
            <a:ext cx="208598" cy="159544"/>
          </a:xfrm>
          <a:custGeom>
            <a:avLst/>
            <a:gdLst/>
            <a:ahLst/>
            <a:cxnLst/>
            <a:rect l="l" t="t" r="r" b="b"/>
            <a:pathLst>
              <a:path w="278129" h="212725">
                <a:moveTo>
                  <a:pt x="213357" y="171461"/>
                </a:moveTo>
                <a:lnTo>
                  <a:pt x="194182" y="196811"/>
                </a:lnTo>
                <a:lnTo>
                  <a:pt x="277876" y="212382"/>
                </a:lnTo>
                <a:lnTo>
                  <a:pt x="261457" y="179146"/>
                </a:lnTo>
                <a:lnTo>
                  <a:pt x="223519" y="179146"/>
                </a:lnTo>
                <a:lnTo>
                  <a:pt x="213357" y="171461"/>
                </a:lnTo>
                <a:close/>
              </a:path>
              <a:path w="278129" h="212725">
                <a:moveTo>
                  <a:pt x="221006" y="161349"/>
                </a:moveTo>
                <a:lnTo>
                  <a:pt x="213357" y="171461"/>
                </a:lnTo>
                <a:lnTo>
                  <a:pt x="223519" y="179146"/>
                </a:lnTo>
                <a:lnTo>
                  <a:pt x="231139" y="169011"/>
                </a:lnTo>
                <a:lnTo>
                  <a:pt x="221006" y="161349"/>
                </a:lnTo>
                <a:close/>
              </a:path>
              <a:path w="278129" h="212725">
                <a:moveTo>
                  <a:pt x="240156" y="136029"/>
                </a:moveTo>
                <a:lnTo>
                  <a:pt x="221006" y="161349"/>
                </a:lnTo>
                <a:lnTo>
                  <a:pt x="231139" y="169011"/>
                </a:lnTo>
                <a:lnTo>
                  <a:pt x="223519" y="179146"/>
                </a:lnTo>
                <a:lnTo>
                  <a:pt x="261457" y="179146"/>
                </a:lnTo>
                <a:lnTo>
                  <a:pt x="240156" y="136029"/>
                </a:lnTo>
                <a:close/>
              </a:path>
              <a:path w="278129" h="212725">
                <a:moveTo>
                  <a:pt x="7619" y="0"/>
                </a:moveTo>
                <a:lnTo>
                  <a:pt x="0" y="10134"/>
                </a:lnTo>
                <a:lnTo>
                  <a:pt x="213357" y="171461"/>
                </a:lnTo>
                <a:lnTo>
                  <a:pt x="221006" y="161349"/>
                </a:lnTo>
                <a:lnTo>
                  <a:pt x="761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60" name="object 101">
            <a:extLst>
              <a:ext uri="{FF2B5EF4-FFF2-40B4-BE49-F238E27FC236}">
                <a16:creationId xmlns:a16="http://schemas.microsoft.com/office/drawing/2014/main" id="{36FD4640-F22C-500C-1870-6CECD76560EA}"/>
              </a:ext>
            </a:extLst>
          </p:cNvPr>
          <p:cNvSpPr/>
          <p:nvPr/>
        </p:nvSpPr>
        <p:spPr>
          <a:xfrm>
            <a:off x="3386861" y="4543911"/>
            <a:ext cx="57150" cy="155572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61" name="object 102">
            <a:extLst>
              <a:ext uri="{FF2B5EF4-FFF2-40B4-BE49-F238E27FC236}">
                <a16:creationId xmlns:a16="http://schemas.microsoft.com/office/drawing/2014/main" id="{603EB802-4F15-9BE9-28C6-88F034277D4A}"/>
              </a:ext>
            </a:extLst>
          </p:cNvPr>
          <p:cNvSpPr/>
          <p:nvPr/>
        </p:nvSpPr>
        <p:spPr>
          <a:xfrm>
            <a:off x="3118256" y="4700016"/>
            <a:ext cx="190976" cy="96203"/>
          </a:xfrm>
          <a:custGeom>
            <a:avLst/>
            <a:gdLst/>
            <a:ahLst/>
            <a:cxnLst/>
            <a:rect l="l" t="t" r="r" b="b"/>
            <a:pathLst>
              <a:path w="254635" h="128270">
                <a:moveTo>
                  <a:pt x="0" y="128016"/>
                </a:moveTo>
                <a:lnTo>
                  <a:pt x="254507" y="128016"/>
                </a:lnTo>
                <a:lnTo>
                  <a:pt x="254507" y="0"/>
                </a:lnTo>
                <a:lnTo>
                  <a:pt x="0" y="0"/>
                </a:lnTo>
                <a:lnTo>
                  <a:pt x="0" y="12801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62" name="object 103">
            <a:extLst>
              <a:ext uri="{FF2B5EF4-FFF2-40B4-BE49-F238E27FC236}">
                <a16:creationId xmlns:a16="http://schemas.microsoft.com/office/drawing/2014/main" id="{C3DB8F20-A48B-BA4B-80F6-71A066686A6A}"/>
              </a:ext>
            </a:extLst>
          </p:cNvPr>
          <p:cNvSpPr/>
          <p:nvPr/>
        </p:nvSpPr>
        <p:spPr>
          <a:xfrm>
            <a:off x="3118256" y="4700016"/>
            <a:ext cx="190976" cy="96203"/>
          </a:xfrm>
          <a:custGeom>
            <a:avLst/>
            <a:gdLst/>
            <a:ahLst/>
            <a:cxnLst/>
            <a:rect l="l" t="t" r="r" b="b"/>
            <a:pathLst>
              <a:path w="254635" h="128270">
                <a:moveTo>
                  <a:pt x="0" y="128016"/>
                </a:moveTo>
                <a:lnTo>
                  <a:pt x="254507" y="128016"/>
                </a:lnTo>
                <a:lnTo>
                  <a:pt x="254507" y="0"/>
                </a:lnTo>
                <a:lnTo>
                  <a:pt x="0" y="0"/>
                </a:lnTo>
                <a:lnTo>
                  <a:pt x="0" y="128016"/>
                </a:lnTo>
                <a:close/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63" name="object 104">
            <a:extLst>
              <a:ext uri="{FF2B5EF4-FFF2-40B4-BE49-F238E27FC236}">
                <a16:creationId xmlns:a16="http://schemas.microsoft.com/office/drawing/2014/main" id="{6161D532-8BED-2B74-9950-5934FC510355}"/>
              </a:ext>
            </a:extLst>
          </p:cNvPr>
          <p:cNvSpPr/>
          <p:nvPr/>
        </p:nvSpPr>
        <p:spPr>
          <a:xfrm>
            <a:off x="3524022" y="4700016"/>
            <a:ext cx="190976" cy="96203"/>
          </a:xfrm>
          <a:custGeom>
            <a:avLst/>
            <a:gdLst/>
            <a:ahLst/>
            <a:cxnLst/>
            <a:rect l="l" t="t" r="r" b="b"/>
            <a:pathLst>
              <a:path w="254635" h="128270">
                <a:moveTo>
                  <a:pt x="0" y="128016"/>
                </a:moveTo>
                <a:lnTo>
                  <a:pt x="254507" y="128016"/>
                </a:lnTo>
                <a:lnTo>
                  <a:pt x="254507" y="0"/>
                </a:lnTo>
                <a:lnTo>
                  <a:pt x="0" y="0"/>
                </a:lnTo>
                <a:lnTo>
                  <a:pt x="0" y="12801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64" name="object 105">
            <a:extLst>
              <a:ext uri="{FF2B5EF4-FFF2-40B4-BE49-F238E27FC236}">
                <a16:creationId xmlns:a16="http://schemas.microsoft.com/office/drawing/2014/main" id="{83CF143E-32D2-E305-055F-7BFC1563C620}"/>
              </a:ext>
            </a:extLst>
          </p:cNvPr>
          <p:cNvSpPr/>
          <p:nvPr/>
        </p:nvSpPr>
        <p:spPr>
          <a:xfrm>
            <a:off x="3524022" y="4700016"/>
            <a:ext cx="190976" cy="96203"/>
          </a:xfrm>
          <a:custGeom>
            <a:avLst/>
            <a:gdLst/>
            <a:ahLst/>
            <a:cxnLst/>
            <a:rect l="l" t="t" r="r" b="b"/>
            <a:pathLst>
              <a:path w="254635" h="128270">
                <a:moveTo>
                  <a:pt x="0" y="128016"/>
                </a:moveTo>
                <a:lnTo>
                  <a:pt x="254507" y="128016"/>
                </a:lnTo>
                <a:lnTo>
                  <a:pt x="254507" y="0"/>
                </a:lnTo>
                <a:lnTo>
                  <a:pt x="0" y="0"/>
                </a:lnTo>
                <a:lnTo>
                  <a:pt x="0" y="128016"/>
                </a:lnTo>
                <a:close/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65" name="object 106">
            <a:extLst>
              <a:ext uri="{FF2B5EF4-FFF2-40B4-BE49-F238E27FC236}">
                <a16:creationId xmlns:a16="http://schemas.microsoft.com/office/drawing/2014/main" id="{29013B1A-ADF9-49D9-144B-02AF22D885D4}"/>
              </a:ext>
            </a:extLst>
          </p:cNvPr>
          <p:cNvSpPr/>
          <p:nvPr/>
        </p:nvSpPr>
        <p:spPr>
          <a:xfrm>
            <a:off x="3108540" y="4792599"/>
            <a:ext cx="297752" cy="237744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66" name="object 107">
            <a:extLst>
              <a:ext uri="{FF2B5EF4-FFF2-40B4-BE49-F238E27FC236}">
                <a16:creationId xmlns:a16="http://schemas.microsoft.com/office/drawing/2014/main" id="{E7E19191-EE52-7350-0079-7ACD9DA136BC}"/>
              </a:ext>
            </a:extLst>
          </p:cNvPr>
          <p:cNvSpPr/>
          <p:nvPr/>
        </p:nvSpPr>
        <p:spPr>
          <a:xfrm>
            <a:off x="3229127" y="4935474"/>
            <a:ext cx="177165" cy="95250"/>
          </a:xfrm>
          <a:custGeom>
            <a:avLst/>
            <a:gdLst/>
            <a:ahLst/>
            <a:cxnLst/>
            <a:rect l="l" t="t" r="r" b="b"/>
            <a:pathLst>
              <a:path w="236219" h="127000">
                <a:moveTo>
                  <a:pt x="37973" y="0"/>
                </a:moveTo>
                <a:lnTo>
                  <a:pt x="198247" y="0"/>
                </a:lnTo>
                <a:lnTo>
                  <a:pt x="213020" y="4970"/>
                </a:lnTo>
                <a:lnTo>
                  <a:pt x="225091" y="18526"/>
                </a:lnTo>
                <a:lnTo>
                  <a:pt x="233233" y="38629"/>
                </a:lnTo>
                <a:lnTo>
                  <a:pt x="236220" y="63245"/>
                </a:lnTo>
                <a:lnTo>
                  <a:pt x="233233" y="87862"/>
                </a:lnTo>
                <a:lnTo>
                  <a:pt x="225091" y="107965"/>
                </a:lnTo>
                <a:lnTo>
                  <a:pt x="213020" y="121521"/>
                </a:lnTo>
                <a:lnTo>
                  <a:pt x="198247" y="126491"/>
                </a:lnTo>
                <a:lnTo>
                  <a:pt x="37973" y="126491"/>
                </a:lnTo>
                <a:lnTo>
                  <a:pt x="23199" y="121521"/>
                </a:lnTo>
                <a:lnTo>
                  <a:pt x="11128" y="107965"/>
                </a:lnTo>
                <a:lnTo>
                  <a:pt x="2986" y="87862"/>
                </a:lnTo>
                <a:lnTo>
                  <a:pt x="0" y="63245"/>
                </a:lnTo>
                <a:lnTo>
                  <a:pt x="2986" y="38629"/>
                </a:lnTo>
                <a:lnTo>
                  <a:pt x="11128" y="18526"/>
                </a:lnTo>
                <a:lnTo>
                  <a:pt x="23199" y="4970"/>
                </a:lnTo>
                <a:lnTo>
                  <a:pt x="37973" y="0"/>
                </a:lnTo>
                <a:close/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67" name="object 108">
            <a:extLst>
              <a:ext uri="{FF2B5EF4-FFF2-40B4-BE49-F238E27FC236}">
                <a16:creationId xmlns:a16="http://schemas.microsoft.com/office/drawing/2014/main" id="{300A2B52-D78C-9AB7-724A-2D67E5E3AF00}"/>
              </a:ext>
            </a:extLst>
          </p:cNvPr>
          <p:cNvSpPr/>
          <p:nvPr/>
        </p:nvSpPr>
        <p:spPr>
          <a:xfrm>
            <a:off x="3021102" y="4935474"/>
            <a:ext cx="176021" cy="94869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68" name="object 109">
            <a:extLst>
              <a:ext uri="{FF2B5EF4-FFF2-40B4-BE49-F238E27FC236}">
                <a16:creationId xmlns:a16="http://schemas.microsoft.com/office/drawing/2014/main" id="{A329D735-9B6C-E181-4ABE-774941E062BA}"/>
              </a:ext>
            </a:extLst>
          </p:cNvPr>
          <p:cNvSpPr/>
          <p:nvPr/>
        </p:nvSpPr>
        <p:spPr>
          <a:xfrm>
            <a:off x="3021101" y="4935474"/>
            <a:ext cx="176213" cy="95250"/>
          </a:xfrm>
          <a:custGeom>
            <a:avLst/>
            <a:gdLst/>
            <a:ahLst/>
            <a:cxnLst/>
            <a:rect l="l" t="t" r="r" b="b"/>
            <a:pathLst>
              <a:path w="234950" h="127000">
                <a:moveTo>
                  <a:pt x="37718" y="0"/>
                </a:moveTo>
                <a:lnTo>
                  <a:pt x="196976" y="0"/>
                </a:lnTo>
                <a:lnTo>
                  <a:pt x="211657" y="4970"/>
                </a:lnTo>
                <a:lnTo>
                  <a:pt x="223646" y="18526"/>
                </a:lnTo>
                <a:lnTo>
                  <a:pt x="231731" y="38629"/>
                </a:lnTo>
                <a:lnTo>
                  <a:pt x="234695" y="63245"/>
                </a:lnTo>
                <a:lnTo>
                  <a:pt x="231731" y="87862"/>
                </a:lnTo>
                <a:lnTo>
                  <a:pt x="223646" y="107965"/>
                </a:lnTo>
                <a:lnTo>
                  <a:pt x="211657" y="121521"/>
                </a:lnTo>
                <a:lnTo>
                  <a:pt x="196976" y="126491"/>
                </a:lnTo>
                <a:lnTo>
                  <a:pt x="37718" y="126491"/>
                </a:lnTo>
                <a:lnTo>
                  <a:pt x="23038" y="121521"/>
                </a:lnTo>
                <a:lnTo>
                  <a:pt x="11049" y="107965"/>
                </a:lnTo>
                <a:lnTo>
                  <a:pt x="2964" y="87862"/>
                </a:lnTo>
                <a:lnTo>
                  <a:pt x="0" y="63245"/>
                </a:lnTo>
                <a:lnTo>
                  <a:pt x="2964" y="38629"/>
                </a:lnTo>
                <a:lnTo>
                  <a:pt x="11049" y="18526"/>
                </a:lnTo>
                <a:lnTo>
                  <a:pt x="23038" y="4970"/>
                </a:lnTo>
                <a:lnTo>
                  <a:pt x="37718" y="0"/>
                </a:lnTo>
                <a:close/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69" name="object 110">
            <a:extLst>
              <a:ext uri="{FF2B5EF4-FFF2-40B4-BE49-F238E27FC236}">
                <a16:creationId xmlns:a16="http://schemas.microsoft.com/office/drawing/2014/main" id="{CC1F627D-5A88-4DC6-B6AD-0055F7E8295C}"/>
              </a:ext>
            </a:extLst>
          </p:cNvPr>
          <p:cNvSpPr/>
          <p:nvPr/>
        </p:nvSpPr>
        <p:spPr>
          <a:xfrm>
            <a:off x="3328568" y="4700017"/>
            <a:ext cx="176022" cy="96011"/>
          </a:xfrm>
          <a:prstGeom prst="rect">
            <a:avLst/>
          </a:prstGeom>
          <a:blipFill>
            <a:blip r:embed="rId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70" name="object 111">
            <a:extLst>
              <a:ext uri="{FF2B5EF4-FFF2-40B4-BE49-F238E27FC236}">
                <a16:creationId xmlns:a16="http://schemas.microsoft.com/office/drawing/2014/main" id="{5C7D76D6-7B52-A018-B410-AF22F53FFFEB}"/>
              </a:ext>
            </a:extLst>
          </p:cNvPr>
          <p:cNvSpPr/>
          <p:nvPr/>
        </p:nvSpPr>
        <p:spPr>
          <a:xfrm>
            <a:off x="3328567" y="4700016"/>
            <a:ext cx="176213" cy="96203"/>
          </a:xfrm>
          <a:custGeom>
            <a:avLst/>
            <a:gdLst/>
            <a:ahLst/>
            <a:cxnLst/>
            <a:rect l="l" t="t" r="r" b="b"/>
            <a:pathLst>
              <a:path w="234950" h="128270">
                <a:moveTo>
                  <a:pt x="37719" y="0"/>
                </a:moveTo>
                <a:lnTo>
                  <a:pt x="196977" y="0"/>
                </a:lnTo>
                <a:lnTo>
                  <a:pt x="211657" y="5029"/>
                </a:lnTo>
                <a:lnTo>
                  <a:pt x="223647" y="18745"/>
                </a:lnTo>
                <a:lnTo>
                  <a:pt x="231731" y="39090"/>
                </a:lnTo>
                <a:lnTo>
                  <a:pt x="234696" y="64008"/>
                </a:lnTo>
                <a:lnTo>
                  <a:pt x="231731" y="88920"/>
                </a:lnTo>
                <a:lnTo>
                  <a:pt x="223647" y="109266"/>
                </a:lnTo>
                <a:lnTo>
                  <a:pt x="211657" y="122985"/>
                </a:lnTo>
                <a:lnTo>
                  <a:pt x="196977" y="128016"/>
                </a:lnTo>
                <a:lnTo>
                  <a:pt x="37719" y="128016"/>
                </a:lnTo>
                <a:lnTo>
                  <a:pt x="23038" y="122985"/>
                </a:lnTo>
                <a:lnTo>
                  <a:pt x="11049" y="109266"/>
                </a:lnTo>
                <a:lnTo>
                  <a:pt x="2964" y="88920"/>
                </a:lnTo>
                <a:lnTo>
                  <a:pt x="0" y="64008"/>
                </a:lnTo>
                <a:lnTo>
                  <a:pt x="2964" y="39090"/>
                </a:lnTo>
                <a:lnTo>
                  <a:pt x="11049" y="18745"/>
                </a:lnTo>
                <a:lnTo>
                  <a:pt x="23038" y="5029"/>
                </a:lnTo>
                <a:lnTo>
                  <a:pt x="37719" y="0"/>
                </a:lnTo>
                <a:close/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71" name="object 112">
            <a:extLst>
              <a:ext uri="{FF2B5EF4-FFF2-40B4-BE49-F238E27FC236}">
                <a16:creationId xmlns:a16="http://schemas.microsoft.com/office/drawing/2014/main" id="{19D0DC96-E98E-C9AD-8476-3492A30C3BE1}"/>
              </a:ext>
            </a:extLst>
          </p:cNvPr>
          <p:cNvSpPr/>
          <p:nvPr/>
        </p:nvSpPr>
        <p:spPr>
          <a:xfrm>
            <a:off x="3525735" y="4791266"/>
            <a:ext cx="297752" cy="239078"/>
          </a:xfrm>
          <a:prstGeom prst="rect">
            <a:avLst/>
          </a:prstGeom>
          <a:blipFill>
            <a:blip r:embed="rId4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72" name="object 113">
            <a:extLst>
              <a:ext uri="{FF2B5EF4-FFF2-40B4-BE49-F238E27FC236}">
                <a16:creationId xmlns:a16="http://schemas.microsoft.com/office/drawing/2014/main" id="{BFC110D9-EE8D-2E44-77EC-FD42B440CECD}"/>
              </a:ext>
            </a:extLst>
          </p:cNvPr>
          <p:cNvSpPr/>
          <p:nvPr/>
        </p:nvSpPr>
        <p:spPr>
          <a:xfrm>
            <a:off x="3646322" y="4935474"/>
            <a:ext cx="177165" cy="95250"/>
          </a:xfrm>
          <a:custGeom>
            <a:avLst/>
            <a:gdLst/>
            <a:ahLst/>
            <a:cxnLst/>
            <a:rect l="l" t="t" r="r" b="b"/>
            <a:pathLst>
              <a:path w="236220" h="127000">
                <a:moveTo>
                  <a:pt x="37973" y="0"/>
                </a:moveTo>
                <a:lnTo>
                  <a:pt x="198247" y="0"/>
                </a:lnTo>
                <a:lnTo>
                  <a:pt x="213020" y="4970"/>
                </a:lnTo>
                <a:lnTo>
                  <a:pt x="225091" y="18526"/>
                </a:lnTo>
                <a:lnTo>
                  <a:pt x="233233" y="38629"/>
                </a:lnTo>
                <a:lnTo>
                  <a:pt x="236220" y="63245"/>
                </a:lnTo>
                <a:lnTo>
                  <a:pt x="233233" y="87862"/>
                </a:lnTo>
                <a:lnTo>
                  <a:pt x="225091" y="107965"/>
                </a:lnTo>
                <a:lnTo>
                  <a:pt x="213020" y="121521"/>
                </a:lnTo>
                <a:lnTo>
                  <a:pt x="198247" y="126491"/>
                </a:lnTo>
                <a:lnTo>
                  <a:pt x="37973" y="126491"/>
                </a:lnTo>
                <a:lnTo>
                  <a:pt x="23199" y="121521"/>
                </a:lnTo>
                <a:lnTo>
                  <a:pt x="11128" y="107965"/>
                </a:lnTo>
                <a:lnTo>
                  <a:pt x="2986" y="87862"/>
                </a:lnTo>
                <a:lnTo>
                  <a:pt x="0" y="63245"/>
                </a:lnTo>
                <a:lnTo>
                  <a:pt x="2986" y="38629"/>
                </a:lnTo>
                <a:lnTo>
                  <a:pt x="11128" y="18526"/>
                </a:lnTo>
                <a:lnTo>
                  <a:pt x="23199" y="4970"/>
                </a:lnTo>
                <a:lnTo>
                  <a:pt x="37973" y="0"/>
                </a:lnTo>
                <a:close/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73" name="object 114">
            <a:extLst>
              <a:ext uri="{FF2B5EF4-FFF2-40B4-BE49-F238E27FC236}">
                <a16:creationId xmlns:a16="http://schemas.microsoft.com/office/drawing/2014/main" id="{A06EA75A-D95C-6670-25D2-0CE68C998BE9}"/>
              </a:ext>
            </a:extLst>
          </p:cNvPr>
          <p:cNvSpPr/>
          <p:nvPr/>
        </p:nvSpPr>
        <p:spPr>
          <a:xfrm>
            <a:off x="3438297" y="4935474"/>
            <a:ext cx="177164" cy="94869"/>
          </a:xfrm>
          <a:prstGeom prst="rect">
            <a:avLst/>
          </a:prstGeom>
          <a:blipFill>
            <a:blip r:embed="rId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74" name="object 115">
            <a:extLst>
              <a:ext uri="{FF2B5EF4-FFF2-40B4-BE49-F238E27FC236}">
                <a16:creationId xmlns:a16="http://schemas.microsoft.com/office/drawing/2014/main" id="{1EBD3ADE-244D-6EA7-AD56-9EA5D7FD7183}"/>
              </a:ext>
            </a:extLst>
          </p:cNvPr>
          <p:cNvSpPr/>
          <p:nvPr/>
        </p:nvSpPr>
        <p:spPr>
          <a:xfrm>
            <a:off x="3438296" y="4935474"/>
            <a:ext cx="177165" cy="95250"/>
          </a:xfrm>
          <a:custGeom>
            <a:avLst/>
            <a:gdLst/>
            <a:ahLst/>
            <a:cxnLst/>
            <a:rect l="l" t="t" r="r" b="b"/>
            <a:pathLst>
              <a:path w="236220" h="127000">
                <a:moveTo>
                  <a:pt x="37973" y="0"/>
                </a:moveTo>
                <a:lnTo>
                  <a:pt x="198246" y="0"/>
                </a:lnTo>
                <a:lnTo>
                  <a:pt x="213020" y="4970"/>
                </a:lnTo>
                <a:lnTo>
                  <a:pt x="225091" y="18526"/>
                </a:lnTo>
                <a:lnTo>
                  <a:pt x="233233" y="38629"/>
                </a:lnTo>
                <a:lnTo>
                  <a:pt x="236219" y="63245"/>
                </a:lnTo>
                <a:lnTo>
                  <a:pt x="233233" y="87862"/>
                </a:lnTo>
                <a:lnTo>
                  <a:pt x="225091" y="107965"/>
                </a:lnTo>
                <a:lnTo>
                  <a:pt x="213020" y="121521"/>
                </a:lnTo>
                <a:lnTo>
                  <a:pt x="198246" y="126491"/>
                </a:lnTo>
                <a:lnTo>
                  <a:pt x="37973" y="126491"/>
                </a:lnTo>
                <a:lnTo>
                  <a:pt x="23199" y="121521"/>
                </a:lnTo>
                <a:lnTo>
                  <a:pt x="11128" y="107965"/>
                </a:lnTo>
                <a:lnTo>
                  <a:pt x="2986" y="87862"/>
                </a:lnTo>
                <a:lnTo>
                  <a:pt x="0" y="63245"/>
                </a:lnTo>
                <a:lnTo>
                  <a:pt x="2986" y="38629"/>
                </a:lnTo>
                <a:lnTo>
                  <a:pt x="11128" y="18526"/>
                </a:lnTo>
                <a:lnTo>
                  <a:pt x="23199" y="4970"/>
                </a:lnTo>
                <a:lnTo>
                  <a:pt x="37973" y="0"/>
                </a:lnTo>
                <a:close/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75" name="object 116">
            <a:extLst>
              <a:ext uri="{FF2B5EF4-FFF2-40B4-BE49-F238E27FC236}">
                <a16:creationId xmlns:a16="http://schemas.microsoft.com/office/drawing/2014/main" id="{9269D7E1-FEC6-DDEB-70E3-0177DD7F4058}"/>
              </a:ext>
            </a:extLst>
          </p:cNvPr>
          <p:cNvSpPr txBox="1"/>
          <p:nvPr/>
        </p:nvSpPr>
        <p:spPr>
          <a:xfrm>
            <a:off x="3267227" y="4270401"/>
            <a:ext cx="308610" cy="131350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spcBef>
                <a:spcPts val="79"/>
              </a:spcBef>
            </a:pPr>
            <a:r>
              <a:rPr sz="788" dirty="0">
                <a:latin typeface="Arial"/>
                <a:cs typeface="Arial"/>
              </a:rPr>
              <a:t>Tree</a:t>
            </a:r>
            <a:r>
              <a:rPr sz="788" spc="-60" dirty="0">
                <a:latin typeface="Arial"/>
                <a:cs typeface="Arial"/>
              </a:rPr>
              <a:t> </a:t>
            </a:r>
            <a:r>
              <a:rPr sz="788" dirty="0">
                <a:latin typeface="Arial"/>
                <a:cs typeface="Arial"/>
              </a:rPr>
              <a:t>2</a:t>
            </a:r>
          </a:p>
        </p:txBody>
      </p:sp>
      <p:sp>
        <p:nvSpPr>
          <p:cNvPr id="176" name="object 117">
            <a:extLst>
              <a:ext uri="{FF2B5EF4-FFF2-40B4-BE49-F238E27FC236}">
                <a16:creationId xmlns:a16="http://schemas.microsoft.com/office/drawing/2014/main" id="{71E44D96-7650-44C6-A4F0-8730B2FD2309}"/>
              </a:ext>
            </a:extLst>
          </p:cNvPr>
          <p:cNvSpPr/>
          <p:nvPr/>
        </p:nvSpPr>
        <p:spPr>
          <a:xfrm>
            <a:off x="6779287" y="4443362"/>
            <a:ext cx="190024" cy="95250"/>
          </a:xfrm>
          <a:custGeom>
            <a:avLst/>
            <a:gdLst/>
            <a:ahLst/>
            <a:cxnLst/>
            <a:rect l="l" t="t" r="r" b="b"/>
            <a:pathLst>
              <a:path w="253365" h="127000">
                <a:moveTo>
                  <a:pt x="0" y="126491"/>
                </a:moveTo>
                <a:lnTo>
                  <a:pt x="252983" y="126491"/>
                </a:lnTo>
                <a:lnTo>
                  <a:pt x="252983" y="0"/>
                </a:lnTo>
                <a:lnTo>
                  <a:pt x="0" y="0"/>
                </a:lnTo>
                <a:lnTo>
                  <a:pt x="0" y="126491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77" name="object 118">
            <a:extLst>
              <a:ext uri="{FF2B5EF4-FFF2-40B4-BE49-F238E27FC236}">
                <a16:creationId xmlns:a16="http://schemas.microsoft.com/office/drawing/2014/main" id="{65045096-A2DA-F00D-FB4F-B21CECEFC0DA}"/>
              </a:ext>
            </a:extLst>
          </p:cNvPr>
          <p:cNvSpPr/>
          <p:nvPr/>
        </p:nvSpPr>
        <p:spPr>
          <a:xfrm>
            <a:off x="6779287" y="4443362"/>
            <a:ext cx="190024" cy="95250"/>
          </a:xfrm>
          <a:custGeom>
            <a:avLst/>
            <a:gdLst/>
            <a:ahLst/>
            <a:cxnLst/>
            <a:rect l="l" t="t" r="r" b="b"/>
            <a:pathLst>
              <a:path w="253365" h="127000">
                <a:moveTo>
                  <a:pt x="0" y="126491"/>
                </a:moveTo>
                <a:lnTo>
                  <a:pt x="252983" y="126491"/>
                </a:lnTo>
                <a:lnTo>
                  <a:pt x="252983" y="0"/>
                </a:lnTo>
                <a:lnTo>
                  <a:pt x="0" y="0"/>
                </a:lnTo>
                <a:lnTo>
                  <a:pt x="0" y="126491"/>
                </a:lnTo>
                <a:close/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78" name="object 119">
            <a:extLst>
              <a:ext uri="{FF2B5EF4-FFF2-40B4-BE49-F238E27FC236}">
                <a16:creationId xmlns:a16="http://schemas.microsoft.com/office/drawing/2014/main" id="{70458926-F62B-DFCC-D740-421B28BB182F}"/>
              </a:ext>
            </a:extLst>
          </p:cNvPr>
          <p:cNvSpPr/>
          <p:nvPr/>
        </p:nvSpPr>
        <p:spPr>
          <a:xfrm>
            <a:off x="6673560" y="4533897"/>
            <a:ext cx="203359" cy="159544"/>
          </a:xfrm>
          <a:custGeom>
            <a:avLst/>
            <a:gdLst/>
            <a:ahLst/>
            <a:cxnLst/>
            <a:rect l="l" t="t" r="r" b="b"/>
            <a:pathLst>
              <a:path w="271145" h="212725">
                <a:moveTo>
                  <a:pt x="36829" y="135496"/>
                </a:moveTo>
                <a:lnTo>
                  <a:pt x="0" y="212331"/>
                </a:lnTo>
                <a:lnTo>
                  <a:pt x="83566" y="195681"/>
                </a:lnTo>
                <a:lnTo>
                  <a:pt x="70143" y="178396"/>
                </a:lnTo>
                <a:lnTo>
                  <a:pt x="54101" y="178396"/>
                </a:lnTo>
                <a:lnTo>
                  <a:pt x="46227" y="168363"/>
                </a:lnTo>
                <a:lnTo>
                  <a:pt x="56286" y="160552"/>
                </a:lnTo>
                <a:lnTo>
                  <a:pt x="36829" y="135496"/>
                </a:lnTo>
                <a:close/>
              </a:path>
              <a:path w="271145" h="212725">
                <a:moveTo>
                  <a:pt x="56286" y="160552"/>
                </a:moveTo>
                <a:lnTo>
                  <a:pt x="46227" y="168363"/>
                </a:lnTo>
                <a:lnTo>
                  <a:pt x="54101" y="178396"/>
                </a:lnTo>
                <a:lnTo>
                  <a:pt x="64108" y="170625"/>
                </a:lnTo>
                <a:lnTo>
                  <a:pt x="56286" y="160552"/>
                </a:lnTo>
                <a:close/>
              </a:path>
              <a:path w="271145" h="212725">
                <a:moveTo>
                  <a:pt x="64108" y="170625"/>
                </a:moveTo>
                <a:lnTo>
                  <a:pt x="54101" y="178396"/>
                </a:lnTo>
                <a:lnTo>
                  <a:pt x="70143" y="178396"/>
                </a:lnTo>
                <a:lnTo>
                  <a:pt x="64108" y="170625"/>
                </a:lnTo>
                <a:close/>
              </a:path>
              <a:path w="271145" h="212725">
                <a:moveTo>
                  <a:pt x="263017" y="0"/>
                </a:moveTo>
                <a:lnTo>
                  <a:pt x="56286" y="160552"/>
                </a:lnTo>
                <a:lnTo>
                  <a:pt x="64108" y="170625"/>
                </a:lnTo>
                <a:lnTo>
                  <a:pt x="270891" y="10032"/>
                </a:lnTo>
                <a:lnTo>
                  <a:pt x="26301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79" name="object 120">
            <a:extLst>
              <a:ext uri="{FF2B5EF4-FFF2-40B4-BE49-F238E27FC236}">
                <a16:creationId xmlns:a16="http://schemas.microsoft.com/office/drawing/2014/main" id="{136C81A2-7E58-09D5-F98D-EEDFA4B069C6}"/>
              </a:ext>
            </a:extLst>
          </p:cNvPr>
          <p:cNvSpPr/>
          <p:nvPr/>
        </p:nvSpPr>
        <p:spPr>
          <a:xfrm>
            <a:off x="6870727" y="4533858"/>
            <a:ext cx="208598" cy="159544"/>
          </a:xfrm>
          <a:custGeom>
            <a:avLst/>
            <a:gdLst/>
            <a:ahLst/>
            <a:cxnLst/>
            <a:rect l="l" t="t" r="r" b="b"/>
            <a:pathLst>
              <a:path w="278129" h="212725">
                <a:moveTo>
                  <a:pt x="213357" y="171461"/>
                </a:moveTo>
                <a:lnTo>
                  <a:pt x="194182" y="196811"/>
                </a:lnTo>
                <a:lnTo>
                  <a:pt x="277875" y="212382"/>
                </a:lnTo>
                <a:lnTo>
                  <a:pt x="261457" y="179146"/>
                </a:lnTo>
                <a:lnTo>
                  <a:pt x="223519" y="179146"/>
                </a:lnTo>
                <a:lnTo>
                  <a:pt x="213357" y="171461"/>
                </a:lnTo>
                <a:close/>
              </a:path>
              <a:path w="278129" h="212725">
                <a:moveTo>
                  <a:pt x="221006" y="161349"/>
                </a:moveTo>
                <a:lnTo>
                  <a:pt x="213357" y="171461"/>
                </a:lnTo>
                <a:lnTo>
                  <a:pt x="223519" y="179146"/>
                </a:lnTo>
                <a:lnTo>
                  <a:pt x="231139" y="169011"/>
                </a:lnTo>
                <a:lnTo>
                  <a:pt x="221006" y="161349"/>
                </a:lnTo>
                <a:close/>
              </a:path>
              <a:path w="278129" h="212725">
                <a:moveTo>
                  <a:pt x="240156" y="136029"/>
                </a:moveTo>
                <a:lnTo>
                  <a:pt x="221006" y="161349"/>
                </a:lnTo>
                <a:lnTo>
                  <a:pt x="231139" y="169011"/>
                </a:lnTo>
                <a:lnTo>
                  <a:pt x="223519" y="179146"/>
                </a:lnTo>
                <a:lnTo>
                  <a:pt x="261457" y="179146"/>
                </a:lnTo>
                <a:lnTo>
                  <a:pt x="240156" y="136029"/>
                </a:lnTo>
                <a:close/>
              </a:path>
              <a:path w="278129" h="212725">
                <a:moveTo>
                  <a:pt x="7619" y="0"/>
                </a:moveTo>
                <a:lnTo>
                  <a:pt x="0" y="10134"/>
                </a:lnTo>
                <a:lnTo>
                  <a:pt x="213357" y="171461"/>
                </a:lnTo>
                <a:lnTo>
                  <a:pt x="221006" y="161349"/>
                </a:lnTo>
                <a:lnTo>
                  <a:pt x="761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80" name="object 121">
            <a:extLst>
              <a:ext uri="{FF2B5EF4-FFF2-40B4-BE49-F238E27FC236}">
                <a16:creationId xmlns:a16="http://schemas.microsoft.com/office/drawing/2014/main" id="{80DDAE74-7FFC-3C53-7ECE-16081CB21143}"/>
              </a:ext>
            </a:extLst>
          </p:cNvPr>
          <p:cNvSpPr/>
          <p:nvPr/>
        </p:nvSpPr>
        <p:spPr>
          <a:xfrm>
            <a:off x="6846724" y="4537573"/>
            <a:ext cx="57150" cy="155572"/>
          </a:xfrm>
          <a:prstGeom prst="rect">
            <a:avLst/>
          </a:prstGeom>
          <a:blipFill>
            <a:blip r:embed="rId4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81" name="object 122">
            <a:extLst>
              <a:ext uri="{FF2B5EF4-FFF2-40B4-BE49-F238E27FC236}">
                <a16:creationId xmlns:a16="http://schemas.microsoft.com/office/drawing/2014/main" id="{D5910B72-E077-1553-B62C-717CD80B35A1}"/>
              </a:ext>
            </a:extLst>
          </p:cNvPr>
          <p:cNvSpPr/>
          <p:nvPr/>
        </p:nvSpPr>
        <p:spPr>
          <a:xfrm>
            <a:off x="6579262" y="4693679"/>
            <a:ext cx="190024" cy="95250"/>
          </a:xfrm>
          <a:custGeom>
            <a:avLst/>
            <a:gdLst/>
            <a:ahLst/>
            <a:cxnLst/>
            <a:rect l="l" t="t" r="r" b="b"/>
            <a:pathLst>
              <a:path w="253365" h="127000">
                <a:moveTo>
                  <a:pt x="0" y="126492"/>
                </a:moveTo>
                <a:lnTo>
                  <a:pt x="252983" y="126492"/>
                </a:lnTo>
                <a:lnTo>
                  <a:pt x="252983" y="0"/>
                </a:lnTo>
                <a:lnTo>
                  <a:pt x="0" y="0"/>
                </a:lnTo>
                <a:lnTo>
                  <a:pt x="0" y="126492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82" name="object 123">
            <a:extLst>
              <a:ext uri="{FF2B5EF4-FFF2-40B4-BE49-F238E27FC236}">
                <a16:creationId xmlns:a16="http://schemas.microsoft.com/office/drawing/2014/main" id="{6AB1B0D4-73D3-65DB-6CF3-EF7060960BE3}"/>
              </a:ext>
            </a:extLst>
          </p:cNvPr>
          <p:cNvSpPr/>
          <p:nvPr/>
        </p:nvSpPr>
        <p:spPr>
          <a:xfrm>
            <a:off x="6579262" y="4693679"/>
            <a:ext cx="190024" cy="95250"/>
          </a:xfrm>
          <a:custGeom>
            <a:avLst/>
            <a:gdLst/>
            <a:ahLst/>
            <a:cxnLst/>
            <a:rect l="l" t="t" r="r" b="b"/>
            <a:pathLst>
              <a:path w="253365" h="127000">
                <a:moveTo>
                  <a:pt x="0" y="126492"/>
                </a:moveTo>
                <a:lnTo>
                  <a:pt x="252983" y="126492"/>
                </a:lnTo>
                <a:lnTo>
                  <a:pt x="252983" y="0"/>
                </a:lnTo>
                <a:lnTo>
                  <a:pt x="0" y="0"/>
                </a:lnTo>
                <a:lnTo>
                  <a:pt x="0" y="126492"/>
                </a:lnTo>
                <a:close/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83" name="object 124">
            <a:extLst>
              <a:ext uri="{FF2B5EF4-FFF2-40B4-BE49-F238E27FC236}">
                <a16:creationId xmlns:a16="http://schemas.microsoft.com/office/drawing/2014/main" id="{8AAE63D5-0CBE-8E8B-E906-017A15EA1054}"/>
              </a:ext>
            </a:extLst>
          </p:cNvPr>
          <p:cNvSpPr/>
          <p:nvPr/>
        </p:nvSpPr>
        <p:spPr>
          <a:xfrm>
            <a:off x="6985028" y="4693679"/>
            <a:ext cx="190024" cy="95250"/>
          </a:xfrm>
          <a:custGeom>
            <a:avLst/>
            <a:gdLst/>
            <a:ahLst/>
            <a:cxnLst/>
            <a:rect l="l" t="t" r="r" b="b"/>
            <a:pathLst>
              <a:path w="253365" h="127000">
                <a:moveTo>
                  <a:pt x="0" y="126492"/>
                </a:moveTo>
                <a:lnTo>
                  <a:pt x="252983" y="126492"/>
                </a:lnTo>
                <a:lnTo>
                  <a:pt x="252983" y="0"/>
                </a:lnTo>
                <a:lnTo>
                  <a:pt x="0" y="0"/>
                </a:lnTo>
                <a:lnTo>
                  <a:pt x="0" y="126492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84" name="object 125">
            <a:extLst>
              <a:ext uri="{FF2B5EF4-FFF2-40B4-BE49-F238E27FC236}">
                <a16:creationId xmlns:a16="http://schemas.microsoft.com/office/drawing/2014/main" id="{1C34ADE0-D372-5CB7-99B2-7D6FB270DDB0}"/>
              </a:ext>
            </a:extLst>
          </p:cNvPr>
          <p:cNvSpPr/>
          <p:nvPr/>
        </p:nvSpPr>
        <p:spPr>
          <a:xfrm>
            <a:off x="6985028" y="4693679"/>
            <a:ext cx="190024" cy="95250"/>
          </a:xfrm>
          <a:custGeom>
            <a:avLst/>
            <a:gdLst/>
            <a:ahLst/>
            <a:cxnLst/>
            <a:rect l="l" t="t" r="r" b="b"/>
            <a:pathLst>
              <a:path w="253365" h="127000">
                <a:moveTo>
                  <a:pt x="0" y="126492"/>
                </a:moveTo>
                <a:lnTo>
                  <a:pt x="252983" y="126492"/>
                </a:lnTo>
                <a:lnTo>
                  <a:pt x="252983" y="0"/>
                </a:lnTo>
                <a:lnTo>
                  <a:pt x="0" y="0"/>
                </a:lnTo>
                <a:lnTo>
                  <a:pt x="0" y="126492"/>
                </a:lnTo>
                <a:close/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85" name="object 126">
            <a:extLst>
              <a:ext uri="{FF2B5EF4-FFF2-40B4-BE49-F238E27FC236}">
                <a16:creationId xmlns:a16="http://schemas.microsoft.com/office/drawing/2014/main" id="{A56084C8-FE38-2D07-0344-53C3CA6D78A5}"/>
              </a:ext>
            </a:extLst>
          </p:cNvPr>
          <p:cNvSpPr/>
          <p:nvPr/>
        </p:nvSpPr>
        <p:spPr>
          <a:xfrm>
            <a:off x="6568404" y="4785118"/>
            <a:ext cx="298894" cy="237744"/>
          </a:xfrm>
          <a:prstGeom prst="rect">
            <a:avLst/>
          </a:prstGeom>
          <a:blipFill>
            <a:blip r:embed="rId4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86" name="object 127">
            <a:extLst>
              <a:ext uri="{FF2B5EF4-FFF2-40B4-BE49-F238E27FC236}">
                <a16:creationId xmlns:a16="http://schemas.microsoft.com/office/drawing/2014/main" id="{8D675C7A-64F0-667A-6700-9D22C0DFE8DC}"/>
              </a:ext>
            </a:extLst>
          </p:cNvPr>
          <p:cNvSpPr/>
          <p:nvPr/>
        </p:nvSpPr>
        <p:spPr>
          <a:xfrm>
            <a:off x="6690133" y="4927993"/>
            <a:ext cx="177165" cy="95250"/>
          </a:xfrm>
          <a:custGeom>
            <a:avLst/>
            <a:gdLst/>
            <a:ahLst/>
            <a:cxnLst/>
            <a:rect l="l" t="t" r="r" b="b"/>
            <a:pathLst>
              <a:path w="236220" h="127000">
                <a:moveTo>
                  <a:pt x="37973" y="0"/>
                </a:moveTo>
                <a:lnTo>
                  <a:pt x="198247" y="0"/>
                </a:lnTo>
                <a:lnTo>
                  <a:pt x="213020" y="4970"/>
                </a:lnTo>
                <a:lnTo>
                  <a:pt x="225091" y="18526"/>
                </a:lnTo>
                <a:lnTo>
                  <a:pt x="233233" y="38629"/>
                </a:lnTo>
                <a:lnTo>
                  <a:pt x="236220" y="63245"/>
                </a:lnTo>
                <a:lnTo>
                  <a:pt x="233233" y="87862"/>
                </a:lnTo>
                <a:lnTo>
                  <a:pt x="225091" y="107965"/>
                </a:lnTo>
                <a:lnTo>
                  <a:pt x="213020" y="121521"/>
                </a:lnTo>
                <a:lnTo>
                  <a:pt x="198247" y="126491"/>
                </a:lnTo>
                <a:lnTo>
                  <a:pt x="37973" y="126491"/>
                </a:lnTo>
                <a:lnTo>
                  <a:pt x="23199" y="121521"/>
                </a:lnTo>
                <a:lnTo>
                  <a:pt x="11128" y="107965"/>
                </a:lnTo>
                <a:lnTo>
                  <a:pt x="2986" y="87862"/>
                </a:lnTo>
                <a:lnTo>
                  <a:pt x="0" y="63245"/>
                </a:lnTo>
                <a:lnTo>
                  <a:pt x="2986" y="38629"/>
                </a:lnTo>
                <a:lnTo>
                  <a:pt x="11128" y="18526"/>
                </a:lnTo>
                <a:lnTo>
                  <a:pt x="23199" y="4970"/>
                </a:lnTo>
                <a:lnTo>
                  <a:pt x="37973" y="0"/>
                </a:lnTo>
                <a:close/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87" name="object 128">
            <a:extLst>
              <a:ext uri="{FF2B5EF4-FFF2-40B4-BE49-F238E27FC236}">
                <a16:creationId xmlns:a16="http://schemas.microsoft.com/office/drawing/2014/main" id="{B8A9386B-5542-66F5-FA30-36C95E65A6CA}"/>
              </a:ext>
            </a:extLst>
          </p:cNvPr>
          <p:cNvSpPr/>
          <p:nvPr/>
        </p:nvSpPr>
        <p:spPr>
          <a:xfrm>
            <a:off x="6480965" y="4927993"/>
            <a:ext cx="177165" cy="94869"/>
          </a:xfrm>
          <a:prstGeom prst="rect">
            <a:avLst/>
          </a:prstGeom>
          <a:blipFill>
            <a:blip r:embed="rId4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88" name="object 129">
            <a:extLst>
              <a:ext uri="{FF2B5EF4-FFF2-40B4-BE49-F238E27FC236}">
                <a16:creationId xmlns:a16="http://schemas.microsoft.com/office/drawing/2014/main" id="{42E69F94-C8EE-EAFD-4C17-1C24914EF5D0}"/>
              </a:ext>
            </a:extLst>
          </p:cNvPr>
          <p:cNvSpPr/>
          <p:nvPr/>
        </p:nvSpPr>
        <p:spPr>
          <a:xfrm>
            <a:off x="6480965" y="4927993"/>
            <a:ext cx="177165" cy="95250"/>
          </a:xfrm>
          <a:custGeom>
            <a:avLst/>
            <a:gdLst/>
            <a:ahLst/>
            <a:cxnLst/>
            <a:rect l="l" t="t" r="r" b="b"/>
            <a:pathLst>
              <a:path w="236220" h="127000">
                <a:moveTo>
                  <a:pt x="37973" y="0"/>
                </a:moveTo>
                <a:lnTo>
                  <a:pt x="198247" y="0"/>
                </a:lnTo>
                <a:lnTo>
                  <a:pt x="213020" y="4970"/>
                </a:lnTo>
                <a:lnTo>
                  <a:pt x="225091" y="18526"/>
                </a:lnTo>
                <a:lnTo>
                  <a:pt x="233233" y="38629"/>
                </a:lnTo>
                <a:lnTo>
                  <a:pt x="236220" y="63245"/>
                </a:lnTo>
                <a:lnTo>
                  <a:pt x="233233" y="87862"/>
                </a:lnTo>
                <a:lnTo>
                  <a:pt x="225091" y="107965"/>
                </a:lnTo>
                <a:lnTo>
                  <a:pt x="213020" y="121521"/>
                </a:lnTo>
                <a:lnTo>
                  <a:pt x="198247" y="126491"/>
                </a:lnTo>
                <a:lnTo>
                  <a:pt x="37973" y="126491"/>
                </a:lnTo>
                <a:lnTo>
                  <a:pt x="23199" y="121521"/>
                </a:lnTo>
                <a:lnTo>
                  <a:pt x="11128" y="107965"/>
                </a:lnTo>
                <a:lnTo>
                  <a:pt x="2986" y="87862"/>
                </a:lnTo>
                <a:lnTo>
                  <a:pt x="0" y="63245"/>
                </a:lnTo>
                <a:lnTo>
                  <a:pt x="2986" y="38629"/>
                </a:lnTo>
                <a:lnTo>
                  <a:pt x="11128" y="18526"/>
                </a:lnTo>
                <a:lnTo>
                  <a:pt x="23199" y="4970"/>
                </a:lnTo>
                <a:lnTo>
                  <a:pt x="37973" y="0"/>
                </a:lnTo>
                <a:close/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89" name="object 130">
            <a:extLst>
              <a:ext uri="{FF2B5EF4-FFF2-40B4-BE49-F238E27FC236}">
                <a16:creationId xmlns:a16="http://schemas.microsoft.com/office/drawing/2014/main" id="{CB8E2644-18CC-F43C-97B1-B553B5F50EB0}"/>
              </a:ext>
            </a:extLst>
          </p:cNvPr>
          <p:cNvSpPr/>
          <p:nvPr/>
        </p:nvSpPr>
        <p:spPr>
          <a:xfrm>
            <a:off x="6788431" y="4693679"/>
            <a:ext cx="177165" cy="94868"/>
          </a:xfrm>
          <a:prstGeom prst="rect">
            <a:avLst/>
          </a:prstGeom>
          <a:blipFill>
            <a:blip r:embed="rId4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90" name="object 131">
            <a:extLst>
              <a:ext uri="{FF2B5EF4-FFF2-40B4-BE49-F238E27FC236}">
                <a16:creationId xmlns:a16="http://schemas.microsoft.com/office/drawing/2014/main" id="{8B2747D1-C252-41F9-6CB9-C481F6B5F962}"/>
              </a:ext>
            </a:extLst>
          </p:cNvPr>
          <p:cNvSpPr/>
          <p:nvPr/>
        </p:nvSpPr>
        <p:spPr>
          <a:xfrm>
            <a:off x="6788431" y="4693679"/>
            <a:ext cx="177165" cy="95250"/>
          </a:xfrm>
          <a:custGeom>
            <a:avLst/>
            <a:gdLst/>
            <a:ahLst/>
            <a:cxnLst/>
            <a:rect l="l" t="t" r="r" b="b"/>
            <a:pathLst>
              <a:path w="236220" h="127000">
                <a:moveTo>
                  <a:pt x="37973" y="0"/>
                </a:moveTo>
                <a:lnTo>
                  <a:pt x="198247" y="0"/>
                </a:lnTo>
                <a:lnTo>
                  <a:pt x="213020" y="4970"/>
                </a:lnTo>
                <a:lnTo>
                  <a:pt x="225091" y="18526"/>
                </a:lnTo>
                <a:lnTo>
                  <a:pt x="233233" y="38629"/>
                </a:lnTo>
                <a:lnTo>
                  <a:pt x="236220" y="63246"/>
                </a:lnTo>
                <a:lnTo>
                  <a:pt x="233233" y="87862"/>
                </a:lnTo>
                <a:lnTo>
                  <a:pt x="225091" y="107965"/>
                </a:lnTo>
                <a:lnTo>
                  <a:pt x="213020" y="121521"/>
                </a:lnTo>
                <a:lnTo>
                  <a:pt x="198247" y="126492"/>
                </a:lnTo>
                <a:lnTo>
                  <a:pt x="37973" y="126492"/>
                </a:lnTo>
                <a:lnTo>
                  <a:pt x="23199" y="121521"/>
                </a:lnTo>
                <a:lnTo>
                  <a:pt x="11128" y="107965"/>
                </a:lnTo>
                <a:lnTo>
                  <a:pt x="2986" y="87862"/>
                </a:lnTo>
                <a:lnTo>
                  <a:pt x="0" y="63246"/>
                </a:lnTo>
                <a:lnTo>
                  <a:pt x="2986" y="38629"/>
                </a:lnTo>
                <a:lnTo>
                  <a:pt x="11128" y="18526"/>
                </a:lnTo>
                <a:lnTo>
                  <a:pt x="23199" y="4970"/>
                </a:lnTo>
                <a:lnTo>
                  <a:pt x="37973" y="0"/>
                </a:lnTo>
                <a:close/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91" name="object 132">
            <a:extLst>
              <a:ext uri="{FF2B5EF4-FFF2-40B4-BE49-F238E27FC236}">
                <a16:creationId xmlns:a16="http://schemas.microsoft.com/office/drawing/2014/main" id="{F2F9E0CB-62E7-8144-76D0-09FF245C1876}"/>
              </a:ext>
            </a:extLst>
          </p:cNvPr>
          <p:cNvSpPr/>
          <p:nvPr/>
        </p:nvSpPr>
        <p:spPr>
          <a:xfrm>
            <a:off x="6986742" y="4783785"/>
            <a:ext cx="297751" cy="239078"/>
          </a:xfrm>
          <a:prstGeom prst="rect">
            <a:avLst/>
          </a:prstGeom>
          <a:blipFill>
            <a:blip r:embed="rId4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92" name="object 133">
            <a:extLst>
              <a:ext uri="{FF2B5EF4-FFF2-40B4-BE49-F238E27FC236}">
                <a16:creationId xmlns:a16="http://schemas.microsoft.com/office/drawing/2014/main" id="{DF823E85-1892-253B-0A16-4F4896E504A2}"/>
              </a:ext>
            </a:extLst>
          </p:cNvPr>
          <p:cNvSpPr/>
          <p:nvPr/>
        </p:nvSpPr>
        <p:spPr>
          <a:xfrm>
            <a:off x="7107328" y="4927993"/>
            <a:ext cx="177165" cy="95250"/>
          </a:xfrm>
          <a:custGeom>
            <a:avLst/>
            <a:gdLst/>
            <a:ahLst/>
            <a:cxnLst/>
            <a:rect l="l" t="t" r="r" b="b"/>
            <a:pathLst>
              <a:path w="236220" h="127000">
                <a:moveTo>
                  <a:pt x="37973" y="0"/>
                </a:moveTo>
                <a:lnTo>
                  <a:pt x="198247" y="0"/>
                </a:lnTo>
                <a:lnTo>
                  <a:pt x="213020" y="4970"/>
                </a:lnTo>
                <a:lnTo>
                  <a:pt x="225091" y="18526"/>
                </a:lnTo>
                <a:lnTo>
                  <a:pt x="233233" y="38629"/>
                </a:lnTo>
                <a:lnTo>
                  <a:pt x="236220" y="63245"/>
                </a:lnTo>
                <a:lnTo>
                  <a:pt x="233233" y="87862"/>
                </a:lnTo>
                <a:lnTo>
                  <a:pt x="225091" y="107965"/>
                </a:lnTo>
                <a:lnTo>
                  <a:pt x="213020" y="121521"/>
                </a:lnTo>
                <a:lnTo>
                  <a:pt x="198247" y="126491"/>
                </a:lnTo>
                <a:lnTo>
                  <a:pt x="37973" y="126491"/>
                </a:lnTo>
                <a:lnTo>
                  <a:pt x="23199" y="121521"/>
                </a:lnTo>
                <a:lnTo>
                  <a:pt x="11128" y="107965"/>
                </a:lnTo>
                <a:lnTo>
                  <a:pt x="2986" y="87862"/>
                </a:lnTo>
                <a:lnTo>
                  <a:pt x="0" y="63245"/>
                </a:lnTo>
                <a:lnTo>
                  <a:pt x="2986" y="38629"/>
                </a:lnTo>
                <a:lnTo>
                  <a:pt x="11128" y="18526"/>
                </a:lnTo>
                <a:lnTo>
                  <a:pt x="23199" y="4970"/>
                </a:lnTo>
                <a:lnTo>
                  <a:pt x="37973" y="0"/>
                </a:lnTo>
                <a:close/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93" name="object 134">
            <a:extLst>
              <a:ext uri="{FF2B5EF4-FFF2-40B4-BE49-F238E27FC236}">
                <a16:creationId xmlns:a16="http://schemas.microsoft.com/office/drawing/2014/main" id="{C46BCDFE-7F02-DD5A-C354-6BE25EB86022}"/>
              </a:ext>
            </a:extLst>
          </p:cNvPr>
          <p:cNvSpPr/>
          <p:nvPr/>
        </p:nvSpPr>
        <p:spPr>
          <a:xfrm>
            <a:off x="6898160" y="4927993"/>
            <a:ext cx="177164" cy="94869"/>
          </a:xfrm>
          <a:prstGeom prst="rect">
            <a:avLst/>
          </a:prstGeom>
          <a:blipFill>
            <a:blip r:embed="rId4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94" name="object 135">
            <a:extLst>
              <a:ext uri="{FF2B5EF4-FFF2-40B4-BE49-F238E27FC236}">
                <a16:creationId xmlns:a16="http://schemas.microsoft.com/office/drawing/2014/main" id="{64A7ADA5-4050-917A-A743-F5EA8A854C0C}"/>
              </a:ext>
            </a:extLst>
          </p:cNvPr>
          <p:cNvSpPr/>
          <p:nvPr/>
        </p:nvSpPr>
        <p:spPr>
          <a:xfrm>
            <a:off x="6898160" y="4927993"/>
            <a:ext cx="177165" cy="95250"/>
          </a:xfrm>
          <a:custGeom>
            <a:avLst/>
            <a:gdLst/>
            <a:ahLst/>
            <a:cxnLst/>
            <a:rect l="l" t="t" r="r" b="b"/>
            <a:pathLst>
              <a:path w="236220" h="127000">
                <a:moveTo>
                  <a:pt x="37973" y="0"/>
                </a:moveTo>
                <a:lnTo>
                  <a:pt x="198246" y="0"/>
                </a:lnTo>
                <a:lnTo>
                  <a:pt x="213020" y="4970"/>
                </a:lnTo>
                <a:lnTo>
                  <a:pt x="225091" y="18526"/>
                </a:lnTo>
                <a:lnTo>
                  <a:pt x="233233" y="38629"/>
                </a:lnTo>
                <a:lnTo>
                  <a:pt x="236219" y="63245"/>
                </a:lnTo>
                <a:lnTo>
                  <a:pt x="233233" y="87862"/>
                </a:lnTo>
                <a:lnTo>
                  <a:pt x="225091" y="107965"/>
                </a:lnTo>
                <a:lnTo>
                  <a:pt x="213020" y="121521"/>
                </a:lnTo>
                <a:lnTo>
                  <a:pt x="198246" y="126491"/>
                </a:lnTo>
                <a:lnTo>
                  <a:pt x="37973" y="126491"/>
                </a:lnTo>
                <a:lnTo>
                  <a:pt x="23199" y="121521"/>
                </a:lnTo>
                <a:lnTo>
                  <a:pt x="11128" y="107965"/>
                </a:lnTo>
                <a:lnTo>
                  <a:pt x="2986" y="87862"/>
                </a:lnTo>
                <a:lnTo>
                  <a:pt x="0" y="63245"/>
                </a:lnTo>
                <a:lnTo>
                  <a:pt x="2986" y="38629"/>
                </a:lnTo>
                <a:lnTo>
                  <a:pt x="11128" y="18526"/>
                </a:lnTo>
                <a:lnTo>
                  <a:pt x="23199" y="4970"/>
                </a:lnTo>
                <a:lnTo>
                  <a:pt x="37973" y="0"/>
                </a:lnTo>
                <a:close/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95" name="object 136">
            <a:extLst>
              <a:ext uri="{FF2B5EF4-FFF2-40B4-BE49-F238E27FC236}">
                <a16:creationId xmlns:a16="http://schemas.microsoft.com/office/drawing/2014/main" id="{C62D9CF2-111B-9182-B135-F26ACA2691F9}"/>
              </a:ext>
            </a:extLst>
          </p:cNvPr>
          <p:cNvSpPr txBox="1"/>
          <p:nvPr/>
        </p:nvSpPr>
        <p:spPr>
          <a:xfrm>
            <a:off x="6719851" y="4291305"/>
            <a:ext cx="325279" cy="131350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spcBef>
                <a:spcPts val="79"/>
              </a:spcBef>
            </a:pPr>
            <a:r>
              <a:rPr sz="788" dirty="0">
                <a:latin typeface="Arial"/>
                <a:cs typeface="Arial"/>
              </a:rPr>
              <a:t>Tree</a:t>
            </a:r>
            <a:r>
              <a:rPr sz="788" spc="-64" dirty="0">
                <a:latin typeface="Arial"/>
                <a:cs typeface="Arial"/>
              </a:rPr>
              <a:t> </a:t>
            </a:r>
            <a:r>
              <a:rPr sz="788" spc="4" dirty="0">
                <a:latin typeface="Arial"/>
                <a:cs typeface="Arial"/>
              </a:rPr>
              <a:t>N</a:t>
            </a:r>
            <a:endParaRPr sz="788" dirty="0">
              <a:latin typeface="Arial"/>
              <a:cs typeface="Arial"/>
            </a:endParaRPr>
          </a:p>
        </p:txBody>
      </p:sp>
      <p:sp>
        <p:nvSpPr>
          <p:cNvPr id="196" name="object 137">
            <a:extLst>
              <a:ext uri="{FF2B5EF4-FFF2-40B4-BE49-F238E27FC236}">
                <a16:creationId xmlns:a16="http://schemas.microsoft.com/office/drawing/2014/main" id="{B3FA26A2-ED30-C879-F3B6-8088852DC64C}"/>
              </a:ext>
            </a:extLst>
          </p:cNvPr>
          <p:cNvSpPr/>
          <p:nvPr/>
        </p:nvSpPr>
        <p:spPr>
          <a:xfrm>
            <a:off x="2383516" y="3841347"/>
            <a:ext cx="2237423" cy="416719"/>
          </a:xfrm>
          <a:custGeom>
            <a:avLst/>
            <a:gdLst/>
            <a:ahLst/>
            <a:cxnLst/>
            <a:rect l="l" t="t" r="r" b="b"/>
            <a:pathLst>
              <a:path w="2983229" h="555625">
                <a:moveTo>
                  <a:pt x="78231" y="470026"/>
                </a:moveTo>
                <a:lnTo>
                  <a:pt x="0" y="527557"/>
                </a:lnTo>
                <a:lnTo>
                  <a:pt x="92963" y="555624"/>
                </a:lnTo>
                <a:lnTo>
                  <a:pt x="88483" y="529589"/>
                </a:lnTo>
                <a:lnTo>
                  <a:pt x="73787" y="529589"/>
                </a:lnTo>
                <a:lnTo>
                  <a:pt x="68833" y="501014"/>
                </a:lnTo>
                <a:lnTo>
                  <a:pt x="83141" y="498551"/>
                </a:lnTo>
                <a:lnTo>
                  <a:pt x="78231" y="470026"/>
                </a:lnTo>
                <a:close/>
              </a:path>
              <a:path w="2983229" h="555625">
                <a:moveTo>
                  <a:pt x="83141" y="498551"/>
                </a:moveTo>
                <a:lnTo>
                  <a:pt x="68833" y="501014"/>
                </a:lnTo>
                <a:lnTo>
                  <a:pt x="73787" y="529589"/>
                </a:lnTo>
                <a:lnTo>
                  <a:pt x="88060" y="527131"/>
                </a:lnTo>
                <a:lnTo>
                  <a:pt x="83141" y="498551"/>
                </a:lnTo>
                <a:close/>
              </a:path>
              <a:path w="2983229" h="555625">
                <a:moveTo>
                  <a:pt x="88060" y="527131"/>
                </a:moveTo>
                <a:lnTo>
                  <a:pt x="73787" y="529589"/>
                </a:lnTo>
                <a:lnTo>
                  <a:pt x="88483" y="529589"/>
                </a:lnTo>
                <a:lnTo>
                  <a:pt x="88060" y="527131"/>
                </a:lnTo>
                <a:close/>
              </a:path>
              <a:path w="2983229" h="555625">
                <a:moveTo>
                  <a:pt x="2978149" y="0"/>
                </a:moveTo>
                <a:lnTo>
                  <a:pt x="83141" y="498551"/>
                </a:lnTo>
                <a:lnTo>
                  <a:pt x="88060" y="527131"/>
                </a:lnTo>
                <a:lnTo>
                  <a:pt x="2983103" y="28447"/>
                </a:lnTo>
                <a:lnTo>
                  <a:pt x="2978149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97" name="object 138">
            <a:extLst>
              <a:ext uri="{FF2B5EF4-FFF2-40B4-BE49-F238E27FC236}">
                <a16:creationId xmlns:a16="http://schemas.microsoft.com/office/drawing/2014/main" id="{26E677C1-D590-FECA-5B32-E9B14AAE65A2}"/>
              </a:ext>
            </a:extLst>
          </p:cNvPr>
          <p:cNvSpPr/>
          <p:nvPr/>
        </p:nvSpPr>
        <p:spPr>
          <a:xfrm>
            <a:off x="3465937" y="3841728"/>
            <a:ext cx="1156811" cy="405289"/>
          </a:xfrm>
          <a:custGeom>
            <a:avLst/>
            <a:gdLst/>
            <a:ahLst/>
            <a:cxnLst/>
            <a:rect l="l" t="t" r="r" b="b"/>
            <a:pathLst>
              <a:path w="1542414" h="540385">
                <a:moveTo>
                  <a:pt x="68706" y="457962"/>
                </a:moveTo>
                <a:lnTo>
                  <a:pt x="0" y="526669"/>
                </a:lnTo>
                <a:lnTo>
                  <a:pt x="96139" y="540385"/>
                </a:lnTo>
                <a:lnTo>
                  <a:pt x="88530" y="517525"/>
                </a:lnTo>
                <a:lnTo>
                  <a:pt x="73279" y="517525"/>
                </a:lnTo>
                <a:lnTo>
                  <a:pt x="64135" y="489966"/>
                </a:lnTo>
                <a:lnTo>
                  <a:pt x="77837" y="485396"/>
                </a:lnTo>
                <a:lnTo>
                  <a:pt x="68706" y="457962"/>
                </a:lnTo>
                <a:close/>
              </a:path>
              <a:path w="1542414" h="540385">
                <a:moveTo>
                  <a:pt x="77837" y="485396"/>
                </a:moveTo>
                <a:lnTo>
                  <a:pt x="64135" y="489966"/>
                </a:lnTo>
                <a:lnTo>
                  <a:pt x="73279" y="517525"/>
                </a:lnTo>
                <a:lnTo>
                  <a:pt x="87006" y="512945"/>
                </a:lnTo>
                <a:lnTo>
                  <a:pt x="77837" y="485396"/>
                </a:lnTo>
                <a:close/>
              </a:path>
              <a:path w="1542414" h="540385">
                <a:moveTo>
                  <a:pt x="87006" y="512945"/>
                </a:moveTo>
                <a:lnTo>
                  <a:pt x="73279" y="517525"/>
                </a:lnTo>
                <a:lnTo>
                  <a:pt x="88530" y="517525"/>
                </a:lnTo>
                <a:lnTo>
                  <a:pt x="87006" y="512945"/>
                </a:lnTo>
                <a:close/>
              </a:path>
              <a:path w="1542414" h="540385">
                <a:moveTo>
                  <a:pt x="1533270" y="0"/>
                </a:moveTo>
                <a:lnTo>
                  <a:pt x="77837" y="485396"/>
                </a:lnTo>
                <a:lnTo>
                  <a:pt x="87006" y="512945"/>
                </a:lnTo>
                <a:lnTo>
                  <a:pt x="1542415" y="27431"/>
                </a:lnTo>
                <a:lnTo>
                  <a:pt x="1533270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98" name="object 139">
            <a:extLst>
              <a:ext uri="{FF2B5EF4-FFF2-40B4-BE49-F238E27FC236}">
                <a16:creationId xmlns:a16="http://schemas.microsoft.com/office/drawing/2014/main" id="{86C62844-103B-360D-52ED-936600F55EE3}"/>
              </a:ext>
            </a:extLst>
          </p:cNvPr>
          <p:cNvSpPr/>
          <p:nvPr/>
        </p:nvSpPr>
        <p:spPr>
          <a:xfrm>
            <a:off x="4617319" y="3841348"/>
            <a:ext cx="2240756" cy="431006"/>
          </a:xfrm>
          <a:custGeom>
            <a:avLst/>
            <a:gdLst/>
            <a:ahLst/>
            <a:cxnLst/>
            <a:rect l="l" t="t" r="r" b="b"/>
            <a:pathLst>
              <a:path w="2987675" h="574675">
                <a:moveTo>
                  <a:pt x="2899047" y="545575"/>
                </a:moveTo>
                <a:lnTo>
                  <a:pt x="2893949" y="574166"/>
                </a:lnTo>
                <a:lnTo>
                  <a:pt x="2982012" y="548132"/>
                </a:lnTo>
                <a:lnTo>
                  <a:pt x="2913379" y="548132"/>
                </a:lnTo>
                <a:lnTo>
                  <a:pt x="2899047" y="545575"/>
                </a:lnTo>
                <a:close/>
              </a:path>
              <a:path w="2987675" h="574675">
                <a:moveTo>
                  <a:pt x="2904119" y="517126"/>
                </a:moveTo>
                <a:lnTo>
                  <a:pt x="2899047" y="545575"/>
                </a:lnTo>
                <a:lnTo>
                  <a:pt x="2913379" y="548132"/>
                </a:lnTo>
                <a:lnTo>
                  <a:pt x="2918459" y="519683"/>
                </a:lnTo>
                <a:lnTo>
                  <a:pt x="2904119" y="517126"/>
                </a:lnTo>
                <a:close/>
              </a:path>
              <a:path w="2987675" h="574675">
                <a:moveTo>
                  <a:pt x="2909188" y="488695"/>
                </a:moveTo>
                <a:lnTo>
                  <a:pt x="2904119" y="517126"/>
                </a:lnTo>
                <a:lnTo>
                  <a:pt x="2918459" y="519683"/>
                </a:lnTo>
                <a:lnTo>
                  <a:pt x="2913379" y="548132"/>
                </a:lnTo>
                <a:lnTo>
                  <a:pt x="2982012" y="548132"/>
                </a:lnTo>
                <a:lnTo>
                  <a:pt x="2987167" y="546607"/>
                </a:lnTo>
                <a:lnTo>
                  <a:pt x="2909188" y="488695"/>
                </a:lnTo>
                <a:close/>
              </a:path>
              <a:path w="2987675" h="574675">
                <a:moveTo>
                  <a:pt x="5079" y="0"/>
                </a:moveTo>
                <a:lnTo>
                  <a:pt x="0" y="28447"/>
                </a:lnTo>
                <a:lnTo>
                  <a:pt x="2899047" y="545575"/>
                </a:lnTo>
                <a:lnTo>
                  <a:pt x="2904119" y="517126"/>
                </a:lnTo>
                <a:lnTo>
                  <a:pt x="5079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99" name="Down Arrow 143">
            <a:extLst>
              <a:ext uri="{FF2B5EF4-FFF2-40B4-BE49-F238E27FC236}">
                <a16:creationId xmlns:a16="http://schemas.microsoft.com/office/drawing/2014/main" id="{791A233A-2B5A-58B2-3093-73E0D3C013C9}"/>
              </a:ext>
            </a:extLst>
          </p:cNvPr>
          <p:cNvSpPr/>
          <p:nvPr/>
        </p:nvSpPr>
        <p:spPr>
          <a:xfrm>
            <a:off x="4457679" y="3165228"/>
            <a:ext cx="282702" cy="251720"/>
          </a:xfrm>
          <a:prstGeom prst="downArrow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00" name="Shape 53">
            <a:extLst>
              <a:ext uri="{FF2B5EF4-FFF2-40B4-BE49-F238E27FC236}">
                <a16:creationId xmlns:a16="http://schemas.microsoft.com/office/drawing/2014/main" id="{1E22D036-0A67-1249-8A9C-CEC209D2B3EC}"/>
              </a:ext>
            </a:extLst>
          </p:cNvPr>
          <p:cNvSpPr txBox="1"/>
          <p:nvPr/>
        </p:nvSpPr>
        <p:spPr>
          <a:xfrm>
            <a:off x="4029243" y="4214316"/>
            <a:ext cx="1256731" cy="333360"/>
          </a:xfrm>
          <a:prstGeom prst="rect">
            <a:avLst/>
          </a:prstGeom>
          <a:noFill/>
          <a:ln>
            <a:noFill/>
          </a:ln>
        </p:spPr>
        <p:txBody>
          <a:bodyPr lIns="68569" tIns="68569" rIns="68569" bIns="68569" anchor="t" anchorCtr="0">
            <a:noAutofit/>
          </a:bodyPr>
          <a:lstStyle/>
          <a:p>
            <a:pPr algn="ctr"/>
            <a:r>
              <a:rPr lang="en" sz="1200" dirty="0"/>
              <a:t>Random Forest</a:t>
            </a:r>
          </a:p>
        </p:txBody>
      </p:sp>
    </p:spTree>
    <p:extLst>
      <p:ext uri="{BB962C8B-B14F-4D97-AF65-F5344CB8AC3E}">
        <p14:creationId xmlns:p14="http://schemas.microsoft.com/office/powerpoint/2010/main" val="263104920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685800"/>
            <a:ext cx="8272212" cy="446288"/>
          </a:xfrm>
        </p:spPr>
        <p:txBody>
          <a:bodyPr anchor="b">
            <a:normAutofit fontScale="90000"/>
          </a:bodyPr>
          <a:lstStyle/>
          <a:p>
            <a:r>
              <a:rPr lang="en-US" dirty="0"/>
              <a:t>Random Forests Algorithm 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7FAED6F-E4EA-DE9A-B421-F2ED49FE1D94}"/>
              </a:ext>
            </a:extLst>
          </p:cNvPr>
          <p:cNvGrpSpPr/>
          <p:nvPr/>
        </p:nvGrpSpPr>
        <p:grpSpPr>
          <a:xfrm>
            <a:off x="2639259" y="1295400"/>
            <a:ext cx="5133141" cy="5248778"/>
            <a:chOff x="1371640" y="1322043"/>
            <a:chExt cx="5133141" cy="5248778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832C2CE7-F165-439C-37A9-0993A6C5D30C}"/>
                </a:ext>
              </a:extLst>
            </p:cNvPr>
            <p:cNvSpPr/>
            <p:nvPr/>
          </p:nvSpPr>
          <p:spPr>
            <a:xfrm>
              <a:off x="1371640" y="1322043"/>
              <a:ext cx="5133141" cy="374400"/>
            </a:xfrm>
            <a:custGeom>
              <a:avLst/>
              <a:gdLst>
                <a:gd name="connsiteX0" fmla="*/ 0 w 3865481"/>
                <a:gd name="connsiteY0" fmla="*/ 0 h 374400"/>
                <a:gd name="connsiteX1" fmla="*/ 3865481 w 3865481"/>
                <a:gd name="connsiteY1" fmla="*/ 0 h 374400"/>
                <a:gd name="connsiteX2" fmla="*/ 3865481 w 3865481"/>
                <a:gd name="connsiteY2" fmla="*/ 374400 h 374400"/>
                <a:gd name="connsiteX3" fmla="*/ 0 w 3865481"/>
                <a:gd name="connsiteY3" fmla="*/ 374400 h 374400"/>
                <a:gd name="connsiteX4" fmla="*/ 0 w 3865481"/>
                <a:gd name="connsiteY4" fmla="*/ 0 h 374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65481" h="374400">
                  <a:moveTo>
                    <a:pt x="0" y="0"/>
                  </a:moveTo>
                  <a:lnTo>
                    <a:pt x="3865481" y="0"/>
                  </a:lnTo>
                  <a:lnTo>
                    <a:pt x="3865481" y="374400"/>
                  </a:lnTo>
                  <a:lnTo>
                    <a:pt x="0" y="3744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2456" tIns="52832" rIns="92456" bIns="52832" numCol="1" spcCol="1270" anchor="ctr" anchorCtr="0">
              <a:noAutofit/>
            </a:bodyPr>
            <a:lstStyle/>
            <a:p>
              <a:pPr marL="0" lvl="0" indent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300" kern="1200"/>
                <a:t>For b = 1 to B: </a:t>
              </a:r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A4DA0910-5403-BA1B-05A6-C32DA48F21CD}"/>
                </a:ext>
              </a:extLst>
            </p:cNvPr>
            <p:cNvSpPr/>
            <p:nvPr/>
          </p:nvSpPr>
          <p:spPr>
            <a:xfrm>
              <a:off x="1371640" y="1696443"/>
              <a:ext cx="5133141" cy="2673600"/>
            </a:xfrm>
            <a:custGeom>
              <a:avLst/>
              <a:gdLst>
                <a:gd name="connsiteX0" fmla="*/ 0 w 3865481"/>
                <a:gd name="connsiteY0" fmla="*/ 0 h 2069729"/>
                <a:gd name="connsiteX1" fmla="*/ 3865481 w 3865481"/>
                <a:gd name="connsiteY1" fmla="*/ 0 h 2069729"/>
                <a:gd name="connsiteX2" fmla="*/ 3865481 w 3865481"/>
                <a:gd name="connsiteY2" fmla="*/ 2069729 h 2069729"/>
                <a:gd name="connsiteX3" fmla="*/ 0 w 3865481"/>
                <a:gd name="connsiteY3" fmla="*/ 2069729 h 2069729"/>
                <a:gd name="connsiteX4" fmla="*/ 0 w 3865481"/>
                <a:gd name="connsiteY4" fmla="*/ 0 h 2069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65481" h="2069729">
                  <a:moveTo>
                    <a:pt x="0" y="0"/>
                  </a:moveTo>
                  <a:lnTo>
                    <a:pt x="3865481" y="0"/>
                  </a:lnTo>
                  <a:lnTo>
                    <a:pt x="3865481" y="2069729"/>
                  </a:lnTo>
                  <a:lnTo>
                    <a:pt x="0" y="2069729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9342" tIns="69342" rIns="92456" bIns="104013" numCol="1" spcCol="1270" anchor="t" anchorCtr="0">
              <a:noAutofit/>
            </a:bodyPr>
            <a:lstStyle/>
            <a:p>
              <a:pPr marL="114300" lvl="1" indent="-114300" algn="l" defTabSz="5778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600" kern="1200" dirty="0"/>
                <a:t>(a) Draw a bootstrap sample Z∗ of size </a:t>
              </a:r>
              <a:r>
                <a:rPr lang="en-US" sz="1600" i="1" kern="1200" dirty="0"/>
                <a:t>N</a:t>
              </a:r>
              <a:r>
                <a:rPr lang="en-US" sz="1600" kern="1200" dirty="0"/>
                <a:t> from the training data. </a:t>
              </a:r>
            </a:p>
            <a:p>
              <a:pPr marL="114300" lvl="1" indent="-114300" algn="l" defTabSz="5778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600" kern="1200" dirty="0"/>
                <a:t>(b) Grow a random-forest tree  to the bootstrapped data, by recursively repeating the following steps for each terminal node of the tree, until the minimum node size </a:t>
              </a:r>
              <a:r>
                <a:rPr lang="en-US" sz="1600" b="1" i="1" kern="1200" dirty="0" err="1"/>
                <a:t>n</a:t>
              </a:r>
              <a:r>
                <a:rPr lang="en-US" sz="1600" b="1" i="1" kern="1200" baseline="-25000" dirty="0" err="1"/>
                <a:t>min</a:t>
              </a:r>
              <a:r>
                <a:rPr lang="en-US" sz="1600" kern="1200" dirty="0"/>
                <a:t> is reached. </a:t>
              </a:r>
            </a:p>
            <a:p>
              <a:pPr marL="228600" lvl="2" indent="-114300" algn="l" defTabSz="5778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600" kern="1200" dirty="0" err="1"/>
                <a:t>i</a:t>
              </a:r>
              <a:r>
                <a:rPr lang="en-US" sz="1600" kern="1200" dirty="0"/>
                <a:t>. Select </a:t>
              </a:r>
              <a:r>
                <a:rPr lang="en-US" sz="1600" b="1" i="1" kern="1200" dirty="0"/>
                <a:t>m</a:t>
              </a:r>
              <a:r>
                <a:rPr lang="en-US" sz="1600" kern="1200" dirty="0"/>
                <a:t> variables at random from the </a:t>
              </a:r>
              <a:r>
                <a:rPr lang="en-US" sz="1600" i="1" kern="1200" dirty="0"/>
                <a:t>p</a:t>
              </a:r>
              <a:r>
                <a:rPr lang="en-US" sz="1600" kern="1200" dirty="0"/>
                <a:t> variables. </a:t>
              </a:r>
            </a:p>
            <a:p>
              <a:pPr marL="228600" lvl="2" indent="-114300" algn="l" defTabSz="5778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600" kern="1200" dirty="0"/>
                <a:t>ii. Pick the best variable/split-point among the </a:t>
              </a:r>
              <a:r>
                <a:rPr lang="en-US" sz="1600" i="1" kern="1200" dirty="0"/>
                <a:t>m</a:t>
              </a:r>
              <a:r>
                <a:rPr lang="en-US" sz="1600" kern="1200" dirty="0"/>
                <a:t>.</a:t>
              </a:r>
            </a:p>
            <a:p>
              <a:pPr marL="228600" lvl="2" indent="-114300" algn="l" defTabSz="5778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600" kern="1200" dirty="0"/>
                <a:t>iii. Split the node into two daughter nodes. </a:t>
              </a:r>
            </a:p>
            <a:p>
              <a:pPr marL="114300" lvl="1" indent="-114300" algn="l" defTabSz="5778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600" kern="1200" dirty="0"/>
                <a:t>Output the ensemble of trees. </a:t>
              </a: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71EB5584-2E1F-8730-BEC6-5878A80C513A}"/>
                </a:ext>
              </a:extLst>
            </p:cNvPr>
            <p:cNvSpPr/>
            <p:nvPr/>
          </p:nvSpPr>
          <p:spPr>
            <a:xfrm>
              <a:off x="1371640" y="4829557"/>
              <a:ext cx="5133141" cy="374400"/>
            </a:xfrm>
            <a:custGeom>
              <a:avLst/>
              <a:gdLst>
                <a:gd name="connsiteX0" fmla="*/ 0 w 3865481"/>
                <a:gd name="connsiteY0" fmla="*/ 0 h 374400"/>
                <a:gd name="connsiteX1" fmla="*/ 3865481 w 3865481"/>
                <a:gd name="connsiteY1" fmla="*/ 0 h 374400"/>
                <a:gd name="connsiteX2" fmla="*/ 3865481 w 3865481"/>
                <a:gd name="connsiteY2" fmla="*/ 374400 h 374400"/>
                <a:gd name="connsiteX3" fmla="*/ 0 w 3865481"/>
                <a:gd name="connsiteY3" fmla="*/ 374400 h 374400"/>
                <a:gd name="connsiteX4" fmla="*/ 0 w 3865481"/>
                <a:gd name="connsiteY4" fmla="*/ 0 h 374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65481" h="374400">
                  <a:moveTo>
                    <a:pt x="0" y="0"/>
                  </a:moveTo>
                  <a:lnTo>
                    <a:pt x="3865481" y="0"/>
                  </a:lnTo>
                  <a:lnTo>
                    <a:pt x="3865481" y="374400"/>
                  </a:lnTo>
                  <a:lnTo>
                    <a:pt x="0" y="3744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2456" tIns="52832" rIns="92456" bIns="52832" numCol="1" spcCol="1270" anchor="ctr" anchorCtr="0">
              <a:noAutofit/>
            </a:bodyPr>
            <a:lstStyle/>
            <a:p>
              <a:pPr marL="0" lvl="0" indent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kern="1200" dirty="0"/>
                <a:t>To make a prediction at a new point </a:t>
              </a:r>
              <a:r>
                <a:rPr lang="en-US" i="1" kern="1200" dirty="0"/>
                <a:t>x</a:t>
              </a:r>
              <a:r>
                <a:rPr lang="en-US" kern="1200" dirty="0"/>
                <a:t> we do:</a:t>
              </a:r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2618F28E-6212-AB7C-6DD8-0B4C5B818418}"/>
                </a:ext>
              </a:extLst>
            </p:cNvPr>
            <p:cNvSpPr/>
            <p:nvPr/>
          </p:nvSpPr>
          <p:spPr>
            <a:xfrm>
              <a:off x="1371640" y="5214843"/>
              <a:ext cx="5133141" cy="1355978"/>
            </a:xfrm>
            <a:custGeom>
              <a:avLst/>
              <a:gdLst>
                <a:gd name="connsiteX0" fmla="*/ 0 w 3865481"/>
                <a:gd name="connsiteY0" fmla="*/ 0 h 2069729"/>
                <a:gd name="connsiteX1" fmla="*/ 3865481 w 3865481"/>
                <a:gd name="connsiteY1" fmla="*/ 0 h 2069729"/>
                <a:gd name="connsiteX2" fmla="*/ 3865481 w 3865481"/>
                <a:gd name="connsiteY2" fmla="*/ 2069729 h 2069729"/>
                <a:gd name="connsiteX3" fmla="*/ 0 w 3865481"/>
                <a:gd name="connsiteY3" fmla="*/ 2069729 h 2069729"/>
                <a:gd name="connsiteX4" fmla="*/ 0 w 3865481"/>
                <a:gd name="connsiteY4" fmla="*/ 0 h 2069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65481" h="2069729">
                  <a:moveTo>
                    <a:pt x="0" y="0"/>
                  </a:moveTo>
                  <a:lnTo>
                    <a:pt x="3865481" y="0"/>
                  </a:lnTo>
                  <a:lnTo>
                    <a:pt x="3865481" y="2069729"/>
                  </a:lnTo>
                  <a:lnTo>
                    <a:pt x="0" y="2069729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9342" tIns="69342" rIns="92456" bIns="104013" numCol="1" spcCol="1270" anchor="t" anchorCtr="0">
              <a:noAutofit/>
            </a:bodyPr>
            <a:lstStyle/>
            <a:p>
              <a:pPr marL="114300" lvl="1" indent="-114300" algn="l" defTabSz="5778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kern="1200"/>
                <a:t>For regression: average the results </a:t>
              </a:r>
            </a:p>
            <a:p>
              <a:pPr marL="114300" lvl="1" indent="-114300" algn="l" defTabSz="5778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kern="1200" dirty="0"/>
                <a:t>For classification: majority vote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4428195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B08A8-442B-52C3-3DE2-5BE4F5A2D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Some</a:t>
            </a:r>
            <a:r>
              <a:rPr lang="zh-CN" altLang="en-US" dirty="0"/>
              <a:t> </a:t>
            </a:r>
            <a:r>
              <a:rPr lang="en-US" altLang="zh-CN" dirty="0"/>
              <a:t>unique</a:t>
            </a:r>
            <a:r>
              <a:rPr lang="zh-CN" altLang="en-US" dirty="0"/>
              <a:t> </a:t>
            </a:r>
            <a:r>
              <a:rPr lang="en-US" altLang="zh-CN" dirty="0"/>
              <a:t>designs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AA4299-AAF5-3E3B-C2A2-9994D94C51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altLang="zh-CN" b="1" dirty="0"/>
              <a:t>1</a:t>
            </a:r>
            <a:r>
              <a:rPr lang="en-US" b="1" dirty="0"/>
              <a:t>. Out-of-Bag (OOB) Error Estimation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Concept:</a:t>
            </a:r>
            <a:r>
              <a:rPr lang="en-US" dirty="0"/>
              <a:t> During training, not all data points are used for training a particular tree; some are left out of the bootstrap sample. These left-out data points are called out-of-bag samples.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Advantage:</a:t>
            </a:r>
            <a:r>
              <a:rPr lang="en-US" dirty="0"/>
              <a:t> OOB samples can be used to estimate the model’s performance and provide a form of internal cross-validation, which saves computation time and provides an unbiased error estimate.</a:t>
            </a:r>
          </a:p>
          <a:p>
            <a:endParaRPr lang="en-US" altLang="zh-CN" b="1" dirty="0"/>
          </a:p>
          <a:p>
            <a:r>
              <a:rPr lang="en-US" altLang="zh-CN" b="1" dirty="0"/>
              <a:t>2</a:t>
            </a:r>
            <a:r>
              <a:rPr lang="en-US" b="1" dirty="0"/>
              <a:t>. Feature Importance Measurement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Concept:</a:t>
            </a:r>
            <a:r>
              <a:rPr lang="en-US" dirty="0"/>
              <a:t> Random Forest can evaluate the importance of each feature by measuring how much including a feature improves the model's performance, typically using metrics like mean decrease in impurity (Gini importance) or permutation importance.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Advantage:</a:t>
            </a:r>
            <a:r>
              <a:rPr lang="en-US" dirty="0"/>
              <a:t> This helps in understanding which features are most influential for predictions and can guide feature selection and data analysis.</a:t>
            </a:r>
          </a:p>
          <a:p>
            <a:endParaRPr lang="en-US" altLang="zh-CN" b="1" dirty="0"/>
          </a:p>
          <a:p>
            <a:r>
              <a:rPr lang="en-US" altLang="zh-CN" b="1" dirty="0"/>
              <a:t>3</a:t>
            </a:r>
            <a:r>
              <a:rPr lang="en-US" b="1" dirty="0"/>
              <a:t>. Handling Missing Values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Concept:</a:t>
            </a:r>
            <a:r>
              <a:rPr lang="en-US" dirty="0"/>
              <a:t> Random Forest can handle missing values by using surrogate splits, where if the primary split feature has missing values, a secondary (surrogate) split is used to make the decision.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Advantage:</a:t>
            </a:r>
            <a:r>
              <a:rPr lang="en-US" dirty="0"/>
              <a:t> This ability helps maintain predictive power even when dealing with incomplete datasets.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517437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Random Forest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 fontScale="62500" lnSpcReduction="20000"/>
          </a:bodyPr>
          <a:lstStyle/>
          <a:p>
            <a:pPr marL="274320" indent="-274320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US" b="1" dirty="0"/>
              <a:t>random forest</a:t>
            </a:r>
            <a:r>
              <a:rPr lang="en-US" dirty="0"/>
              <a:t> is a </a:t>
            </a:r>
            <a:r>
              <a:rPr lang="en-US" dirty="0">
                <a:hlinkClick r:id="rId3" tooltip="Statistical classification"/>
              </a:rPr>
              <a:t>classifier</a:t>
            </a:r>
            <a:r>
              <a:rPr lang="en-US" dirty="0"/>
              <a:t> that consists of many </a:t>
            </a:r>
            <a:r>
              <a:rPr lang="en-US" dirty="0">
                <a:hlinkClick r:id="rId4" tooltip="Decision tree learning"/>
              </a:rPr>
              <a:t>decision trees</a:t>
            </a:r>
            <a:r>
              <a:rPr lang="en-US" dirty="0"/>
              <a:t> and outputs the class that is the </a:t>
            </a:r>
            <a:r>
              <a:rPr lang="en-US" dirty="0">
                <a:hlinkClick r:id="rId5" tooltip="Mode (statistics)"/>
              </a:rPr>
              <a:t>mode</a:t>
            </a:r>
            <a:r>
              <a:rPr lang="en-US" dirty="0"/>
              <a:t> of the classes output by individual trees</a:t>
            </a:r>
          </a:p>
          <a:p>
            <a:pPr marL="548640" lvl="1" eaLnBrk="1" fontAlgn="auto" hangingPunct="1">
              <a:spcBef>
                <a:spcPts val="37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/>
              <a:t>For many data sets, it produces a highly accurate classifier.</a:t>
            </a:r>
          </a:p>
          <a:p>
            <a:pPr marL="548640" lvl="1" eaLnBrk="1" fontAlgn="auto" hangingPunct="1">
              <a:spcBef>
                <a:spcPts val="37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/>
              <a:t>It handles a very large number of input variables.</a:t>
            </a:r>
          </a:p>
          <a:p>
            <a:pPr marL="548640" lvl="1" eaLnBrk="1" fontAlgn="auto" hangingPunct="1">
              <a:spcBef>
                <a:spcPts val="37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/>
              <a:t>It estimates the importance of variables in determining classification.</a:t>
            </a:r>
          </a:p>
          <a:p>
            <a:pPr marL="548640" lvl="1" eaLnBrk="1" fontAlgn="auto" hangingPunct="1">
              <a:spcBef>
                <a:spcPts val="37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/>
              <a:t>It generates an internal unbiased estimate of the generalization error as the forest building progresses.</a:t>
            </a:r>
          </a:p>
          <a:p>
            <a:pPr marL="548640" lvl="1" eaLnBrk="1" fontAlgn="auto" hangingPunct="1">
              <a:spcBef>
                <a:spcPts val="37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/>
              <a:t>It includes a good method for estimating missing data and maintains accuracy when a large proportion of the data are missing.</a:t>
            </a:r>
          </a:p>
          <a:p>
            <a:pPr marL="548640" lvl="1" eaLnBrk="1" fontAlgn="auto" hangingPunct="1">
              <a:spcBef>
                <a:spcPts val="37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/>
              <a:t>It provides an experimental way to detect variable interactions.</a:t>
            </a:r>
          </a:p>
          <a:p>
            <a:pPr marL="548640" lvl="1" eaLnBrk="1" fontAlgn="auto" hangingPunct="1">
              <a:spcBef>
                <a:spcPts val="37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/>
              <a:t>It can balance error in class population unbalanced data sets.</a:t>
            </a:r>
          </a:p>
          <a:p>
            <a:pPr marL="548640" lvl="1" eaLnBrk="1" fontAlgn="auto" hangingPunct="1">
              <a:spcBef>
                <a:spcPts val="37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/>
              <a:t>It computes proximities between cases, useful for </a:t>
            </a:r>
            <a:r>
              <a:rPr lang="en-US" dirty="0">
                <a:hlinkClick r:id="rId6" tooltip="Clustering"/>
              </a:rPr>
              <a:t>clustering</a:t>
            </a:r>
            <a:r>
              <a:rPr lang="en-US" dirty="0"/>
              <a:t>, detecting </a:t>
            </a:r>
            <a:r>
              <a:rPr lang="en-US" dirty="0">
                <a:hlinkClick r:id="rId7" tooltip="Outlier"/>
              </a:rPr>
              <a:t>outliers</a:t>
            </a:r>
            <a:r>
              <a:rPr lang="en-US" dirty="0"/>
              <a:t>, and (by scaling) visualizing the data.</a:t>
            </a:r>
          </a:p>
          <a:p>
            <a:pPr marL="548640" lvl="1" eaLnBrk="1" fontAlgn="auto" hangingPunct="1">
              <a:spcBef>
                <a:spcPts val="37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/>
              <a:t>Using the above, it can be extended to unlabeled data, leading to unsupervised clustering, outlier detection and data views.</a:t>
            </a:r>
          </a:p>
          <a:p>
            <a:pPr marL="548640" lvl="1" eaLnBrk="1" fontAlgn="auto" hangingPunct="1">
              <a:spcBef>
                <a:spcPts val="37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/>
              <a:t>Learning is fast.</a:t>
            </a:r>
          </a:p>
          <a:p>
            <a:pPr marL="274320" indent="-274320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Char char=""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89903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C238D-7205-5886-AFC8-AAF809969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5608" y="-304800"/>
            <a:ext cx="7498080" cy="1143000"/>
          </a:xfrm>
        </p:spPr>
        <p:txBody>
          <a:bodyPr/>
          <a:lstStyle/>
          <a:p>
            <a:r>
              <a:rPr lang="en-US" altLang="zh-CN" dirty="0"/>
              <a:t>Scikit-learn</a:t>
            </a:r>
            <a:r>
              <a:rPr lang="zh-CN" altLang="en-US" dirty="0"/>
              <a:t> </a:t>
            </a:r>
            <a:r>
              <a:rPr lang="en-US" altLang="zh-CN" dirty="0"/>
              <a:t>code</a:t>
            </a:r>
            <a:endParaRPr lang="en-US" dirty="0"/>
          </a:p>
        </p:txBody>
      </p:sp>
      <p:pic>
        <p:nvPicPr>
          <p:cNvPr id="5" name="Content Placeholder 4" descr="A computer screen shot of a test&#10;&#10;Description automatically generated">
            <a:extLst>
              <a:ext uri="{FF2B5EF4-FFF2-40B4-BE49-F238E27FC236}">
                <a16:creationId xmlns:a16="http://schemas.microsoft.com/office/drawing/2014/main" id="{65F3F585-D84F-1D9C-8469-9E4FC84D1C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715962"/>
            <a:ext cx="7499350" cy="2555532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2A52BB3-A97B-5D7C-01BA-932635F0BC0B}"/>
              </a:ext>
            </a:extLst>
          </p:cNvPr>
          <p:cNvSpPr txBox="1"/>
          <p:nvPr/>
        </p:nvSpPr>
        <p:spPr>
          <a:xfrm>
            <a:off x="1295400" y="3282380"/>
            <a:ext cx="79248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from </a:t>
            </a:r>
            <a:r>
              <a:rPr lang="en-US" dirty="0" err="1"/>
              <a:t>sklearn.ensemble</a:t>
            </a:r>
            <a:r>
              <a:rPr lang="en-US" dirty="0"/>
              <a:t> import </a:t>
            </a:r>
            <a:r>
              <a:rPr lang="en-US" dirty="0" err="1"/>
              <a:t>RandomForestClassifier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feature_names</a:t>
            </a:r>
            <a:r>
              <a:rPr lang="en-US" dirty="0"/>
              <a:t> = [</a:t>
            </a:r>
            <a:r>
              <a:rPr lang="en-US" dirty="0" err="1"/>
              <a:t>f"feature</a:t>
            </a:r>
            <a:r>
              <a:rPr lang="en-US" dirty="0"/>
              <a:t> {</a:t>
            </a:r>
            <a:r>
              <a:rPr lang="en-US" dirty="0" err="1"/>
              <a:t>i</a:t>
            </a:r>
            <a:r>
              <a:rPr lang="en-US" dirty="0"/>
              <a:t>}" for </a:t>
            </a:r>
            <a:r>
              <a:rPr lang="en-US" dirty="0" err="1"/>
              <a:t>i</a:t>
            </a:r>
            <a:r>
              <a:rPr lang="en-US" dirty="0"/>
              <a:t> in range(</a:t>
            </a:r>
            <a:r>
              <a:rPr lang="en-US" dirty="0" err="1"/>
              <a:t>X.shape</a:t>
            </a:r>
            <a:r>
              <a:rPr lang="en-US" dirty="0"/>
              <a:t>[1])]</a:t>
            </a:r>
          </a:p>
          <a:p>
            <a:r>
              <a:rPr lang="en-US" dirty="0"/>
              <a:t>forest = </a:t>
            </a:r>
            <a:r>
              <a:rPr lang="en-US" dirty="0" err="1"/>
              <a:t>RandomForestClassifier</a:t>
            </a:r>
            <a:r>
              <a:rPr lang="en-US" dirty="0"/>
              <a:t>(</a:t>
            </a:r>
            <a:r>
              <a:rPr lang="en-US" dirty="0" err="1"/>
              <a:t>random_state</a:t>
            </a:r>
            <a:r>
              <a:rPr lang="en-US" dirty="0"/>
              <a:t>=0)</a:t>
            </a:r>
          </a:p>
          <a:p>
            <a:r>
              <a:rPr lang="en-US" dirty="0" err="1"/>
              <a:t>forest.fit</a:t>
            </a:r>
            <a:r>
              <a:rPr lang="en-US" dirty="0"/>
              <a:t>(</a:t>
            </a:r>
            <a:r>
              <a:rPr lang="en-US" dirty="0" err="1"/>
              <a:t>X_train</a:t>
            </a:r>
            <a:r>
              <a:rPr lang="en-US" dirty="0"/>
              <a:t>, </a:t>
            </a:r>
            <a:r>
              <a:rPr lang="en-US" dirty="0" err="1"/>
              <a:t>y_train</a:t>
            </a:r>
            <a:r>
              <a:rPr lang="en-US" dirty="0"/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4D296D-EAB2-0D55-8406-8B9D62147724}"/>
              </a:ext>
            </a:extLst>
          </p:cNvPr>
          <p:cNvSpPr txBox="1"/>
          <p:nvPr/>
        </p:nvSpPr>
        <p:spPr>
          <a:xfrm>
            <a:off x="1306286" y="4759708"/>
            <a:ext cx="691515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import time</a:t>
            </a:r>
          </a:p>
          <a:p>
            <a:r>
              <a:rPr lang="en-US" dirty="0"/>
              <a:t>import </a:t>
            </a:r>
            <a:r>
              <a:rPr lang="en-US" dirty="0" err="1"/>
              <a:t>numpy</a:t>
            </a:r>
            <a:r>
              <a:rPr lang="en-US" dirty="0"/>
              <a:t> as np</a:t>
            </a:r>
          </a:p>
          <a:p>
            <a:r>
              <a:rPr lang="en-US" dirty="0" err="1"/>
              <a:t>start_time</a:t>
            </a:r>
            <a:r>
              <a:rPr lang="en-US" dirty="0"/>
              <a:t> = </a:t>
            </a:r>
            <a:r>
              <a:rPr lang="en-US" dirty="0" err="1"/>
              <a:t>time.time</a:t>
            </a:r>
            <a:r>
              <a:rPr lang="en-US" dirty="0"/>
              <a:t>()</a:t>
            </a:r>
          </a:p>
          <a:p>
            <a:r>
              <a:rPr lang="en-US" dirty="0"/>
              <a:t>importances = </a:t>
            </a:r>
            <a:r>
              <a:rPr lang="en-US" dirty="0" err="1"/>
              <a:t>forest.feature_importances</a:t>
            </a:r>
            <a:r>
              <a:rPr lang="en-US" dirty="0"/>
              <a:t>_</a:t>
            </a:r>
          </a:p>
          <a:p>
            <a:r>
              <a:rPr lang="en-US" dirty="0"/>
              <a:t>std = </a:t>
            </a:r>
            <a:r>
              <a:rPr lang="en-US" dirty="0" err="1"/>
              <a:t>np.std</a:t>
            </a:r>
            <a:r>
              <a:rPr lang="en-US" dirty="0"/>
              <a:t>([</a:t>
            </a:r>
            <a:r>
              <a:rPr lang="en-US" dirty="0" err="1"/>
              <a:t>tree.feature_importances</a:t>
            </a:r>
            <a:r>
              <a:rPr lang="en-US" dirty="0"/>
              <a:t>_ for tree in </a:t>
            </a:r>
            <a:r>
              <a:rPr lang="en-US" dirty="0" err="1"/>
              <a:t>forest.estimators</a:t>
            </a:r>
            <a:r>
              <a:rPr lang="en-US" dirty="0"/>
              <a:t>_], axis=0)</a:t>
            </a:r>
          </a:p>
        </p:txBody>
      </p:sp>
    </p:spTree>
    <p:extLst>
      <p:ext uri="{BB962C8B-B14F-4D97-AF65-F5344CB8AC3E}">
        <p14:creationId xmlns:p14="http://schemas.microsoft.com/office/powerpoint/2010/main" val="351866051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Summary: Advantages of Decision Trees</a:t>
            </a:r>
            <a:r>
              <a:rPr lang="zh-CN" altLang="en-US" sz="3200" dirty="0"/>
              <a:t> </a:t>
            </a:r>
            <a:r>
              <a:rPr lang="en-US" altLang="zh-CN" sz="3200" dirty="0"/>
              <a:t>and</a:t>
            </a:r>
            <a:r>
              <a:rPr lang="zh-CN" altLang="en-US" sz="3200" dirty="0"/>
              <a:t> </a:t>
            </a:r>
            <a:r>
              <a:rPr lang="en-US" altLang="zh-CN" sz="3200" dirty="0"/>
              <a:t>RF</a:t>
            </a:r>
            <a:endParaRPr lang="en-US" altLang="en-US" sz="3200" dirty="0"/>
          </a:p>
        </p:txBody>
      </p:sp>
      <p:sp>
        <p:nvSpPr>
          <p:cNvPr id="49155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eaLnBrk="1" hangingPunct="1"/>
            <a:r>
              <a:rPr lang="en-US" altLang="en-US" b="1"/>
              <a:t>Simple to understand and interpret.</a:t>
            </a:r>
            <a:r>
              <a:rPr lang="en-US" altLang="en-US"/>
              <a:t> People are able to understand decision tree models after a brief explanation. </a:t>
            </a:r>
          </a:p>
          <a:p>
            <a:pPr eaLnBrk="1" hangingPunct="1"/>
            <a:r>
              <a:rPr lang="en-US" altLang="en-US" b="1"/>
              <a:t>Have value even with little hard data.</a:t>
            </a:r>
            <a:r>
              <a:rPr lang="en-US" altLang="en-US"/>
              <a:t> Important insights can be generated based on experts describing a situation (its alternatives, probabilities, and costs) and their preferences for outcomes. </a:t>
            </a:r>
          </a:p>
          <a:p>
            <a:pPr eaLnBrk="1" hangingPunct="1"/>
            <a:r>
              <a:rPr lang="en-US" altLang="en-US" b="1"/>
              <a:t>Use a </a:t>
            </a:r>
            <a:r>
              <a:rPr lang="en-US" altLang="en-US" b="1">
                <a:hlinkClick r:id="rId3" tooltip="White box (software engineering)"/>
              </a:rPr>
              <a:t>white box</a:t>
            </a:r>
            <a:r>
              <a:rPr lang="en-US" altLang="en-US" b="1"/>
              <a:t> model.</a:t>
            </a:r>
            <a:r>
              <a:rPr lang="en-US" altLang="en-US"/>
              <a:t> If a given result is provided by a model, the explanation for the result is easily replicated by simple math. </a:t>
            </a:r>
          </a:p>
          <a:p>
            <a:pPr eaLnBrk="1" hangingPunct="1"/>
            <a:r>
              <a:rPr lang="en-US" altLang="en-US" b="1"/>
              <a:t>Can be combined with other decision techniques.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147582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Acknowledgements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i="1" dirty="0">
                <a:solidFill>
                  <a:srgbClr val="FF0000"/>
                </a:solidFill>
              </a:rPr>
              <a:t>http://www.cmpe.boun.edu.tr/~ethem/i2ml3e</a:t>
            </a:r>
          </a:p>
          <a:p>
            <a:pPr fontAlgn="ctr"/>
            <a:r>
              <a:rPr lang="en-US" dirty="0"/>
              <a:t>https://users.cs.fiu.edu/~taoli/class/CAP4770-F10/class08.ppt</a:t>
            </a:r>
          </a:p>
          <a:p>
            <a:br>
              <a:rPr lang="en-US" dirty="0"/>
            </a:b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40214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14430</TotalTime>
  <Words>3109</Words>
  <Application>Microsoft Macintosh PowerPoint</Application>
  <PresentationFormat>On-screen Show (4:3)</PresentationFormat>
  <Paragraphs>460</Paragraphs>
  <Slides>65</Slides>
  <Notes>35</Notes>
  <HiddenSlides>0</HiddenSlides>
  <MMClips>0</MMClips>
  <ScaleCrop>false</ScaleCrop>
  <HeadingPairs>
    <vt:vector size="8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65</vt:i4>
      </vt:variant>
    </vt:vector>
  </HeadingPairs>
  <TitlesOfParts>
    <vt:vector size="82" baseType="lpstr">
      <vt:lpstr>CMMI10</vt:lpstr>
      <vt:lpstr>CMSS10</vt:lpstr>
      <vt:lpstr>CMSSBX10</vt:lpstr>
      <vt:lpstr>CMTT10</vt:lpstr>
      <vt:lpstr>Arial</vt:lpstr>
      <vt:lpstr>Calibri</vt:lpstr>
      <vt:lpstr>Gill Sans MT</vt:lpstr>
      <vt:lpstr>Lucida Bright</vt:lpstr>
      <vt:lpstr>Palatino Linotype</vt:lpstr>
      <vt:lpstr>Tahoma</vt:lpstr>
      <vt:lpstr>Times New Roman</vt:lpstr>
      <vt:lpstr>Verdana</vt:lpstr>
      <vt:lpstr>Wingdings</vt:lpstr>
      <vt:lpstr>Wingdings 2</vt:lpstr>
      <vt:lpstr>Solstice</vt:lpstr>
      <vt:lpstr>Equation</vt:lpstr>
      <vt:lpstr>Worksheet</vt:lpstr>
      <vt:lpstr>CSCE883 Machine Learning</vt:lpstr>
      <vt:lpstr>Likelihood- vs. Discriminant-based Classification</vt:lpstr>
      <vt:lpstr>Linear Discriminant</vt:lpstr>
      <vt:lpstr>Generalized Linear Model</vt:lpstr>
      <vt:lpstr>Two Classes</vt:lpstr>
      <vt:lpstr>Geometry</vt:lpstr>
      <vt:lpstr>Multiple Classes</vt:lpstr>
      <vt:lpstr>Pairwise Separation</vt:lpstr>
      <vt:lpstr>From Discriminants to Posteriors </vt:lpstr>
      <vt:lpstr>PowerPoint Presentation</vt:lpstr>
      <vt:lpstr>Sigmoid (Logistic) Function</vt:lpstr>
      <vt:lpstr>Gradient-Descent</vt:lpstr>
      <vt:lpstr>Gradient-Descent</vt:lpstr>
      <vt:lpstr>Logistic Regression(Discrimination)</vt:lpstr>
      <vt:lpstr>Training: Two Classes</vt:lpstr>
      <vt:lpstr>Training: Gradient-Descent</vt:lpstr>
      <vt:lpstr>PowerPoint Presentation</vt:lpstr>
      <vt:lpstr>PowerPoint Presentation</vt:lpstr>
      <vt:lpstr>K&gt;2 Classes</vt:lpstr>
      <vt:lpstr>PowerPoint Presentation</vt:lpstr>
      <vt:lpstr>Example</vt:lpstr>
      <vt:lpstr>Generalizing the Linear Model</vt:lpstr>
      <vt:lpstr>Discrimination by Regression</vt:lpstr>
      <vt:lpstr>Learning to Rank</vt:lpstr>
      <vt:lpstr>Ranking Error</vt:lpstr>
      <vt:lpstr>Decision Tree</vt:lpstr>
      <vt:lpstr>Review of Classification</vt:lpstr>
      <vt:lpstr>What is Decision Tree?  </vt:lpstr>
      <vt:lpstr>What is Decision Tree?</vt:lpstr>
      <vt:lpstr>What is Decision Tree?</vt:lpstr>
      <vt:lpstr>Decision Tree Representation</vt:lpstr>
      <vt:lpstr>Internal Nodes</vt:lpstr>
      <vt:lpstr>Internal Nodes: Splitting Predicates</vt:lpstr>
      <vt:lpstr>Building Decision Tree Classifiers for DELL  to Predict if a customer would buy a computer</vt:lpstr>
      <vt:lpstr>Output: A Decision Tree for “buys_computer”</vt:lpstr>
      <vt:lpstr>TDIDT Algorithm</vt:lpstr>
      <vt:lpstr>Algorithm for Decision Tree Induction</vt:lpstr>
      <vt:lpstr>Design Issues of Decision Trees</vt:lpstr>
      <vt:lpstr>Which Decision Tree is the Best?</vt:lpstr>
      <vt:lpstr>How To Build a Simple Decision Tree?: Attribute Selection</vt:lpstr>
      <vt:lpstr>How To Build a Simple Decision Tree</vt:lpstr>
      <vt:lpstr>Information Theory</vt:lpstr>
      <vt:lpstr>Measuring Entropy</vt:lpstr>
      <vt:lpstr>Measuring Mutual Information</vt:lpstr>
      <vt:lpstr>Information Gain ( used in ID3)</vt:lpstr>
      <vt:lpstr>Play Tennis Example</vt:lpstr>
      <vt:lpstr>Which attribute is the best classifier?</vt:lpstr>
      <vt:lpstr>PowerPoint Presentation</vt:lpstr>
      <vt:lpstr>PowerPoint Presentation</vt:lpstr>
      <vt:lpstr>Gain Ratio (used in C4.5)</vt:lpstr>
      <vt:lpstr>Gini Index (CART, IBM IntelligentMiner)</vt:lpstr>
      <vt:lpstr>Gini Index</vt:lpstr>
      <vt:lpstr>Gini Index for Color</vt:lpstr>
      <vt:lpstr>Gain of Gini Index</vt:lpstr>
      <vt:lpstr>Comparing Attribute Selection Measures</vt:lpstr>
      <vt:lpstr>Computing Information-Gain for Continuous-Value Attributes</vt:lpstr>
      <vt:lpstr>Other Attribute Selection Measures</vt:lpstr>
      <vt:lpstr>Issues in Decision Tree</vt:lpstr>
      <vt:lpstr>Random Forests</vt:lpstr>
      <vt:lpstr>Random Forests Algorithm </vt:lpstr>
      <vt:lpstr>Some unique designs</vt:lpstr>
      <vt:lpstr>Random Forest</vt:lpstr>
      <vt:lpstr>Scikit-learn code</vt:lpstr>
      <vt:lpstr>Summary: Advantages of Decision Trees and RF</vt:lpstr>
      <vt:lpstr>Acknowledgements</vt:lpstr>
    </vt:vector>
  </TitlesOfParts>
  <Company>University of South Carolina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jianjunh</dc:creator>
  <cp:lastModifiedBy>Hu, Jianjun</cp:lastModifiedBy>
  <cp:revision>157</cp:revision>
  <dcterms:created xsi:type="dcterms:W3CDTF">2016-01-10T23:57:09Z</dcterms:created>
  <dcterms:modified xsi:type="dcterms:W3CDTF">2026-09-08T15:44:03Z</dcterms:modified>
</cp:coreProperties>
</file>