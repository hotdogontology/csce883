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handoutMasterIdLst>
    <p:handoutMasterId r:id="rId50"/>
  </p:handoutMasterIdLst>
  <p:sldIdLst>
    <p:sldId id="256" r:id="rId2"/>
    <p:sldId id="406" r:id="rId3"/>
    <p:sldId id="355" r:id="rId4"/>
    <p:sldId id="356" r:id="rId5"/>
    <p:sldId id="407" r:id="rId6"/>
    <p:sldId id="408" r:id="rId7"/>
    <p:sldId id="409" r:id="rId8"/>
    <p:sldId id="410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72" r:id="rId25"/>
    <p:sldId id="373" r:id="rId26"/>
    <p:sldId id="374" r:id="rId27"/>
    <p:sldId id="375" r:id="rId28"/>
    <p:sldId id="376" r:id="rId29"/>
    <p:sldId id="377" r:id="rId30"/>
    <p:sldId id="378" r:id="rId31"/>
    <p:sldId id="379" r:id="rId32"/>
    <p:sldId id="380" r:id="rId33"/>
    <p:sldId id="405" r:id="rId34"/>
    <p:sldId id="381" r:id="rId35"/>
    <p:sldId id="382" r:id="rId36"/>
    <p:sldId id="383" r:id="rId37"/>
    <p:sldId id="384" r:id="rId38"/>
    <p:sldId id="385" r:id="rId39"/>
    <p:sldId id="386" r:id="rId40"/>
    <p:sldId id="387" r:id="rId41"/>
    <p:sldId id="388" r:id="rId42"/>
    <p:sldId id="389" r:id="rId43"/>
    <p:sldId id="390" r:id="rId44"/>
    <p:sldId id="391" r:id="rId45"/>
    <p:sldId id="402" r:id="rId46"/>
    <p:sldId id="403" r:id="rId47"/>
    <p:sldId id="354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331"/>
    </p:cViewPr>
  </p:sorterViewPr>
  <p:notesViewPr>
    <p:cSldViewPr>
      <p:cViewPr varScale="1">
        <p:scale>
          <a:sx n="72" d="100"/>
          <a:sy n="72" d="100"/>
        </p:scale>
        <p:origin x="2502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8DDF0-2F1A-4496-8269-66CEE088B180}" type="datetimeFigureOut">
              <a:rPr lang="en-US" smtClean="0"/>
              <a:t>9/16/24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CAF37-003C-47AF-8570-21AA25E6F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17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39702-A297-4D89-83BF-BB47F00D9574}" type="datetimeFigureOut">
              <a:rPr lang="en-US" smtClean="0"/>
              <a:t>9/16/24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3DB24-E602-421D-9DCF-EE074627A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5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6832ED-AE0F-4361-ADE4-21AC864E2578}" type="slidenum">
              <a:rPr lang="he-IL" altLang="en-US"/>
              <a:pPr/>
              <a:t>7</a:t>
            </a:fld>
            <a:endParaRPr lang="en-US" altLang="en-US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6681788"/>
            <a:ext cx="3692525" cy="514350"/>
          </a:xfrm>
        </p:spPr>
        <p:txBody>
          <a:bodyPr/>
          <a:lstStyle/>
          <a:p>
            <a:r>
              <a:rPr lang="en-US" altLang="en-US"/>
              <a:t>A case of a die where 1….6 are the possible values 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095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8309E5-F80A-4C7A-AE93-FD9C15E54748}" type="slidenum">
              <a:rPr lang="he-IL" altLang="en-US"/>
              <a:pPr/>
              <a:t>8</a:t>
            </a:fld>
            <a:endParaRPr lang="en-US" altLang="en-US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6681788"/>
            <a:ext cx="3692525" cy="514350"/>
          </a:xfrm>
        </p:spPr>
        <p:txBody>
          <a:bodyPr/>
          <a:lstStyle/>
          <a:p>
            <a:r>
              <a:rPr lang="en-US" altLang="en-US"/>
              <a:t>A case of a die where 1….6 are the possible values 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2921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9/16/24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51502D1-CD83-4737-B87E-80B707E0A82E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9853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2B81425-3619-4773-91F9-BD917B5FFDC3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82398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A45BF1F5-6F3D-400E-8FF6-BF03DF788105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5793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BCE4DB31-8ADD-488E-AC8C-DB45AAFAC4E7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6456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71BCB6F-AE7E-4F0A-AE52-15619A6EE9DA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3378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63C877F8-4BAB-4470-9716-52367E9B59A2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705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B29A02C-F697-497B-BDAB-6F177ED506DB}" type="datetimeFigureOut">
              <a:rPr lang="en-US" smtClean="0"/>
              <a:t>9/16/24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7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9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0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3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3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wmf"/><Relationship Id="rId4" Type="http://schemas.openxmlformats.org/officeDocument/2006/relationships/oleObject" Target="../embeddings/oleObject42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62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46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7.wmf"/><Relationship Id="rId4" Type="http://schemas.openxmlformats.org/officeDocument/2006/relationships/oleObject" Target="../embeddings/oleObject50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9.wmf"/><Relationship Id="rId4" Type="http://schemas.openxmlformats.org/officeDocument/2006/relationships/oleObject" Target="../embeddings/oleObject52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71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73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wmf"/><Relationship Id="rId4" Type="http://schemas.openxmlformats.org/officeDocument/2006/relationships/oleObject" Target="../embeddings/oleObject58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859302"/>
          </a:xfrm>
        </p:spPr>
        <p:txBody>
          <a:bodyPr/>
          <a:lstStyle/>
          <a:p>
            <a:r>
              <a:rPr lang="en-US" dirty="0"/>
              <a:t>CSCE</a:t>
            </a:r>
            <a:r>
              <a:rPr lang="en-US" altLang="zh-CN" dirty="0"/>
              <a:t>883</a:t>
            </a:r>
            <a:r>
              <a:rPr lang="en-US" dirty="0"/>
              <a:t> </a:t>
            </a:r>
            <a:r>
              <a:rPr lang="en-US" altLang="zh-CN" dirty="0"/>
              <a:t>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038600"/>
            <a:ext cx="7406640" cy="23622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Lecture 4  </a:t>
            </a:r>
            <a:r>
              <a:rPr lang="en-US" altLang="zh-CN" dirty="0"/>
              <a:t>Maximum Likelihood Estimation and more</a:t>
            </a:r>
            <a:endParaRPr lang="en-US" dirty="0"/>
          </a:p>
          <a:p>
            <a:pPr algn="ctr"/>
            <a:r>
              <a:rPr lang="en-US" dirty="0"/>
              <a:t>Jianjun Hu</a:t>
            </a:r>
          </a:p>
          <a:p>
            <a:pPr algn="ctr"/>
            <a:r>
              <a:rPr lang="en-US" dirty="0"/>
              <a:t>Department of Computer Science &amp; Engineering</a:t>
            </a:r>
          </a:p>
          <a:p>
            <a:pPr algn="ctr"/>
            <a:r>
              <a:rPr lang="en-US" dirty="0"/>
              <a:t>University of South Carolina</a:t>
            </a:r>
          </a:p>
        </p:txBody>
      </p:sp>
      <p:pic>
        <p:nvPicPr>
          <p:cNvPr id="11266" name="Picture 2" descr="Image result for university of south carolina 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76400"/>
            <a:ext cx="3578225" cy="201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344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estimation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Estimating the probability of a coin: head or tails…. To check if coin is modified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95600"/>
            <a:ext cx="1714500" cy="12858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905000" y="3733800"/>
            <a:ext cx="3581400" cy="1905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n 5"/>
          <p:cNvSpPr/>
          <p:nvPr/>
        </p:nvSpPr>
        <p:spPr>
          <a:xfrm>
            <a:off x="2362200" y="3200400"/>
            <a:ext cx="304800" cy="11430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n 6"/>
          <p:cNvSpPr/>
          <p:nvPr/>
        </p:nvSpPr>
        <p:spPr>
          <a:xfrm>
            <a:off x="3543300" y="3200400"/>
            <a:ext cx="304800" cy="114300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Can 7"/>
          <p:cNvSpPr/>
          <p:nvPr/>
        </p:nvSpPr>
        <p:spPr>
          <a:xfrm>
            <a:off x="4514850" y="3200400"/>
            <a:ext cx="304800" cy="1143000"/>
          </a:xfrm>
          <a:prstGeom prst="ca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33600" y="45720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454187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3142" y="450746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7432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5579" y="2720163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4473" y="2720163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747850"/>
            <a:ext cx="2850738" cy="8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89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Parametric Estimation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7D18607-7BAB-4C63-A5F0-47F027AB4319}" type="slidenum">
              <a:rPr lang="tr-TR">
                <a:solidFill>
                  <a:schemeClr val="tx2"/>
                </a:solidFill>
              </a:rPr>
              <a:pPr/>
              <a:t>3</a:t>
            </a:fld>
            <a:endParaRPr lang="tr-TR">
              <a:solidFill>
                <a:schemeClr val="tx2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b="1" i="1" dirty="0">
                <a:solidFill>
                  <a:schemeClr val="tx2"/>
                </a:solidFill>
              </a:rPr>
              <a:t> </a:t>
            </a:r>
            <a:r>
              <a:rPr lang="tr-TR" dirty="0">
                <a:solidFill>
                  <a:schemeClr val="tx2"/>
                </a:solidFill>
              </a:rPr>
              <a:t>= { </a:t>
            </a:r>
            <a:r>
              <a:rPr lang="tr-TR" i="1" dirty="0">
                <a:solidFill>
                  <a:schemeClr val="tx2"/>
                </a:solidFill>
              </a:rPr>
              <a:t>x</a:t>
            </a:r>
            <a:r>
              <a:rPr lang="tr-TR" i="1" baseline="30000" dirty="0">
                <a:solidFill>
                  <a:schemeClr val="tx2"/>
                </a:solidFill>
              </a:rPr>
              <a:t>t </a:t>
            </a:r>
            <a:r>
              <a:rPr lang="tr-TR" dirty="0">
                <a:solidFill>
                  <a:schemeClr val="tx2"/>
                </a:solidFill>
              </a:rPr>
              <a:t>}</a:t>
            </a:r>
            <a:r>
              <a:rPr lang="tr-TR" i="1" baseline="-25000" dirty="0">
                <a:solidFill>
                  <a:schemeClr val="tx2"/>
                </a:solidFill>
              </a:rPr>
              <a:t>t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where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 x</a:t>
            </a:r>
            <a:r>
              <a:rPr lang="tr-TR" i="1" baseline="30000" dirty="0">
                <a:solidFill>
                  <a:schemeClr val="tx2"/>
                </a:solidFill>
                <a:latin typeface="+mj-lt"/>
              </a:rPr>
              <a:t>t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~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p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Parametric estimation: </a:t>
            </a:r>
          </a:p>
          <a:p>
            <a:pPr lvl="1">
              <a:buFont typeface="Wingdings" pitchFamily="2" charset="2"/>
              <a:buNone/>
            </a:pPr>
            <a:r>
              <a:rPr lang="tr-TR" sz="2400" dirty="0">
                <a:solidFill>
                  <a:schemeClr val="tx2"/>
                </a:solidFill>
                <a:latin typeface="+mj-lt"/>
              </a:rPr>
              <a:t>	Assume a form for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p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x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|</a:t>
            </a:r>
            <a:r>
              <a:rPr lang="tr-TR" sz="2400" i="1" dirty="0">
                <a:solidFill>
                  <a:schemeClr val="tx2"/>
                </a:solidFill>
                <a:latin typeface="Symbol" pitchFamily="18" charset="2"/>
              </a:rPr>
              <a:t>q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) and estimate </a:t>
            </a:r>
            <a:r>
              <a:rPr lang="tr-TR" i="1" dirty="0">
                <a:solidFill>
                  <a:schemeClr val="tx2"/>
                </a:solidFill>
                <a:latin typeface="Symbol" pitchFamily="18" charset="2"/>
              </a:rPr>
              <a:t>q</a:t>
            </a:r>
            <a:r>
              <a:rPr lang="tr-TR" i="1" dirty="0">
                <a:solidFill>
                  <a:schemeClr val="tx2"/>
                </a:solidFill>
              </a:rPr>
              <a:t>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,</a:t>
            </a:r>
            <a:r>
              <a:rPr lang="tr-TR" sz="2400" b="1" dirty="0">
                <a:solidFill>
                  <a:schemeClr val="tx2"/>
                </a:solidFill>
                <a:latin typeface="+mj-lt"/>
              </a:rPr>
              <a:t>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its sufficient statistics, using X</a:t>
            </a:r>
          </a:p>
          <a:p>
            <a:pPr lvl="1">
              <a:buFont typeface="Wingdings" pitchFamily="2" charset="2"/>
              <a:buNone/>
            </a:pPr>
            <a:r>
              <a:rPr lang="tr-TR" sz="2400" dirty="0">
                <a:solidFill>
                  <a:schemeClr val="tx2"/>
                </a:solidFill>
                <a:latin typeface="+mj-lt"/>
              </a:rPr>
              <a:t>	e.g., N (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μ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,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σ</a:t>
            </a:r>
            <a:r>
              <a:rPr lang="tr-TR" sz="2400" baseline="30000" dirty="0">
                <a:solidFill>
                  <a:schemeClr val="tx2"/>
                </a:solidFill>
                <a:latin typeface="+mj-lt"/>
              </a:rPr>
              <a:t>2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) where </a:t>
            </a:r>
            <a:r>
              <a:rPr lang="tr-TR" i="1" dirty="0">
                <a:solidFill>
                  <a:schemeClr val="tx2"/>
                </a:solidFill>
                <a:latin typeface="Symbol" pitchFamily="18" charset="2"/>
              </a:rPr>
              <a:t>q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= {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μ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,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σ</a:t>
            </a:r>
            <a:r>
              <a:rPr lang="tr-TR" sz="2400" baseline="30000" dirty="0">
                <a:solidFill>
                  <a:schemeClr val="tx2"/>
                </a:solidFill>
                <a:latin typeface="+mj-lt"/>
              </a:rPr>
              <a:t>2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}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4341691"/>
            <a:ext cx="4343400" cy="194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22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Maximum Likelihood Estimation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071448B-E8AA-4D1F-9506-381EAEFE5035}" type="slidenum">
              <a:rPr lang="tr-TR"/>
              <a:pPr/>
              <a:t>4</a:t>
            </a:fld>
            <a:endParaRPr lang="tr-TR"/>
          </a:p>
        </p:txBody>
      </p:sp>
      <p:sp>
        <p:nvSpPr>
          <p:cNvPr id="1638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>
                <a:solidFill>
                  <a:schemeClr val="accent1"/>
                </a:solidFill>
                <a:latin typeface="+mj-lt"/>
              </a:rPr>
              <a:t>Likelihood</a:t>
            </a:r>
            <a:r>
              <a:rPr lang="tr-TR" dirty="0">
                <a:latin typeface="+mj-lt"/>
              </a:rPr>
              <a:t>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of </a:t>
            </a:r>
            <a:r>
              <a:rPr lang="tr-TR" i="1" dirty="0">
                <a:solidFill>
                  <a:schemeClr val="tx2"/>
                </a:solidFill>
                <a:latin typeface="Symbol" pitchFamily="18" charset="2"/>
              </a:rPr>
              <a:t>q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given the sample 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</a:rPr>
              <a:t>		</a:t>
            </a:r>
            <a:r>
              <a:rPr lang="tr-TR" i="1" dirty="0">
                <a:solidFill>
                  <a:schemeClr val="tx2"/>
                </a:solidFill>
              </a:rPr>
              <a:t>l 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) = </a:t>
            </a:r>
            <a:r>
              <a:rPr lang="tr-TR" i="1" dirty="0">
                <a:solidFill>
                  <a:schemeClr val="tx2"/>
                </a:solidFill>
              </a:rPr>
              <a:t>p 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b="1" i="1" dirty="0">
                <a:solidFill>
                  <a:schemeClr val="tx2"/>
                </a:solidFill>
              </a:rPr>
              <a:t> 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) = ∏</a:t>
            </a:r>
            <a:r>
              <a:rPr lang="tr-TR" i="1" baseline="-40000" dirty="0">
                <a:solidFill>
                  <a:schemeClr val="tx2"/>
                </a:solidFill>
              </a:rPr>
              <a:t>t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tr-TR" i="1" dirty="0">
                <a:solidFill>
                  <a:schemeClr val="tx2"/>
                </a:solidFill>
              </a:rPr>
              <a:t>p 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tr-TR" i="1" dirty="0">
                <a:solidFill>
                  <a:schemeClr val="tx2"/>
                </a:solidFill>
              </a:rPr>
              <a:t>x</a:t>
            </a:r>
            <a:r>
              <a:rPr lang="tr-TR" i="1" baseline="30000" dirty="0">
                <a:solidFill>
                  <a:schemeClr val="tx2"/>
                </a:solidFill>
              </a:rPr>
              <a:t>t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)</a:t>
            </a:r>
          </a:p>
          <a:p>
            <a:pPr>
              <a:buFont typeface="Wingdings" pitchFamily="2" charset="2"/>
              <a:buNone/>
            </a:pPr>
            <a:endParaRPr lang="tr-TR" dirty="0">
              <a:solidFill>
                <a:schemeClr val="tx2"/>
              </a:solidFill>
            </a:endParaRPr>
          </a:p>
          <a:p>
            <a:r>
              <a:rPr lang="tr-TR" dirty="0">
                <a:solidFill>
                  <a:schemeClr val="accent1"/>
                </a:solidFill>
                <a:latin typeface="+mj-lt"/>
              </a:rPr>
              <a:t>Log likelihood</a:t>
            </a: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</a:rPr>
              <a:t>		 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L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) =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log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tr-TR" i="1" dirty="0">
                <a:solidFill>
                  <a:schemeClr val="tx2"/>
                </a:solidFill>
              </a:rPr>
              <a:t>l 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) = ∑</a:t>
            </a:r>
            <a:r>
              <a:rPr lang="tr-TR" i="1" baseline="-40000" dirty="0">
                <a:solidFill>
                  <a:schemeClr val="tx2"/>
                </a:solidFill>
              </a:rPr>
              <a:t>t</a:t>
            </a:r>
            <a:r>
              <a:rPr lang="tr-TR" dirty="0">
                <a:solidFill>
                  <a:schemeClr val="tx2"/>
                </a:solidFill>
              </a:rPr>
              <a:t> log </a:t>
            </a:r>
            <a:r>
              <a:rPr lang="tr-TR" i="1" dirty="0">
                <a:solidFill>
                  <a:schemeClr val="tx2"/>
                </a:solidFill>
              </a:rPr>
              <a:t>p 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tr-TR" i="1" dirty="0">
                <a:solidFill>
                  <a:schemeClr val="tx2"/>
                </a:solidFill>
              </a:rPr>
              <a:t>x</a:t>
            </a:r>
            <a:r>
              <a:rPr lang="tr-TR" i="1" baseline="30000" dirty="0">
                <a:solidFill>
                  <a:schemeClr val="tx2"/>
                </a:solidFill>
              </a:rPr>
              <a:t>t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)</a:t>
            </a:r>
          </a:p>
          <a:p>
            <a:endParaRPr lang="tr-TR" dirty="0">
              <a:solidFill>
                <a:schemeClr val="tx2"/>
              </a:solidFill>
            </a:endParaRPr>
          </a:p>
          <a:p>
            <a:r>
              <a:rPr lang="tr-TR" dirty="0">
                <a:solidFill>
                  <a:schemeClr val="accent1"/>
                </a:solidFill>
                <a:latin typeface="+mj-lt"/>
              </a:rPr>
              <a:t>Maximum likelihood estimator (MLE)</a:t>
            </a: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</a:rPr>
              <a:t>		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baseline="30000" dirty="0">
                <a:solidFill>
                  <a:schemeClr val="tx2"/>
                </a:solidFill>
              </a:rPr>
              <a:t>*</a:t>
            </a:r>
            <a:r>
              <a:rPr lang="tr-TR" dirty="0">
                <a:solidFill>
                  <a:schemeClr val="tx2"/>
                </a:solidFill>
              </a:rPr>
              <a:t> =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argmax</a:t>
            </a:r>
            <a:r>
              <a:rPr lang="en-GB" i="1" baseline="-25000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L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)</a:t>
            </a:r>
            <a:endParaRPr lang="en-GB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113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3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BFA43B-2BB0-4AEF-B428-B8388B6ECD5F}" type="slidenum">
              <a:rPr lang="he-IL" altLang="en-US"/>
              <a:pPr/>
              <a:t>5</a:t>
            </a:fld>
            <a:endParaRPr lang="en-US" alt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Likelihood </a:t>
            </a:r>
            <a:r>
              <a:rPr lang="en-US" altLang="en-US">
                <a:solidFill>
                  <a:schemeClr val="hlink"/>
                </a:solidFill>
              </a:rPr>
              <a:t>Function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542" y="1130301"/>
            <a:ext cx="8558212" cy="3198812"/>
          </a:xfrm>
        </p:spPr>
        <p:txBody>
          <a:bodyPr/>
          <a:lstStyle/>
          <a:p>
            <a:r>
              <a:rPr lang="en-US" altLang="en-US" dirty="0"/>
              <a:t> How good is a particular </a:t>
            </a:r>
            <a:r>
              <a:rPr lang="en-US" altLang="en-US" dirty="0">
                <a:solidFill>
                  <a:schemeClr val="hlink"/>
                </a:solidFill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Symbol" panose="05050102010706020507" pitchFamily="18" charset="2"/>
              </a:rPr>
              <a:t>?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It depends on how likely it is to generate the observed data</a:t>
            </a:r>
          </a:p>
          <a:p>
            <a:endParaRPr lang="en-US" altLang="en-US" dirty="0">
              <a:sym typeface="Symbol" panose="05050102010706020507" pitchFamily="18" charset="2"/>
            </a:endParaRPr>
          </a:p>
          <a:p>
            <a:endParaRPr lang="en-US" altLang="en-US" sz="18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The likelihood for the sequence H,T, T, H, H is</a:t>
            </a: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213804"/>
              </p:ext>
            </p:extLst>
          </p:nvPr>
        </p:nvGraphicFramePr>
        <p:xfrm>
          <a:off x="1828800" y="2603500"/>
          <a:ext cx="60293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000" imgH="342720" progId="Equation.DSMT4">
                  <p:embed/>
                </p:oleObj>
              </mc:Choice>
              <mc:Fallback>
                <p:oleObj name="Equation" r:id="rId2" imgW="2070000" imgH="342720" progId="Equation.DSMT4">
                  <p:embed/>
                  <p:pic>
                    <p:nvPicPr>
                      <p:cNvPr id="14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603500"/>
                        <a:ext cx="602932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71" name="Group 35"/>
          <p:cNvGrpSpPr>
            <a:grpSpLocks/>
          </p:cNvGrpSpPr>
          <p:nvPr/>
        </p:nvGrpSpPr>
        <p:grpSpPr bwMode="auto">
          <a:xfrm>
            <a:off x="1371600" y="4114800"/>
            <a:ext cx="8623300" cy="3008312"/>
            <a:chOff x="328" y="2417"/>
            <a:chExt cx="5432" cy="1895"/>
          </a:xfrm>
        </p:grpSpPr>
        <p:graphicFrame>
          <p:nvGraphicFramePr>
            <p:cNvPr id="14341" name="Object 5"/>
            <p:cNvGraphicFramePr>
              <a:graphicFrameLocks noChangeAspect="1"/>
            </p:cNvGraphicFramePr>
            <p:nvPr/>
          </p:nvGraphicFramePr>
          <p:xfrm>
            <a:off x="2355" y="3103"/>
            <a:ext cx="3405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854000" imgH="228600" progId="Equation.DSMT4">
                    <p:embed/>
                  </p:oleObj>
                </mc:Choice>
                <mc:Fallback>
                  <p:oleObj name="Equation" r:id="rId4" imgW="1854000" imgH="228600" progId="Equation.DSMT4">
                    <p:embed/>
                    <p:pic>
                      <p:nvPicPr>
                        <p:cNvPr id="1434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5" y="3103"/>
                          <a:ext cx="3405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42" name="Group 6"/>
            <p:cNvGrpSpPr>
              <a:grpSpLocks/>
            </p:cNvGrpSpPr>
            <p:nvPr/>
          </p:nvGrpSpPr>
          <p:grpSpPr bwMode="auto">
            <a:xfrm>
              <a:off x="328" y="2453"/>
              <a:ext cx="2230" cy="1859"/>
              <a:chOff x="312" y="2252"/>
              <a:chExt cx="2230" cy="1859"/>
            </a:xfrm>
          </p:grpSpPr>
          <p:sp>
            <p:nvSpPr>
              <p:cNvPr id="14343" name="Line 7"/>
              <p:cNvSpPr>
                <a:spLocks noChangeShapeType="1"/>
              </p:cNvSpPr>
              <p:nvPr/>
            </p:nvSpPr>
            <p:spPr bwMode="auto">
              <a:xfrm flipH="1">
                <a:off x="2507" y="3815"/>
                <a:ext cx="14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4" name="Rectangle 8"/>
              <p:cNvSpPr>
                <a:spLocks noChangeArrowheads="1"/>
              </p:cNvSpPr>
              <p:nvPr/>
            </p:nvSpPr>
            <p:spPr bwMode="auto">
              <a:xfrm>
                <a:off x="607" y="3860"/>
                <a:ext cx="44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en-US" altLang="en-US" sz="1000" i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0</a:t>
                </a:r>
                <a:endParaRPr lang="en-US" altLang="en-US" sz="1000" i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5" name="Line 9"/>
              <p:cNvSpPr>
                <a:spLocks noChangeShapeType="1"/>
              </p:cNvSpPr>
              <p:nvPr/>
            </p:nvSpPr>
            <p:spPr bwMode="auto">
              <a:xfrm flipV="1">
                <a:off x="1008" y="3749"/>
                <a:ext cx="1" cy="6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6" name="Rectangle 10"/>
              <p:cNvSpPr>
                <a:spLocks noChangeArrowheads="1"/>
              </p:cNvSpPr>
              <p:nvPr/>
            </p:nvSpPr>
            <p:spPr bwMode="auto">
              <a:xfrm>
                <a:off x="966" y="3860"/>
                <a:ext cx="110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en-US" altLang="en-US" sz="1000" i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0.2</a:t>
                </a:r>
                <a:endParaRPr lang="en-US" altLang="en-US" sz="1000" i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7" name="Rectangle 11"/>
              <p:cNvSpPr>
                <a:spLocks noChangeArrowheads="1"/>
              </p:cNvSpPr>
              <p:nvPr/>
            </p:nvSpPr>
            <p:spPr bwMode="auto">
              <a:xfrm>
                <a:off x="1345" y="3860"/>
                <a:ext cx="110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en-US" altLang="en-US" sz="1000" i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0.4</a:t>
                </a:r>
                <a:endParaRPr lang="en-US" altLang="en-US" sz="1000" i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8" name="Line 12"/>
              <p:cNvSpPr>
                <a:spLocks noChangeShapeType="1"/>
              </p:cNvSpPr>
              <p:nvPr/>
            </p:nvSpPr>
            <p:spPr bwMode="auto">
              <a:xfrm flipV="1">
                <a:off x="1764" y="3800"/>
                <a:ext cx="1" cy="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9" name="Rectangle 13"/>
              <p:cNvSpPr>
                <a:spLocks noChangeArrowheads="1"/>
              </p:cNvSpPr>
              <p:nvPr/>
            </p:nvSpPr>
            <p:spPr bwMode="auto">
              <a:xfrm>
                <a:off x="1723" y="3860"/>
                <a:ext cx="110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en-US" altLang="en-US" sz="1000" i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0.6</a:t>
                </a:r>
                <a:endParaRPr lang="en-US" altLang="en-US" sz="1000" i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0" name="Line 14"/>
              <p:cNvSpPr>
                <a:spLocks noChangeShapeType="1"/>
              </p:cNvSpPr>
              <p:nvPr/>
            </p:nvSpPr>
            <p:spPr bwMode="auto">
              <a:xfrm flipV="1">
                <a:off x="2142" y="3800"/>
                <a:ext cx="2" cy="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1" name="Rectangle 15"/>
              <p:cNvSpPr>
                <a:spLocks noChangeArrowheads="1"/>
              </p:cNvSpPr>
              <p:nvPr/>
            </p:nvSpPr>
            <p:spPr bwMode="auto">
              <a:xfrm>
                <a:off x="2101" y="3860"/>
                <a:ext cx="110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en-US" altLang="en-US" sz="1000" i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0.8</a:t>
                </a:r>
                <a:endParaRPr lang="en-US" altLang="en-US" sz="1000" i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2" name="Rectangle 16"/>
              <p:cNvSpPr>
                <a:spLocks noChangeArrowheads="1"/>
              </p:cNvSpPr>
              <p:nvPr/>
            </p:nvSpPr>
            <p:spPr bwMode="auto">
              <a:xfrm>
                <a:off x="2498" y="3860"/>
                <a:ext cx="44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en-US" altLang="en-US" sz="1000" i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</a:t>
                </a:r>
                <a:endParaRPr lang="en-US" altLang="en-US" sz="1000" i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3" name="Line 17"/>
              <p:cNvSpPr>
                <a:spLocks noChangeShapeType="1"/>
              </p:cNvSpPr>
              <p:nvPr/>
            </p:nvSpPr>
            <p:spPr bwMode="auto">
              <a:xfrm>
                <a:off x="629" y="3815"/>
                <a:ext cx="1892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4" name="Freeform 18"/>
              <p:cNvSpPr>
                <a:spLocks/>
              </p:cNvSpPr>
              <p:nvPr/>
            </p:nvSpPr>
            <p:spPr bwMode="auto">
              <a:xfrm>
                <a:off x="629" y="2321"/>
                <a:ext cx="1892" cy="1494"/>
              </a:xfrm>
              <a:custGeom>
                <a:avLst/>
                <a:gdLst>
                  <a:gd name="T0" fmla="*/ 0 w 21969"/>
                  <a:gd name="T1" fmla="*/ 15860 h 15860"/>
                  <a:gd name="T2" fmla="*/ 444 w 21969"/>
                  <a:gd name="T3" fmla="*/ 15856 h 15860"/>
                  <a:gd name="T4" fmla="*/ 887 w 21969"/>
                  <a:gd name="T5" fmla="*/ 15832 h 15860"/>
                  <a:gd name="T6" fmla="*/ 1332 w 21969"/>
                  <a:gd name="T7" fmla="*/ 15770 h 15860"/>
                  <a:gd name="T8" fmla="*/ 1776 w 21969"/>
                  <a:gd name="T9" fmla="*/ 15655 h 15860"/>
                  <a:gd name="T10" fmla="*/ 2219 w 21969"/>
                  <a:gd name="T11" fmla="*/ 15478 h 15860"/>
                  <a:gd name="T12" fmla="*/ 2663 w 21969"/>
                  <a:gd name="T13" fmla="*/ 15229 h 15860"/>
                  <a:gd name="T14" fmla="*/ 3106 w 21969"/>
                  <a:gd name="T15" fmla="*/ 14903 h 15860"/>
                  <a:gd name="T16" fmla="*/ 3551 w 21969"/>
                  <a:gd name="T17" fmla="*/ 14498 h 15860"/>
                  <a:gd name="T18" fmla="*/ 3995 w 21969"/>
                  <a:gd name="T19" fmla="*/ 14013 h 15860"/>
                  <a:gd name="T20" fmla="*/ 4438 w 21969"/>
                  <a:gd name="T21" fmla="*/ 13450 h 15860"/>
                  <a:gd name="T22" fmla="*/ 4882 w 21969"/>
                  <a:gd name="T23" fmla="*/ 12813 h 15860"/>
                  <a:gd name="T24" fmla="*/ 5326 w 21969"/>
                  <a:gd name="T25" fmla="*/ 12107 h 15860"/>
                  <a:gd name="T26" fmla="*/ 5770 w 21969"/>
                  <a:gd name="T27" fmla="*/ 11339 h 15860"/>
                  <a:gd name="T28" fmla="*/ 6214 w 21969"/>
                  <a:gd name="T29" fmla="*/ 10518 h 15860"/>
                  <a:gd name="T30" fmla="*/ 6658 w 21969"/>
                  <a:gd name="T31" fmla="*/ 9656 h 15860"/>
                  <a:gd name="T32" fmla="*/ 7101 w 21969"/>
                  <a:gd name="T33" fmla="*/ 8760 h 15860"/>
                  <a:gd name="T34" fmla="*/ 7545 w 21969"/>
                  <a:gd name="T35" fmla="*/ 7846 h 15860"/>
                  <a:gd name="T36" fmla="*/ 7989 w 21969"/>
                  <a:gd name="T37" fmla="*/ 6923 h 15860"/>
                  <a:gd name="T38" fmla="*/ 8433 w 21969"/>
                  <a:gd name="T39" fmla="*/ 6006 h 15860"/>
                  <a:gd name="T40" fmla="*/ 8877 w 21969"/>
                  <a:gd name="T41" fmla="*/ 5108 h 15860"/>
                  <a:gd name="T42" fmla="*/ 9320 w 21969"/>
                  <a:gd name="T43" fmla="*/ 4242 h 15860"/>
                  <a:gd name="T44" fmla="*/ 9763 w 21969"/>
                  <a:gd name="T45" fmla="*/ 3424 h 15860"/>
                  <a:gd name="T46" fmla="*/ 10208 w 21969"/>
                  <a:gd name="T47" fmla="*/ 2664 h 15860"/>
                  <a:gd name="T48" fmla="*/ 10651 w 21969"/>
                  <a:gd name="T49" fmla="*/ 1977 h 15860"/>
                  <a:gd name="T50" fmla="*/ 11095 w 21969"/>
                  <a:gd name="T51" fmla="*/ 1375 h 15860"/>
                  <a:gd name="T52" fmla="*/ 11538 w 21969"/>
                  <a:gd name="T53" fmla="*/ 868 h 15860"/>
                  <a:gd name="T54" fmla="*/ 11982 w 21969"/>
                  <a:gd name="T55" fmla="*/ 470 h 15860"/>
                  <a:gd name="T56" fmla="*/ 12427 w 21969"/>
                  <a:gd name="T57" fmla="*/ 188 h 15860"/>
                  <a:gd name="T58" fmla="*/ 12870 w 21969"/>
                  <a:gd name="T59" fmla="*/ 30 h 15860"/>
                  <a:gd name="T60" fmla="*/ 13314 w 21969"/>
                  <a:gd name="T61" fmla="*/ 3 h 15860"/>
                  <a:gd name="T62" fmla="*/ 13758 w 21969"/>
                  <a:gd name="T63" fmla="*/ 113 h 15860"/>
                  <a:gd name="T64" fmla="*/ 14201 w 21969"/>
                  <a:gd name="T65" fmla="*/ 361 h 15860"/>
                  <a:gd name="T66" fmla="*/ 14646 w 21969"/>
                  <a:gd name="T67" fmla="*/ 749 h 15860"/>
                  <a:gd name="T68" fmla="*/ 15090 w 21969"/>
                  <a:gd name="T69" fmla="*/ 1276 h 15860"/>
                  <a:gd name="T70" fmla="*/ 15533 w 21969"/>
                  <a:gd name="T71" fmla="*/ 1937 h 15860"/>
                  <a:gd name="T72" fmla="*/ 15977 w 21969"/>
                  <a:gd name="T73" fmla="*/ 2727 h 15860"/>
                  <a:gd name="T74" fmla="*/ 16420 w 21969"/>
                  <a:gd name="T75" fmla="*/ 3636 h 15860"/>
                  <a:gd name="T76" fmla="*/ 16865 w 21969"/>
                  <a:gd name="T77" fmla="*/ 4652 h 15860"/>
                  <a:gd name="T78" fmla="*/ 17309 w 21969"/>
                  <a:gd name="T79" fmla="*/ 5760 h 15860"/>
                  <a:gd name="T80" fmla="*/ 17752 w 21969"/>
                  <a:gd name="T81" fmla="*/ 6940 h 15860"/>
                  <a:gd name="T82" fmla="*/ 18196 w 21969"/>
                  <a:gd name="T83" fmla="*/ 8170 h 15860"/>
                  <a:gd name="T84" fmla="*/ 18640 w 21969"/>
                  <a:gd name="T85" fmla="*/ 9423 h 15860"/>
                  <a:gd name="T86" fmla="*/ 19084 w 21969"/>
                  <a:gd name="T87" fmla="*/ 10672 h 15860"/>
                  <a:gd name="T88" fmla="*/ 19528 w 21969"/>
                  <a:gd name="T89" fmla="*/ 11880 h 15860"/>
                  <a:gd name="T90" fmla="*/ 19972 w 21969"/>
                  <a:gd name="T91" fmla="*/ 13010 h 15860"/>
                  <a:gd name="T92" fmla="*/ 20415 w 21969"/>
                  <a:gd name="T93" fmla="*/ 14018 h 15860"/>
                  <a:gd name="T94" fmla="*/ 20859 w 21969"/>
                  <a:gd name="T95" fmla="*/ 14857 h 15860"/>
                  <a:gd name="T96" fmla="*/ 21304 w 21969"/>
                  <a:gd name="T97" fmla="*/ 15476 h 15860"/>
                  <a:gd name="T98" fmla="*/ 21747 w 21969"/>
                  <a:gd name="T99" fmla="*/ 15814 h 15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1969" h="15860">
                    <a:moveTo>
                      <a:pt x="0" y="15860"/>
                    </a:moveTo>
                    <a:lnTo>
                      <a:pt x="0" y="15860"/>
                    </a:lnTo>
                    <a:lnTo>
                      <a:pt x="222" y="15860"/>
                    </a:lnTo>
                    <a:lnTo>
                      <a:pt x="444" y="15856"/>
                    </a:lnTo>
                    <a:lnTo>
                      <a:pt x="665" y="15847"/>
                    </a:lnTo>
                    <a:lnTo>
                      <a:pt x="887" y="15832"/>
                    </a:lnTo>
                    <a:lnTo>
                      <a:pt x="1110" y="15807"/>
                    </a:lnTo>
                    <a:lnTo>
                      <a:pt x="1332" y="15770"/>
                    </a:lnTo>
                    <a:lnTo>
                      <a:pt x="1554" y="15720"/>
                    </a:lnTo>
                    <a:lnTo>
                      <a:pt x="1776" y="15655"/>
                    </a:lnTo>
                    <a:lnTo>
                      <a:pt x="1997" y="15574"/>
                    </a:lnTo>
                    <a:lnTo>
                      <a:pt x="2219" y="15478"/>
                    </a:lnTo>
                    <a:lnTo>
                      <a:pt x="2441" y="15363"/>
                    </a:lnTo>
                    <a:lnTo>
                      <a:pt x="2663" y="15229"/>
                    </a:lnTo>
                    <a:lnTo>
                      <a:pt x="2885" y="15075"/>
                    </a:lnTo>
                    <a:lnTo>
                      <a:pt x="3106" y="14903"/>
                    </a:lnTo>
                    <a:lnTo>
                      <a:pt x="3329" y="14710"/>
                    </a:lnTo>
                    <a:lnTo>
                      <a:pt x="3551" y="14498"/>
                    </a:lnTo>
                    <a:lnTo>
                      <a:pt x="3773" y="14266"/>
                    </a:lnTo>
                    <a:lnTo>
                      <a:pt x="3995" y="14013"/>
                    </a:lnTo>
                    <a:lnTo>
                      <a:pt x="4217" y="13741"/>
                    </a:lnTo>
                    <a:lnTo>
                      <a:pt x="4438" y="13450"/>
                    </a:lnTo>
                    <a:lnTo>
                      <a:pt x="4660" y="13141"/>
                    </a:lnTo>
                    <a:lnTo>
                      <a:pt x="4882" y="12813"/>
                    </a:lnTo>
                    <a:lnTo>
                      <a:pt x="5104" y="12468"/>
                    </a:lnTo>
                    <a:lnTo>
                      <a:pt x="5326" y="12107"/>
                    </a:lnTo>
                    <a:lnTo>
                      <a:pt x="5548" y="11730"/>
                    </a:lnTo>
                    <a:lnTo>
                      <a:pt x="5770" y="11339"/>
                    </a:lnTo>
                    <a:lnTo>
                      <a:pt x="5992" y="10934"/>
                    </a:lnTo>
                    <a:lnTo>
                      <a:pt x="6214" y="10518"/>
                    </a:lnTo>
                    <a:lnTo>
                      <a:pt x="6436" y="10092"/>
                    </a:lnTo>
                    <a:lnTo>
                      <a:pt x="6658" y="9656"/>
                    </a:lnTo>
                    <a:lnTo>
                      <a:pt x="6879" y="9210"/>
                    </a:lnTo>
                    <a:lnTo>
                      <a:pt x="7101" y="8760"/>
                    </a:lnTo>
                    <a:lnTo>
                      <a:pt x="7323" y="8305"/>
                    </a:lnTo>
                    <a:lnTo>
                      <a:pt x="7545" y="7846"/>
                    </a:lnTo>
                    <a:lnTo>
                      <a:pt x="7768" y="7384"/>
                    </a:lnTo>
                    <a:lnTo>
                      <a:pt x="7989" y="6923"/>
                    </a:lnTo>
                    <a:lnTo>
                      <a:pt x="8211" y="6462"/>
                    </a:lnTo>
                    <a:lnTo>
                      <a:pt x="8433" y="6006"/>
                    </a:lnTo>
                    <a:lnTo>
                      <a:pt x="8655" y="5553"/>
                    </a:lnTo>
                    <a:lnTo>
                      <a:pt x="8877" y="5108"/>
                    </a:lnTo>
                    <a:lnTo>
                      <a:pt x="9099" y="4670"/>
                    </a:lnTo>
                    <a:lnTo>
                      <a:pt x="9320" y="4242"/>
                    </a:lnTo>
                    <a:lnTo>
                      <a:pt x="9542" y="3826"/>
                    </a:lnTo>
                    <a:lnTo>
                      <a:pt x="9763" y="3424"/>
                    </a:lnTo>
                    <a:lnTo>
                      <a:pt x="9986" y="3035"/>
                    </a:lnTo>
                    <a:lnTo>
                      <a:pt x="10208" y="2664"/>
                    </a:lnTo>
                    <a:lnTo>
                      <a:pt x="10429" y="2310"/>
                    </a:lnTo>
                    <a:lnTo>
                      <a:pt x="10651" y="1977"/>
                    </a:lnTo>
                    <a:lnTo>
                      <a:pt x="10873" y="1664"/>
                    </a:lnTo>
                    <a:lnTo>
                      <a:pt x="11095" y="1375"/>
                    </a:lnTo>
                    <a:lnTo>
                      <a:pt x="11317" y="1109"/>
                    </a:lnTo>
                    <a:lnTo>
                      <a:pt x="11538" y="868"/>
                    </a:lnTo>
                    <a:lnTo>
                      <a:pt x="11760" y="656"/>
                    </a:lnTo>
                    <a:lnTo>
                      <a:pt x="11982" y="470"/>
                    </a:lnTo>
                    <a:lnTo>
                      <a:pt x="12205" y="314"/>
                    </a:lnTo>
                    <a:lnTo>
                      <a:pt x="12427" y="188"/>
                    </a:lnTo>
                    <a:lnTo>
                      <a:pt x="12649" y="93"/>
                    </a:lnTo>
                    <a:lnTo>
                      <a:pt x="12870" y="30"/>
                    </a:lnTo>
                    <a:lnTo>
                      <a:pt x="13092" y="0"/>
                    </a:lnTo>
                    <a:lnTo>
                      <a:pt x="13314" y="3"/>
                    </a:lnTo>
                    <a:lnTo>
                      <a:pt x="13536" y="41"/>
                    </a:lnTo>
                    <a:lnTo>
                      <a:pt x="13758" y="113"/>
                    </a:lnTo>
                    <a:lnTo>
                      <a:pt x="13979" y="220"/>
                    </a:lnTo>
                    <a:lnTo>
                      <a:pt x="14201" y="361"/>
                    </a:lnTo>
                    <a:lnTo>
                      <a:pt x="14424" y="537"/>
                    </a:lnTo>
                    <a:lnTo>
                      <a:pt x="14646" y="749"/>
                    </a:lnTo>
                    <a:lnTo>
                      <a:pt x="14868" y="995"/>
                    </a:lnTo>
                    <a:lnTo>
                      <a:pt x="15090" y="1276"/>
                    </a:lnTo>
                    <a:lnTo>
                      <a:pt x="15311" y="1591"/>
                    </a:lnTo>
                    <a:lnTo>
                      <a:pt x="15533" y="1937"/>
                    </a:lnTo>
                    <a:lnTo>
                      <a:pt x="15755" y="2317"/>
                    </a:lnTo>
                    <a:lnTo>
                      <a:pt x="15977" y="2727"/>
                    </a:lnTo>
                    <a:lnTo>
                      <a:pt x="16199" y="3168"/>
                    </a:lnTo>
                    <a:lnTo>
                      <a:pt x="16420" y="3636"/>
                    </a:lnTo>
                    <a:lnTo>
                      <a:pt x="16643" y="4132"/>
                    </a:lnTo>
                    <a:lnTo>
                      <a:pt x="16865" y="4652"/>
                    </a:lnTo>
                    <a:lnTo>
                      <a:pt x="17087" y="5196"/>
                    </a:lnTo>
                    <a:lnTo>
                      <a:pt x="17309" y="5760"/>
                    </a:lnTo>
                    <a:lnTo>
                      <a:pt x="17531" y="6342"/>
                    </a:lnTo>
                    <a:lnTo>
                      <a:pt x="17752" y="6940"/>
                    </a:lnTo>
                    <a:lnTo>
                      <a:pt x="17974" y="7550"/>
                    </a:lnTo>
                    <a:lnTo>
                      <a:pt x="18196" y="8170"/>
                    </a:lnTo>
                    <a:lnTo>
                      <a:pt x="18418" y="8794"/>
                    </a:lnTo>
                    <a:lnTo>
                      <a:pt x="18640" y="9423"/>
                    </a:lnTo>
                    <a:lnTo>
                      <a:pt x="18863" y="10050"/>
                    </a:lnTo>
                    <a:lnTo>
                      <a:pt x="19084" y="10672"/>
                    </a:lnTo>
                    <a:lnTo>
                      <a:pt x="19306" y="11283"/>
                    </a:lnTo>
                    <a:lnTo>
                      <a:pt x="19528" y="11880"/>
                    </a:lnTo>
                    <a:lnTo>
                      <a:pt x="19750" y="12457"/>
                    </a:lnTo>
                    <a:lnTo>
                      <a:pt x="19972" y="13010"/>
                    </a:lnTo>
                    <a:lnTo>
                      <a:pt x="20193" y="13532"/>
                    </a:lnTo>
                    <a:lnTo>
                      <a:pt x="20415" y="14018"/>
                    </a:lnTo>
                    <a:lnTo>
                      <a:pt x="20637" y="14462"/>
                    </a:lnTo>
                    <a:lnTo>
                      <a:pt x="20859" y="14857"/>
                    </a:lnTo>
                    <a:lnTo>
                      <a:pt x="21082" y="15198"/>
                    </a:lnTo>
                    <a:lnTo>
                      <a:pt x="21304" y="15476"/>
                    </a:lnTo>
                    <a:lnTo>
                      <a:pt x="21525" y="15683"/>
                    </a:lnTo>
                    <a:lnTo>
                      <a:pt x="21747" y="15814"/>
                    </a:lnTo>
                    <a:lnTo>
                      <a:pt x="21969" y="15860"/>
                    </a:lnTo>
                  </a:path>
                </a:pathLst>
              </a:custGeom>
              <a:noFill/>
              <a:ln w="5080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5" name="Line 19"/>
              <p:cNvSpPr>
                <a:spLocks noChangeShapeType="1"/>
              </p:cNvSpPr>
              <p:nvPr/>
            </p:nvSpPr>
            <p:spPr bwMode="auto">
              <a:xfrm flipV="1">
                <a:off x="1404" y="3753"/>
                <a:ext cx="1" cy="6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6" name="Line 20"/>
              <p:cNvSpPr>
                <a:spLocks noChangeShapeType="1"/>
              </p:cNvSpPr>
              <p:nvPr/>
            </p:nvSpPr>
            <p:spPr bwMode="auto">
              <a:xfrm flipV="1">
                <a:off x="1763" y="3749"/>
                <a:ext cx="1" cy="6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7" name="Line 21"/>
              <p:cNvSpPr>
                <a:spLocks noChangeShapeType="1"/>
              </p:cNvSpPr>
              <p:nvPr/>
            </p:nvSpPr>
            <p:spPr bwMode="auto">
              <a:xfrm flipV="1">
                <a:off x="2142" y="3749"/>
                <a:ext cx="2" cy="6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8" name="Line 22"/>
              <p:cNvSpPr>
                <a:spLocks noChangeShapeType="1"/>
              </p:cNvSpPr>
              <p:nvPr/>
            </p:nvSpPr>
            <p:spPr bwMode="auto">
              <a:xfrm flipV="1">
                <a:off x="2518" y="3745"/>
                <a:ext cx="2" cy="6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9" name="Line 23"/>
              <p:cNvSpPr>
                <a:spLocks noChangeShapeType="1"/>
              </p:cNvSpPr>
              <p:nvPr/>
            </p:nvSpPr>
            <p:spPr bwMode="auto">
              <a:xfrm flipV="1">
                <a:off x="632" y="3749"/>
                <a:ext cx="1" cy="6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0" name="Line 24"/>
              <p:cNvSpPr>
                <a:spLocks noChangeShapeType="1"/>
              </p:cNvSpPr>
              <p:nvPr/>
            </p:nvSpPr>
            <p:spPr bwMode="auto">
              <a:xfrm rot="5400000">
                <a:off x="-158" y="3040"/>
                <a:ext cx="1577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1" name="Text Box 25"/>
              <p:cNvSpPr txBox="1">
                <a:spLocks noChangeArrowheads="1"/>
              </p:cNvSpPr>
              <p:nvPr/>
            </p:nvSpPr>
            <p:spPr bwMode="auto">
              <a:xfrm>
                <a:off x="1488" y="3823"/>
                <a:ext cx="2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000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en-US" sz="2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endParaRPr lang="en-US" altLang="en-US" sz="2400" i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14362" name="Text Box 26"/>
              <p:cNvSpPr txBox="1">
                <a:spLocks noChangeArrowheads="1"/>
              </p:cNvSpPr>
              <p:nvPr/>
            </p:nvSpPr>
            <p:spPr bwMode="auto">
              <a:xfrm rot="-5400000">
                <a:off x="255" y="2849"/>
                <a:ext cx="4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000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en-US"/>
                  <a:t>L</a:t>
                </a:r>
                <a:r>
                  <a:rPr lang="en-US" altLang="en-US" i="0"/>
                  <a:t>(</a:t>
                </a:r>
                <a:r>
                  <a:rPr lang="en-US" altLang="en-US" sz="2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i="0">
                    <a:sym typeface="Symbol" panose="05050102010706020507" pitchFamily="18" charset="2"/>
                  </a:rPr>
                  <a:t>)</a:t>
                </a:r>
              </a:p>
            </p:txBody>
          </p:sp>
        </p:grpSp>
        <p:sp>
          <p:nvSpPr>
            <p:cNvPr id="14363" name="Line 27"/>
            <p:cNvSpPr>
              <a:spLocks noChangeShapeType="1"/>
            </p:cNvSpPr>
            <p:nvPr/>
          </p:nvSpPr>
          <p:spPr bwMode="auto">
            <a:xfrm flipH="1">
              <a:off x="3509" y="2466"/>
              <a:ext cx="264" cy="6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364" name="Line 28"/>
            <p:cNvSpPr>
              <a:spLocks noChangeShapeType="1"/>
            </p:cNvSpPr>
            <p:nvPr/>
          </p:nvSpPr>
          <p:spPr bwMode="auto">
            <a:xfrm>
              <a:off x="3986" y="2446"/>
              <a:ext cx="47" cy="6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365" name="Line 29"/>
            <p:cNvSpPr>
              <a:spLocks noChangeShapeType="1"/>
            </p:cNvSpPr>
            <p:nvPr/>
          </p:nvSpPr>
          <p:spPr bwMode="auto">
            <a:xfrm>
              <a:off x="4269" y="2440"/>
              <a:ext cx="484" cy="6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366" name="Line 30"/>
            <p:cNvSpPr>
              <a:spLocks noChangeShapeType="1"/>
            </p:cNvSpPr>
            <p:nvPr/>
          </p:nvSpPr>
          <p:spPr bwMode="auto">
            <a:xfrm>
              <a:off x="4829" y="2417"/>
              <a:ext cx="735" cy="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367" name="Line 31"/>
            <p:cNvSpPr>
              <a:spLocks noChangeShapeType="1"/>
            </p:cNvSpPr>
            <p:nvPr/>
          </p:nvSpPr>
          <p:spPr bwMode="auto">
            <a:xfrm>
              <a:off x="4509" y="2428"/>
              <a:ext cx="763" cy="6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515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2"/>
          <p:cNvSpPr>
            <a:spLocks noGrp="1"/>
          </p:cNvSpPr>
          <p:nvPr>
            <p:ph type="sldNum" sz="quarter" idx="11"/>
          </p:nvPr>
        </p:nvSpPr>
        <p:spPr>
          <a:xfrm>
            <a:off x="6611112" y="6305550"/>
            <a:ext cx="2895600" cy="476250"/>
          </a:xfrm>
        </p:spPr>
        <p:txBody>
          <a:bodyPr/>
          <a:lstStyle/>
          <a:p>
            <a:fld id="{699C8A9E-B6FB-48A0-A854-9A97F2189AA5}" type="slidenum">
              <a:rPr lang="he-IL" altLang="en-US"/>
              <a:pPr/>
              <a:t>6</a:t>
            </a:fld>
            <a:endParaRPr lang="en-US" alt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1096" y="-11112"/>
            <a:ext cx="7498080" cy="1143000"/>
          </a:xfrm>
        </p:spPr>
        <p:txBody>
          <a:bodyPr/>
          <a:lstStyle/>
          <a:p>
            <a:r>
              <a:rPr lang="en-US" altLang="en-US" dirty="0"/>
              <a:t>Example: MLE in Binomial Data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875" y="1557338"/>
            <a:ext cx="7994650" cy="221615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dirty="0"/>
              <a:t>Taking derivative and equating it to 0,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   we get</a:t>
            </a:r>
          </a:p>
          <a:p>
            <a:endParaRPr lang="en-US" altLang="en-US" dirty="0"/>
          </a:p>
        </p:txBody>
      </p:sp>
      <p:graphicFrame>
        <p:nvGraphicFramePr>
          <p:cNvPr id="1846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473556"/>
              </p:ext>
            </p:extLst>
          </p:nvPr>
        </p:nvGraphicFramePr>
        <p:xfrm>
          <a:off x="1280287" y="1022350"/>
          <a:ext cx="44243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240" imgH="253800" progId="Equation.DSMT4">
                  <p:embed/>
                </p:oleObj>
              </mc:Choice>
              <mc:Fallback>
                <p:oleObj name="Equation" r:id="rId2" imgW="2019240" imgH="253800" progId="Equation.DSMT4">
                  <p:embed/>
                  <p:pic>
                    <p:nvPicPr>
                      <p:cNvPr id="1846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0287" y="1022350"/>
                        <a:ext cx="44243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181325"/>
              </p:ext>
            </p:extLst>
          </p:nvPr>
        </p:nvGraphicFramePr>
        <p:xfrm>
          <a:off x="2474087" y="2317750"/>
          <a:ext cx="2230438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7320" imgH="393480" progId="Equation.DSMT4">
                  <p:embed/>
                </p:oleObj>
              </mc:Choice>
              <mc:Fallback>
                <p:oleObj name="Equation" r:id="rId4" imgW="787320" imgH="393480" progId="Equation.DSMT4">
                  <p:embed/>
                  <p:pic>
                    <p:nvPicPr>
                      <p:cNvPr id="1846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087" y="2317750"/>
                        <a:ext cx="2230438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66" name="Group 34"/>
          <p:cNvGrpSpPr>
            <a:grpSpLocks/>
          </p:cNvGrpSpPr>
          <p:nvPr/>
        </p:nvGrpSpPr>
        <p:grpSpPr bwMode="auto">
          <a:xfrm>
            <a:off x="1710500" y="4152900"/>
            <a:ext cx="7559675" cy="2705100"/>
            <a:chOff x="513" y="2616"/>
            <a:chExt cx="4762" cy="1704"/>
          </a:xfrm>
        </p:grpSpPr>
        <p:sp>
          <p:nvSpPr>
            <p:cNvPr id="18457" name="Line 25"/>
            <p:cNvSpPr>
              <a:spLocks noChangeShapeType="1"/>
            </p:cNvSpPr>
            <p:nvPr/>
          </p:nvSpPr>
          <p:spPr bwMode="auto">
            <a:xfrm flipV="1">
              <a:off x="4466" y="2681"/>
              <a:ext cx="0" cy="14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18465" name="Group 33"/>
            <p:cNvGrpSpPr>
              <a:grpSpLocks/>
            </p:cNvGrpSpPr>
            <p:nvPr/>
          </p:nvGrpSpPr>
          <p:grpSpPr bwMode="auto">
            <a:xfrm>
              <a:off x="513" y="2616"/>
              <a:ext cx="4762" cy="1704"/>
              <a:chOff x="513" y="2616"/>
              <a:chExt cx="4762" cy="1704"/>
            </a:xfrm>
          </p:grpSpPr>
          <p:grpSp>
            <p:nvGrpSpPr>
              <p:cNvPr id="18437" name="Group 5"/>
              <p:cNvGrpSpPr>
                <a:grpSpLocks/>
              </p:cNvGrpSpPr>
              <p:nvPr/>
            </p:nvGrpSpPr>
            <p:grpSpPr bwMode="auto">
              <a:xfrm>
                <a:off x="2954" y="2616"/>
                <a:ext cx="2321" cy="1704"/>
                <a:chOff x="1906" y="584"/>
                <a:chExt cx="2222" cy="1704"/>
              </a:xfrm>
            </p:grpSpPr>
            <p:sp>
              <p:nvSpPr>
                <p:cNvPr id="18438" name="Line 6"/>
                <p:cNvSpPr>
                  <a:spLocks noChangeShapeType="1"/>
                </p:cNvSpPr>
                <p:nvPr/>
              </p:nvSpPr>
              <p:spPr bwMode="auto">
                <a:xfrm flipH="1">
                  <a:off x="4095" y="2147"/>
                  <a:ext cx="14" cy="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39" name="Rectangle 7"/>
                <p:cNvSpPr>
                  <a:spLocks noChangeArrowheads="1"/>
                </p:cNvSpPr>
                <p:nvPr/>
              </p:nvSpPr>
              <p:spPr bwMode="auto">
                <a:xfrm>
                  <a:off x="2194" y="2192"/>
                  <a:ext cx="42" cy="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l"/>
                  <a:r>
                    <a:rPr lang="en-US" altLang="en-US" sz="1000" i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0</a:t>
                  </a:r>
                  <a:endParaRPr lang="en-US" altLang="en-US" sz="1000" i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440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2596" y="2081"/>
                  <a:ext cx="1" cy="6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41" name="Rectangle 9"/>
                <p:cNvSpPr>
                  <a:spLocks noChangeArrowheads="1"/>
                </p:cNvSpPr>
                <p:nvPr/>
              </p:nvSpPr>
              <p:spPr bwMode="auto">
                <a:xfrm>
                  <a:off x="2553" y="2192"/>
                  <a:ext cx="106" cy="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l"/>
                  <a:r>
                    <a:rPr lang="en-US" altLang="en-US" sz="1000" i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0.2</a:t>
                  </a:r>
                  <a:endParaRPr lang="en-US" altLang="en-US" sz="1000" i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442" name="Rectangle 10"/>
                <p:cNvSpPr>
                  <a:spLocks noChangeArrowheads="1"/>
                </p:cNvSpPr>
                <p:nvPr/>
              </p:nvSpPr>
              <p:spPr bwMode="auto">
                <a:xfrm>
                  <a:off x="2932" y="2192"/>
                  <a:ext cx="106" cy="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l"/>
                  <a:r>
                    <a:rPr lang="en-US" altLang="en-US" sz="1000" i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0.4</a:t>
                  </a:r>
                  <a:endParaRPr lang="en-US" altLang="en-US" sz="1000" i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443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3352" y="2132"/>
                  <a:ext cx="1" cy="15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44" name="Rectangle 12"/>
                <p:cNvSpPr>
                  <a:spLocks noChangeArrowheads="1"/>
                </p:cNvSpPr>
                <p:nvPr/>
              </p:nvSpPr>
              <p:spPr bwMode="auto">
                <a:xfrm>
                  <a:off x="3311" y="2192"/>
                  <a:ext cx="106" cy="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l"/>
                  <a:r>
                    <a:rPr lang="en-US" altLang="en-US" sz="1000" i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0.6</a:t>
                  </a:r>
                  <a:endParaRPr lang="en-US" altLang="en-US" sz="1000" i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445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730" y="2132"/>
                  <a:ext cx="2" cy="15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46" name="Rectangle 14"/>
                <p:cNvSpPr>
                  <a:spLocks noChangeArrowheads="1"/>
                </p:cNvSpPr>
                <p:nvPr/>
              </p:nvSpPr>
              <p:spPr bwMode="auto">
                <a:xfrm>
                  <a:off x="3689" y="2192"/>
                  <a:ext cx="105" cy="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l"/>
                  <a:r>
                    <a:rPr lang="en-US" altLang="en-US" sz="1000" i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0.8</a:t>
                  </a:r>
                  <a:endParaRPr lang="en-US" altLang="en-US" sz="1000" i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447" name="Rectangle 15"/>
                <p:cNvSpPr>
                  <a:spLocks noChangeArrowheads="1"/>
                </p:cNvSpPr>
                <p:nvPr/>
              </p:nvSpPr>
              <p:spPr bwMode="auto">
                <a:xfrm>
                  <a:off x="4086" y="2192"/>
                  <a:ext cx="42" cy="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l"/>
                  <a:r>
                    <a:rPr lang="en-US" altLang="en-US" sz="1000" i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en-US" sz="1000" i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448" name="Line 16"/>
                <p:cNvSpPr>
                  <a:spLocks noChangeShapeType="1"/>
                </p:cNvSpPr>
                <p:nvPr/>
              </p:nvSpPr>
              <p:spPr bwMode="auto">
                <a:xfrm>
                  <a:off x="2217" y="2147"/>
                  <a:ext cx="1892" cy="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49" name="Freeform 17"/>
                <p:cNvSpPr>
                  <a:spLocks/>
                </p:cNvSpPr>
                <p:nvPr/>
              </p:nvSpPr>
              <p:spPr bwMode="auto">
                <a:xfrm>
                  <a:off x="2217" y="653"/>
                  <a:ext cx="1892" cy="1494"/>
                </a:xfrm>
                <a:custGeom>
                  <a:avLst/>
                  <a:gdLst>
                    <a:gd name="T0" fmla="*/ 0 w 21969"/>
                    <a:gd name="T1" fmla="*/ 15860 h 15860"/>
                    <a:gd name="T2" fmla="*/ 444 w 21969"/>
                    <a:gd name="T3" fmla="*/ 15856 h 15860"/>
                    <a:gd name="T4" fmla="*/ 887 w 21969"/>
                    <a:gd name="T5" fmla="*/ 15832 h 15860"/>
                    <a:gd name="T6" fmla="*/ 1332 w 21969"/>
                    <a:gd name="T7" fmla="*/ 15770 h 15860"/>
                    <a:gd name="T8" fmla="*/ 1776 w 21969"/>
                    <a:gd name="T9" fmla="*/ 15655 h 15860"/>
                    <a:gd name="T10" fmla="*/ 2219 w 21969"/>
                    <a:gd name="T11" fmla="*/ 15478 h 15860"/>
                    <a:gd name="T12" fmla="*/ 2663 w 21969"/>
                    <a:gd name="T13" fmla="*/ 15229 h 15860"/>
                    <a:gd name="T14" fmla="*/ 3106 w 21969"/>
                    <a:gd name="T15" fmla="*/ 14903 h 15860"/>
                    <a:gd name="T16" fmla="*/ 3551 w 21969"/>
                    <a:gd name="T17" fmla="*/ 14498 h 15860"/>
                    <a:gd name="T18" fmla="*/ 3995 w 21969"/>
                    <a:gd name="T19" fmla="*/ 14013 h 15860"/>
                    <a:gd name="T20" fmla="*/ 4438 w 21969"/>
                    <a:gd name="T21" fmla="*/ 13450 h 15860"/>
                    <a:gd name="T22" fmla="*/ 4882 w 21969"/>
                    <a:gd name="T23" fmla="*/ 12813 h 15860"/>
                    <a:gd name="T24" fmla="*/ 5326 w 21969"/>
                    <a:gd name="T25" fmla="*/ 12107 h 15860"/>
                    <a:gd name="T26" fmla="*/ 5770 w 21969"/>
                    <a:gd name="T27" fmla="*/ 11339 h 15860"/>
                    <a:gd name="T28" fmla="*/ 6214 w 21969"/>
                    <a:gd name="T29" fmla="*/ 10518 h 15860"/>
                    <a:gd name="T30" fmla="*/ 6658 w 21969"/>
                    <a:gd name="T31" fmla="*/ 9656 h 15860"/>
                    <a:gd name="T32" fmla="*/ 7101 w 21969"/>
                    <a:gd name="T33" fmla="*/ 8760 h 15860"/>
                    <a:gd name="T34" fmla="*/ 7545 w 21969"/>
                    <a:gd name="T35" fmla="*/ 7846 h 15860"/>
                    <a:gd name="T36" fmla="*/ 7989 w 21969"/>
                    <a:gd name="T37" fmla="*/ 6923 h 15860"/>
                    <a:gd name="T38" fmla="*/ 8433 w 21969"/>
                    <a:gd name="T39" fmla="*/ 6006 h 15860"/>
                    <a:gd name="T40" fmla="*/ 8877 w 21969"/>
                    <a:gd name="T41" fmla="*/ 5108 h 15860"/>
                    <a:gd name="T42" fmla="*/ 9320 w 21969"/>
                    <a:gd name="T43" fmla="*/ 4242 h 15860"/>
                    <a:gd name="T44" fmla="*/ 9763 w 21969"/>
                    <a:gd name="T45" fmla="*/ 3424 h 15860"/>
                    <a:gd name="T46" fmla="*/ 10208 w 21969"/>
                    <a:gd name="T47" fmla="*/ 2664 h 15860"/>
                    <a:gd name="T48" fmla="*/ 10651 w 21969"/>
                    <a:gd name="T49" fmla="*/ 1977 h 15860"/>
                    <a:gd name="T50" fmla="*/ 11095 w 21969"/>
                    <a:gd name="T51" fmla="*/ 1375 h 15860"/>
                    <a:gd name="T52" fmla="*/ 11538 w 21969"/>
                    <a:gd name="T53" fmla="*/ 868 h 15860"/>
                    <a:gd name="T54" fmla="*/ 11982 w 21969"/>
                    <a:gd name="T55" fmla="*/ 470 h 15860"/>
                    <a:gd name="T56" fmla="*/ 12427 w 21969"/>
                    <a:gd name="T57" fmla="*/ 188 h 15860"/>
                    <a:gd name="T58" fmla="*/ 12870 w 21969"/>
                    <a:gd name="T59" fmla="*/ 30 h 15860"/>
                    <a:gd name="T60" fmla="*/ 13314 w 21969"/>
                    <a:gd name="T61" fmla="*/ 3 h 15860"/>
                    <a:gd name="T62" fmla="*/ 13758 w 21969"/>
                    <a:gd name="T63" fmla="*/ 113 h 15860"/>
                    <a:gd name="T64" fmla="*/ 14201 w 21969"/>
                    <a:gd name="T65" fmla="*/ 361 h 15860"/>
                    <a:gd name="T66" fmla="*/ 14646 w 21969"/>
                    <a:gd name="T67" fmla="*/ 749 h 15860"/>
                    <a:gd name="T68" fmla="*/ 15090 w 21969"/>
                    <a:gd name="T69" fmla="*/ 1276 h 15860"/>
                    <a:gd name="T70" fmla="*/ 15533 w 21969"/>
                    <a:gd name="T71" fmla="*/ 1937 h 15860"/>
                    <a:gd name="T72" fmla="*/ 15977 w 21969"/>
                    <a:gd name="T73" fmla="*/ 2727 h 15860"/>
                    <a:gd name="T74" fmla="*/ 16420 w 21969"/>
                    <a:gd name="T75" fmla="*/ 3636 h 15860"/>
                    <a:gd name="T76" fmla="*/ 16865 w 21969"/>
                    <a:gd name="T77" fmla="*/ 4652 h 15860"/>
                    <a:gd name="T78" fmla="*/ 17309 w 21969"/>
                    <a:gd name="T79" fmla="*/ 5760 h 15860"/>
                    <a:gd name="T80" fmla="*/ 17752 w 21969"/>
                    <a:gd name="T81" fmla="*/ 6940 h 15860"/>
                    <a:gd name="T82" fmla="*/ 18196 w 21969"/>
                    <a:gd name="T83" fmla="*/ 8170 h 15860"/>
                    <a:gd name="T84" fmla="*/ 18640 w 21969"/>
                    <a:gd name="T85" fmla="*/ 9423 h 15860"/>
                    <a:gd name="T86" fmla="*/ 19084 w 21969"/>
                    <a:gd name="T87" fmla="*/ 10672 h 15860"/>
                    <a:gd name="T88" fmla="*/ 19528 w 21969"/>
                    <a:gd name="T89" fmla="*/ 11880 h 15860"/>
                    <a:gd name="T90" fmla="*/ 19972 w 21969"/>
                    <a:gd name="T91" fmla="*/ 13010 h 15860"/>
                    <a:gd name="T92" fmla="*/ 20415 w 21969"/>
                    <a:gd name="T93" fmla="*/ 14018 h 15860"/>
                    <a:gd name="T94" fmla="*/ 20859 w 21969"/>
                    <a:gd name="T95" fmla="*/ 14857 h 15860"/>
                    <a:gd name="T96" fmla="*/ 21304 w 21969"/>
                    <a:gd name="T97" fmla="*/ 15476 h 15860"/>
                    <a:gd name="T98" fmla="*/ 21747 w 21969"/>
                    <a:gd name="T99" fmla="*/ 15814 h 15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1969" h="15860">
                      <a:moveTo>
                        <a:pt x="0" y="15860"/>
                      </a:moveTo>
                      <a:lnTo>
                        <a:pt x="0" y="15860"/>
                      </a:lnTo>
                      <a:lnTo>
                        <a:pt x="222" y="15860"/>
                      </a:lnTo>
                      <a:lnTo>
                        <a:pt x="444" y="15856"/>
                      </a:lnTo>
                      <a:lnTo>
                        <a:pt x="665" y="15847"/>
                      </a:lnTo>
                      <a:lnTo>
                        <a:pt x="887" y="15832"/>
                      </a:lnTo>
                      <a:lnTo>
                        <a:pt x="1110" y="15807"/>
                      </a:lnTo>
                      <a:lnTo>
                        <a:pt x="1332" y="15770"/>
                      </a:lnTo>
                      <a:lnTo>
                        <a:pt x="1554" y="15720"/>
                      </a:lnTo>
                      <a:lnTo>
                        <a:pt x="1776" y="15655"/>
                      </a:lnTo>
                      <a:lnTo>
                        <a:pt x="1997" y="15574"/>
                      </a:lnTo>
                      <a:lnTo>
                        <a:pt x="2219" y="15478"/>
                      </a:lnTo>
                      <a:lnTo>
                        <a:pt x="2441" y="15363"/>
                      </a:lnTo>
                      <a:lnTo>
                        <a:pt x="2663" y="15229"/>
                      </a:lnTo>
                      <a:lnTo>
                        <a:pt x="2885" y="15075"/>
                      </a:lnTo>
                      <a:lnTo>
                        <a:pt x="3106" y="14903"/>
                      </a:lnTo>
                      <a:lnTo>
                        <a:pt x="3329" y="14710"/>
                      </a:lnTo>
                      <a:lnTo>
                        <a:pt x="3551" y="14498"/>
                      </a:lnTo>
                      <a:lnTo>
                        <a:pt x="3773" y="14266"/>
                      </a:lnTo>
                      <a:lnTo>
                        <a:pt x="3995" y="14013"/>
                      </a:lnTo>
                      <a:lnTo>
                        <a:pt x="4217" y="13741"/>
                      </a:lnTo>
                      <a:lnTo>
                        <a:pt x="4438" y="13450"/>
                      </a:lnTo>
                      <a:lnTo>
                        <a:pt x="4660" y="13141"/>
                      </a:lnTo>
                      <a:lnTo>
                        <a:pt x="4882" y="12813"/>
                      </a:lnTo>
                      <a:lnTo>
                        <a:pt x="5104" y="12468"/>
                      </a:lnTo>
                      <a:lnTo>
                        <a:pt x="5326" y="12107"/>
                      </a:lnTo>
                      <a:lnTo>
                        <a:pt x="5548" y="11730"/>
                      </a:lnTo>
                      <a:lnTo>
                        <a:pt x="5770" y="11339"/>
                      </a:lnTo>
                      <a:lnTo>
                        <a:pt x="5992" y="10934"/>
                      </a:lnTo>
                      <a:lnTo>
                        <a:pt x="6214" y="10518"/>
                      </a:lnTo>
                      <a:lnTo>
                        <a:pt x="6436" y="10092"/>
                      </a:lnTo>
                      <a:lnTo>
                        <a:pt x="6658" y="9656"/>
                      </a:lnTo>
                      <a:lnTo>
                        <a:pt x="6879" y="9210"/>
                      </a:lnTo>
                      <a:lnTo>
                        <a:pt x="7101" y="8760"/>
                      </a:lnTo>
                      <a:lnTo>
                        <a:pt x="7323" y="8305"/>
                      </a:lnTo>
                      <a:lnTo>
                        <a:pt x="7545" y="7846"/>
                      </a:lnTo>
                      <a:lnTo>
                        <a:pt x="7768" y="7384"/>
                      </a:lnTo>
                      <a:lnTo>
                        <a:pt x="7989" y="6923"/>
                      </a:lnTo>
                      <a:lnTo>
                        <a:pt x="8211" y="6462"/>
                      </a:lnTo>
                      <a:lnTo>
                        <a:pt x="8433" y="6006"/>
                      </a:lnTo>
                      <a:lnTo>
                        <a:pt x="8655" y="5553"/>
                      </a:lnTo>
                      <a:lnTo>
                        <a:pt x="8877" y="5108"/>
                      </a:lnTo>
                      <a:lnTo>
                        <a:pt x="9099" y="4670"/>
                      </a:lnTo>
                      <a:lnTo>
                        <a:pt x="9320" y="4242"/>
                      </a:lnTo>
                      <a:lnTo>
                        <a:pt x="9542" y="3826"/>
                      </a:lnTo>
                      <a:lnTo>
                        <a:pt x="9763" y="3424"/>
                      </a:lnTo>
                      <a:lnTo>
                        <a:pt x="9986" y="3035"/>
                      </a:lnTo>
                      <a:lnTo>
                        <a:pt x="10208" y="2664"/>
                      </a:lnTo>
                      <a:lnTo>
                        <a:pt x="10429" y="2310"/>
                      </a:lnTo>
                      <a:lnTo>
                        <a:pt x="10651" y="1977"/>
                      </a:lnTo>
                      <a:lnTo>
                        <a:pt x="10873" y="1664"/>
                      </a:lnTo>
                      <a:lnTo>
                        <a:pt x="11095" y="1375"/>
                      </a:lnTo>
                      <a:lnTo>
                        <a:pt x="11317" y="1109"/>
                      </a:lnTo>
                      <a:lnTo>
                        <a:pt x="11538" y="868"/>
                      </a:lnTo>
                      <a:lnTo>
                        <a:pt x="11760" y="656"/>
                      </a:lnTo>
                      <a:lnTo>
                        <a:pt x="11982" y="470"/>
                      </a:lnTo>
                      <a:lnTo>
                        <a:pt x="12205" y="314"/>
                      </a:lnTo>
                      <a:lnTo>
                        <a:pt x="12427" y="188"/>
                      </a:lnTo>
                      <a:lnTo>
                        <a:pt x="12649" y="93"/>
                      </a:lnTo>
                      <a:lnTo>
                        <a:pt x="12870" y="30"/>
                      </a:lnTo>
                      <a:lnTo>
                        <a:pt x="13092" y="0"/>
                      </a:lnTo>
                      <a:lnTo>
                        <a:pt x="13314" y="3"/>
                      </a:lnTo>
                      <a:lnTo>
                        <a:pt x="13536" y="41"/>
                      </a:lnTo>
                      <a:lnTo>
                        <a:pt x="13758" y="113"/>
                      </a:lnTo>
                      <a:lnTo>
                        <a:pt x="13979" y="220"/>
                      </a:lnTo>
                      <a:lnTo>
                        <a:pt x="14201" y="361"/>
                      </a:lnTo>
                      <a:lnTo>
                        <a:pt x="14424" y="537"/>
                      </a:lnTo>
                      <a:lnTo>
                        <a:pt x="14646" y="749"/>
                      </a:lnTo>
                      <a:lnTo>
                        <a:pt x="14868" y="995"/>
                      </a:lnTo>
                      <a:lnTo>
                        <a:pt x="15090" y="1276"/>
                      </a:lnTo>
                      <a:lnTo>
                        <a:pt x="15311" y="1591"/>
                      </a:lnTo>
                      <a:lnTo>
                        <a:pt x="15533" y="1937"/>
                      </a:lnTo>
                      <a:lnTo>
                        <a:pt x="15755" y="2317"/>
                      </a:lnTo>
                      <a:lnTo>
                        <a:pt x="15977" y="2727"/>
                      </a:lnTo>
                      <a:lnTo>
                        <a:pt x="16199" y="3168"/>
                      </a:lnTo>
                      <a:lnTo>
                        <a:pt x="16420" y="3636"/>
                      </a:lnTo>
                      <a:lnTo>
                        <a:pt x="16643" y="4132"/>
                      </a:lnTo>
                      <a:lnTo>
                        <a:pt x="16865" y="4652"/>
                      </a:lnTo>
                      <a:lnTo>
                        <a:pt x="17087" y="5196"/>
                      </a:lnTo>
                      <a:lnTo>
                        <a:pt x="17309" y="5760"/>
                      </a:lnTo>
                      <a:lnTo>
                        <a:pt x="17531" y="6342"/>
                      </a:lnTo>
                      <a:lnTo>
                        <a:pt x="17752" y="6940"/>
                      </a:lnTo>
                      <a:lnTo>
                        <a:pt x="17974" y="7550"/>
                      </a:lnTo>
                      <a:lnTo>
                        <a:pt x="18196" y="8170"/>
                      </a:lnTo>
                      <a:lnTo>
                        <a:pt x="18418" y="8794"/>
                      </a:lnTo>
                      <a:lnTo>
                        <a:pt x="18640" y="9423"/>
                      </a:lnTo>
                      <a:lnTo>
                        <a:pt x="18863" y="10050"/>
                      </a:lnTo>
                      <a:lnTo>
                        <a:pt x="19084" y="10672"/>
                      </a:lnTo>
                      <a:lnTo>
                        <a:pt x="19306" y="11283"/>
                      </a:lnTo>
                      <a:lnTo>
                        <a:pt x="19528" y="11880"/>
                      </a:lnTo>
                      <a:lnTo>
                        <a:pt x="19750" y="12457"/>
                      </a:lnTo>
                      <a:lnTo>
                        <a:pt x="19972" y="13010"/>
                      </a:lnTo>
                      <a:lnTo>
                        <a:pt x="20193" y="13532"/>
                      </a:lnTo>
                      <a:lnTo>
                        <a:pt x="20415" y="14018"/>
                      </a:lnTo>
                      <a:lnTo>
                        <a:pt x="20637" y="14462"/>
                      </a:lnTo>
                      <a:lnTo>
                        <a:pt x="20859" y="14857"/>
                      </a:lnTo>
                      <a:lnTo>
                        <a:pt x="21082" y="15198"/>
                      </a:lnTo>
                      <a:lnTo>
                        <a:pt x="21304" y="15476"/>
                      </a:lnTo>
                      <a:lnTo>
                        <a:pt x="21525" y="15683"/>
                      </a:lnTo>
                      <a:lnTo>
                        <a:pt x="21747" y="15814"/>
                      </a:lnTo>
                      <a:lnTo>
                        <a:pt x="21969" y="15860"/>
                      </a:lnTo>
                    </a:path>
                  </a:pathLst>
                </a:custGeom>
                <a:noFill/>
                <a:ln w="5080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50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2992" y="2085"/>
                  <a:ext cx="1" cy="6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5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3351" y="2081"/>
                  <a:ext cx="1" cy="6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52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3730" y="2081"/>
                  <a:ext cx="2" cy="6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53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4106" y="2077"/>
                  <a:ext cx="2" cy="6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54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2220" y="2081"/>
                  <a:ext cx="1" cy="6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55" name="Line 23"/>
                <p:cNvSpPr>
                  <a:spLocks noChangeShapeType="1"/>
                </p:cNvSpPr>
                <p:nvPr/>
              </p:nvSpPr>
              <p:spPr bwMode="auto">
                <a:xfrm rot="5400000">
                  <a:off x="1430" y="1372"/>
                  <a:ext cx="1577" cy="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56" name="Text Box 24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1843" y="1185"/>
                  <a:ext cx="401" cy="2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en-US"/>
                    <a:t>L</a:t>
                  </a:r>
                  <a:r>
                    <a:rPr lang="en-US" altLang="en-US" i="0"/>
                    <a:t>(</a:t>
                  </a:r>
                  <a:r>
                    <a:rPr lang="en-US" altLang="en-US" sz="240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</a:t>
                  </a:r>
                  <a:r>
                    <a:rPr lang="en-US" altLang="en-US" i="0">
                      <a:sym typeface="Symbol" panose="05050102010706020507" pitchFamily="18" charset="2"/>
                    </a:rPr>
                    <a:t>)</a:t>
                  </a:r>
                </a:p>
              </p:txBody>
            </p:sp>
          </p:grpSp>
          <p:sp>
            <p:nvSpPr>
              <p:cNvPr id="18462" name="Text Box 30"/>
              <p:cNvSpPr txBox="1">
                <a:spLocks noChangeArrowheads="1"/>
              </p:cNvSpPr>
              <p:nvPr/>
            </p:nvSpPr>
            <p:spPr bwMode="auto">
              <a:xfrm>
                <a:off x="513" y="3010"/>
                <a:ext cx="2448" cy="10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000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r>
                  <a:rPr lang="en-US" altLang="en-US" sz="2400" b="1" i="0">
                    <a:latin typeface="Arial" panose="020B0604020202020204" pitchFamily="34" charset="0"/>
                  </a:rPr>
                  <a:t>Example</a:t>
                </a:r>
                <a:r>
                  <a:rPr lang="en-US" altLang="en-US" sz="2400" i="0">
                    <a:latin typeface="Arial" panose="020B0604020202020204" pitchFamily="34" charset="0"/>
                  </a:rPr>
                  <a:t>:</a:t>
                </a:r>
                <a:endParaRPr lang="en-US" altLang="en-US" sz="2400" i="0"/>
              </a:p>
              <a:p>
                <a:pPr algn="l"/>
                <a:r>
                  <a:rPr lang="en-US" altLang="en-US" sz="2400" i="0"/>
                  <a:t>	</a:t>
                </a:r>
                <a:r>
                  <a:rPr lang="en-US" altLang="en-US" sz="2800" i="0"/>
                  <a:t>(N</a:t>
                </a:r>
                <a:r>
                  <a:rPr lang="en-US" altLang="en-US" sz="2800" i="0" baseline="-25000"/>
                  <a:t>H</a:t>
                </a:r>
                <a:r>
                  <a:rPr lang="en-US" altLang="en-US" sz="2800" i="0"/>
                  <a:t>,N</a:t>
                </a:r>
                <a:r>
                  <a:rPr lang="en-US" altLang="en-US" sz="2800" i="0" baseline="-25000"/>
                  <a:t>T</a:t>
                </a:r>
                <a:r>
                  <a:rPr lang="en-US" altLang="en-US" sz="2800" i="0"/>
                  <a:t> ) = (3,2)</a:t>
                </a:r>
              </a:p>
              <a:p>
                <a:pPr algn="l"/>
                <a:endParaRPr lang="en-US" altLang="en-US" sz="2400" i="0"/>
              </a:p>
              <a:p>
                <a:pPr algn="l"/>
                <a:r>
                  <a:rPr lang="en-US" altLang="en-US" sz="2400" i="0">
                    <a:latin typeface="Arial" panose="020B0604020202020204" pitchFamily="34" charset="0"/>
                  </a:rPr>
                  <a:t>MLE estimate is </a:t>
                </a:r>
                <a:r>
                  <a:rPr lang="en-US" altLang="en-US" sz="2400" i="0"/>
                  <a:t>3/5 = 0.6</a:t>
                </a:r>
                <a:r>
                  <a:rPr lang="en-US" altLang="en-US" sz="2000" i="0"/>
                  <a:t> </a:t>
                </a:r>
              </a:p>
            </p:txBody>
          </p:sp>
        </p:grpSp>
      </p:grpSp>
      <p:graphicFrame>
        <p:nvGraphicFramePr>
          <p:cNvPr id="1845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454680"/>
              </p:ext>
            </p:extLst>
          </p:nvPr>
        </p:nvGraphicFramePr>
        <p:xfrm>
          <a:off x="4845812" y="2327275"/>
          <a:ext cx="215106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431640" progId="Equation.DSMT4">
                  <p:embed/>
                </p:oleObj>
              </mc:Choice>
              <mc:Fallback>
                <p:oleObj name="Equation" r:id="rId6" imgW="1091880" imgH="431640" progId="Equation.DSMT4">
                  <p:embed/>
                  <p:pic>
                    <p:nvPicPr>
                      <p:cNvPr id="1845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812" y="2327275"/>
                        <a:ext cx="2151063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3399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3" name="Text Box 31"/>
          <p:cNvSpPr txBox="1">
            <a:spLocks noChangeArrowheads="1"/>
          </p:cNvSpPr>
          <p:nvPr/>
        </p:nvSpPr>
        <p:spPr bwMode="auto">
          <a:xfrm>
            <a:off x="1192975" y="3527425"/>
            <a:ext cx="6792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2400" i="0">
                <a:latin typeface="Arial" panose="020B0604020202020204" pitchFamily="34" charset="0"/>
              </a:rPr>
              <a:t>(which coincides with what one would expect)</a:t>
            </a:r>
          </a:p>
        </p:txBody>
      </p:sp>
    </p:spTree>
    <p:extLst>
      <p:ext uri="{BB962C8B-B14F-4D97-AF65-F5344CB8AC3E}">
        <p14:creationId xmlns:p14="http://schemas.microsoft.com/office/powerpoint/2010/main" val="367914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920DFE-BCA9-4BE6-82FD-844148B5506E}" type="slidenum">
              <a:rPr lang="he-IL" altLang="en-US"/>
              <a:pPr/>
              <a:t>7</a:t>
            </a:fld>
            <a:endParaRPr lang="en-US" alt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From Binomial to Multinomial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5867" y="1230313"/>
            <a:ext cx="8437562" cy="156210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Now suppose </a:t>
            </a:r>
            <a:r>
              <a:rPr lang="en-US" altLang="en-US" i="1" dirty="0">
                <a:solidFill>
                  <a:srgbClr val="1008A8"/>
                </a:solidFill>
                <a:latin typeface="Comic Sans MS" panose="030F0702030302020204" pitchFamily="66" charset="0"/>
              </a:rPr>
              <a:t>X</a:t>
            </a:r>
            <a:r>
              <a:rPr lang="en-US" altLang="en-US" dirty="0">
                <a:solidFill>
                  <a:srgbClr val="1008A8"/>
                </a:solidFill>
              </a:rPr>
              <a:t> </a:t>
            </a:r>
            <a:r>
              <a:rPr lang="en-US" altLang="en-US" dirty="0"/>
              <a:t> can have the values </a:t>
            </a:r>
            <a:r>
              <a:rPr lang="en-US" altLang="en-US" i="1" dirty="0">
                <a:solidFill>
                  <a:srgbClr val="1008A8"/>
                </a:solidFill>
                <a:latin typeface="Comic Sans MS" panose="030F0702030302020204" pitchFamily="66" charset="0"/>
              </a:rPr>
              <a:t>1,2,…,K</a:t>
            </a:r>
            <a:r>
              <a:rPr lang="en-US" altLang="en-US" i="1" dirty="0">
                <a:latin typeface="Comic Sans MS" panose="030F0702030302020204" pitchFamily="66" charset="0"/>
              </a:rPr>
              <a:t>   </a:t>
            </a:r>
            <a:r>
              <a:rPr lang="en-US" altLang="en-US" i="1" dirty="0">
                <a:cs typeface="Arial" panose="020B0604020202020204" pitchFamily="34" charset="0"/>
              </a:rPr>
              <a:t>(For example a die has </a:t>
            </a:r>
            <a:r>
              <a:rPr lang="en-US" altLang="en-US" i="1" dirty="0">
                <a:solidFill>
                  <a:srgbClr val="1008A8"/>
                </a:solidFill>
                <a:cs typeface="Arial" panose="020B0604020202020204" pitchFamily="34" charset="0"/>
              </a:rPr>
              <a:t>K=6</a:t>
            </a:r>
            <a:r>
              <a:rPr lang="en-US" altLang="en-US" i="1" dirty="0">
                <a:cs typeface="Arial" panose="020B0604020202020204" pitchFamily="34" charset="0"/>
              </a:rPr>
              <a:t> sides)</a:t>
            </a:r>
          </a:p>
          <a:p>
            <a:r>
              <a:rPr lang="en-US" altLang="en-US" dirty="0"/>
              <a:t>We want to learn the parameters </a:t>
            </a:r>
            <a:r>
              <a:rPr lang="en-US" altLang="en-US" i="1" dirty="0">
                <a:solidFill>
                  <a:schemeClr val="hlink"/>
                </a:solidFill>
                <a:sym typeface="Symbol" panose="05050102010706020507" pitchFamily="18" charset="2"/>
              </a:rPr>
              <a:t></a:t>
            </a:r>
            <a:r>
              <a:rPr lang="en-US" altLang="en-US" i="1" baseline="-25000" dirty="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</a:t>
            </a:r>
            <a:r>
              <a:rPr lang="en-US" altLang="en-US" i="1" dirty="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 </a:t>
            </a:r>
            <a:r>
              <a:rPr lang="en-US" altLang="en-US" i="1" dirty="0">
                <a:solidFill>
                  <a:schemeClr val="hlink"/>
                </a:solidFill>
                <a:sym typeface="Symbol" panose="05050102010706020507" pitchFamily="18" charset="2"/>
              </a:rPr>
              <a:t></a:t>
            </a:r>
            <a:r>
              <a:rPr lang="en-US" altLang="en-US" i="1" baseline="-25000" dirty="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2</a:t>
            </a:r>
            <a:r>
              <a:rPr lang="en-US" altLang="en-US" i="1" dirty="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. …, </a:t>
            </a:r>
            <a:r>
              <a:rPr lang="en-US" altLang="en-US" i="1" dirty="0">
                <a:solidFill>
                  <a:schemeClr val="hlink"/>
                </a:solidFill>
                <a:sym typeface="Symbol" panose="05050102010706020507" pitchFamily="18" charset="2"/>
              </a:rPr>
              <a:t></a:t>
            </a:r>
            <a:r>
              <a:rPr lang="en-US" altLang="en-US" i="1" baseline="-25000" dirty="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K</a:t>
            </a:r>
            <a:endParaRPr lang="en-US" altLang="en-US" i="1" dirty="0">
              <a:solidFill>
                <a:schemeClr val="hlink"/>
              </a:solidFill>
              <a:sym typeface="Symbol" panose="05050102010706020507" pitchFamily="18" charset="2"/>
            </a:endParaRPr>
          </a:p>
        </p:txBody>
      </p:sp>
      <p:grpSp>
        <p:nvGrpSpPr>
          <p:cNvPr id="22535" name="Group 7"/>
          <p:cNvGrpSpPr>
            <a:grpSpLocks/>
          </p:cNvGrpSpPr>
          <p:nvPr/>
        </p:nvGrpSpPr>
        <p:grpSpPr bwMode="auto">
          <a:xfrm>
            <a:off x="990600" y="2792413"/>
            <a:ext cx="8562975" cy="3751262"/>
            <a:chOff x="366" y="1729"/>
            <a:chExt cx="5394" cy="2363"/>
          </a:xfrm>
        </p:grpSpPr>
        <p:sp>
          <p:nvSpPr>
            <p:cNvPr id="22534" name="Text Box 6"/>
            <p:cNvSpPr txBox="1">
              <a:spLocks noChangeArrowheads="1"/>
            </p:cNvSpPr>
            <p:nvPr/>
          </p:nvSpPr>
          <p:spPr bwMode="auto">
            <a:xfrm>
              <a:off x="366" y="1729"/>
              <a:ext cx="5394" cy="2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  <a:buClr>
                  <a:srgbClr val="474747"/>
                </a:buClr>
                <a:buSzPct val="70000"/>
                <a:buFont typeface="Monotype Sorts" pitchFamily="2" charset="2"/>
                <a:buNone/>
              </a:pPr>
              <a:r>
                <a:rPr lang="en-US" altLang="en-US" sz="2800" b="1" i="0" dirty="0">
                  <a:latin typeface="Arial" panose="020B0604020202020204" pitchFamily="34" charset="0"/>
                  <a:sym typeface="Symbol" panose="05050102010706020507" pitchFamily="18" charset="2"/>
                </a:rPr>
                <a:t>Sufficient statistics</a:t>
              </a:r>
              <a:r>
                <a:rPr lang="en-US" altLang="en-US" sz="2800" i="0" dirty="0">
                  <a:latin typeface="Arial" panose="020B0604020202020204" pitchFamily="34" charset="0"/>
                  <a:sym typeface="Symbol" panose="05050102010706020507" pitchFamily="18" charset="2"/>
                </a:rPr>
                <a:t>:</a:t>
              </a:r>
            </a:p>
            <a:p>
              <a:pPr algn="l">
                <a:spcBef>
                  <a:spcPct val="20000"/>
                </a:spcBef>
                <a:buClr>
                  <a:srgbClr val="474747"/>
                </a:buClr>
                <a:buSzPct val="70000"/>
                <a:buFont typeface="Monotype Sorts" pitchFamily="2" charset="2"/>
                <a:buChar char="u"/>
              </a:pPr>
              <a:r>
                <a:rPr lang="en-US" altLang="en-US" sz="2800" dirty="0">
                  <a:solidFill>
                    <a:srgbClr val="1008A8"/>
                  </a:solidFill>
                  <a:sym typeface="Symbol" panose="05050102010706020507" pitchFamily="18" charset="2"/>
                </a:rPr>
                <a:t>N</a:t>
              </a:r>
              <a:r>
                <a:rPr lang="en-US" altLang="en-US" sz="2800" baseline="-25000" dirty="0">
                  <a:solidFill>
                    <a:srgbClr val="1008A8"/>
                  </a:solidFill>
                  <a:sym typeface="Symbol" panose="05050102010706020507" pitchFamily="18" charset="2"/>
                </a:rPr>
                <a:t>1</a:t>
              </a:r>
              <a:r>
                <a:rPr lang="en-US" altLang="en-US" sz="2800" dirty="0">
                  <a:solidFill>
                    <a:srgbClr val="1008A8"/>
                  </a:solidFill>
                  <a:sym typeface="Symbol" panose="05050102010706020507" pitchFamily="18" charset="2"/>
                </a:rPr>
                <a:t>, N</a:t>
              </a:r>
              <a:r>
                <a:rPr lang="en-US" altLang="en-US" sz="2800" baseline="-25000" dirty="0">
                  <a:solidFill>
                    <a:srgbClr val="1008A8"/>
                  </a:solidFill>
                  <a:sym typeface="Symbol" panose="05050102010706020507" pitchFamily="18" charset="2"/>
                </a:rPr>
                <a:t>2</a:t>
              </a:r>
              <a:r>
                <a:rPr lang="en-US" altLang="en-US" sz="2800" dirty="0">
                  <a:solidFill>
                    <a:srgbClr val="1008A8"/>
                  </a:solidFill>
                  <a:sym typeface="Symbol" panose="05050102010706020507" pitchFamily="18" charset="2"/>
                </a:rPr>
                <a:t>, …, N</a:t>
              </a:r>
              <a:r>
                <a:rPr lang="en-US" altLang="en-US" sz="2800" baseline="-25000" dirty="0">
                  <a:solidFill>
                    <a:srgbClr val="1008A8"/>
                  </a:solidFill>
                  <a:sym typeface="Symbol" panose="05050102010706020507" pitchFamily="18" charset="2"/>
                </a:rPr>
                <a:t>K</a:t>
              </a:r>
              <a:r>
                <a:rPr lang="en-US" altLang="en-US" sz="2800" i="0" dirty="0">
                  <a:latin typeface="Arial" panose="020B0604020202020204" pitchFamily="34" charset="0"/>
                  <a:sym typeface="Symbol" panose="05050102010706020507" pitchFamily="18" charset="2"/>
                </a:rPr>
                <a:t> - the number of times each outcome is observed</a:t>
              </a:r>
              <a:endParaRPr lang="en-US" altLang="en-US" sz="2800" b="1" i="0" dirty="0">
                <a:latin typeface="Arial" panose="020B0604020202020204" pitchFamily="34" charset="0"/>
                <a:sym typeface="Symbol" panose="05050102010706020507" pitchFamily="18" charset="2"/>
              </a:endParaRPr>
            </a:p>
            <a:p>
              <a:pPr algn="l">
                <a:spcBef>
                  <a:spcPct val="20000"/>
                </a:spcBef>
                <a:buClr>
                  <a:srgbClr val="474747"/>
                </a:buClr>
                <a:buSzPct val="70000"/>
                <a:buFont typeface="Monotype Sorts" pitchFamily="2" charset="2"/>
                <a:buNone/>
              </a:pPr>
              <a:r>
                <a:rPr lang="en-US" altLang="en-US" sz="2800" b="1" i="0" dirty="0">
                  <a:latin typeface="Arial" panose="020B0604020202020204" pitchFamily="34" charset="0"/>
                  <a:sym typeface="Symbol" panose="05050102010706020507" pitchFamily="18" charset="2"/>
                </a:rPr>
                <a:t>Likelihood function</a:t>
              </a:r>
              <a:r>
                <a:rPr lang="en-US" altLang="en-US" sz="2800" i="0" dirty="0">
                  <a:latin typeface="Arial" panose="020B0604020202020204" pitchFamily="34" charset="0"/>
                  <a:sym typeface="Symbol" panose="05050102010706020507" pitchFamily="18" charset="2"/>
                </a:rPr>
                <a:t>:</a:t>
              </a:r>
            </a:p>
            <a:p>
              <a:pPr algn="l">
                <a:spcBef>
                  <a:spcPct val="20000"/>
                </a:spcBef>
                <a:buClr>
                  <a:srgbClr val="474747"/>
                </a:buClr>
                <a:buSzPct val="70000"/>
                <a:buFont typeface="Monotype Sorts" pitchFamily="2" charset="2"/>
                <a:buNone/>
              </a:pPr>
              <a:endParaRPr lang="en-US" altLang="en-US" sz="2800" i="0" dirty="0">
                <a:latin typeface="Arial" panose="020B0604020202020204" pitchFamily="34" charset="0"/>
                <a:sym typeface="Symbol" panose="05050102010706020507" pitchFamily="18" charset="2"/>
              </a:endParaRPr>
            </a:p>
            <a:p>
              <a:pPr algn="l">
                <a:spcBef>
                  <a:spcPct val="20000"/>
                </a:spcBef>
                <a:buClr>
                  <a:srgbClr val="474747"/>
                </a:buClr>
                <a:buSzPct val="70000"/>
                <a:buFont typeface="Monotype Sorts" pitchFamily="2" charset="2"/>
                <a:buNone/>
              </a:pPr>
              <a:endParaRPr lang="en-US" altLang="en-US" sz="2800" i="0" dirty="0">
                <a:latin typeface="Arial" panose="020B0604020202020204" pitchFamily="34" charset="0"/>
                <a:sym typeface="Symbol" panose="05050102010706020507" pitchFamily="18" charset="2"/>
              </a:endParaRPr>
            </a:p>
            <a:p>
              <a:pPr algn="l">
                <a:lnSpc>
                  <a:spcPct val="60000"/>
                </a:lnSpc>
                <a:spcBef>
                  <a:spcPct val="20000"/>
                </a:spcBef>
                <a:buClr>
                  <a:srgbClr val="474747"/>
                </a:buClr>
                <a:buSzPct val="70000"/>
                <a:buFont typeface="Monotype Sorts" pitchFamily="2" charset="2"/>
                <a:buNone/>
              </a:pPr>
              <a:r>
                <a:rPr lang="en-US" altLang="en-US" sz="2800" b="1" i="0" dirty="0">
                  <a:latin typeface="Arial" panose="020B0604020202020204" pitchFamily="34" charset="0"/>
                  <a:sym typeface="Symbol" panose="05050102010706020507" pitchFamily="18" charset="2"/>
                </a:rPr>
                <a:t>MLE</a:t>
              </a:r>
              <a:r>
                <a:rPr lang="en-US" altLang="en-US" sz="2800" i="0" dirty="0">
                  <a:latin typeface="Arial" panose="020B0604020202020204" pitchFamily="34" charset="0"/>
                  <a:sym typeface="Symbol" panose="05050102010706020507" pitchFamily="18" charset="2"/>
                </a:rPr>
                <a:t>:                                  (proof @ assignment)</a:t>
              </a:r>
            </a:p>
            <a:p>
              <a:pPr algn="l">
                <a:spcBef>
                  <a:spcPct val="50000"/>
                </a:spcBef>
              </a:pPr>
              <a:endParaRPr lang="en-US" altLang="en-US" dirty="0"/>
            </a:p>
          </p:txBody>
        </p:sp>
        <p:graphicFrame>
          <p:nvGraphicFramePr>
            <p:cNvPr id="22532" name="Object 4"/>
            <p:cNvGraphicFramePr>
              <a:graphicFrameLocks noChangeAspect="1"/>
            </p:cNvGraphicFramePr>
            <p:nvPr/>
          </p:nvGraphicFramePr>
          <p:xfrm>
            <a:off x="2859" y="2503"/>
            <a:ext cx="1507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015920" imgH="431640" progId="Equation.DSMT4">
                    <p:embed/>
                  </p:oleObj>
                </mc:Choice>
                <mc:Fallback>
                  <p:oleObj name="Equation" r:id="rId3" imgW="1015920" imgH="431640" progId="Equation.DSMT4">
                    <p:embed/>
                    <p:pic>
                      <p:nvPicPr>
                        <p:cNvPr id="2253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9" y="2503"/>
                          <a:ext cx="1507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2190750" y="5208588"/>
          <a:ext cx="1966913" cy="147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11000" imgH="533160" progId="Equation.DSMT4">
                  <p:embed/>
                </p:oleObj>
              </mc:Choice>
              <mc:Fallback>
                <p:oleObj name="Equation" r:id="rId5" imgW="711000" imgH="533160" progId="Equation.DSMT4">
                  <p:embed/>
                  <p:pic>
                    <p:nvPicPr>
                      <p:cNvPr id="22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5208588"/>
                        <a:ext cx="1966913" cy="147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589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86747C-61F7-4529-862E-A00BE65A6E21}" type="slidenum">
              <a:rPr lang="he-IL" altLang="en-US"/>
              <a:pPr/>
              <a:t>8</a:t>
            </a:fld>
            <a:endParaRPr lang="en-US" altLang="en-US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Multinomial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6438" y="1345314"/>
            <a:ext cx="8437562" cy="396081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Let   		be a protein sequence</a:t>
            </a:r>
          </a:p>
          <a:p>
            <a:r>
              <a:rPr lang="en-US" altLang="en-US" dirty="0"/>
              <a:t>We want to learn the parameters </a:t>
            </a:r>
            <a:r>
              <a:rPr lang="en-US" altLang="en-US" i="1" dirty="0">
                <a:solidFill>
                  <a:schemeClr val="hlink"/>
                </a:solidFill>
                <a:sym typeface="Symbol" panose="05050102010706020507" pitchFamily="18" charset="2"/>
              </a:rPr>
              <a:t>q</a:t>
            </a:r>
            <a:r>
              <a:rPr lang="en-US" altLang="en-US" i="1" baseline="-25000" dirty="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</a:t>
            </a:r>
            <a:r>
              <a:rPr lang="en-US" altLang="en-US" i="1" dirty="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 </a:t>
            </a:r>
            <a:r>
              <a:rPr lang="en-US" altLang="en-US" i="1" dirty="0">
                <a:solidFill>
                  <a:schemeClr val="hlink"/>
                </a:solidFill>
                <a:sym typeface="Symbol" panose="05050102010706020507" pitchFamily="18" charset="2"/>
              </a:rPr>
              <a:t>q</a:t>
            </a:r>
            <a:r>
              <a:rPr lang="en-US" altLang="en-US" i="1" baseline="-25000" dirty="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2</a:t>
            </a:r>
            <a:r>
              <a:rPr lang="en-US" altLang="en-US" i="1" dirty="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,…,</a:t>
            </a:r>
            <a:r>
              <a:rPr lang="en-US" altLang="en-US" i="1" dirty="0">
                <a:solidFill>
                  <a:schemeClr val="hlink"/>
                </a:solidFill>
                <a:sym typeface="Symbol" panose="05050102010706020507" pitchFamily="18" charset="2"/>
              </a:rPr>
              <a:t>q</a:t>
            </a:r>
            <a:r>
              <a:rPr lang="en-US" altLang="en-US" i="1" baseline="-25000" dirty="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20</a:t>
            </a:r>
            <a:endParaRPr lang="en-US" altLang="en-US" i="1" dirty="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	corresponding to the frequencies of the 20 amino acids</a:t>
            </a:r>
          </a:p>
          <a:p>
            <a:r>
              <a:rPr lang="en-US" altLang="en-US" i="1" dirty="0">
                <a:solidFill>
                  <a:srgbClr val="1008A8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i="1" baseline="-25000" dirty="0">
                <a:solidFill>
                  <a:srgbClr val="1008A8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</a:t>
            </a:r>
            <a:r>
              <a:rPr lang="en-US" altLang="en-US" i="1" dirty="0">
                <a:solidFill>
                  <a:srgbClr val="1008A8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 N</a:t>
            </a:r>
            <a:r>
              <a:rPr lang="en-US" altLang="en-US" i="1" baseline="-25000" dirty="0">
                <a:solidFill>
                  <a:srgbClr val="1008A8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2</a:t>
            </a:r>
            <a:r>
              <a:rPr lang="en-US" altLang="en-US" i="1" dirty="0">
                <a:solidFill>
                  <a:srgbClr val="1008A8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 …, N</a:t>
            </a:r>
            <a:r>
              <a:rPr lang="en-US" altLang="en-US" i="1" baseline="-25000" dirty="0">
                <a:solidFill>
                  <a:srgbClr val="1008A8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20</a:t>
            </a:r>
            <a:r>
              <a:rPr lang="en-US" altLang="en-US" dirty="0">
                <a:sym typeface="Symbol" panose="05050102010706020507" pitchFamily="18" charset="2"/>
              </a:rPr>
              <a:t> - the number of times each amino acid is observed in the sequence</a:t>
            </a:r>
          </a:p>
          <a:p>
            <a:endParaRPr lang="en-US" altLang="en-US" b="1" dirty="0">
              <a:sym typeface="Symbol" panose="05050102010706020507" pitchFamily="18" charset="2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b="1" dirty="0">
                <a:sym typeface="Symbol" panose="05050102010706020507" pitchFamily="18" charset="2"/>
              </a:rPr>
              <a:t>Likelihood function</a:t>
            </a:r>
            <a:r>
              <a:rPr lang="en-US" altLang="en-US" dirty="0">
                <a:sym typeface="Symbol" panose="05050102010706020507" pitchFamily="18" charset="2"/>
              </a:rPr>
              <a:t>:</a:t>
            </a:r>
          </a:p>
        </p:txBody>
      </p:sp>
      <p:graphicFrame>
        <p:nvGraphicFramePr>
          <p:cNvPr id="95236" name="Object 4"/>
          <p:cNvGraphicFramePr>
            <a:graphicFrameLocks noChangeAspect="1"/>
          </p:cNvGraphicFramePr>
          <p:nvPr/>
        </p:nvGraphicFramePr>
        <p:xfrm>
          <a:off x="4287838" y="4549775"/>
          <a:ext cx="2392362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431640" progId="Equation.DSMT4">
                  <p:embed/>
                </p:oleObj>
              </mc:Choice>
              <mc:Fallback>
                <p:oleObj name="Equation" r:id="rId3" imgW="1015920" imgH="431640" progId="Equation.DSMT4">
                  <p:embed/>
                  <p:pic>
                    <p:nvPicPr>
                      <p:cNvPr id="952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7838" y="4549775"/>
                        <a:ext cx="2392362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9" name="Object 7"/>
          <p:cNvGraphicFramePr>
            <a:graphicFrameLocks noChangeAspect="1"/>
          </p:cNvGraphicFramePr>
          <p:nvPr/>
        </p:nvGraphicFramePr>
        <p:xfrm>
          <a:off x="1636713" y="1285875"/>
          <a:ext cx="15017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8720" imgH="228600" progId="Equation.DSMT4">
                  <p:embed/>
                </p:oleObj>
              </mc:Choice>
              <mc:Fallback>
                <p:oleObj name="Equation" r:id="rId5" imgW="558720" imgH="228600" progId="Equation.DSMT4">
                  <p:embed/>
                  <p:pic>
                    <p:nvPicPr>
                      <p:cNvPr id="952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1285875"/>
                        <a:ext cx="1501775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242" name="Group 10"/>
          <p:cNvGrpSpPr>
            <a:grpSpLocks/>
          </p:cNvGrpSpPr>
          <p:nvPr/>
        </p:nvGrpSpPr>
        <p:grpSpPr bwMode="auto">
          <a:xfrm>
            <a:off x="1145936" y="5564187"/>
            <a:ext cx="2713037" cy="979488"/>
            <a:chOff x="337" y="3418"/>
            <a:chExt cx="1709" cy="617"/>
          </a:xfrm>
        </p:grpSpPr>
        <p:graphicFrame>
          <p:nvGraphicFramePr>
            <p:cNvPr id="95237" name="Object 5"/>
            <p:cNvGraphicFramePr>
              <a:graphicFrameLocks noChangeAspect="1"/>
            </p:cNvGraphicFramePr>
            <p:nvPr/>
          </p:nvGraphicFramePr>
          <p:xfrm>
            <a:off x="1189" y="3418"/>
            <a:ext cx="857" cy="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45760" imgH="393480" progId="Equation.DSMT4">
                    <p:embed/>
                  </p:oleObj>
                </mc:Choice>
                <mc:Fallback>
                  <p:oleObj name="Equation" r:id="rId7" imgW="545760" imgH="393480" progId="Equation.DSMT4">
                    <p:embed/>
                    <p:pic>
                      <p:nvPicPr>
                        <p:cNvPr id="9523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9" y="3418"/>
                          <a:ext cx="857" cy="6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41" name="Text Box 9"/>
            <p:cNvSpPr txBox="1">
              <a:spLocks noChangeArrowheads="1"/>
            </p:cNvSpPr>
            <p:nvPr/>
          </p:nvSpPr>
          <p:spPr bwMode="auto">
            <a:xfrm>
              <a:off x="337" y="3623"/>
              <a:ext cx="84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20000"/>
                </a:spcBef>
                <a:buClr>
                  <a:srgbClr val="474747"/>
                </a:buClr>
                <a:buSzPct val="70000"/>
                <a:buFont typeface="Monotype Sorts" pitchFamily="2" charset="2"/>
                <a:buNone/>
              </a:pPr>
              <a:r>
                <a:rPr lang="en-US" altLang="en-US" sz="2800" b="1" i="0" dirty="0">
                  <a:latin typeface="Arial" panose="020B0604020202020204" pitchFamily="34" charset="0"/>
                  <a:sym typeface="Symbol" panose="05050102010706020507" pitchFamily="18" charset="2"/>
                </a:rPr>
                <a:t>MLE</a:t>
              </a:r>
              <a:r>
                <a:rPr lang="en-US" altLang="en-US" sz="2800" i="0" dirty="0">
                  <a:latin typeface="Arial" panose="020B0604020202020204" pitchFamily="34" charset="0"/>
                  <a:sym typeface="Symbol" panose="05050102010706020507" pitchFamily="18" charset="2"/>
                </a:rPr>
                <a:t>:</a:t>
              </a:r>
              <a:endParaRPr lang="en-US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1912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Examples: Bernoulli/Multinomial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77C82E6-4B38-4D0E-9016-1BB8613DC4D4}" type="slidenum">
              <a:rPr lang="tr-TR"/>
              <a:pPr/>
              <a:t>9</a:t>
            </a:fld>
            <a:endParaRPr lang="tr-TR"/>
          </a:p>
        </p:txBody>
      </p:sp>
      <p:sp>
        <p:nvSpPr>
          <p:cNvPr id="166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>
                <a:solidFill>
                  <a:schemeClr val="accent1"/>
                </a:solidFill>
                <a:latin typeface="+mj-lt"/>
              </a:rPr>
              <a:t>Bernoulli:</a:t>
            </a:r>
            <a:r>
              <a:rPr lang="tr-TR" dirty="0">
                <a:latin typeface="+mj-lt"/>
              </a:rPr>
              <a:t>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Two states, failure/success,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in {0,1} </a:t>
            </a:r>
          </a:p>
          <a:p>
            <a:pPr lvl="1">
              <a:buFont typeface="Wingdings" pitchFamily="2" charset="2"/>
              <a:buNone/>
            </a:pPr>
            <a:r>
              <a:rPr lang="tr-TR" sz="2400" i="1" dirty="0">
                <a:solidFill>
                  <a:schemeClr val="tx2"/>
                </a:solidFill>
              </a:rPr>
              <a:t>P </a:t>
            </a:r>
            <a:r>
              <a:rPr lang="tr-TR" sz="2400" dirty="0">
                <a:solidFill>
                  <a:schemeClr val="tx2"/>
                </a:solidFill>
              </a:rPr>
              <a:t>(</a:t>
            </a:r>
            <a:r>
              <a:rPr lang="tr-TR" sz="2400" i="1" dirty="0">
                <a:solidFill>
                  <a:schemeClr val="tx2"/>
                </a:solidFill>
              </a:rPr>
              <a:t>x</a:t>
            </a:r>
            <a:r>
              <a:rPr lang="tr-TR" sz="2400" dirty="0">
                <a:solidFill>
                  <a:schemeClr val="tx2"/>
                </a:solidFill>
              </a:rPr>
              <a:t>) = </a:t>
            </a:r>
            <a:r>
              <a:rPr lang="tr-TR" sz="2400" i="1" dirty="0">
                <a:solidFill>
                  <a:schemeClr val="tx2"/>
                </a:solidFill>
              </a:rPr>
              <a:t>p</a:t>
            </a:r>
            <a:r>
              <a:rPr lang="tr-TR" sz="2400" i="1" baseline="-25000" dirty="0">
                <a:solidFill>
                  <a:schemeClr val="tx2"/>
                </a:solidFill>
              </a:rPr>
              <a:t>o</a:t>
            </a:r>
            <a:r>
              <a:rPr lang="tr-TR" sz="2400" i="1" baseline="30000" dirty="0">
                <a:solidFill>
                  <a:schemeClr val="tx2"/>
                </a:solidFill>
              </a:rPr>
              <a:t>x</a:t>
            </a:r>
            <a:r>
              <a:rPr lang="tr-TR" sz="2400" baseline="30000" dirty="0">
                <a:solidFill>
                  <a:schemeClr val="tx2"/>
                </a:solidFill>
              </a:rPr>
              <a:t> </a:t>
            </a:r>
            <a:r>
              <a:rPr lang="tr-TR" sz="2400" dirty="0">
                <a:solidFill>
                  <a:schemeClr val="tx2"/>
                </a:solidFill>
              </a:rPr>
              <a:t>(1 – </a:t>
            </a:r>
            <a:r>
              <a:rPr lang="tr-TR" sz="2400" i="1" dirty="0">
                <a:solidFill>
                  <a:schemeClr val="tx2"/>
                </a:solidFill>
              </a:rPr>
              <a:t>p</a:t>
            </a:r>
            <a:r>
              <a:rPr lang="tr-TR" sz="2400" i="1" baseline="-25000" dirty="0">
                <a:solidFill>
                  <a:schemeClr val="tx2"/>
                </a:solidFill>
              </a:rPr>
              <a:t>o </a:t>
            </a:r>
            <a:r>
              <a:rPr lang="tr-TR" sz="2400" dirty="0">
                <a:solidFill>
                  <a:schemeClr val="tx2"/>
                </a:solidFill>
              </a:rPr>
              <a:t>)</a:t>
            </a:r>
            <a:r>
              <a:rPr lang="tr-TR" sz="2400" i="1" baseline="-25000" dirty="0">
                <a:solidFill>
                  <a:schemeClr val="tx2"/>
                </a:solidFill>
              </a:rPr>
              <a:t> </a:t>
            </a:r>
            <a:r>
              <a:rPr lang="tr-TR" sz="2400" baseline="30000" dirty="0">
                <a:solidFill>
                  <a:schemeClr val="tx2"/>
                </a:solidFill>
              </a:rPr>
              <a:t>(1 – </a:t>
            </a:r>
            <a:r>
              <a:rPr lang="tr-TR" sz="2400" i="1" baseline="30000" dirty="0">
                <a:solidFill>
                  <a:schemeClr val="tx2"/>
                </a:solidFill>
              </a:rPr>
              <a:t>x</a:t>
            </a:r>
            <a:r>
              <a:rPr lang="tr-TR" sz="2400" baseline="30000" dirty="0">
                <a:solidFill>
                  <a:schemeClr val="tx2"/>
                </a:solidFill>
              </a:rPr>
              <a:t>)</a:t>
            </a:r>
          </a:p>
          <a:p>
            <a:pPr lvl="1">
              <a:buFont typeface="Wingdings" pitchFamily="2" charset="2"/>
              <a:buNone/>
            </a:pPr>
            <a:r>
              <a:rPr lang="tr-TR" sz="2400" dirty="0">
                <a:solidFill>
                  <a:schemeClr val="tx2"/>
                </a:solidFill>
                <a:latin typeface="Lucida Calligraphy" pitchFamily="66" charset="0"/>
              </a:rPr>
              <a:t>				L </a:t>
            </a:r>
            <a:r>
              <a:rPr lang="tr-TR" sz="2400" dirty="0">
                <a:solidFill>
                  <a:schemeClr val="tx2"/>
                </a:solidFill>
              </a:rPr>
              <a:t>(</a:t>
            </a:r>
            <a:r>
              <a:rPr lang="tr-TR" sz="2400" i="1" dirty="0">
                <a:solidFill>
                  <a:schemeClr val="tx2"/>
                </a:solidFill>
              </a:rPr>
              <a:t>p</a:t>
            </a:r>
            <a:r>
              <a:rPr lang="tr-TR" sz="2400" i="1" baseline="-25000" dirty="0">
                <a:solidFill>
                  <a:schemeClr val="tx2"/>
                </a:solidFill>
              </a:rPr>
              <a:t>o</a:t>
            </a:r>
            <a:r>
              <a:rPr lang="tr-TR" sz="2400" dirty="0">
                <a:solidFill>
                  <a:schemeClr val="tx2"/>
                </a:solidFill>
              </a:rPr>
              <a:t>|</a:t>
            </a:r>
            <a:r>
              <a:rPr lang="tr-TR" sz="2400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sz="2400" dirty="0">
                <a:solidFill>
                  <a:schemeClr val="tx2"/>
                </a:solidFill>
              </a:rPr>
              <a:t>) = log ∏</a:t>
            </a:r>
            <a:r>
              <a:rPr lang="tr-TR" sz="2400" i="1" baseline="-40000" dirty="0">
                <a:solidFill>
                  <a:schemeClr val="tx2"/>
                </a:solidFill>
              </a:rPr>
              <a:t>t</a:t>
            </a:r>
            <a:r>
              <a:rPr lang="tr-TR" sz="2400" dirty="0">
                <a:solidFill>
                  <a:schemeClr val="tx2"/>
                </a:solidFill>
              </a:rPr>
              <a:t> </a:t>
            </a:r>
            <a:r>
              <a:rPr lang="tr-TR" sz="2400" i="1" dirty="0">
                <a:solidFill>
                  <a:schemeClr val="tx2"/>
                </a:solidFill>
              </a:rPr>
              <a:t>p</a:t>
            </a:r>
            <a:r>
              <a:rPr lang="tr-TR" sz="2400" i="1" baseline="-25000" dirty="0">
                <a:solidFill>
                  <a:schemeClr val="tx2"/>
                </a:solidFill>
              </a:rPr>
              <a:t>o</a:t>
            </a:r>
            <a:r>
              <a:rPr lang="tr-TR" sz="2400" i="1" baseline="30000" dirty="0">
                <a:solidFill>
                  <a:schemeClr val="tx2"/>
                </a:solidFill>
              </a:rPr>
              <a:t>x</a:t>
            </a:r>
            <a:r>
              <a:rPr lang="tr-TR" sz="2400" i="1" baseline="50000" dirty="0">
                <a:solidFill>
                  <a:schemeClr val="tx2"/>
                </a:solidFill>
              </a:rPr>
              <a:t>t</a:t>
            </a:r>
            <a:r>
              <a:rPr lang="tr-TR" sz="2400" baseline="30000" dirty="0">
                <a:solidFill>
                  <a:schemeClr val="tx2"/>
                </a:solidFill>
              </a:rPr>
              <a:t> </a:t>
            </a:r>
            <a:r>
              <a:rPr lang="tr-TR" sz="2400" dirty="0">
                <a:solidFill>
                  <a:schemeClr val="tx2"/>
                </a:solidFill>
              </a:rPr>
              <a:t>(1 – </a:t>
            </a:r>
            <a:r>
              <a:rPr lang="tr-TR" sz="2400" i="1" dirty="0">
                <a:solidFill>
                  <a:schemeClr val="tx2"/>
                </a:solidFill>
              </a:rPr>
              <a:t>p</a:t>
            </a:r>
            <a:r>
              <a:rPr lang="tr-TR" sz="2400" i="1" baseline="-25000" dirty="0">
                <a:solidFill>
                  <a:schemeClr val="tx2"/>
                </a:solidFill>
              </a:rPr>
              <a:t>o </a:t>
            </a:r>
            <a:r>
              <a:rPr lang="tr-TR" sz="2400" dirty="0">
                <a:solidFill>
                  <a:schemeClr val="tx2"/>
                </a:solidFill>
              </a:rPr>
              <a:t>)</a:t>
            </a:r>
            <a:r>
              <a:rPr lang="tr-TR" sz="2400" i="1" baseline="-25000" dirty="0">
                <a:solidFill>
                  <a:schemeClr val="tx2"/>
                </a:solidFill>
              </a:rPr>
              <a:t> </a:t>
            </a:r>
            <a:r>
              <a:rPr lang="tr-TR" sz="2400" baseline="30000" dirty="0">
                <a:solidFill>
                  <a:schemeClr val="tx2"/>
                </a:solidFill>
              </a:rPr>
              <a:t>(1 – </a:t>
            </a:r>
            <a:r>
              <a:rPr lang="tr-TR" sz="2400" i="1" baseline="30000" dirty="0">
                <a:solidFill>
                  <a:schemeClr val="tx2"/>
                </a:solidFill>
              </a:rPr>
              <a:t>x</a:t>
            </a:r>
            <a:r>
              <a:rPr lang="tr-TR" sz="2400" i="1" baseline="50000" dirty="0">
                <a:solidFill>
                  <a:schemeClr val="tx2"/>
                </a:solidFill>
              </a:rPr>
              <a:t>t</a:t>
            </a:r>
            <a:r>
              <a:rPr lang="tr-TR" sz="2400" baseline="30000" dirty="0">
                <a:solidFill>
                  <a:schemeClr val="tx2"/>
                </a:solidFill>
              </a:rPr>
              <a:t>) </a:t>
            </a:r>
            <a:endParaRPr lang="tr-TR" sz="2400" dirty="0">
              <a:solidFill>
                <a:schemeClr val="tx2"/>
              </a:solidFill>
            </a:endParaRPr>
          </a:p>
          <a:p>
            <a:pPr lvl="1">
              <a:buFont typeface="Wingdings" pitchFamily="2" charset="2"/>
              <a:buNone/>
            </a:pPr>
            <a:r>
              <a:rPr lang="tr-TR" sz="2400" dirty="0">
                <a:solidFill>
                  <a:schemeClr val="tx2"/>
                </a:solidFill>
                <a:latin typeface="+mj-lt"/>
              </a:rPr>
              <a:t>MLE</a:t>
            </a:r>
            <a:r>
              <a:rPr lang="tr-TR" sz="2400" dirty="0">
                <a:solidFill>
                  <a:schemeClr val="tx2"/>
                </a:solidFill>
              </a:rPr>
              <a:t>: </a:t>
            </a:r>
            <a:r>
              <a:rPr lang="tr-TR" sz="2400" i="1" dirty="0">
                <a:solidFill>
                  <a:schemeClr val="tx2"/>
                </a:solidFill>
              </a:rPr>
              <a:t>p</a:t>
            </a:r>
            <a:r>
              <a:rPr lang="tr-TR" sz="2400" i="1" baseline="-25000" dirty="0">
                <a:solidFill>
                  <a:schemeClr val="tx2"/>
                </a:solidFill>
              </a:rPr>
              <a:t>o </a:t>
            </a:r>
            <a:r>
              <a:rPr lang="tr-TR" sz="2400" dirty="0">
                <a:solidFill>
                  <a:schemeClr val="tx2"/>
                </a:solidFill>
              </a:rPr>
              <a:t>= ∑</a:t>
            </a:r>
            <a:r>
              <a:rPr lang="tr-TR" sz="2400" i="1" baseline="-40000" dirty="0">
                <a:solidFill>
                  <a:schemeClr val="tx2"/>
                </a:solidFill>
              </a:rPr>
              <a:t>t</a:t>
            </a:r>
            <a:r>
              <a:rPr lang="tr-TR" sz="2400" dirty="0">
                <a:solidFill>
                  <a:schemeClr val="tx2"/>
                </a:solidFill>
              </a:rPr>
              <a:t> </a:t>
            </a:r>
            <a:r>
              <a:rPr lang="tr-TR" sz="2400" i="1" dirty="0">
                <a:solidFill>
                  <a:schemeClr val="tx2"/>
                </a:solidFill>
              </a:rPr>
              <a:t>x</a:t>
            </a:r>
            <a:r>
              <a:rPr lang="tr-TR" sz="2400" i="1" baseline="30000" dirty="0">
                <a:solidFill>
                  <a:schemeClr val="tx2"/>
                </a:solidFill>
              </a:rPr>
              <a:t>t </a:t>
            </a:r>
            <a:r>
              <a:rPr lang="tr-TR" sz="2400" dirty="0">
                <a:solidFill>
                  <a:schemeClr val="tx2"/>
                </a:solidFill>
              </a:rPr>
              <a:t>/ </a:t>
            </a:r>
            <a:r>
              <a:rPr lang="tr-TR" sz="2400" i="1" dirty="0">
                <a:solidFill>
                  <a:schemeClr val="tx2"/>
                </a:solidFill>
              </a:rPr>
              <a:t>N</a:t>
            </a:r>
            <a:r>
              <a:rPr lang="tr-TR" sz="2400" i="1" baseline="30000" dirty="0">
                <a:solidFill>
                  <a:schemeClr val="tx2"/>
                </a:solidFill>
              </a:rPr>
              <a:t> </a:t>
            </a:r>
          </a:p>
          <a:p>
            <a:pPr lvl="1">
              <a:buFont typeface="Wingdings" pitchFamily="2" charset="2"/>
              <a:buNone/>
            </a:pPr>
            <a:endParaRPr lang="tr-TR" sz="2400" i="1" baseline="30000" dirty="0"/>
          </a:p>
          <a:p>
            <a:r>
              <a:rPr lang="tr-TR" dirty="0">
                <a:solidFill>
                  <a:schemeClr val="accent1"/>
                </a:solidFill>
                <a:latin typeface="+mj-lt"/>
              </a:rPr>
              <a:t>Multinomial: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K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&gt;2 states,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in {0,1}</a:t>
            </a:r>
          </a:p>
          <a:p>
            <a:pPr lvl="1">
              <a:buFont typeface="Wingdings" pitchFamily="2" charset="2"/>
              <a:buNone/>
            </a:pPr>
            <a:r>
              <a:rPr lang="tr-TR" sz="2400" i="1" dirty="0">
                <a:solidFill>
                  <a:schemeClr val="tx2"/>
                </a:solidFill>
              </a:rPr>
              <a:t>P </a:t>
            </a:r>
            <a:r>
              <a:rPr lang="tr-TR" sz="2400" dirty="0">
                <a:solidFill>
                  <a:schemeClr val="tx2"/>
                </a:solidFill>
              </a:rPr>
              <a:t>(</a:t>
            </a:r>
            <a:r>
              <a:rPr lang="tr-TR" sz="2400" i="1" dirty="0">
                <a:solidFill>
                  <a:schemeClr val="tx2"/>
                </a:solidFill>
              </a:rPr>
              <a:t>x</a:t>
            </a:r>
            <a:r>
              <a:rPr lang="tr-TR" sz="2400" baseline="-25000" dirty="0">
                <a:solidFill>
                  <a:schemeClr val="tx2"/>
                </a:solidFill>
              </a:rPr>
              <a:t>1</a:t>
            </a:r>
            <a:r>
              <a:rPr lang="tr-TR" sz="2400" dirty="0">
                <a:solidFill>
                  <a:schemeClr val="tx2"/>
                </a:solidFill>
              </a:rPr>
              <a:t>,</a:t>
            </a:r>
            <a:r>
              <a:rPr lang="tr-TR" sz="2400" i="1" dirty="0">
                <a:solidFill>
                  <a:schemeClr val="tx2"/>
                </a:solidFill>
              </a:rPr>
              <a:t>x</a:t>
            </a:r>
            <a:r>
              <a:rPr lang="tr-TR" sz="2400" baseline="-25000" dirty="0">
                <a:solidFill>
                  <a:schemeClr val="tx2"/>
                </a:solidFill>
              </a:rPr>
              <a:t>2</a:t>
            </a:r>
            <a:r>
              <a:rPr lang="tr-TR" sz="2400" dirty="0">
                <a:solidFill>
                  <a:schemeClr val="tx2"/>
                </a:solidFill>
              </a:rPr>
              <a:t>,...,</a:t>
            </a:r>
            <a:r>
              <a:rPr lang="tr-TR" sz="2400" i="1" dirty="0">
                <a:solidFill>
                  <a:schemeClr val="tx2"/>
                </a:solidFill>
              </a:rPr>
              <a:t>x</a:t>
            </a:r>
            <a:r>
              <a:rPr lang="tr-TR" sz="2400" baseline="-25000" dirty="0">
                <a:solidFill>
                  <a:schemeClr val="tx2"/>
                </a:solidFill>
              </a:rPr>
              <a:t>K</a:t>
            </a:r>
            <a:r>
              <a:rPr lang="tr-TR" sz="2400" dirty="0">
                <a:solidFill>
                  <a:schemeClr val="tx2"/>
                </a:solidFill>
              </a:rPr>
              <a:t>) = ∏</a:t>
            </a:r>
            <a:r>
              <a:rPr lang="tr-TR" sz="2400" i="1" baseline="-40000" dirty="0">
                <a:solidFill>
                  <a:schemeClr val="tx2"/>
                </a:solidFill>
              </a:rPr>
              <a:t>i</a:t>
            </a:r>
            <a:r>
              <a:rPr lang="tr-TR" sz="2400" dirty="0">
                <a:solidFill>
                  <a:schemeClr val="tx2"/>
                </a:solidFill>
              </a:rPr>
              <a:t> </a:t>
            </a:r>
            <a:r>
              <a:rPr lang="tr-TR" sz="2400" i="1" dirty="0">
                <a:solidFill>
                  <a:schemeClr val="tx2"/>
                </a:solidFill>
              </a:rPr>
              <a:t>p</a:t>
            </a:r>
            <a:r>
              <a:rPr lang="tr-TR" sz="2400" i="1" baseline="-25000" dirty="0">
                <a:solidFill>
                  <a:schemeClr val="tx2"/>
                </a:solidFill>
              </a:rPr>
              <a:t>i</a:t>
            </a:r>
            <a:r>
              <a:rPr lang="tr-TR" sz="2400" i="1" baseline="30000" dirty="0">
                <a:solidFill>
                  <a:schemeClr val="tx2"/>
                </a:solidFill>
              </a:rPr>
              <a:t>x</a:t>
            </a:r>
            <a:r>
              <a:rPr lang="tr-TR" sz="2400" i="1" baseline="10000" dirty="0">
                <a:solidFill>
                  <a:schemeClr val="tx2"/>
                </a:solidFill>
              </a:rPr>
              <a:t>i</a:t>
            </a:r>
            <a:endParaRPr lang="tr-TR" sz="2400" dirty="0">
              <a:solidFill>
                <a:schemeClr val="tx2"/>
              </a:solidFill>
            </a:endParaRPr>
          </a:p>
          <a:p>
            <a:pPr lvl="1">
              <a:buFont typeface="Wingdings" pitchFamily="2" charset="2"/>
              <a:buNone/>
            </a:pPr>
            <a:r>
              <a:rPr lang="tr-TR" sz="2400" dirty="0">
                <a:solidFill>
                  <a:schemeClr val="tx2"/>
                </a:solidFill>
                <a:latin typeface="Lucida Calligraphy" pitchFamily="66" charset="0"/>
              </a:rPr>
              <a:t>				L</a:t>
            </a:r>
            <a:r>
              <a:rPr lang="tr-TR" sz="2400" dirty="0">
                <a:solidFill>
                  <a:schemeClr val="tx2"/>
                </a:solidFill>
              </a:rPr>
              <a:t>(</a:t>
            </a:r>
            <a:r>
              <a:rPr lang="tr-TR" sz="2400" i="1" dirty="0">
                <a:solidFill>
                  <a:schemeClr val="tx2"/>
                </a:solidFill>
              </a:rPr>
              <a:t>p</a:t>
            </a:r>
            <a:r>
              <a:rPr lang="tr-TR" sz="2400" baseline="-25000" dirty="0">
                <a:solidFill>
                  <a:schemeClr val="tx2"/>
                </a:solidFill>
              </a:rPr>
              <a:t>1</a:t>
            </a:r>
            <a:r>
              <a:rPr lang="tr-TR" sz="2400" dirty="0">
                <a:solidFill>
                  <a:schemeClr val="tx2"/>
                </a:solidFill>
              </a:rPr>
              <a:t>,</a:t>
            </a:r>
            <a:r>
              <a:rPr lang="tr-TR" sz="2400" i="1" dirty="0">
                <a:solidFill>
                  <a:schemeClr val="tx2"/>
                </a:solidFill>
              </a:rPr>
              <a:t>p</a:t>
            </a:r>
            <a:r>
              <a:rPr lang="tr-TR" sz="2400" baseline="-25000" dirty="0">
                <a:solidFill>
                  <a:schemeClr val="tx2"/>
                </a:solidFill>
              </a:rPr>
              <a:t>2</a:t>
            </a:r>
            <a:r>
              <a:rPr lang="tr-TR" sz="2400" dirty="0">
                <a:solidFill>
                  <a:schemeClr val="tx2"/>
                </a:solidFill>
              </a:rPr>
              <a:t>,...,</a:t>
            </a:r>
            <a:r>
              <a:rPr lang="tr-TR" sz="2400" i="1" dirty="0">
                <a:solidFill>
                  <a:schemeClr val="tx2"/>
                </a:solidFill>
              </a:rPr>
              <a:t>p</a:t>
            </a:r>
            <a:r>
              <a:rPr lang="tr-TR" sz="2400" i="1" baseline="-25000" dirty="0">
                <a:solidFill>
                  <a:schemeClr val="tx2"/>
                </a:solidFill>
              </a:rPr>
              <a:t>K</a:t>
            </a:r>
            <a:r>
              <a:rPr lang="tr-TR" sz="2400" dirty="0">
                <a:solidFill>
                  <a:schemeClr val="tx2"/>
                </a:solidFill>
              </a:rPr>
              <a:t>|</a:t>
            </a:r>
            <a:r>
              <a:rPr lang="tr-TR" sz="2400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sz="2400" dirty="0">
                <a:solidFill>
                  <a:schemeClr val="tx2"/>
                </a:solidFill>
              </a:rPr>
              <a:t>) = log ∏</a:t>
            </a:r>
            <a:r>
              <a:rPr lang="tr-TR" sz="2400" i="1" baseline="-40000" dirty="0">
                <a:solidFill>
                  <a:schemeClr val="tx2"/>
                </a:solidFill>
              </a:rPr>
              <a:t>t </a:t>
            </a:r>
            <a:r>
              <a:rPr lang="tr-TR" sz="2400" dirty="0">
                <a:solidFill>
                  <a:schemeClr val="tx2"/>
                </a:solidFill>
              </a:rPr>
              <a:t>∏</a:t>
            </a:r>
            <a:r>
              <a:rPr lang="tr-TR" sz="2400" i="1" baseline="-40000" dirty="0">
                <a:solidFill>
                  <a:schemeClr val="tx2"/>
                </a:solidFill>
              </a:rPr>
              <a:t>i</a:t>
            </a:r>
            <a:r>
              <a:rPr lang="tr-TR" sz="2400" dirty="0">
                <a:solidFill>
                  <a:schemeClr val="tx2"/>
                </a:solidFill>
              </a:rPr>
              <a:t> </a:t>
            </a:r>
            <a:r>
              <a:rPr lang="tr-TR" sz="2400" i="1" dirty="0">
                <a:solidFill>
                  <a:schemeClr val="tx2"/>
                </a:solidFill>
              </a:rPr>
              <a:t>p</a:t>
            </a:r>
            <a:r>
              <a:rPr lang="tr-TR" sz="2400" i="1" baseline="-25000" dirty="0">
                <a:solidFill>
                  <a:schemeClr val="tx2"/>
                </a:solidFill>
              </a:rPr>
              <a:t>i</a:t>
            </a:r>
            <a:r>
              <a:rPr lang="tr-TR" sz="2400" i="1" baseline="30000" dirty="0">
                <a:solidFill>
                  <a:schemeClr val="tx2"/>
                </a:solidFill>
              </a:rPr>
              <a:t>x</a:t>
            </a:r>
            <a:r>
              <a:rPr lang="tr-TR" sz="2400" i="1" baseline="10000" dirty="0">
                <a:solidFill>
                  <a:schemeClr val="tx2"/>
                </a:solidFill>
              </a:rPr>
              <a:t>i</a:t>
            </a:r>
            <a:r>
              <a:rPr lang="tr-TR" sz="2400" i="1" baseline="50000" dirty="0">
                <a:solidFill>
                  <a:schemeClr val="tx2"/>
                </a:solidFill>
              </a:rPr>
              <a:t>t</a:t>
            </a:r>
            <a:r>
              <a:rPr lang="tr-TR" sz="2400" i="1" dirty="0">
                <a:solidFill>
                  <a:schemeClr val="tx2"/>
                </a:solidFill>
              </a:rPr>
              <a:t> </a:t>
            </a:r>
          </a:p>
          <a:p>
            <a:pPr lvl="1">
              <a:buFont typeface="Wingdings" pitchFamily="2" charset="2"/>
              <a:buNone/>
            </a:pPr>
            <a:r>
              <a:rPr lang="tr-TR" sz="2400" dirty="0">
                <a:solidFill>
                  <a:schemeClr val="tx2"/>
                </a:solidFill>
                <a:latin typeface="+mj-lt"/>
              </a:rPr>
              <a:t>MLE</a:t>
            </a:r>
            <a:r>
              <a:rPr lang="tr-TR" sz="2400" dirty="0">
                <a:solidFill>
                  <a:schemeClr val="tx2"/>
                </a:solidFill>
              </a:rPr>
              <a:t>: </a:t>
            </a:r>
            <a:r>
              <a:rPr lang="tr-TR" sz="2400" i="1" dirty="0">
                <a:solidFill>
                  <a:schemeClr val="tx2"/>
                </a:solidFill>
              </a:rPr>
              <a:t>p</a:t>
            </a:r>
            <a:r>
              <a:rPr lang="tr-TR" sz="2400" i="1" baseline="-25000" dirty="0">
                <a:solidFill>
                  <a:schemeClr val="tx2"/>
                </a:solidFill>
              </a:rPr>
              <a:t>i </a:t>
            </a:r>
            <a:r>
              <a:rPr lang="tr-TR" sz="2400" dirty="0">
                <a:solidFill>
                  <a:schemeClr val="tx2"/>
                </a:solidFill>
              </a:rPr>
              <a:t>= ∑</a:t>
            </a:r>
            <a:r>
              <a:rPr lang="tr-TR" sz="2400" i="1" baseline="-40000" dirty="0">
                <a:solidFill>
                  <a:schemeClr val="tx2"/>
                </a:solidFill>
              </a:rPr>
              <a:t>t</a:t>
            </a:r>
            <a:r>
              <a:rPr lang="tr-TR" sz="2400" dirty="0">
                <a:solidFill>
                  <a:schemeClr val="tx2"/>
                </a:solidFill>
              </a:rPr>
              <a:t> </a:t>
            </a:r>
            <a:r>
              <a:rPr lang="tr-TR" sz="2400" i="1" dirty="0">
                <a:solidFill>
                  <a:schemeClr val="tx2"/>
                </a:solidFill>
              </a:rPr>
              <a:t>x</a:t>
            </a:r>
            <a:r>
              <a:rPr lang="tr-TR" sz="2400" i="1" baseline="-25000" dirty="0">
                <a:solidFill>
                  <a:schemeClr val="tx2"/>
                </a:solidFill>
              </a:rPr>
              <a:t>i</a:t>
            </a:r>
            <a:r>
              <a:rPr lang="tr-TR" sz="2400" i="1" baseline="30000" dirty="0">
                <a:solidFill>
                  <a:schemeClr val="tx2"/>
                </a:solidFill>
              </a:rPr>
              <a:t>t </a:t>
            </a:r>
            <a:r>
              <a:rPr lang="tr-TR" sz="2400" dirty="0">
                <a:solidFill>
                  <a:schemeClr val="tx2"/>
                </a:solidFill>
              </a:rPr>
              <a:t>/ </a:t>
            </a:r>
            <a:r>
              <a:rPr lang="tr-TR" sz="2400" i="1" dirty="0">
                <a:solidFill>
                  <a:schemeClr val="tx2"/>
                </a:solidFill>
              </a:rPr>
              <a:t>N</a:t>
            </a:r>
            <a:endParaRPr lang="en-GB" sz="24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620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04664"/>
            <a:ext cx="8075240" cy="739552"/>
          </a:xfrm>
        </p:spPr>
        <p:txBody>
          <a:bodyPr>
            <a:noAutofit/>
          </a:bodyPr>
          <a:lstStyle/>
          <a:p>
            <a:r>
              <a:rPr lang="tr-TR" dirty="0"/>
              <a:t>Gaussian (Normal) Distribution</a:t>
            </a:r>
            <a:endParaRPr lang="en-GB" dirty="0"/>
          </a:p>
        </p:txBody>
      </p:sp>
      <p:graphicFrame>
        <p:nvGraphicFramePr>
          <p:cNvPr id="167956" name="Object 20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549400" y="2660650"/>
          <a:ext cx="1854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000" imgH="507960" progId="Equation.3">
                  <p:embed/>
                </p:oleObj>
              </mc:Choice>
              <mc:Fallback>
                <p:oleObj name="Equation" r:id="rId2" imgW="1854000" imgH="507960" progId="Equation.3">
                  <p:embed/>
                  <p:pic>
                    <p:nvPicPr>
                      <p:cNvPr id="16795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2660650"/>
                        <a:ext cx="18542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58" name="Object 22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245538268"/>
              </p:ext>
            </p:extLst>
          </p:nvPr>
        </p:nvGraphicFramePr>
        <p:xfrm>
          <a:off x="5029200" y="5257800"/>
          <a:ext cx="10541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1091880" progId="Equation.3">
                  <p:embed/>
                </p:oleObj>
              </mc:Choice>
              <mc:Fallback>
                <p:oleObj name="Equation" r:id="rId4" imgW="1054080" imgH="1091880" progId="Equation.3">
                  <p:embed/>
                  <p:pic>
                    <p:nvPicPr>
                      <p:cNvPr id="16795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257800"/>
                        <a:ext cx="1054100" cy="109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2" name="Rectangle 6"/>
          <p:cNvSpPr>
            <a:spLocks noGrp="1" noChangeArrowheads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tr-TR" i="1" dirty="0">
                <a:solidFill>
                  <a:schemeClr val="tx2"/>
                </a:solidFill>
                <a:latin typeface="+mj-lt"/>
              </a:rPr>
              <a:t>p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 = 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N </a:t>
            </a:r>
            <a:r>
              <a:rPr lang="tr-TR" dirty="0">
                <a:solidFill>
                  <a:schemeClr val="tx2"/>
                </a:solidFill>
              </a:rPr>
              <a:t>( </a:t>
            </a:r>
            <a:r>
              <a:rPr lang="tr-TR" i="1" dirty="0">
                <a:solidFill>
                  <a:schemeClr val="tx2"/>
                </a:solidFill>
              </a:rPr>
              <a:t>μ</a:t>
            </a:r>
            <a:r>
              <a:rPr lang="tr-TR" dirty="0">
                <a:solidFill>
                  <a:schemeClr val="tx2"/>
                </a:solidFill>
              </a:rPr>
              <a:t>, </a:t>
            </a:r>
            <a:r>
              <a:rPr lang="tr-TR" i="1" dirty="0">
                <a:solidFill>
                  <a:schemeClr val="tx2"/>
                </a:solidFill>
              </a:rPr>
              <a:t>σ</a:t>
            </a:r>
            <a:r>
              <a:rPr lang="tr-TR" baseline="30000" dirty="0">
                <a:solidFill>
                  <a:schemeClr val="tx2"/>
                </a:solidFill>
              </a:rPr>
              <a:t>2</a:t>
            </a:r>
            <a:r>
              <a:rPr lang="tr-TR" dirty="0">
                <a:solidFill>
                  <a:schemeClr val="tx2"/>
                </a:solidFill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</a:rPr>
              <a:t>	</a:t>
            </a:r>
          </a:p>
          <a:p>
            <a:pPr>
              <a:buFont typeface="Wingdings" pitchFamily="2" charset="2"/>
              <a:buNone/>
            </a:pPr>
            <a:endParaRPr lang="tr-TR" dirty="0">
              <a:solidFill>
                <a:schemeClr val="tx2"/>
              </a:solidFill>
            </a:endParaRPr>
          </a:p>
          <a:p>
            <a:endParaRPr lang="tr-TR" dirty="0">
              <a:solidFill>
                <a:schemeClr val="tx2"/>
              </a:solidFill>
            </a:endParaRP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MLE for </a:t>
            </a:r>
            <a:r>
              <a:rPr lang="tr-TR" i="1" dirty="0">
                <a:solidFill>
                  <a:schemeClr val="tx2"/>
                </a:solidFill>
              </a:rPr>
              <a:t>μ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and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tr-TR" i="1" dirty="0">
                <a:solidFill>
                  <a:schemeClr val="tx2"/>
                </a:solidFill>
              </a:rPr>
              <a:t>σ</a:t>
            </a:r>
            <a:r>
              <a:rPr lang="tr-TR" baseline="30000" dirty="0">
                <a:solidFill>
                  <a:schemeClr val="tx2"/>
                </a:solidFill>
              </a:rPr>
              <a:t>2</a:t>
            </a:r>
            <a:r>
              <a:rPr lang="tr-TR" dirty="0">
                <a:solidFill>
                  <a:schemeClr val="tx2"/>
                </a:solidFill>
              </a:rPr>
              <a:t>:</a:t>
            </a:r>
            <a:endParaRPr lang="en-GB" i="1" dirty="0">
              <a:solidFill>
                <a:schemeClr val="tx2"/>
              </a:solidFill>
            </a:endParaRP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24D488-F7A5-446C-AFA1-DF2ECD17B2E9}" type="slidenum">
              <a:rPr lang="tr-TR"/>
              <a:pPr/>
              <a:t>10</a:t>
            </a:fld>
            <a:endParaRPr lang="tr-TR"/>
          </a:p>
        </p:txBody>
      </p:sp>
      <p:sp>
        <p:nvSpPr>
          <p:cNvPr id="167945" name="Text Box 9"/>
          <p:cNvSpPr txBox="1">
            <a:spLocks noChangeArrowheads="1"/>
          </p:cNvSpPr>
          <p:nvPr/>
        </p:nvSpPr>
        <p:spPr bwMode="auto">
          <a:xfrm>
            <a:off x="2339975" y="4365625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tr-TR" sz="2400" i="1">
                <a:latin typeface="Lucida Bright" pitchFamily="18" charset="0"/>
              </a:rPr>
              <a:t>μ</a:t>
            </a:r>
            <a:endParaRPr lang="en-GB" sz="2400" i="1">
              <a:latin typeface="Lucida Bright" pitchFamily="18" charset="0"/>
            </a:endParaRPr>
          </a:p>
        </p:txBody>
      </p:sp>
      <p:sp>
        <p:nvSpPr>
          <p:cNvPr id="167947" name="Line 11"/>
          <p:cNvSpPr>
            <a:spLocks noChangeShapeType="1"/>
          </p:cNvSpPr>
          <p:nvPr/>
        </p:nvSpPr>
        <p:spPr bwMode="auto">
          <a:xfrm flipH="1" flipV="1">
            <a:off x="2339975" y="4365625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67948" name="Line 12"/>
          <p:cNvSpPr>
            <a:spLocks noChangeShapeType="1"/>
          </p:cNvSpPr>
          <p:nvPr/>
        </p:nvSpPr>
        <p:spPr bwMode="auto">
          <a:xfrm>
            <a:off x="2339975" y="4868863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67949" name="Text Box 13"/>
          <p:cNvSpPr txBox="1">
            <a:spLocks noChangeArrowheads="1"/>
          </p:cNvSpPr>
          <p:nvPr/>
        </p:nvSpPr>
        <p:spPr bwMode="auto">
          <a:xfrm>
            <a:off x="3132138" y="4495800"/>
            <a:ext cx="334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>
                <a:latin typeface="Lucida Bright" pitchFamily="18" charset="0"/>
              </a:rPr>
              <a:t>σ</a:t>
            </a:r>
            <a:endParaRPr lang="en-GB" sz="2400" i="1">
              <a:latin typeface="Lucida Bright" pitchFamily="18" charset="0"/>
            </a:endParaRPr>
          </a:p>
        </p:txBody>
      </p:sp>
      <p:pic>
        <p:nvPicPr>
          <p:cNvPr id="167955" name="Picture 1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9750" y="1844675"/>
            <a:ext cx="3324225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67960" name="Object 24"/>
          <p:cNvGraphicFramePr>
            <a:graphicFrameLocks noChangeAspect="1"/>
          </p:cNvGraphicFramePr>
          <p:nvPr/>
        </p:nvGraphicFramePr>
        <p:xfrm>
          <a:off x="4664075" y="2590800"/>
          <a:ext cx="38465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28800" imgH="482400" progId="Equation.3">
                  <p:embed/>
                </p:oleObj>
              </mc:Choice>
              <mc:Fallback>
                <p:oleObj name="Equation" r:id="rId7" imgW="1828800" imgH="482400" progId="Equation.3">
                  <p:embed/>
                  <p:pic>
                    <p:nvPicPr>
                      <p:cNvPr id="16796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2590800"/>
                        <a:ext cx="3846513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7684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889760" y="274320"/>
            <a:ext cx="7498080" cy="1143000"/>
          </a:xfrm>
        </p:spPr>
        <p:txBody>
          <a:bodyPr/>
          <a:lstStyle/>
          <a:p>
            <a:r>
              <a:rPr lang="tr-TR" dirty="0"/>
              <a:t>Bias and Variance</a:t>
            </a:r>
            <a:endParaRPr lang="en-GB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067800" y="6305550"/>
            <a:ext cx="457200" cy="476250"/>
          </a:xfrm>
        </p:spPr>
        <p:txBody>
          <a:bodyPr>
            <a:normAutofit/>
          </a:bodyPr>
          <a:lstStyle/>
          <a:p>
            <a:fld id="{C4A05309-7D62-4CB4-AC5F-9F81C23AB40C}" type="slidenum">
              <a:rPr lang="tr-TR"/>
              <a:pPr/>
              <a:t>11</a:t>
            </a:fld>
            <a:endParaRPr lang="tr-TR"/>
          </a:p>
        </p:txBody>
      </p:sp>
      <p:pic>
        <p:nvPicPr>
          <p:cNvPr id="16999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54648" y="2428868"/>
            <a:ext cx="4505325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9991" name="Text Box 7"/>
          <p:cNvSpPr txBox="1">
            <a:spLocks noChangeArrowheads="1"/>
          </p:cNvSpPr>
          <p:nvPr/>
        </p:nvSpPr>
        <p:spPr bwMode="auto">
          <a:xfrm>
            <a:off x="993902" y="1844675"/>
            <a:ext cx="492154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Unknown parameter </a:t>
            </a:r>
            <a:r>
              <a:rPr lang="tr-TR" sz="2400" i="1" dirty="0">
                <a:solidFill>
                  <a:schemeClr val="tx2"/>
                </a:solidFill>
                <a:latin typeface="Symbol" pitchFamily="18" charset="2"/>
              </a:rPr>
              <a:t>q</a:t>
            </a: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Estimator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d</a:t>
            </a:r>
            <a:r>
              <a:rPr lang="tr-TR" sz="2400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 = d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(X</a:t>
            </a:r>
            <a:r>
              <a:rPr lang="tr-TR" sz="2400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) on </a:t>
            </a:r>
            <a:r>
              <a:rPr lang="tr-TR" sz="2400" dirty="0" err="1">
                <a:solidFill>
                  <a:schemeClr val="tx2"/>
                </a:solidFill>
                <a:latin typeface="+mj-lt"/>
              </a:rPr>
              <a:t>sample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set </a:t>
            </a:r>
            <a:r>
              <a:rPr lang="tr-TR" sz="2400" dirty="0" err="1">
                <a:solidFill>
                  <a:schemeClr val="tx2"/>
                </a:solidFill>
                <a:latin typeface="+mj-lt"/>
              </a:rPr>
              <a:t>X</a:t>
            </a:r>
            <a:r>
              <a:rPr lang="tr-TR" sz="2400" i="1" baseline="-25000" dirty="0" err="1">
                <a:solidFill>
                  <a:schemeClr val="tx2"/>
                </a:solidFill>
                <a:latin typeface="+mj-lt"/>
              </a:rPr>
              <a:t>i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</a:t>
            </a:r>
          </a:p>
          <a:p>
            <a:endParaRPr lang="tr-TR" sz="2400" dirty="0">
              <a:solidFill>
                <a:schemeClr val="tx2"/>
              </a:solidFill>
              <a:latin typeface="+mj-lt"/>
            </a:endParaRP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Bias: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b</a:t>
            </a:r>
            <a:r>
              <a:rPr lang="tr-TR" sz="2400" i="1" baseline="-25000" dirty="0">
                <a:solidFill>
                  <a:schemeClr val="tx2"/>
                </a:solidFill>
                <a:latin typeface="Symbol" pitchFamily="18" charset="2"/>
              </a:rPr>
              <a:t>q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d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) =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E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[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d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] – </a:t>
            </a:r>
            <a:r>
              <a:rPr lang="tr-TR" sz="2400" i="1" dirty="0">
                <a:solidFill>
                  <a:schemeClr val="tx2"/>
                </a:solidFill>
                <a:latin typeface="Symbol" pitchFamily="18" charset="2"/>
              </a:rPr>
              <a:t>q</a:t>
            </a:r>
            <a:endParaRPr lang="tr-TR" sz="2400" i="1" dirty="0">
              <a:solidFill>
                <a:schemeClr val="tx2"/>
              </a:solidFill>
              <a:latin typeface="+mj-lt"/>
            </a:endParaRP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Variance: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E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[(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d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–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E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[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d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])</a:t>
            </a:r>
            <a:r>
              <a:rPr lang="tr-TR" sz="2400" baseline="30000" dirty="0">
                <a:solidFill>
                  <a:schemeClr val="tx2"/>
                </a:solidFill>
                <a:latin typeface="+mj-lt"/>
              </a:rPr>
              <a:t>2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]</a:t>
            </a:r>
          </a:p>
          <a:p>
            <a:endParaRPr lang="tr-TR" sz="2400" dirty="0">
              <a:solidFill>
                <a:schemeClr val="tx2"/>
              </a:solidFill>
              <a:latin typeface="+mj-lt"/>
            </a:endParaRP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Mean square error: </a:t>
            </a:r>
          </a:p>
          <a:p>
            <a:r>
              <a:rPr lang="tr-TR" sz="2400" i="1" dirty="0">
                <a:solidFill>
                  <a:schemeClr val="tx2"/>
                </a:solidFill>
                <a:latin typeface="+mj-lt"/>
              </a:rPr>
              <a:t>r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d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,</a:t>
            </a:r>
            <a:r>
              <a:rPr lang="tr-TR" sz="2400" i="1" dirty="0">
                <a:solidFill>
                  <a:schemeClr val="tx2"/>
                </a:solidFill>
                <a:latin typeface="Symbol" pitchFamily="18" charset="2"/>
              </a:rPr>
              <a:t>q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) =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E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[(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d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–</a:t>
            </a:r>
            <a:r>
              <a:rPr lang="tr-TR" sz="2400" i="1" dirty="0">
                <a:solidFill>
                  <a:schemeClr val="tx2"/>
                </a:solidFill>
                <a:latin typeface="Symbol" pitchFamily="18" charset="2"/>
              </a:rPr>
              <a:t>q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)</a:t>
            </a:r>
            <a:r>
              <a:rPr lang="tr-TR" sz="2400" baseline="30000" dirty="0">
                <a:solidFill>
                  <a:schemeClr val="tx2"/>
                </a:solidFill>
                <a:latin typeface="+mj-lt"/>
              </a:rPr>
              <a:t>2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]</a:t>
            </a: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	= (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E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[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d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] – </a:t>
            </a:r>
            <a:r>
              <a:rPr lang="tr-TR" sz="2400" i="1" dirty="0">
                <a:solidFill>
                  <a:schemeClr val="tx2"/>
                </a:solidFill>
                <a:latin typeface="Symbol" pitchFamily="18" charset="2"/>
              </a:rPr>
              <a:t>q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)</a:t>
            </a:r>
            <a:r>
              <a:rPr lang="tr-TR" sz="2400" baseline="30000" dirty="0">
                <a:solidFill>
                  <a:schemeClr val="tx2"/>
                </a:solidFill>
                <a:latin typeface="+mj-lt"/>
              </a:rPr>
              <a:t>2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+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E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[(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d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–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E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[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d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])</a:t>
            </a:r>
            <a:r>
              <a:rPr lang="tr-TR" sz="2400" baseline="30000" dirty="0">
                <a:solidFill>
                  <a:schemeClr val="tx2"/>
                </a:solidFill>
                <a:latin typeface="+mj-lt"/>
              </a:rPr>
              <a:t>2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]</a:t>
            </a:r>
          </a:p>
          <a:p>
            <a:r>
              <a:rPr lang="tr-TR" sz="2400" dirty="0">
                <a:latin typeface="+mj-lt"/>
              </a:rPr>
              <a:t>	= </a:t>
            </a:r>
            <a:r>
              <a:rPr lang="tr-TR" sz="2400" dirty="0">
                <a:solidFill>
                  <a:srgbClr val="FF0000"/>
                </a:solidFill>
                <a:latin typeface="+mj-lt"/>
              </a:rPr>
              <a:t>Bias</a:t>
            </a:r>
            <a:r>
              <a:rPr lang="tr-TR" sz="2400" baseline="30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tr-TR" sz="2400" dirty="0">
                <a:latin typeface="+mj-lt"/>
              </a:rPr>
              <a:t> + </a:t>
            </a:r>
            <a:r>
              <a:rPr lang="tr-TR" sz="2400" dirty="0">
                <a:solidFill>
                  <a:srgbClr val="3333FF"/>
                </a:solidFill>
                <a:latin typeface="+mj-lt"/>
              </a:rPr>
              <a:t>Variance</a:t>
            </a:r>
            <a:r>
              <a:rPr lang="tr-TR" sz="2400" dirty="0">
                <a:latin typeface="+mj-lt"/>
              </a:rPr>
              <a:t> </a:t>
            </a:r>
            <a:endParaRPr lang="en-GB" sz="2400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 flipV="1">
            <a:off x="7312168" y="3714752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800" i="1" dirty="0">
                <a:latin typeface="Symbol" pitchFamily="18" charset="2"/>
              </a:rPr>
              <a:t>q</a:t>
            </a:r>
            <a:endParaRPr lang="tr-TR" sz="1800" dirty="0"/>
          </a:p>
        </p:txBody>
      </p:sp>
    </p:spTree>
    <p:extLst>
      <p:ext uri="{BB962C8B-B14F-4D97-AF65-F5344CB8AC3E}">
        <p14:creationId xmlns:p14="http://schemas.microsoft.com/office/powerpoint/2010/main" val="488167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Bayes’ Estimator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454A59C-DDAE-4347-9095-17E6B1F05CA2}" type="slidenum">
              <a:rPr lang="tr-TR"/>
              <a:pPr/>
              <a:t>12</a:t>
            </a:fld>
            <a:endParaRPr lang="tr-TR"/>
          </a:p>
        </p:txBody>
      </p:sp>
      <p:sp>
        <p:nvSpPr>
          <p:cNvPr id="1781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Treat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as a random var with prior </a:t>
            </a:r>
            <a:r>
              <a:rPr lang="tr-TR" i="1" dirty="0">
                <a:solidFill>
                  <a:schemeClr val="tx2"/>
                </a:solidFill>
              </a:rPr>
              <a:t>p 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)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Bayes’ rule</a:t>
            </a:r>
            <a:r>
              <a:rPr lang="tr-TR" dirty="0">
                <a:solidFill>
                  <a:schemeClr val="tx2"/>
                </a:solidFill>
              </a:rPr>
              <a:t>: </a:t>
            </a:r>
            <a:r>
              <a:rPr lang="tr-TR" i="1" dirty="0">
                <a:solidFill>
                  <a:schemeClr val="tx2"/>
                </a:solidFill>
              </a:rPr>
              <a:t>p 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) =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)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) /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) </a:t>
            </a:r>
          </a:p>
          <a:p>
            <a:r>
              <a:rPr lang="tr-TR" dirty="0">
                <a:solidFill>
                  <a:schemeClr val="accent1"/>
                </a:solidFill>
                <a:latin typeface="+mj-lt"/>
              </a:rPr>
              <a:t>Full:</a:t>
            </a:r>
            <a:r>
              <a:rPr lang="tr-TR" dirty="0">
                <a:solidFill>
                  <a:schemeClr val="accent1"/>
                </a:solidFill>
              </a:rPr>
              <a:t>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tr-TR" i="1" dirty="0">
                <a:solidFill>
                  <a:schemeClr val="tx2"/>
                </a:solidFill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) = </a:t>
            </a:r>
            <a:r>
              <a:rPr lang="tr-TR" sz="3200" dirty="0">
                <a:solidFill>
                  <a:schemeClr val="tx2"/>
                </a:solidFill>
              </a:rPr>
              <a:t>∫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tr-TR" i="1" dirty="0">
                <a:solidFill>
                  <a:schemeClr val="tx2"/>
                </a:solidFill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)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) </a:t>
            </a:r>
            <a:r>
              <a:rPr lang="tr-TR" i="1" dirty="0">
                <a:solidFill>
                  <a:schemeClr val="tx2"/>
                </a:solidFill>
              </a:rPr>
              <a:t>d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endParaRPr lang="tr-TR" i="1" dirty="0">
              <a:solidFill>
                <a:schemeClr val="tx2"/>
              </a:solidFill>
            </a:endParaRPr>
          </a:p>
          <a:p>
            <a:r>
              <a:rPr lang="tr-TR" dirty="0">
                <a:solidFill>
                  <a:schemeClr val="accent1"/>
                </a:solidFill>
                <a:latin typeface="+mj-lt"/>
              </a:rPr>
              <a:t>Maximum a Posteriori (MAP):</a:t>
            </a:r>
          </a:p>
          <a:p>
            <a:pPr>
              <a:buNone/>
            </a:pPr>
            <a:r>
              <a:rPr lang="tr-TR" i="1" dirty="0">
                <a:solidFill>
                  <a:schemeClr val="accent1"/>
                </a:solidFill>
                <a:latin typeface="+mj-lt"/>
              </a:rPr>
              <a:t>		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baseline="-25000" dirty="0">
                <a:solidFill>
                  <a:schemeClr val="tx2"/>
                </a:solidFill>
              </a:rPr>
              <a:t>MAP</a:t>
            </a:r>
            <a:r>
              <a:rPr lang="tr-TR" dirty="0">
                <a:solidFill>
                  <a:schemeClr val="tx2"/>
                </a:solidFill>
              </a:rPr>
              <a:t> =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argmax</a:t>
            </a:r>
            <a:r>
              <a:rPr lang="en-GB" i="1" baseline="-25000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)</a:t>
            </a:r>
          </a:p>
          <a:p>
            <a:r>
              <a:rPr lang="tr-TR" dirty="0">
                <a:solidFill>
                  <a:schemeClr val="accent1"/>
                </a:solidFill>
                <a:latin typeface="+mj-lt"/>
              </a:rPr>
              <a:t>Maximum Likelihood (ML): 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baseline="-25000" dirty="0">
                <a:solidFill>
                  <a:schemeClr val="tx2"/>
                </a:solidFill>
              </a:rPr>
              <a:t>ML</a:t>
            </a:r>
            <a:r>
              <a:rPr lang="tr-TR" dirty="0">
                <a:solidFill>
                  <a:schemeClr val="tx2"/>
                </a:solidFill>
              </a:rPr>
              <a:t> =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argmax</a:t>
            </a:r>
            <a:r>
              <a:rPr lang="en-GB" i="1" baseline="-25000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)</a:t>
            </a:r>
          </a:p>
          <a:p>
            <a:r>
              <a:rPr lang="tr-TR" dirty="0">
                <a:solidFill>
                  <a:schemeClr val="accent1"/>
                </a:solidFill>
                <a:latin typeface="+mj-lt"/>
              </a:rPr>
              <a:t>Bayes’: 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baseline="-25000" dirty="0">
                <a:solidFill>
                  <a:schemeClr val="tx2"/>
                </a:solidFill>
              </a:rPr>
              <a:t>Bayes’</a:t>
            </a:r>
            <a:r>
              <a:rPr lang="tr-TR" dirty="0">
                <a:solidFill>
                  <a:schemeClr val="tx2"/>
                </a:solidFill>
              </a:rPr>
              <a:t> = E[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] = </a:t>
            </a:r>
            <a:r>
              <a:rPr lang="tr-TR" sz="3200" dirty="0">
                <a:solidFill>
                  <a:schemeClr val="tx2"/>
                </a:solidFill>
              </a:rPr>
              <a:t>∫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|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) </a:t>
            </a:r>
            <a:r>
              <a:rPr lang="tr-TR" i="1" dirty="0">
                <a:solidFill>
                  <a:schemeClr val="tx2"/>
                </a:solidFill>
              </a:rPr>
              <a:t>d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 </a:t>
            </a:r>
            <a:endParaRPr lang="en-GB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891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38027" y="260648"/>
            <a:ext cx="8147248" cy="864096"/>
          </a:xfrm>
        </p:spPr>
        <p:txBody>
          <a:bodyPr>
            <a:normAutofit/>
          </a:bodyPr>
          <a:lstStyle/>
          <a:p>
            <a:r>
              <a:rPr lang="tr-TR" dirty="0"/>
              <a:t>Bayes’ Estimator: Example</a:t>
            </a:r>
            <a:endParaRPr lang="en-GB" dirty="0"/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55675" y="1981200"/>
            <a:ext cx="8075613" cy="4040188"/>
          </a:xfrm>
        </p:spPr>
        <p:txBody>
          <a:bodyPr/>
          <a:lstStyle/>
          <a:p>
            <a:r>
              <a:rPr lang="tr-TR" i="1" dirty="0">
                <a:solidFill>
                  <a:schemeClr val="tx2"/>
                </a:solidFill>
              </a:rPr>
              <a:t>x</a:t>
            </a:r>
            <a:r>
              <a:rPr lang="tr-TR" i="1" baseline="30000" dirty="0">
                <a:solidFill>
                  <a:schemeClr val="tx2"/>
                </a:solidFill>
              </a:rPr>
              <a:t>t </a:t>
            </a:r>
            <a:r>
              <a:rPr lang="tr-TR" dirty="0">
                <a:solidFill>
                  <a:schemeClr val="tx2"/>
                </a:solidFill>
              </a:rPr>
              <a:t>~ 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N </a:t>
            </a:r>
            <a:r>
              <a:rPr lang="tr-TR" dirty="0">
                <a:solidFill>
                  <a:schemeClr val="tx2"/>
                </a:solidFill>
              </a:rPr>
              <a:t>(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, σ</a:t>
            </a:r>
            <a:r>
              <a:rPr lang="tr-TR" baseline="-25000" dirty="0">
                <a:solidFill>
                  <a:schemeClr val="tx2"/>
                </a:solidFill>
              </a:rPr>
              <a:t>o</a:t>
            </a:r>
            <a:r>
              <a:rPr lang="tr-TR" baseline="30000" dirty="0">
                <a:solidFill>
                  <a:schemeClr val="tx2"/>
                </a:solidFill>
              </a:rPr>
              <a:t>2</a:t>
            </a:r>
            <a:r>
              <a:rPr lang="tr-TR" dirty="0">
                <a:solidFill>
                  <a:schemeClr val="tx2"/>
                </a:solidFill>
              </a:rPr>
              <a:t>)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and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dirty="0">
                <a:solidFill>
                  <a:schemeClr val="tx2"/>
                </a:solidFill>
              </a:rPr>
              <a:t> ~ </a:t>
            </a:r>
            <a:r>
              <a:rPr lang="tr-TR" dirty="0">
                <a:solidFill>
                  <a:schemeClr val="tx2"/>
                </a:solidFill>
                <a:latin typeface="Lucida Calligraphy" pitchFamily="66" charset="0"/>
              </a:rPr>
              <a:t>N </a:t>
            </a:r>
            <a:r>
              <a:rPr lang="tr-TR" dirty="0">
                <a:solidFill>
                  <a:schemeClr val="tx2"/>
                </a:solidFill>
              </a:rPr>
              <a:t>( </a:t>
            </a:r>
            <a:r>
              <a:rPr lang="tr-TR" i="1" dirty="0">
                <a:solidFill>
                  <a:schemeClr val="tx2"/>
                </a:solidFill>
              </a:rPr>
              <a:t>μ</a:t>
            </a:r>
            <a:r>
              <a:rPr lang="tr-TR" dirty="0">
                <a:solidFill>
                  <a:schemeClr val="tx2"/>
                </a:solidFill>
              </a:rPr>
              <a:t>, </a:t>
            </a:r>
            <a:r>
              <a:rPr lang="tr-TR" i="1" dirty="0">
                <a:solidFill>
                  <a:schemeClr val="tx2"/>
                </a:solidFill>
              </a:rPr>
              <a:t>σ</a:t>
            </a:r>
            <a:r>
              <a:rPr lang="tr-TR" baseline="30000" dirty="0">
                <a:solidFill>
                  <a:schemeClr val="tx2"/>
                </a:solidFill>
              </a:rPr>
              <a:t>2</a:t>
            </a:r>
            <a:r>
              <a:rPr lang="tr-TR" dirty="0">
                <a:solidFill>
                  <a:schemeClr val="tx2"/>
                </a:solidFill>
              </a:rPr>
              <a:t>)</a:t>
            </a:r>
          </a:p>
          <a:p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baseline="-25000" dirty="0">
                <a:solidFill>
                  <a:schemeClr val="tx2"/>
                </a:solidFill>
              </a:rPr>
              <a:t>ML</a:t>
            </a:r>
            <a:r>
              <a:rPr lang="tr-TR" dirty="0">
                <a:solidFill>
                  <a:schemeClr val="tx2"/>
                </a:solidFill>
              </a:rPr>
              <a:t> =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m</a:t>
            </a:r>
            <a:endParaRPr lang="tr-TR" dirty="0">
              <a:solidFill>
                <a:schemeClr val="tx2"/>
              </a:solidFill>
              <a:latin typeface="+mj-lt"/>
            </a:endParaRPr>
          </a:p>
          <a:p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baseline="-25000" dirty="0">
                <a:solidFill>
                  <a:schemeClr val="tx2"/>
                </a:solidFill>
              </a:rPr>
              <a:t>MAP</a:t>
            </a:r>
            <a:r>
              <a:rPr lang="tr-TR" dirty="0">
                <a:solidFill>
                  <a:schemeClr val="tx2"/>
                </a:solidFill>
              </a:rPr>
              <a:t> = </a:t>
            </a:r>
            <a:r>
              <a:rPr lang="en-GB" i="1" dirty="0">
                <a:solidFill>
                  <a:schemeClr val="tx2"/>
                </a:solidFill>
              </a:rPr>
              <a:t>θ</a:t>
            </a:r>
            <a:r>
              <a:rPr lang="tr-TR" baseline="-25000" dirty="0">
                <a:solidFill>
                  <a:schemeClr val="tx2"/>
                </a:solidFill>
              </a:rPr>
              <a:t>Bayes’</a:t>
            </a:r>
            <a:r>
              <a:rPr lang="tr-TR" dirty="0">
                <a:solidFill>
                  <a:schemeClr val="tx2"/>
                </a:solidFill>
              </a:rPr>
              <a:t> =</a:t>
            </a:r>
            <a:endParaRPr lang="en-GB" dirty="0">
              <a:solidFill>
                <a:schemeClr val="tx2"/>
              </a:solidFill>
            </a:endParaRPr>
          </a:p>
        </p:txBody>
      </p:sp>
      <p:graphicFrame>
        <p:nvGraphicFramePr>
          <p:cNvPr id="179207" name="Object 7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61386233"/>
              </p:ext>
            </p:extLst>
          </p:nvPr>
        </p:nvGraphicFramePr>
        <p:xfrm>
          <a:off x="1752600" y="3810000"/>
          <a:ext cx="6196013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30240" imgH="495000" progId="Equation.3">
                  <p:embed/>
                </p:oleObj>
              </mc:Choice>
              <mc:Fallback>
                <p:oleObj name="Equation" r:id="rId2" imgW="2730240" imgH="495000" progId="Equation.3">
                  <p:embed/>
                  <p:pic>
                    <p:nvPicPr>
                      <p:cNvPr id="1792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810000"/>
                        <a:ext cx="6196013" cy="1123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86600" y="6237288"/>
            <a:ext cx="2133600" cy="457200"/>
          </a:xfrm>
        </p:spPr>
        <p:txBody>
          <a:bodyPr/>
          <a:lstStyle/>
          <a:p>
            <a:fld id="{B2DEF91E-EBD6-4DBB-8B45-AC5FF2FF4F04}" type="slidenum">
              <a:rPr lang="tr-TR"/>
              <a:pPr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9897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Parametric Classification</a:t>
            </a:r>
            <a:endParaRPr lang="en-GB"/>
          </a:p>
        </p:txBody>
      </p:sp>
      <p:graphicFrame>
        <p:nvGraphicFramePr>
          <p:cNvPr id="180233" name="Object 9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39825" y="1844675"/>
          <a:ext cx="3983038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680" imgH="660240" progId="Equation.3">
                  <p:embed/>
                </p:oleObj>
              </mc:Choice>
              <mc:Fallback>
                <p:oleObj name="Equation" r:id="rId2" imgW="1777680" imgH="660240" progId="Equation.3">
                  <p:embed/>
                  <p:pic>
                    <p:nvPicPr>
                      <p:cNvPr id="1802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825" y="1844675"/>
                        <a:ext cx="3983038" cy="1479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5" name="Object 1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66825" y="3644900"/>
          <a:ext cx="6538913" cy="219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69920" imgH="965160" progId="Equation.3">
                  <p:embed/>
                </p:oleObj>
              </mc:Choice>
              <mc:Fallback>
                <p:oleObj name="Equation" r:id="rId4" imgW="2869920" imgH="965160" progId="Equation.3">
                  <p:embed/>
                  <p:pic>
                    <p:nvPicPr>
                      <p:cNvPr id="18023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3644900"/>
                        <a:ext cx="6538913" cy="2198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25000" lnSpcReduction="20000"/>
          </a:bodyPr>
          <a:lstStyle/>
          <a:p>
            <a:fld id="{C56CD1C6-154B-48BD-875B-DBDEBBA082BC}" type="slidenum">
              <a:rPr lang="tr-TR"/>
              <a:pPr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004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375648" y="6305550"/>
            <a:ext cx="457200" cy="476250"/>
          </a:xfrm>
        </p:spPr>
        <p:txBody>
          <a:bodyPr/>
          <a:lstStyle/>
          <a:p>
            <a:fld id="{D5A5170B-1878-49C5-BC6B-5A6114880779}" type="slidenum">
              <a:rPr lang="tr-TR" smtClean="0"/>
              <a:pPr/>
              <a:t>15</a:t>
            </a:fld>
            <a:endParaRPr lang="tr-TR" dirty="0"/>
          </a:p>
        </p:txBody>
      </p:sp>
      <p:sp>
        <p:nvSpPr>
          <p:cNvPr id="192522" name="Rectangle 10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62000" y="549275"/>
            <a:ext cx="8207375" cy="5832475"/>
          </a:xfrm>
        </p:spPr>
        <p:txBody>
          <a:bodyPr/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Given the sample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ML estimates are</a:t>
            </a:r>
          </a:p>
          <a:p>
            <a:endParaRPr lang="tr-TR" dirty="0"/>
          </a:p>
          <a:p>
            <a:endParaRPr lang="tr-TR" dirty="0"/>
          </a:p>
          <a:p>
            <a:pPr marL="82296" indent="0">
              <a:buNone/>
            </a:pPr>
            <a:endParaRPr lang="tr-TR" dirty="0"/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Discriminant</a:t>
            </a:r>
          </a:p>
        </p:txBody>
      </p:sp>
      <p:graphicFrame>
        <p:nvGraphicFramePr>
          <p:cNvPr id="192528" name="Object 1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455666732"/>
              </p:ext>
            </p:extLst>
          </p:nvPr>
        </p:nvGraphicFramePr>
        <p:xfrm>
          <a:off x="4037856" y="548680"/>
          <a:ext cx="2073275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241200" progId="Equation.3">
                  <p:embed/>
                </p:oleObj>
              </mc:Choice>
              <mc:Fallback>
                <p:oleObj name="Equation" r:id="rId2" imgW="863280" imgH="241200" progId="Equation.3">
                  <p:embed/>
                  <p:pic>
                    <p:nvPicPr>
                      <p:cNvPr id="19252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7856" y="548680"/>
                        <a:ext cx="2073275" cy="579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3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883224"/>
              </p:ext>
            </p:extLst>
          </p:nvPr>
        </p:nvGraphicFramePr>
        <p:xfrm>
          <a:off x="2381250" y="1412875"/>
          <a:ext cx="1008063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177480" progId="Equation.3">
                  <p:embed/>
                </p:oleObj>
              </mc:Choice>
              <mc:Fallback>
                <p:oleObj name="Equation" r:id="rId4" imgW="419040" imgH="177480" progId="Equation.3">
                  <p:embed/>
                  <p:pic>
                    <p:nvPicPr>
                      <p:cNvPr id="19253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1412875"/>
                        <a:ext cx="1008063" cy="427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3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589575"/>
              </p:ext>
            </p:extLst>
          </p:nvPr>
        </p:nvGraphicFramePr>
        <p:xfrm>
          <a:off x="4502150" y="1196975"/>
          <a:ext cx="273208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440" imgH="507960" progId="Equation.3">
                  <p:embed/>
                </p:oleObj>
              </mc:Choice>
              <mc:Fallback>
                <p:oleObj name="Equation" r:id="rId6" imgW="1333440" imgH="507960" progId="Equation.3">
                  <p:embed/>
                  <p:pic>
                    <p:nvPicPr>
                      <p:cNvPr id="19253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1196975"/>
                        <a:ext cx="2732088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3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019332"/>
              </p:ext>
            </p:extLst>
          </p:nvPr>
        </p:nvGraphicFramePr>
        <p:xfrm>
          <a:off x="1976486" y="3509492"/>
          <a:ext cx="6196013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95480" imgH="685800" progId="Equation.3">
                  <p:embed/>
                </p:oleObj>
              </mc:Choice>
              <mc:Fallback>
                <p:oleObj name="Equation" r:id="rId8" imgW="2895480" imgH="685800" progId="Equation.3">
                  <p:embed/>
                  <p:pic>
                    <p:nvPicPr>
                      <p:cNvPr id="19253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86" y="3509492"/>
                        <a:ext cx="6196013" cy="1465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3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929240"/>
              </p:ext>
            </p:extLst>
          </p:nvPr>
        </p:nvGraphicFramePr>
        <p:xfrm>
          <a:off x="2133600" y="5667135"/>
          <a:ext cx="6454775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08080" imgH="457200" progId="Equation.3">
                  <p:embed/>
                </p:oleObj>
              </mc:Choice>
              <mc:Fallback>
                <p:oleObj name="Equation" r:id="rId10" imgW="2908080" imgH="457200" progId="Equation.3">
                  <p:embed/>
                  <p:pic>
                    <p:nvPicPr>
                      <p:cNvPr id="19253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667135"/>
                        <a:ext cx="6454775" cy="1014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5033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F2156-022F-4C6F-B06E-94B98A0B3906}" type="slidenum">
              <a:rPr lang="tr-TR"/>
              <a:pPr/>
              <a:t>16</a:t>
            </a:fld>
            <a:endParaRPr lang="tr-TR"/>
          </a:p>
        </p:txBody>
      </p:sp>
      <p:pic>
        <p:nvPicPr>
          <p:cNvPr id="181268" name="Picture 2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333375"/>
            <a:ext cx="7791450" cy="629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1259" name="Text Box 11"/>
          <p:cNvSpPr txBox="1">
            <a:spLocks noChangeArrowheads="1"/>
          </p:cNvSpPr>
          <p:nvPr/>
        </p:nvSpPr>
        <p:spPr bwMode="auto">
          <a:xfrm>
            <a:off x="6156325" y="1557338"/>
            <a:ext cx="1639360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800" i="1" dirty="0">
                <a:solidFill>
                  <a:schemeClr val="tx2"/>
                </a:solidFill>
                <a:latin typeface="+mj-lt"/>
              </a:rPr>
              <a:t>Equal variances</a:t>
            </a:r>
          </a:p>
        </p:txBody>
      </p:sp>
      <p:sp>
        <p:nvSpPr>
          <p:cNvPr id="181261" name="Text Box 13"/>
          <p:cNvSpPr txBox="1">
            <a:spLocks noChangeArrowheads="1"/>
          </p:cNvSpPr>
          <p:nvPr/>
        </p:nvSpPr>
        <p:spPr bwMode="auto">
          <a:xfrm>
            <a:off x="5076825" y="4797425"/>
            <a:ext cx="2825750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tr-TR" sz="1800" i="1" dirty="0">
                <a:solidFill>
                  <a:schemeClr val="tx2"/>
                </a:solidFill>
                <a:latin typeface="+mj-lt"/>
              </a:rPr>
              <a:t>Single boundary at</a:t>
            </a:r>
          </a:p>
          <a:p>
            <a:r>
              <a:rPr lang="tr-TR" sz="1800" i="1" dirty="0">
                <a:solidFill>
                  <a:schemeClr val="tx2"/>
                </a:solidFill>
                <a:latin typeface="+mj-lt"/>
              </a:rPr>
              <a:t>halfway between means</a:t>
            </a:r>
          </a:p>
        </p:txBody>
      </p:sp>
    </p:spTree>
    <p:extLst>
      <p:ext uri="{BB962C8B-B14F-4D97-AF65-F5344CB8AC3E}">
        <p14:creationId xmlns:p14="http://schemas.microsoft.com/office/powerpoint/2010/main" val="1212348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4F2737-9DC8-4D3C-B4C3-09D12B27940B}" type="slidenum">
              <a:rPr lang="tr-TR"/>
              <a:pPr/>
              <a:t>17</a:t>
            </a:fld>
            <a:endParaRPr lang="tr-TR"/>
          </a:p>
        </p:txBody>
      </p:sp>
      <p:pic>
        <p:nvPicPr>
          <p:cNvPr id="186384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32656"/>
            <a:ext cx="7791450" cy="625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6377" name="Text Box 9"/>
          <p:cNvSpPr txBox="1">
            <a:spLocks noChangeArrowheads="1"/>
          </p:cNvSpPr>
          <p:nvPr/>
        </p:nvSpPr>
        <p:spPr bwMode="auto">
          <a:xfrm>
            <a:off x="4787900" y="1268413"/>
            <a:ext cx="2303451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800" i="1" dirty="0">
                <a:solidFill>
                  <a:schemeClr val="tx2"/>
                </a:solidFill>
                <a:latin typeface="+mj-lt"/>
              </a:rPr>
              <a:t>Variances are different</a:t>
            </a:r>
          </a:p>
        </p:txBody>
      </p:sp>
      <p:sp>
        <p:nvSpPr>
          <p:cNvPr id="186380" name="Text Box 12"/>
          <p:cNvSpPr txBox="1">
            <a:spLocks noChangeArrowheads="1"/>
          </p:cNvSpPr>
          <p:nvPr/>
        </p:nvSpPr>
        <p:spPr bwMode="auto">
          <a:xfrm>
            <a:off x="5219700" y="4797425"/>
            <a:ext cx="1666803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800" i="1" dirty="0">
                <a:solidFill>
                  <a:schemeClr val="tx2"/>
                </a:solidFill>
                <a:latin typeface="+mj-lt"/>
              </a:rPr>
              <a:t>Two boundaries</a:t>
            </a:r>
          </a:p>
        </p:txBody>
      </p:sp>
    </p:spTree>
    <p:extLst>
      <p:ext uri="{BB962C8B-B14F-4D97-AF65-F5344CB8AC3E}">
        <p14:creationId xmlns:p14="http://schemas.microsoft.com/office/powerpoint/2010/main" val="1562029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21F6-6338-4D91-B064-393C7C6EBF5E}" type="slidenum">
              <a:rPr lang="tr-TR" smtClean="0"/>
              <a:pPr/>
              <a:t>18</a:t>
            </a:fld>
            <a:endParaRPr lang="tr-TR"/>
          </a:p>
        </p:txBody>
      </p:sp>
      <p:pic>
        <p:nvPicPr>
          <p:cNvPr id="430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0588" y="42863"/>
            <a:ext cx="7362825" cy="677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36236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8320" y="274320"/>
            <a:ext cx="7498080" cy="1143000"/>
          </a:xfrm>
        </p:spPr>
        <p:txBody>
          <a:bodyPr/>
          <a:lstStyle/>
          <a:p>
            <a:r>
              <a:rPr lang="tr-TR"/>
              <a:t>Regression</a:t>
            </a:r>
            <a:endParaRPr lang="en-GB"/>
          </a:p>
        </p:txBody>
      </p:sp>
      <p:graphicFrame>
        <p:nvGraphicFramePr>
          <p:cNvPr id="193550" name="Object 1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93135092"/>
              </p:ext>
            </p:extLst>
          </p:nvPr>
        </p:nvGraphicFramePr>
        <p:xfrm>
          <a:off x="1023112" y="1862138"/>
          <a:ext cx="3500438" cy="219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8320" imgH="939600" progId="Equation.3">
                  <p:embed/>
                </p:oleObj>
              </mc:Choice>
              <mc:Fallback>
                <p:oleObj name="Equation" r:id="rId2" imgW="1498320" imgH="939600" progId="Equation.3">
                  <p:embed/>
                  <p:pic>
                    <p:nvPicPr>
                      <p:cNvPr id="19355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112" y="1862138"/>
                        <a:ext cx="3500438" cy="2195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52" name="Object 1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408302873"/>
              </p:ext>
            </p:extLst>
          </p:nvPr>
        </p:nvGraphicFramePr>
        <p:xfrm>
          <a:off x="974272" y="4293096"/>
          <a:ext cx="5681663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280" imgH="888840" progId="Equation.3">
                  <p:embed/>
                </p:oleObj>
              </mc:Choice>
              <mc:Fallback>
                <p:oleObj name="Equation" r:id="rId4" imgW="2438280" imgH="888840" progId="Equation.3">
                  <p:embed/>
                  <p:pic>
                    <p:nvPicPr>
                      <p:cNvPr id="19355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272" y="4293096"/>
                        <a:ext cx="5681663" cy="2071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362712" y="0"/>
            <a:ext cx="0" cy="0"/>
          </a:xfrm>
        </p:spPr>
        <p:txBody>
          <a:bodyPr>
            <a:normAutofit fontScale="25000" lnSpcReduction="20000"/>
          </a:bodyPr>
          <a:lstStyle/>
          <a:p>
            <a:fld id="{CF168A93-B8FE-4D39-817C-B50CD7D8D528}" type="slidenum">
              <a:rPr lang="tr-TR"/>
              <a:pPr/>
              <a:t>19</a:t>
            </a:fld>
            <a:endParaRPr lang="tr-TR"/>
          </a:p>
        </p:txBody>
      </p:sp>
      <p:pic>
        <p:nvPicPr>
          <p:cNvPr id="193544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502664" y="692696"/>
            <a:ext cx="4777680" cy="318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53498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737360" y="274638"/>
            <a:ext cx="7498080" cy="1143000"/>
          </a:xfrm>
        </p:spPr>
        <p:txBody>
          <a:bodyPr/>
          <a:lstStyle/>
          <a:p>
            <a:r>
              <a:rPr lang="tr-TR"/>
              <a:t>Regression: From LogL to Error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15400" y="6305550"/>
            <a:ext cx="457200" cy="476250"/>
          </a:xfrm>
        </p:spPr>
        <p:txBody>
          <a:bodyPr>
            <a:normAutofit/>
          </a:bodyPr>
          <a:lstStyle/>
          <a:p>
            <a:fld id="{86187D6B-A9B7-45E1-8CE2-160916E46020}" type="slidenum">
              <a:rPr lang="tr-TR"/>
              <a:pPr/>
              <a:t>20</a:t>
            </a:fld>
            <a:endParaRPr lang="tr-TR"/>
          </a:p>
        </p:txBody>
      </p:sp>
      <p:graphicFrame>
        <p:nvGraphicFramePr>
          <p:cNvPr id="196614" name="Object 6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724322752"/>
              </p:ext>
            </p:extLst>
          </p:nvPr>
        </p:nvGraphicFramePr>
        <p:xfrm>
          <a:off x="1087565" y="2286000"/>
          <a:ext cx="7135812" cy="355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33640" imgH="1460160" progId="Equation.3">
                  <p:embed/>
                </p:oleObj>
              </mc:Choice>
              <mc:Fallback>
                <p:oleObj name="Equation" r:id="rId2" imgW="2933640" imgH="1460160" progId="Equation.3">
                  <p:embed/>
                  <p:pic>
                    <p:nvPicPr>
                      <p:cNvPr id="1966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565" y="2286000"/>
                        <a:ext cx="7135812" cy="355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054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066800" y="332656"/>
            <a:ext cx="8229600" cy="828660"/>
          </a:xfrm>
        </p:spPr>
        <p:txBody>
          <a:bodyPr/>
          <a:lstStyle/>
          <a:p>
            <a:r>
              <a:rPr lang="tr-TR" dirty="0"/>
              <a:t>Linear Regression</a:t>
            </a:r>
          </a:p>
        </p:txBody>
      </p:sp>
      <p:graphicFrame>
        <p:nvGraphicFramePr>
          <p:cNvPr id="197640" name="Object 8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190076797"/>
              </p:ext>
            </p:extLst>
          </p:nvPr>
        </p:nvGraphicFramePr>
        <p:xfrm>
          <a:off x="1397198" y="1614488"/>
          <a:ext cx="3224213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8320" imgH="241200" progId="Equation.3">
                  <p:embed/>
                </p:oleObj>
              </mc:Choice>
              <mc:Fallback>
                <p:oleObj name="Equation" r:id="rId2" imgW="1498320" imgH="241200" progId="Equation.3">
                  <p:embed/>
                  <p:pic>
                    <p:nvPicPr>
                      <p:cNvPr id="1976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198" y="1614488"/>
                        <a:ext cx="3224213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2" name="Object 10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541177989"/>
              </p:ext>
            </p:extLst>
          </p:nvPr>
        </p:nvGraphicFramePr>
        <p:xfrm>
          <a:off x="3135511" y="2276475"/>
          <a:ext cx="4429125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41400" imgH="736560" progId="Equation.3">
                  <p:embed/>
                </p:oleObj>
              </mc:Choice>
              <mc:Fallback>
                <p:oleObj name="Equation" r:id="rId4" imgW="1841400" imgH="736560" progId="Equation.3">
                  <p:embed/>
                  <p:pic>
                    <p:nvPicPr>
                      <p:cNvPr id="1976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511" y="2276475"/>
                        <a:ext cx="4429125" cy="177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4" name="Object 12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288912207"/>
              </p:ext>
            </p:extLst>
          </p:nvPr>
        </p:nvGraphicFramePr>
        <p:xfrm>
          <a:off x="1636911" y="4149725"/>
          <a:ext cx="6176962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06560" imgH="711000" progId="Equation.3">
                  <p:embed/>
                </p:oleObj>
              </mc:Choice>
              <mc:Fallback>
                <p:oleObj name="Equation" r:id="rId6" imgW="2806560" imgH="711000" progId="Equation.3">
                  <p:embed/>
                  <p:pic>
                    <p:nvPicPr>
                      <p:cNvPr id="1976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911" y="4149725"/>
                        <a:ext cx="6176962" cy="156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6" name="Object 14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378469079"/>
              </p:ext>
            </p:extLst>
          </p:nvPr>
        </p:nvGraphicFramePr>
        <p:xfrm>
          <a:off x="4249936" y="5734050"/>
          <a:ext cx="14081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228600" progId="Equation.3">
                  <p:embed/>
                </p:oleObj>
              </mc:Choice>
              <mc:Fallback>
                <p:oleObj name="Equation" r:id="rId8" imgW="622080" imgH="228600" progId="Equation.3">
                  <p:embed/>
                  <p:pic>
                    <p:nvPicPr>
                      <p:cNvPr id="19764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936" y="5734050"/>
                        <a:ext cx="1408112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7115373" y="6237288"/>
            <a:ext cx="2133600" cy="457200"/>
          </a:xfrm>
        </p:spPr>
        <p:txBody>
          <a:bodyPr/>
          <a:lstStyle/>
          <a:p>
            <a:fld id="{D2DDF478-3E2D-40C3-95EC-6C47C3DEE589}" type="slidenum">
              <a:rPr lang="tr-TR"/>
              <a:pPr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3630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60648"/>
            <a:ext cx="8229600" cy="900098"/>
          </a:xfrm>
        </p:spPr>
        <p:txBody>
          <a:bodyPr/>
          <a:lstStyle/>
          <a:p>
            <a:r>
              <a:rPr lang="tr-TR" dirty="0"/>
              <a:t>Polynomial Regression</a:t>
            </a:r>
          </a:p>
        </p:txBody>
      </p:sp>
      <p:graphicFrame>
        <p:nvGraphicFramePr>
          <p:cNvPr id="198666" name="Object 10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72951967"/>
              </p:ext>
            </p:extLst>
          </p:nvPr>
        </p:nvGraphicFramePr>
        <p:xfrm>
          <a:off x="1058490" y="1703388"/>
          <a:ext cx="8050213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68680" imgH="266400" progId="Equation.3">
                  <p:embed/>
                </p:oleObj>
              </mc:Choice>
              <mc:Fallback>
                <p:oleObj name="Equation" r:id="rId2" imgW="3568680" imgH="266400" progId="Equation.3">
                  <p:embed/>
                  <p:pic>
                    <p:nvPicPr>
                      <p:cNvPr id="1986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490" y="1703388"/>
                        <a:ext cx="8050213" cy="60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8" name="Object 12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588916930"/>
              </p:ext>
            </p:extLst>
          </p:nvPr>
        </p:nvGraphicFramePr>
        <p:xfrm>
          <a:off x="1960190" y="2565400"/>
          <a:ext cx="5707063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9800" imgH="965160" progId="Equation.3">
                  <p:embed/>
                </p:oleObj>
              </mc:Choice>
              <mc:Fallback>
                <p:oleObj name="Equation" r:id="rId4" imgW="2539800" imgH="965160" progId="Equation.3">
                  <p:embed/>
                  <p:pic>
                    <p:nvPicPr>
                      <p:cNvPr id="1986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190" y="2565400"/>
                        <a:ext cx="5707063" cy="216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70" name="Object 1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781636558"/>
              </p:ext>
            </p:extLst>
          </p:nvPr>
        </p:nvGraphicFramePr>
        <p:xfrm>
          <a:off x="3069853" y="5300663"/>
          <a:ext cx="2484437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54080" imgH="253800" progId="Equation.3">
                  <p:embed/>
                </p:oleObj>
              </mc:Choice>
              <mc:Fallback>
                <p:oleObj name="Equation" r:id="rId6" imgW="1054080" imgH="253800" progId="Equation.3">
                  <p:embed/>
                  <p:pic>
                    <p:nvPicPr>
                      <p:cNvPr id="19867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9853" y="5300663"/>
                        <a:ext cx="2484437" cy="598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119565" y="6237288"/>
            <a:ext cx="2133600" cy="457200"/>
          </a:xfrm>
        </p:spPr>
        <p:txBody>
          <a:bodyPr/>
          <a:lstStyle/>
          <a:p>
            <a:fld id="{C4E9A438-3A2C-46C3-A06F-44762B50EB47}" type="slidenum">
              <a:rPr lang="tr-TR"/>
              <a:pPr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6753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60648"/>
            <a:ext cx="7469560" cy="864096"/>
          </a:xfrm>
        </p:spPr>
        <p:txBody>
          <a:bodyPr>
            <a:normAutofit/>
          </a:bodyPr>
          <a:lstStyle/>
          <a:p>
            <a:r>
              <a:rPr lang="tr-TR" dirty="0"/>
              <a:t>Other Error Measures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AEFFA283-1E54-4BCA-8BA3-566622128B8E}" type="slidenum">
              <a:rPr lang="tr-TR"/>
              <a:pPr/>
              <a:t>23</a:t>
            </a:fld>
            <a:endParaRPr lang="tr-TR"/>
          </a:p>
        </p:txBody>
      </p:sp>
      <p:graphicFrame>
        <p:nvGraphicFramePr>
          <p:cNvPr id="199688" name="Object 8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3243263" y="1628775"/>
          <a:ext cx="4022725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640" imgH="457200" progId="Equation.3">
                  <p:embed/>
                </p:oleObj>
              </mc:Choice>
              <mc:Fallback>
                <p:oleObj name="Equation" r:id="rId2" imgW="1790640" imgH="457200" progId="Equation.3">
                  <p:embed/>
                  <p:pic>
                    <p:nvPicPr>
                      <p:cNvPr id="1996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3263" y="1628775"/>
                        <a:ext cx="4022725" cy="1027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2000250"/>
            <a:ext cx="8229600" cy="3886200"/>
          </a:xfrm>
        </p:spPr>
        <p:txBody>
          <a:bodyPr>
            <a:normAutofit fontScale="92500" lnSpcReduction="10000"/>
          </a:bodyPr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Square Error: </a:t>
            </a:r>
          </a:p>
          <a:p>
            <a:endParaRPr lang="tr-TR" dirty="0">
              <a:solidFill>
                <a:schemeClr val="tx2"/>
              </a:solidFill>
              <a:latin typeface="+mj-lt"/>
            </a:endParaRPr>
          </a:p>
          <a:p>
            <a:endParaRPr lang="tr-TR" dirty="0">
              <a:solidFill>
                <a:schemeClr val="tx2"/>
              </a:solidFill>
              <a:latin typeface="+mj-lt"/>
            </a:endParaRP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Relative Square Error:</a:t>
            </a:r>
          </a:p>
          <a:p>
            <a:endParaRPr lang="tr-TR" dirty="0">
              <a:solidFill>
                <a:schemeClr val="tx2"/>
              </a:solidFill>
              <a:latin typeface="+mj-lt"/>
            </a:endParaRP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Absolute Error: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E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en-GB" sz="2800" i="1" dirty="0">
                <a:solidFill>
                  <a:schemeClr val="tx2"/>
                </a:solidFill>
              </a:rPr>
              <a:t>θ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|X) = </a:t>
            </a:r>
            <a:r>
              <a:rPr lang="tr-TR" sz="4800" baseline="-10000" dirty="0">
                <a:solidFill>
                  <a:schemeClr val="tx2"/>
                </a:solidFill>
                <a:latin typeface="+mj-lt"/>
              </a:rPr>
              <a:t>∑</a:t>
            </a:r>
            <a:r>
              <a:rPr lang="tr-TR" i="1" baseline="-40000" dirty="0">
                <a:solidFill>
                  <a:schemeClr val="tx2"/>
                </a:solidFill>
                <a:latin typeface="+mj-lt"/>
              </a:rPr>
              <a:t>t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|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r</a:t>
            </a:r>
            <a:r>
              <a:rPr lang="tr-TR" i="1" baseline="30000" dirty="0">
                <a:solidFill>
                  <a:schemeClr val="tx2"/>
                </a:solidFill>
                <a:latin typeface="+mj-lt"/>
              </a:rPr>
              <a:t>t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–</a:t>
            </a:r>
            <a:r>
              <a:rPr lang="tr-TR" i="1" baseline="30000" dirty="0">
                <a:solidFill>
                  <a:schemeClr val="tx2"/>
                </a:solidFill>
                <a:latin typeface="+mj-lt"/>
              </a:rPr>
              <a:t>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g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i="1" baseline="30000" dirty="0">
                <a:solidFill>
                  <a:schemeClr val="tx2"/>
                </a:solidFill>
                <a:latin typeface="+mj-lt"/>
              </a:rPr>
              <a:t>t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|</a:t>
            </a:r>
            <a:r>
              <a:rPr lang="en-GB" sz="2800" i="1" dirty="0">
                <a:solidFill>
                  <a:schemeClr val="tx2"/>
                </a:solidFill>
              </a:rPr>
              <a:t> θ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)|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ε-sensitive Error: </a:t>
            </a:r>
          </a:p>
          <a:p>
            <a:pPr lvl="1">
              <a:buFont typeface="Wingdings" pitchFamily="2" charset="2"/>
              <a:buNone/>
            </a:pPr>
            <a:r>
              <a:rPr lang="tr-TR" sz="2400" i="1" dirty="0"/>
              <a:t>			</a:t>
            </a:r>
            <a:r>
              <a:rPr lang="tr-TR" sz="2400" i="1" dirty="0">
                <a:latin typeface="+mj-lt"/>
              </a:rPr>
              <a:t>E </a:t>
            </a:r>
            <a:r>
              <a:rPr lang="tr-TR" sz="2400" dirty="0">
                <a:latin typeface="+mj-lt"/>
              </a:rPr>
              <a:t>(</a:t>
            </a:r>
            <a:r>
              <a:rPr lang="en-GB" i="1" dirty="0"/>
              <a:t>θ </a:t>
            </a:r>
            <a:r>
              <a:rPr lang="tr-TR" sz="2400" dirty="0">
                <a:latin typeface="+mj-lt"/>
              </a:rPr>
              <a:t>|X) = </a:t>
            </a:r>
            <a:r>
              <a:rPr lang="tr-TR" sz="4400" baseline="-10000" dirty="0">
                <a:latin typeface="+mj-lt"/>
              </a:rPr>
              <a:t>∑</a:t>
            </a:r>
            <a:r>
              <a:rPr lang="tr-TR" sz="2400" baseline="-10000" dirty="0">
                <a:latin typeface="+mj-lt"/>
              </a:rPr>
              <a:t> </a:t>
            </a:r>
            <a:r>
              <a:rPr lang="tr-TR" sz="2400" i="1" baseline="-40000" dirty="0">
                <a:latin typeface="+mj-lt"/>
              </a:rPr>
              <a:t>t</a:t>
            </a:r>
            <a:r>
              <a:rPr lang="tr-TR" sz="2400" dirty="0">
                <a:latin typeface="+mj-lt"/>
              </a:rPr>
              <a:t> 1(|</a:t>
            </a:r>
            <a:r>
              <a:rPr lang="tr-TR" sz="2400" i="1" dirty="0">
                <a:latin typeface="+mj-lt"/>
              </a:rPr>
              <a:t>r</a:t>
            </a:r>
            <a:r>
              <a:rPr lang="tr-TR" sz="2400" i="1" baseline="30000" dirty="0">
                <a:latin typeface="+mj-lt"/>
              </a:rPr>
              <a:t>t </a:t>
            </a:r>
            <a:r>
              <a:rPr lang="tr-TR" sz="2400" dirty="0">
                <a:latin typeface="+mj-lt"/>
              </a:rPr>
              <a:t>–</a:t>
            </a:r>
            <a:r>
              <a:rPr lang="tr-TR" sz="2400" i="1" baseline="30000" dirty="0">
                <a:latin typeface="+mj-lt"/>
              </a:rPr>
              <a:t> </a:t>
            </a:r>
            <a:r>
              <a:rPr lang="tr-TR" sz="2400" i="1" dirty="0">
                <a:latin typeface="+mj-lt"/>
              </a:rPr>
              <a:t>g</a:t>
            </a:r>
            <a:r>
              <a:rPr lang="tr-TR" sz="2400" dirty="0">
                <a:latin typeface="+mj-lt"/>
              </a:rPr>
              <a:t>(</a:t>
            </a:r>
            <a:r>
              <a:rPr lang="tr-TR" sz="2400" i="1" dirty="0">
                <a:latin typeface="+mj-lt"/>
              </a:rPr>
              <a:t>x</a:t>
            </a:r>
            <a:r>
              <a:rPr lang="tr-TR" sz="2400" i="1" baseline="30000" dirty="0">
                <a:latin typeface="+mj-lt"/>
              </a:rPr>
              <a:t>t</a:t>
            </a:r>
            <a:r>
              <a:rPr lang="tr-TR" sz="2400" dirty="0">
                <a:latin typeface="+mj-lt"/>
              </a:rPr>
              <a:t>|</a:t>
            </a:r>
            <a:r>
              <a:rPr lang="en-GB" i="1" dirty="0"/>
              <a:t> θ</a:t>
            </a:r>
            <a:r>
              <a:rPr lang="tr-TR" sz="2400" dirty="0">
                <a:latin typeface="+mj-lt"/>
              </a:rPr>
              <a:t>)|&gt;ε) (|</a:t>
            </a:r>
            <a:r>
              <a:rPr lang="tr-TR" sz="2400" i="1" dirty="0">
                <a:latin typeface="+mj-lt"/>
              </a:rPr>
              <a:t>r</a:t>
            </a:r>
            <a:r>
              <a:rPr lang="tr-TR" sz="2400" i="1" baseline="30000" dirty="0">
                <a:latin typeface="+mj-lt"/>
              </a:rPr>
              <a:t>t </a:t>
            </a:r>
            <a:r>
              <a:rPr lang="tr-TR" sz="2400" dirty="0">
                <a:latin typeface="+mj-lt"/>
              </a:rPr>
              <a:t>–</a:t>
            </a:r>
            <a:r>
              <a:rPr lang="tr-TR" sz="2400" i="1" baseline="30000" dirty="0">
                <a:latin typeface="+mj-lt"/>
              </a:rPr>
              <a:t> </a:t>
            </a:r>
            <a:r>
              <a:rPr lang="tr-TR" sz="2400" i="1" dirty="0">
                <a:latin typeface="+mj-lt"/>
              </a:rPr>
              <a:t>g</a:t>
            </a:r>
            <a:r>
              <a:rPr lang="tr-TR" sz="2400" dirty="0">
                <a:latin typeface="+mj-lt"/>
              </a:rPr>
              <a:t>(</a:t>
            </a:r>
            <a:r>
              <a:rPr lang="tr-TR" sz="2400" i="1" dirty="0">
                <a:latin typeface="+mj-lt"/>
              </a:rPr>
              <a:t>x</a:t>
            </a:r>
            <a:r>
              <a:rPr lang="tr-TR" sz="2400" i="1" baseline="30000" dirty="0">
                <a:latin typeface="+mj-lt"/>
              </a:rPr>
              <a:t>t</a:t>
            </a:r>
            <a:r>
              <a:rPr lang="tr-TR" sz="2400" dirty="0">
                <a:latin typeface="+mj-lt"/>
              </a:rPr>
              <a:t>|</a:t>
            </a:r>
            <a:r>
              <a:rPr lang="en-GB" sz="2400" i="1" dirty="0">
                <a:latin typeface="+mj-lt"/>
              </a:rPr>
              <a:t>θ</a:t>
            </a:r>
            <a:r>
              <a:rPr lang="tr-TR" sz="2400" dirty="0">
                <a:latin typeface="+mj-lt"/>
              </a:rPr>
              <a:t>)| – ε)</a:t>
            </a:r>
          </a:p>
          <a:p>
            <a:pPr>
              <a:buFont typeface="Wingdings" pitchFamily="2" charset="2"/>
              <a:buNone/>
            </a:pPr>
            <a:endParaRPr lang="tr-TR" dirty="0"/>
          </a:p>
          <a:p>
            <a:endParaRPr lang="tr-TR" dirty="0"/>
          </a:p>
        </p:txBody>
      </p:sp>
      <p:graphicFrame>
        <p:nvGraphicFramePr>
          <p:cNvPr id="199690" name="Object 10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932040" y="2492896"/>
          <a:ext cx="3619500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65080" imgH="888840" progId="Equation.3">
                  <p:embed/>
                </p:oleObj>
              </mc:Choice>
              <mc:Fallback>
                <p:oleObj name="Equation" r:id="rId4" imgW="1765080" imgH="888840" progId="Equation.3">
                  <p:embed/>
                  <p:pic>
                    <p:nvPicPr>
                      <p:cNvPr id="1996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2492896"/>
                        <a:ext cx="3619500" cy="182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3422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Bias and Variance</a:t>
            </a:r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6D11E6A-6C53-4A9D-A5C2-B99419ADC8C8}" type="slidenum">
              <a:rPr lang="tr-TR">
                <a:latin typeface="+mj-lt"/>
              </a:rPr>
              <a:pPr/>
              <a:t>24</a:t>
            </a:fld>
            <a:endParaRPr lang="tr-TR">
              <a:latin typeface="+mj-lt"/>
            </a:endParaRPr>
          </a:p>
        </p:txBody>
      </p:sp>
      <p:graphicFrame>
        <p:nvGraphicFramePr>
          <p:cNvPr id="200717" name="Object 1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0" y="38163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2007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163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0732" name="Group 28"/>
          <p:cNvGrpSpPr>
            <a:grpSpLocks/>
          </p:cNvGrpSpPr>
          <p:nvPr/>
        </p:nvGrpSpPr>
        <p:grpSpPr bwMode="auto">
          <a:xfrm>
            <a:off x="107950" y="3805238"/>
            <a:ext cx="8820150" cy="884237"/>
            <a:chOff x="68" y="2397"/>
            <a:chExt cx="5556" cy="557"/>
          </a:xfrm>
        </p:grpSpPr>
        <p:graphicFrame>
          <p:nvGraphicFramePr>
            <p:cNvPr id="200722" name="Object 18"/>
            <p:cNvGraphicFramePr>
              <a:graphicFrameLocks noChangeAspect="1"/>
            </p:cNvGraphicFramePr>
            <p:nvPr/>
          </p:nvGraphicFramePr>
          <p:xfrm>
            <a:off x="68" y="2397"/>
            <a:ext cx="5556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597200" imgH="253800" progId="Equation.3">
                    <p:embed/>
                  </p:oleObj>
                </mc:Choice>
                <mc:Fallback>
                  <p:oleObj name="Equation" r:id="rId4" imgW="4597200" imgH="253800" progId="Equation.3">
                    <p:embed/>
                    <p:pic>
                      <p:nvPicPr>
                        <p:cNvPr id="20072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" y="2397"/>
                          <a:ext cx="5556" cy="3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24" name="Text Box 20"/>
            <p:cNvSpPr txBox="1">
              <a:spLocks noChangeArrowheads="1"/>
            </p:cNvSpPr>
            <p:nvPr/>
          </p:nvSpPr>
          <p:spPr bwMode="auto">
            <a:xfrm>
              <a:off x="2562" y="2721"/>
              <a:ext cx="35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tr-TR" sz="1800" i="1" dirty="0">
                  <a:solidFill>
                    <a:schemeClr val="tx2"/>
                  </a:solidFill>
                  <a:latin typeface="+mj-lt"/>
                </a:rPr>
                <a:t>bias</a:t>
              </a:r>
            </a:p>
          </p:txBody>
        </p:sp>
        <p:sp>
          <p:nvSpPr>
            <p:cNvPr id="200725" name="Text Box 21"/>
            <p:cNvSpPr txBox="1">
              <a:spLocks noChangeArrowheads="1"/>
            </p:cNvSpPr>
            <p:nvPr/>
          </p:nvSpPr>
          <p:spPr bwMode="auto">
            <a:xfrm>
              <a:off x="4339" y="2721"/>
              <a:ext cx="61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tr-TR" sz="1800" i="1" dirty="0">
                  <a:solidFill>
                    <a:schemeClr val="tx2"/>
                  </a:solidFill>
                  <a:latin typeface="+mj-lt"/>
                </a:rPr>
                <a:t>variance</a:t>
              </a:r>
            </a:p>
          </p:txBody>
        </p:sp>
      </p:grpSp>
      <p:grpSp>
        <p:nvGrpSpPr>
          <p:cNvPr id="200727" name="Group 23"/>
          <p:cNvGrpSpPr>
            <a:grpSpLocks/>
          </p:cNvGrpSpPr>
          <p:nvPr/>
        </p:nvGrpSpPr>
        <p:grpSpPr bwMode="auto">
          <a:xfrm>
            <a:off x="1041400" y="2212978"/>
            <a:ext cx="6986588" cy="1003300"/>
            <a:chOff x="611" y="3122"/>
            <a:chExt cx="4401" cy="632"/>
          </a:xfrm>
        </p:grpSpPr>
        <p:graphicFrame>
          <p:nvGraphicFramePr>
            <p:cNvPr id="200728" name="Object 24"/>
            <p:cNvGraphicFramePr>
              <a:graphicFrameLocks noChangeAspect="1"/>
            </p:cNvGraphicFramePr>
            <p:nvPr/>
          </p:nvGraphicFramePr>
          <p:xfrm>
            <a:off x="611" y="3122"/>
            <a:ext cx="4401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174840" imgH="228600" progId="Equation.3">
                    <p:embed/>
                  </p:oleObj>
                </mc:Choice>
                <mc:Fallback>
                  <p:oleObj name="Equation" r:id="rId6" imgW="3174840" imgH="228600" progId="Equation.3">
                    <p:embed/>
                    <p:pic>
                      <p:nvPicPr>
                        <p:cNvPr id="200728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" y="3122"/>
                          <a:ext cx="4401" cy="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29" name="Text Box 25"/>
            <p:cNvSpPr txBox="1">
              <a:spLocks noChangeArrowheads="1"/>
            </p:cNvSpPr>
            <p:nvPr/>
          </p:nvSpPr>
          <p:spPr bwMode="auto">
            <a:xfrm>
              <a:off x="2562" y="3521"/>
              <a:ext cx="42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tr-TR" sz="1800" i="1" dirty="0">
                  <a:solidFill>
                    <a:schemeClr val="tx2"/>
                  </a:solidFill>
                  <a:latin typeface="+mj-lt"/>
                </a:rPr>
                <a:t>noise</a:t>
              </a:r>
            </a:p>
          </p:txBody>
        </p:sp>
        <p:sp>
          <p:nvSpPr>
            <p:cNvPr id="200730" name="Text Box 26"/>
            <p:cNvSpPr txBox="1">
              <a:spLocks noChangeArrowheads="1"/>
            </p:cNvSpPr>
            <p:nvPr/>
          </p:nvSpPr>
          <p:spPr bwMode="auto">
            <a:xfrm>
              <a:off x="4059" y="3521"/>
              <a:ext cx="91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tr-TR" sz="1800" i="1" dirty="0">
                  <a:solidFill>
                    <a:schemeClr val="tx2"/>
                  </a:solidFill>
                  <a:latin typeface="+mj-lt"/>
                </a:rPr>
                <a:t>squared error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2795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94560" y="274638"/>
            <a:ext cx="7498080" cy="1143000"/>
          </a:xfrm>
        </p:spPr>
        <p:txBody>
          <a:bodyPr/>
          <a:lstStyle/>
          <a:p>
            <a:r>
              <a:rPr lang="tr-TR"/>
              <a:t>Estimating Bias and Variance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72600" y="6305550"/>
            <a:ext cx="457200" cy="476250"/>
          </a:xfrm>
        </p:spPr>
        <p:txBody>
          <a:bodyPr>
            <a:normAutofit/>
          </a:bodyPr>
          <a:lstStyle/>
          <a:p>
            <a:fld id="{3432C56A-10CA-4B09-9ADB-456312E58732}" type="slidenum">
              <a:rPr lang="tr-TR">
                <a:latin typeface="+mj-lt"/>
              </a:rPr>
              <a:pPr/>
              <a:t>25</a:t>
            </a:fld>
            <a:endParaRPr lang="tr-TR">
              <a:latin typeface="+mj-lt"/>
            </a:endParaRPr>
          </a:p>
        </p:txBody>
      </p:sp>
      <p:graphicFrame>
        <p:nvGraphicFramePr>
          <p:cNvPr id="203788" name="Object 12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577970278"/>
              </p:ext>
            </p:extLst>
          </p:nvPr>
        </p:nvGraphicFramePr>
        <p:xfrm>
          <a:off x="2740152" y="3213100"/>
          <a:ext cx="4933950" cy="259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1282680" progId="Equation.3">
                  <p:embed/>
                </p:oleObj>
              </mc:Choice>
              <mc:Fallback>
                <p:oleObj name="Equation" r:id="rId2" imgW="2438280" imgH="1282680" progId="Equation.3">
                  <p:embed/>
                  <p:pic>
                    <p:nvPicPr>
                      <p:cNvPr id="20378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152" y="3213100"/>
                        <a:ext cx="4933950" cy="2595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5" name="Rectangle 9"/>
          <p:cNvSpPr>
            <a:spLocks noGrp="1" noChangeArrowheads="1"/>
          </p:cNvSpPr>
          <p:nvPr>
            <p:ph type="body" idx="4294967295"/>
          </p:nvPr>
        </p:nvSpPr>
        <p:spPr>
          <a:xfrm>
            <a:off x="758952" y="2000250"/>
            <a:ext cx="8229600" cy="3886200"/>
          </a:xfrm>
        </p:spPr>
        <p:txBody>
          <a:bodyPr/>
          <a:lstStyle/>
          <a:p>
            <a:r>
              <a:rPr lang="tr-TR" i="1" dirty="0">
                <a:solidFill>
                  <a:schemeClr val="tx2"/>
                </a:solidFill>
                <a:latin typeface="+mj-lt"/>
              </a:rPr>
              <a:t>M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samples X</a:t>
            </a:r>
            <a:r>
              <a:rPr lang="tr-TR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={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i="1" baseline="30000" dirty="0">
                <a:solidFill>
                  <a:schemeClr val="tx2"/>
                </a:solidFill>
                <a:latin typeface="+mj-lt"/>
              </a:rPr>
              <a:t>t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,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r</a:t>
            </a:r>
            <a:r>
              <a:rPr lang="tr-TR" i="1" baseline="30000" dirty="0">
                <a:solidFill>
                  <a:schemeClr val="tx2"/>
                </a:solidFill>
                <a:latin typeface="+mj-lt"/>
              </a:rPr>
              <a:t>t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},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=1,...,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M </a:t>
            </a:r>
          </a:p>
          <a:p>
            <a:pPr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	are used to fit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g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),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i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=1,...,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727839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Bias/Variance Dilemma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9A1C611B-9ADB-4B57-86F8-8A35B7E08561}" type="slidenum">
              <a:rPr lang="tr-TR"/>
              <a:pPr/>
              <a:t>26</a:t>
            </a:fld>
            <a:endParaRPr lang="tr-TR"/>
          </a:p>
        </p:txBody>
      </p:sp>
      <p:sp>
        <p:nvSpPr>
          <p:cNvPr id="2048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Example: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g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)=2 has no variance and high bias</a:t>
            </a:r>
          </a:p>
          <a:p>
            <a:pPr>
              <a:buFont typeface="Wingdings" pitchFamily="2" charset="2"/>
              <a:buNone/>
            </a:pPr>
            <a:r>
              <a:rPr lang="tr-TR" i="1" dirty="0">
                <a:solidFill>
                  <a:schemeClr val="tx2"/>
                </a:solidFill>
                <a:latin typeface="+mj-lt"/>
              </a:rPr>
              <a:t>	g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)= </a:t>
            </a:r>
            <a:r>
              <a:rPr lang="tr-TR" sz="4800" baseline="-10000" dirty="0">
                <a:solidFill>
                  <a:schemeClr val="tx2"/>
                </a:solidFill>
                <a:latin typeface="+mj-lt"/>
              </a:rPr>
              <a:t>∑</a:t>
            </a:r>
            <a:r>
              <a:rPr lang="tr-TR" i="1" baseline="-40000" dirty="0">
                <a:solidFill>
                  <a:schemeClr val="tx2"/>
                </a:solidFill>
                <a:latin typeface="+mj-lt"/>
              </a:rPr>
              <a:t>t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r</a:t>
            </a:r>
            <a:r>
              <a:rPr lang="tr-TR" i="1" baseline="30000" dirty="0">
                <a:solidFill>
                  <a:schemeClr val="tx2"/>
                </a:solidFill>
                <a:latin typeface="+mj-lt"/>
              </a:rPr>
              <a:t>t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/N has lower bias with variance</a:t>
            </a:r>
          </a:p>
          <a:p>
            <a:endParaRPr lang="tr-TR" dirty="0">
              <a:solidFill>
                <a:schemeClr val="tx2"/>
              </a:solidFill>
              <a:latin typeface="+mj-lt"/>
            </a:endParaRP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As we increase complexity, </a:t>
            </a: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		bias decreases (a better fit to data) and </a:t>
            </a: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		variance increases (fit varies more with data)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Bias/Variance dilemma: (Geman et al., 1992)</a:t>
            </a:r>
          </a:p>
        </p:txBody>
      </p:sp>
    </p:spTree>
    <p:extLst>
      <p:ext uri="{BB962C8B-B14F-4D97-AF65-F5344CB8AC3E}">
        <p14:creationId xmlns:p14="http://schemas.microsoft.com/office/powerpoint/2010/main" val="1936355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DE1E5F0F-24EB-4AC7-B66D-107FCC1570C8}" type="slidenum">
              <a:rPr lang="tr-TR"/>
              <a:pPr/>
              <a:t>27</a:t>
            </a:fld>
            <a:endParaRPr lang="tr-TR"/>
          </a:p>
        </p:txBody>
      </p:sp>
      <p:pic>
        <p:nvPicPr>
          <p:cNvPr id="205841" name="Picture 1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888" y="414338"/>
            <a:ext cx="7134225" cy="602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836" name="Line 12"/>
          <p:cNvSpPr>
            <a:spLocks noChangeShapeType="1"/>
          </p:cNvSpPr>
          <p:nvPr/>
        </p:nvSpPr>
        <p:spPr bwMode="auto">
          <a:xfrm flipH="1">
            <a:off x="7885113" y="162877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205837" name="Text Box 13"/>
          <p:cNvSpPr txBox="1">
            <a:spLocks noChangeArrowheads="1"/>
          </p:cNvSpPr>
          <p:nvPr/>
        </p:nvSpPr>
        <p:spPr bwMode="auto">
          <a:xfrm>
            <a:off x="8101013" y="1617663"/>
            <a:ext cx="5645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800" i="1" dirty="0">
                <a:solidFill>
                  <a:schemeClr val="tx2"/>
                </a:solidFill>
                <a:latin typeface="+mj-lt"/>
              </a:rPr>
              <a:t>bias</a:t>
            </a:r>
          </a:p>
        </p:txBody>
      </p:sp>
      <p:sp>
        <p:nvSpPr>
          <p:cNvPr id="205838" name="Line 14"/>
          <p:cNvSpPr>
            <a:spLocks noChangeShapeType="1"/>
          </p:cNvSpPr>
          <p:nvPr/>
        </p:nvSpPr>
        <p:spPr bwMode="auto">
          <a:xfrm>
            <a:off x="5003800" y="4437063"/>
            <a:ext cx="0" cy="1871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205839" name="Text Box 15"/>
          <p:cNvSpPr txBox="1">
            <a:spLocks noChangeArrowheads="1"/>
          </p:cNvSpPr>
          <p:nvPr/>
        </p:nvSpPr>
        <p:spPr bwMode="auto">
          <a:xfrm>
            <a:off x="3924300" y="5373688"/>
            <a:ext cx="9798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800" i="1" dirty="0">
                <a:solidFill>
                  <a:schemeClr val="tx2"/>
                </a:solidFill>
                <a:latin typeface="+mj-lt"/>
              </a:rPr>
              <a:t>variance</a:t>
            </a:r>
          </a:p>
        </p:txBody>
      </p:sp>
      <p:sp>
        <p:nvSpPr>
          <p:cNvPr id="205842" name="Text Box 18"/>
          <p:cNvSpPr txBox="1">
            <a:spLocks noChangeArrowheads="1"/>
          </p:cNvSpPr>
          <p:nvPr/>
        </p:nvSpPr>
        <p:spPr bwMode="auto">
          <a:xfrm>
            <a:off x="1692275" y="968375"/>
            <a:ext cx="300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>
                <a:solidFill>
                  <a:srgbClr val="66FF33"/>
                </a:solidFill>
                <a:latin typeface="Lucida Bright" pitchFamily="18" charset="0"/>
              </a:rPr>
              <a:t>f</a:t>
            </a:r>
          </a:p>
        </p:txBody>
      </p:sp>
      <p:sp>
        <p:nvSpPr>
          <p:cNvPr id="205843" name="Text Box 19"/>
          <p:cNvSpPr txBox="1">
            <a:spLocks noChangeArrowheads="1"/>
          </p:cNvSpPr>
          <p:nvPr/>
        </p:nvSpPr>
        <p:spPr bwMode="auto">
          <a:xfrm>
            <a:off x="5940425" y="1976438"/>
            <a:ext cx="389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 dirty="0">
                <a:solidFill>
                  <a:srgbClr val="3333FF"/>
                </a:solidFill>
                <a:latin typeface="+mj-lt"/>
              </a:rPr>
              <a:t>g</a:t>
            </a:r>
            <a:r>
              <a:rPr lang="tr-TR" sz="2400" i="1" baseline="-25000" dirty="0">
                <a:solidFill>
                  <a:srgbClr val="3333FF"/>
                </a:solidFill>
                <a:latin typeface="+mj-lt"/>
              </a:rPr>
              <a:t>i</a:t>
            </a:r>
          </a:p>
        </p:txBody>
      </p:sp>
      <p:sp>
        <p:nvSpPr>
          <p:cNvPr id="205844" name="Text Box 20"/>
          <p:cNvSpPr txBox="1">
            <a:spLocks noChangeArrowheads="1"/>
          </p:cNvSpPr>
          <p:nvPr/>
        </p:nvSpPr>
        <p:spPr bwMode="auto">
          <a:xfrm>
            <a:off x="8101013" y="2047875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 dirty="0">
                <a:solidFill>
                  <a:srgbClr val="FF0000"/>
                </a:solidFill>
                <a:latin typeface="+mj-lt"/>
              </a:rPr>
              <a:t>g</a:t>
            </a:r>
            <a:endParaRPr lang="tr-TR" sz="2400" i="1" baseline="-25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5845" name="Line 21"/>
          <p:cNvSpPr>
            <a:spLocks noChangeShapeType="1"/>
          </p:cNvSpPr>
          <p:nvPr/>
        </p:nvSpPr>
        <p:spPr bwMode="auto">
          <a:xfrm>
            <a:off x="8243888" y="2133600"/>
            <a:ext cx="14446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205846" name="Text Box 22"/>
          <p:cNvSpPr txBox="1">
            <a:spLocks noChangeArrowheads="1"/>
          </p:cNvSpPr>
          <p:nvPr/>
        </p:nvSpPr>
        <p:spPr bwMode="auto">
          <a:xfrm>
            <a:off x="8101013" y="1184275"/>
            <a:ext cx="300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>
                <a:solidFill>
                  <a:srgbClr val="66FF33"/>
                </a:solidFill>
                <a:latin typeface="Lucida Bright" pitchFamily="18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4166286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2" name="Rectangle 4"/>
          <p:cNvSpPr>
            <a:spLocks noGrp="1" noChangeArrowheads="1"/>
          </p:cNvSpPr>
          <p:nvPr>
            <p:ph type="title"/>
          </p:nvPr>
        </p:nvSpPr>
        <p:spPr>
          <a:xfrm>
            <a:off x="1295400" y="476672"/>
            <a:ext cx="7549952" cy="724648"/>
          </a:xfrm>
        </p:spPr>
        <p:txBody>
          <a:bodyPr>
            <a:noAutofit/>
          </a:bodyPr>
          <a:lstStyle/>
          <a:p>
            <a:r>
              <a:rPr lang="tr-TR" dirty="0"/>
              <a:t>Polynomial Regression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4796FC5-0337-43BE-B707-24F4E94448E5}" type="slidenum">
              <a:rPr lang="tr-TR"/>
              <a:pPr/>
              <a:t>28</a:t>
            </a:fld>
            <a:endParaRPr lang="tr-TR"/>
          </a:p>
        </p:txBody>
      </p:sp>
      <p:pic>
        <p:nvPicPr>
          <p:cNvPr id="2068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70" y="1571612"/>
            <a:ext cx="547687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6856" name="Text Box 8"/>
          <p:cNvSpPr txBox="1">
            <a:spLocks noChangeArrowheads="1"/>
          </p:cNvSpPr>
          <p:nvPr/>
        </p:nvSpPr>
        <p:spPr bwMode="auto">
          <a:xfrm>
            <a:off x="4356100" y="3213100"/>
            <a:ext cx="19639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800" i="1" dirty="0">
                <a:solidFill>
                  <a:schemeClr val="tx2"/>
                </a:solidFill>
                <a:latin typeface="+mj-lt"/>
              </a:rPr>
              <a:t>Best fit “min error”</a:t>
            </a:r>
          </a:p>
        </p:txBody>
      </p:sp>
      <p:sp>
        <p:nvSpPr>
          <p:cNvPr id="206857" name="Line 9"/>
          <p:cNvSpPr>
            <a:spLocks noChangeShapeType="1"/>
          </p:cNvSpPr>
          <p:nvPr/>
        </p:nvSpPr>
        <p:spPr bwMode="auto">
          <a:xfrm>
            <a:off x="4859338" y="3644900"/>
            <a:ext cx="0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2282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BA9CB49-70D8-4C15-89A6-E9AEDD8E63B1}" type="slidenum">
              <a:rPr lang="tr-TR"/>
              <a:pPr/>
              <a:t>29</a:t>
            </a:fld>
            <a:endParaRPr lang="tr-TR"/>
          </a:p>
        </p:txBody>
      </p:sp>
      <p:pic>
        <p:nvPicPr>
          <p:cNvPr id="2089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7263" y="400050"/>
            <a:ext cx="7229475" cy="605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3276600" y="4713288"/>
            <a:ext cx="17049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1800" i="1" dirty="0">
                <a:solidFill>
                  <a:schemeClr val="tx2"/>
                </a:solidFill>
                <a:latin typeface="+mj-lt"/>
              </a:rPr>
              <a:t>Best fit, “elbow”</a:t>
            </a:r>
          </a:p>
        </p:txBody>
      </p:sp>
      <p:sp>
        <p:nvSpPr>
          <p:cNvPr id="208904" name="Line 8"/>
          <p:cNvSpPr>
            <a:spLocks noChangeShapeType="1"/>
          </p:cNvSpPr>
          <p:nvPr/>
        </p:nvSpPr>
        <p:spPr bwMode="auto">
          <a:xfrm flipH="1">
            <a:off x="3203575" y="4437063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1892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Model Selection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6756712-1969-48E5-B41B-1EADF359533A}" type="slidenum">
              <a:rPr lang="tr-TR"/>
              <a:pPr/>
              <a:t>30</a:t>
            </a:fld>
            <a:endParaRPr lang="tr-TR"/>
          </a:p>
        </p:txBody>
      </p:sp>
      <p:sp>
        <p:nvSpPr>
          <p:cNvPr id="2099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tr-TR" dirty="0">
                <a:solidFill>
                  <a:schemeClr val="accent1"/>
                </a:solidFill>
                <a:latin typeface="+mj-lt"/>
              </a:rPr>
              <a:t>Cross-validation: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Measure generalization accuracy by testing on data unused during training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accent1"/>
                </a:solidFill>
                <a:latin typeface="+mj-lt"/>
              </a:rPr>
              <a:t>Regularization: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Penalize complex models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		E’=error on data + λ model complexity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	Akaike’s information criterion (AIC), Bayesian information criterion (BIC)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accent1"/>
                </a:solidFill>
                <a:latin typeface="+mj-lt"/>
              </a:rPr>
              <a:t>Minimum description length (MDL):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Kolmogorov complexity, shortest description of data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accent1"/>
                </a:solidFill>
                <a:latin typeface="+mj-lt"/>
              </a:rPr>
              <a:t>Structural risk minimization (SRM)</a:t>
            </a:r>
          </a:p>
        </p:txBody>
      </p:sp>
    </p:spTree>
    <p:extLst>
      <p:ext uri="{BB962C8B-B14F-4D97-AF65-F5344CB8AC3E}">
        <p14:creationId xmlns:p14="http://schemas.microsoft.com/office/powerpoint/2010/main" val="22660165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Bayesian Model Selection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AA43BF-00AD-474E-B2EC-6D3F6FA21203}" type="slidenum">
              <a:rPr lang="tr-TR"/>
              <a:pPr/>
              <a:t>31</a:t>
            </a:fld>
            <a:endParaRPr lang="tr-TR"/>
          </a:p>
        </p:txBody>
      </p:sp>
      <p:graphicFrame>
        <p:nvGraphicFramePr>
          <p:cNvPr id="210949" name="Object 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655763" y="2570163"/>
          <a:ext cx="568960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03160" imgH="419040" progId="Equation.3">
                  <p:embed/>
                </p:oleObj>
              </mc:Choice>
              <mc:Fallback>
                <p:oleObj name="Equation" r:id="rId2" imgW="2603160" imgH="419040" progId="Equation.3">
                  <p:embed/>
                  <p:pic>
                    <p:nvPicPr>
                      <p:cNvPr id="2109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2570163"/>
                        <a:ext cx="5689600" cy="915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2071688"/>
            <a:ext cx="8229600" cy="3886200"/>
          </a:xfrm>
        </p:spPr>
        <p:txBody>
          <a:bodyPr>
            <a:normAutofit fontScale="92500" lnSpcReduction="10000"/>
          </a:bodyPr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Prior on models,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p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(model)</a:t>
            </a:r>
          </a:p>
          <a:p>
            <a:endParaRPr lang="tr-TR" dirty="0">
              <a:solidFill>
                <a:schemeClr val="tx2"/>
              </a:solidFill>
              <a:latin typeface="+mj-lt"/>
            </a:endParaRPr>
          </a:p>
          <a:p>
            <a:pPr>
              <a:buNone/>
            </a:pPr>
            <a:endParaRPr lang="tr-TR" dirty="0">
              <a:solidFill>
                <a:schemeClr val="tx2"/>
              </a:solidFill>
              <a:latin typeface="+mj-lt"/>
            </a:endParaRPr>
          </a:p>
          <a:p>
            <a:endParaRPr lang="tr-TR" dirty="0">
              <a:solidFill>
                <a:schemeClr val="tx2"/>
              </a:solidFill>
              <a:latin typeface="+mj-lt"/>
            </a:endParaRP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Regularization, when prior favors simpler models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Bayes, MAP of the posterior,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p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(model|data)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Average over a number of models with high posterior (voting, ensembles: Chapter 17)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9754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476672"/>
            <a:ext cx="8229600" cy="724648"/>
          </a:xfrm>
        </p:spPr>
        <p:txBody>
          <a:bodyPr>
            <a:noAutofit/>
          </a:bodyPr>
          <a:lstStyle/>
          <a:p>
            <a:r>
              <a:rPr lang="tr-TR" dirty="0"/>
              <a:t>Regression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B0AD7C3-E12A-4BB1-B11B-67710BB9F2EE}" type="slidenum">
              <a:rPr lang="tr-TR" smtClean="0"/>
              <a:pPr/>
              <a:t>32</a:t>
            </a:fld>
            <a:endParaRPr lang="tr-TR"/>
          </a:p>
        </p:txBody>
      </p:sp>
      <p:sp>
        <p:nvSpPr>
          <p:cNvPr id="9" name="TextBox 8"/>
          <p:cNvSpPr txBox="1"/>
          <p:nvPr/>
        </p:nvSpPr>
        <p:spPr>
          <a:xfrm>
            <a:off x="5214942" y="1571612"/>
            <a:ext cx="36631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Coefficients increase in magnitude as order increases:</a:t>
            </a: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1: [-0.0769, 0.0016]</a:t>
            </a: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2: [0.1682, -0.6657, 0.0080]</a:t>
            </a: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3: [0.4238, -2.5778, 3.4675, -0.0002</a:t>
            </a: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4: [-0.1093, 1.4356, </a:t>
            </a: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-5.5007, 6.0454, -0.0019]</a:t>
            </a:r>
          </a:p>
        </p:txBody>
      </p:sp>
      <p:pic>
        <p:nvPicPr>
          <p:cNvPr id="4259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643050"/>
            <a:ext cx="4543425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25989" name="Object 5"/>
          <p:cNvGraphicFramePr>
            <a:graphicFrameLocks noChangeAspect="1"/>
          </p:cNvGraphicFramePr>
          <p:nvPr/>
        </p:nvGraphicFramePr>
        <p:xfrm>
          <a:off x="3347864" y="5589240"/>
          <a:ext cx="5561012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76440" imgH="457200" progId="Equation.3">
                  <p:embed/>
                </p:oleObj>
              </mc:Choice>
              <mc:Fallback>
                <p:oleObj name="Equation" r:id="rId3" imgW="2476440" imgH="457200" progId="Equation.3">
                  <p:embed/>
                  <p:pic>
                    <p:nvPicPr>
                      <p:cNvPr id="4259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5589240"/>
                        <a:ext cx="5561012" cy="1027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3528" y="5877272"/>
            <a:ext cx="2896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/>
              <a:t>Regularization (L2):</a:t>
            </a:r>
          </a:p>
        </p:txBody>
      </p:sp>
    </p:spTree>
    <p:extLst>
      <p:ext uri="{BB962C8B-B14F-4D97-AF65-F5344CB8AC3E}">
        <p14:creationId xmlns:p14="http://schemas.microsoft.com/office/powerpoint/2010/main" val="187185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400" dirty="0"/>
              <a:t>CHAPTER 5:</a:t>
            </a:r>
            <a:r>
              <a:rPr lang="tr-TR" sz="1800" dirty="0"/>
              <a:t> </a:t>
            </a:r>
            <a:br>
              <a:rPr lang="tr-TR" sz="1800" dirty="0"/>
            </a:br>
            <a:r>
              <a:rPr lang="tr-TR" dirty="0"/>
              <a:t>Multivariate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629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Multivariate Data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EE2E8B0-0E84-4385-9558-F606E6E587BE}" type="slidenum">
              <a:rPr lang="tr-TR"/>
              <a:pPr/>
              <a:t>34</a:t>
            </a:fld>
            <a:endParaRPr lang="tr-TR"/>
          </a:p>
        </p:txBody>
      </p:sp>
      <p:graphicFrame>
        <p:nvGraphicFramePr>
          <p:cNvPr id="211973" name="Object 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047875" y="3500438"/>
          <a:ext cx="4038600" cy="247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939600" progId="Equation.3">
                  <p:embed/>
                </p:oleObj>
              </mc:Choice>
              <mc:Fallback>
                <p:oleObj name="Equation" r:id="rId2" imgW="1536480" imgH="939600" progId="Equation.3">
                  <p:embed/>
                  <p:pic>
                    <p:nvPicPr>
                      <p:cNvPr id="2119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3500438"/>
                        <a:ext cx="4038600" cy="2470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700808"/>
            <a:ext cx="8229600" cy="3886200"/>
          </a:xfrm>
        </p:spPr>
        <p:txBody>
          <a:bodyPr/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Multiple measurements (sensors)</a:t>
            </a:r>
          </a:p>
          <a:p>
            <a:r>
              <a:rPr lang="tr-TR" i="1" dirty="0">
                <a:solidFill>
                  <a:schemeClr val="accent1"/>
                </a:solidFill>
                <a:latin typeface="+mj-lt"/>
              </a:rPr>
              <a:t>d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inputs/features/attributes: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d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-variate </a:t>
            </a:r>
          </a:p>
          <a:p>
            <a:r>
              <a:rPr lang="tr-TR" i="1" dirty="0">
                <a:solidFill>
                  <a:schemeClr val="accent1"/>
                </a:solidFill>
                <a:latin typeface="+mj-lt"/>
              </a:rPr>
              <a:t>N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instances/observations/examples</a:t>
            </a:r>
          </a:p>
        </p:txBody>
      </p:sp>
    </p:spTree>
    <p:extLst>
      <p:ext uri="{BB962C8B-B14F-4D97-AF65-F5344CB8AC3E}">
        <p14:creationId xmlns:p14="http://schemas.microsoft.com/office/powerpoint/2010/main" val="3552483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Multivariate Parameters</a:t>
            </a:r>
          </a:p>
        </p:txBody>
      </p:sp>
      <p:graphicFrame>
        <p:nvGraphicFramePr>
          <p:cNvPr id="213005" name="Object 1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87624" y="3861048"/>
          <a:ext cx="6495316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90840" imgH="939600" progId="Equation.3">
                  <p:embed/>
                </p:oleObj>
              </mc:Choice>
              <mc:Fallback>
                <p:oleObj name="Equation" r:id="rId2" imgW="3390840" imgH="939600" progId="Equation.3">
                  <p:embed/>
                  <p:pic>
                    <p:nvPicPr>
                      <p:cNvPr id="2130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861048"/>
                        <a:ext cx="6495316" cy="18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3" name="Object 1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43608" y="1772816"/>
          <a:ext cx="4768850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9360" imgH="952200" progId="Equation.3">
                  <p:embed/>
                </p:oleObj>
              </mc:Choice>
              <mc:Fallback>
                <p:oleObj name="Equation" r:id="rId4" imgW="2349360" imgH="952200" progId="Equation.3">
                  <p:embed/>
                  <p:pic>
                    <p:nvPicPr>
                      <p:cNvPr id="2130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772816"/>
                        <a:ext cx="4768850" cy="193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25000" lnSpcReduction="20000"/>
          </a:bodyPr>
          <a:lstStyle/>
          <a:p>
            <a:fld id="{BCB74DE1-5D12-4E18-96D8-5E2BE0E4D2AC}" type="slidenum">
              <a:rPr lang="tr-TR"/>
              <a:pPr/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9712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332656"/>
            <a:ext cx="8147248" cy="864096"/>
          </a:xfrm>
        </p:spPr>
        <p:txBody>
          <a:bodyPr>
            <a:normAutofit/>
          </a:bodyPr>
          <a:lstStyle/>
          <a:p>
            <a:r>
              <a:rPr lang="tr-TR" dirty="0"/>
              <a:t>Parameter Estimation</a:t>
            </a:r>
          </a:p>
        </p:txBody>
      </p:sp>
      <p:graphicFrame>
        <p:nvGraphicFramePr>
          <p:cNvPr id="214025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55700" y="2138363"/>
          <a:ext cx="6399213" cy="293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3320" imgH="1409400" progId="Equation.3">
                  <p:embed/>
                </p:oleObj>
              </mc:Choice>
              <mc:Fallback>
                <p:oleObj name="Equation" r:id="rId2" imgW="3073320" imgH="1409400" progId="Equation.3">
                  <p:embed/>
                  <p:pic>
                    <p:nvPicPr>
                      <p:cNvPr id="2140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2138363"/>
                        <a:ext cx="6399213" cy="2935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4FE7F0-2532-4D12-95E5-10FF6594793F}" type="slidenum">
              <a:rPr lang="tr-TR"/>
              <a:pPr/>
              <a:t>36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49952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Estimation of Missing Values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09A2D61-2319-49BA-B585-00F0178B2A9F}" type="slidenum">
              <a:rPr lang="tr-TR"/>
              <a:pPr/>
              <a:t>37</a:t>
            </a:fld>
            <a:endParaRPr lang="tr-TR"/>
          </a:p>
        </p:txBody>
      </p:sp>
      <p:sp>
        <p:nvSpPr>
          <p:cNvPr id="2150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What to do if certain instances have missing attributes?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Ignore those instances: not a good idea if the sample is small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Use ‘missing’ as an attribute: may give information</a:t>
            </a:r>
          </a:p>
          <a:p>
            <a:r>
              <a:rPr lang="tr-TR" dirty="0">
                <a:solidFill>
                  <a:schemeClr val="accent1"/>
                </a:solidFill>
                <a:latin typeface="+mj-lt"/>
              </a:rPr>
              <a:t>Imputation: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Fill in the missing value</a:t>
            </a:r>
          </a:p>
          <a:p>
            <a:pPr lvl="1"/>
            <a:r>
              <a:rPr lang="tr-TR" dirty="0">
                <a:solidFill>
                  <a:schemeClr val="tx2"/>
                </a:solidFill>
                <a:latin typeface="+mj-lt"/>
              </a:rPr>
              <a:t>Mean imputation: Use the most likely value (e.g., mean)</a:t>
            </a:r>
          </a:p>
          <a:p>
            <a:pPr lvl="1"/>
            <a:r>
              <a:rPr lang="tr-TR" dirty="0">
                <a:solidFill>
                  <a:schemeClr val="tx2"/>
                </a:solidFill>
                <a:latin typeface="+mj-lt"/>
              </a:rPr>
              <a:t>Imputation by regression: Predict based on other attributes</a:t>
            </a:r>
          </a:p>
        </p:txBody>
      </p:sp>
    </p:spTree>
    <p:extLst>
      <p:ext uri="{BB962C8B-B14F-4D97-AF65-F5344CB8AC3E}">
        <p14:creationId xmlns:p14="http://schemas.microsoft.com/office/powerpoint/2010/main" val="11268801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6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0364" y="1071546"/>
            <a:ext cx="5500726" cy="4506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88640"/>
            <a:ext cx="8229600" cy="928694"/>
          </a:xfrm>
        </p:spPr>
        <p:txBody>
          <a:bodyPr>
            <a:normAutofit/>
          </a:bodyPr>
          <a:lstStyle/>
          <a:p>
            <a:r>
              <a:rPr lang="tr-TR" dirty="0"/>
              <a:t>Multivariate Normal Distribution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89761D-F8EE-469B-918C-005E7D032ACF}" type="slidenum">
              <a:rPr lang="tr-TR"/>
              <a:pPr/>
              <a:t>38</a:t>
            </a:fld>
            <a:endParaRPr lang="tr-TR"/>
          </a:p>
        </p:txBody>
      </p:sp>
      <p:graphicFrame>
        <p:nvGraphicFramePr>
          <p:cNvPr id="216072" name="Object 8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430213" y="4572000"/>
          <a:ext cx="6900862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44720" imgH="685800" progId="Equation.3">
                  <p:embed/>
                </p:oleObj>
              </mc:Choice>
              <mc:Fallback>
                <p:oleObj name="Equation" r:id="rId3" imgW="2844720" imgH="685800" progId="Equation.3">
                  <p:embed/>
                  <p:pic>
                    <p:nvPicPr>
                      <p:cNvPr id="2160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3" y="4572000"/>
                        <a:ext cx="6900862" cy="166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54577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228600"/>
            <a:ext cx="8153400" cy="896144"/>
          </a:xfrm>
        </p:spPr>
        <p:txBody>
          <a:bodyPr>
            <a:normAutofit/>
          </a:bodyPr>
          <a:lstStyle/>
          <a:p>
            <a:r>
              <a:rPr lang="tr-TR" dirty="0"/>
              <a:t>Multivariate Normal Distribution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16F5B4F-5919-4910-9122-A076B4399795}" type="slidenum">
              <a:rPr lang="tr-TR"/>
              <a:pPr/>
              <a:t>39</a:t>
            </a:fld>
            <a:endParaRPr lang="tr-TR"/>
          </a:p>
        </p:txBody>
      </p:sp>
      <p:graphicFrame>
        <p:nvGraphicFramePr>
          <p:cNvPr id="217101" name="Object 1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9029700" y="28067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2171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9700" y="280670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092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772816"/>
            <a:ext cx="8229600" cy="3886200"/>
          </a:xfrm>
        </p:spPr>
        <p:txBody>
          <a:bodyPr/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Mahalanobis distance: (</a:t>
            </a:r>
            <a:r>
              <a:rPr lang="tr-TR" sz="2800" b="1" i="1" dirty="0">
                <a:solidFill>
                  <a:schemeClr val="tx2"/>
                </a:solidFill>
                <a:latin typeface="+mj-lt"/>
              </a:rPr>
              <a:t>x </a:t>
            </a:r>
            <a:r>
              <a:rPr lang="tr-TR" sz="2800" dirty="0">
                <a:solidFill>
                  <a:schemeClr val="tx2"/>
                </a:solidFill>
                <a:latin typeface="+mj-lt"/>
              </a:rPr>
              <a:t>– </a:t>
            </a:r>
            <a:r>
              <a:rPr lang="tr-TR" sz="2800" b="1" i="1" dirty="0">
                <a:solidFill>
                  <a:schemeClr val="tx2"/>
                </a:solidFill>
                <a:latin typeface="+mj-lt"/>
              </a:rPr>
              <a:t>μ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</a:t>
            </a:r>
            <a:r>
              <a:rPr lang="tr-TR" i="1" baseline="30000" dirty="0">
                <a:solidFill>
                  <a:schemeClr val="tx2"/>
                </a:solidFill>
                <a:latin typeface="+mj-lt"/>
              </a:rPr>
              <a:t>T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</a:t>
            </a:r>
            <a:r>
              <a:rPr lang="tr-TR" sz="2800" b="1" dirty="0">
                <a:solidFill>
                  <a:schemeClr val="tx2"/>
                </a:solidFill>
                <a:latin typeface="+mj-lt"/>
              </a:rPr>
              <a:t>∑</a:t>
            </a:r>
            <a:r>
              <a:rPr lang="tr-TR" sz="2800" baseline="30000" dirty="0">
                <a:solidFill>
                  <a:schemeClr val="tx2"/>
                </a:solidFill>
                <a:latin typeface="+mj-lt"/>
              </a:rPr>
              <a:t>–</a:t>
            </a:r>
            <a:r>
              <a:rPr lang="tr-TR" sz="2800" b="1" baseline="30000" dirty="0">
                <a:solidFill>
                  <a:schemeClr val="tx2"/>
                </a:solidFill>
                <a:latin typeface="+mj-lt"/>
              </a:rPr>
              <a:t>1</a:t>
            </a:r>
            <a:r>
              <a:rPr lang="tr-TR" sz="2800" b="1" dirty="0">
                <a:solidFill>
                  <a:schemeClr val="tx2"/>
                </a:solidFill>
                <a:latin typeface="+mj-lt"/>
              </a:rPr>
              <a:t>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sz="2800" b="1" i="1" dirty="0">
                <a:solidFill>
                  <a:schemeClr val="tx2"/>
                </a:solidFill>
                <a:latin typeface="+mj-lt"/>
              </a:rPr>
              <a:t>x </a:t>
            </a:r>
            <a:r>
              <a:rPr lang="tr-TR" sz="2800" dirty="0">
                <a:solidFill>
                  <a:schemeClr val="tx2"/>
                </a:solidFill>
                <a:latin typeface="+mj-lt"/>
              </a:rPr>
              <a:t>– </a:t>
            </a:r>
            <a:r>
              <a:rPr lang="tr-TR" sz="2800" b="1" i="1" dirty="0">
                <a:solidFill>
                  <a:schemeClr val="tx2"/>
                </a:solidFill>
                <a:latin typeface="+mj-lt"/>
              </a:rPr>
              <a:t>μ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 </a:t>
            </a:r>
          </a:p>
          <a:p>
            <a:pPr lvl="1"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	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measures the distance from </a:t>
            </a:r>
            <a:r>
              <a:rPr lang="tr-TR" sz="2400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to </a:t>
            </a:r>
            <a:r>
              <a:rPr lang="tr-TR" sz="2400" b="1" i="1" dirty="0">
                <a:solidFill>
                  <a:schemeClr val="tx2"/>
                </a:solidFill>
                <a:latin typeface="+mj-lt"/>
              </a:rPr>
              <a:t>μ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in terms of </a:t>
            </a:r>
            <a:r>
              <a:rPr lang="tr-TR" sz="2400" b="1" dirty="0">
                <a:solidFill>
                  <a:schemeClr val="tx2"/>
                </a:solidFill>
                <a:latin typeface="+mj-lt"/>
              </a:rPr>
              <a:t>∑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(normalizes for difference in variances and correlations)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Bivariate: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d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= 2</a:t>
            </a:r>
          </a:p>
          <a:p>
            <a:pPr>
              <a:buFont typeface="Wingdings" pitchFamily="2" charset="2"/>
              <a:buNone/>
            </a:pPr>
            <a:endParaRPr lang="tr-TR" dirty="0">
              <a:latin typeface="+mj-lt"/>
            </a:endParaRPr>
          </a:p>
        </p:txBody>
      </p:sp>
      <p:graphicFrame>
        <p:nvGraphicFramePr>
          <p:cNvPr id="217103" name="Object 1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851920" y="3356992"/>
          <a:ext cx="2880320" cy="1282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040" imgH="482400" progId="Equation.3">
                  <p:embed/>
                </p:oleObj>
              </mc:Choice>
              <mc:Fallback>
                <p:oleObj name="Equation" r:id="rId4" imgW="1346040" imgH="482400" progId="Equation.3">
                  <p:embed/>
                  <p:pic>
                    <p:nvPicPr>
                      <p:cNvPr id="21710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3356992"/>
                        <a:ext cx="2880320" cy="12822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05" name="Object 17"/>
          <p:cNvGraphicFramePr>
            <a:graphicFrameLocks noChangeAspect="1"/>
          </p:cNvGraphicFramePr>
          <p:nvPr/>
        </p:nvGraphicFramePr>
        <p:xfrm>
          <a:off x="971600" y="4941168"/>
          <a:ext cx="7359650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70200" imgH="711000" progId="Equation.3">
                  <p:embed/>
                </p:oleObj>
              </mc:Choice>
              <mc:Fallback>
                <p:oleObj name="Equation" r:id="rId6" imgW="3670200" imgH="711000" progId="Equation.3">
                  <p:embed/>
                  <p:pic>
                    <p:nvPicPr>
                      <p:cNvPr id="21710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941168"/>
                        <a:ext cx="7359650" cy="1425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04013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813" y="1628800"/>
            <a:ext cx="6026496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332656"/>
            <a:ext cx="8075240" cy="864096"/>
          </a:xfrm>
        </p:spPr>
        <p:txBody>
          <a:bodyPr>
            <a:normAutofit/>
          </a:bodyPr>
          <a:lstStyle/>
          <a:p>
            <a:r>
              <a:rPr lang="tr-TR" dirty="0"/>
              <a:t>Bivariate Normal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BFFA06F-D51B-44D4-A139-D23E3421C7E4}" type="slidenum">
              <a:rPr lang="tr-TR"/>
              <a:pPr/>
              <a:t>40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48572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4EEF4-207C-4F6D-882D-044F2E2B6F4F}" type="slidenum">
              <a:rPr lang="tr-TR"/>
              <a:pPr/>
              <a:t>41</a:t>
            </a:fld>
            <a:endParaRPr lang="tr-TR"/>
          </a:p>
        </p:txBody>
      </p:sp>
      <p:pic>
        <p:nvPicPr>
          <p:cNvPr id="21812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0113" y="476250"/>
            <a:ext cx="7372350" cy="615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58669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Independent Inputs: Naive Bayes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67BA215-60DD-4387-9842-6FD10EB5354D}" type="slidenum">
              <a:rPr lang="tr-TR"/>
              <a:pPr/>
              <a:t>42</a:t>
            </a:fld>
            <a:endParaRPr lang="tr-TR"/>
          </a:p>
        </p:txBody>
      </p:sp>
      <p:graphicFrame>
        <p:nvGraphicFramePr>
          <p:cNvPr id="219142" name="Object 6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000125" y="3357563"/>
          <a:ext cx="7208838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14520" imgH="698400" progId="Equation.3">
                  <p:embed/>
                </p:oleObj>
              </mc:Choice>
              <mc:Fallback>
                <p:oleObj name="Equation" r:id="rId2" imgW="3314520" imgH="698400" progId="Equation.3">
                  <p:embed/>
                  <p:pic>
                    <p:nvPicPr>
                      <p:cNvPr id="2191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3357563"/>
                        <a:ext cx="7208838" cy="1519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1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2000250"/>
            <a:ext cx="8229600" cy="3886200"/>
          </a:xfrm>
        </p:spPr>
        <p:txBody>
          <a:bodyPr>
            <a:normAutofit fontScale="92500" lnSpcReduction="20000"/>
          </a:bodyPr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If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are independent, offdiagonals of </a:t>
            </a:r>
            <a:r>
              <a:rPr lang="tr-TR" sz="2800" b="1" dirty="0">
                <a:solidFill>
                  <a:schemeClr val="tx2"/>
                </a:solidFill>
                <a:latin typeface="+mj-lt"/>
              </a:rPr>
              <a:t>∑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are 0, Mahalanobis distance reduces to weighted (by 1/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σ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 Euclidean distance:</a:t>
            </a:r>
          </a:p>
          <a:p>
            <a:endParaRPr lang="tr-TR" dirty="0">
              <a:solidFill>
                <a:schemeClr val="tx2"/>
              </a:solidFill>
              <a:latin typeface="+mj-lt"/>
            </a:endParaRPr>
          </a:p>
          <a:p>
            <a:endParaRPr lang="tr-TR" dirty="0">
              <a:solidFill>
                <a:schemeClr val="tx2"/>
              </a:solidFill>
              <a:latin typeface="+mj-lt"/>
            </a:endParaRPr>
          </a:p>
          <a:p>
            <a:endParaRPr lang="tr-TR" dirty="0">
              <a:solidFill>
                <a:schemeClr val="tx2"/>
              </a:solidFill>
              <a:latin typeface="+mj-lt"/>
            </a:endParaRPr>
          </a:p>
          <a:p>
            <a:endParaRPr lang="tr-TR" dirty="0">
              <a:solidFill>
                <a:schemeClr val="tx2"/>
              </a:solidFill>
              <a:latin typeface="+mj-lt"/>
            </a:endParaRP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If variances are also equal, reduces to Euclidean distance</a:t>
            </a:r>
          </a:p>
          <a:p>
            <a:pPr>
              <a:buFont typeface="Wingdings" pitchFamily="2" charset="2"/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014676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260648"/>
            <a:ext cx="8075240" cy="936104"/>
          </a:xfrm>
        </p:spPr>
        <p:txBody>
          <a:bodyPr>
            <a:normAutofit/>
          </a:bodyPr>
          <a:lstStyle/>
          <a:p>
            <a:r>
              <a:rPr lang="tr-TR" dirty="0"/>
              <a:t>Parametric Classification</a:t>
            </a:r>
            <a:endParaRPr lang="tr-TR" sz="4400" i="0" dirty="0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If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p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sz="2400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|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C</a:t>
            </a:r>
            <a:r>
              <a:rPr lang="tr-TR" sz="2400" i="1" baseline="-25000" dirty="0">
                <a:solidFill>
                  <a:schemeClr val="tx2"/>
                </a:solidFill>
                <a:latin typeface="+mj-lt"/>
              </a:rPr>
              <a:t>i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) ~ N ( </a:t>
            </a:r>
            <a:r>
              <a:rPr lang="tr-TR" sz="2400" b="1" i="1" dirty="0">
                <a:solidFill>
                  <a:schemeClr val="tx2"/>
                </a:solidFill>
                <a:latin typeface="+mj-lt"/>
              </a:rPr>
              <a:t>μ</a:t>
            </a:r>
            <a:r>
              <a:rPr lang="tr-TR" sz="2400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, </a:t>
            </a:r>
            <a:r>
              <a:rPr lang="tr-TR" sz="2400" b="1" dirty="0">
                <a:solidFill>
                  <a:schemeClr val="tx2"/>
                </a:solidFill>
                <a:latin typeface="+mj-lt"/>
              </a:rPr>
              <a:t>∑</a:t>
            </a:r>
            <a:r>
              <a:rPr lang="tr-TR" sz="2400" i="1" baseline="-25000" dirty="0">
                <a:solidFill>
                  <a:schemeClr val="tx2"/>
                </a:solidFill>
                <a:latin typeface="+mj-lt"/>
              </a:rPr>
              <a:t>i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)</a:t>
            </a:r>
          </a:p>
          <a:p>
            <a:endParaRPr lang="tr-TR" sz="2000" dirty="0">
              <a:solidFill>
                <a:schemeClr val="tx2"/>
              </a:solidFill>
              <a:latin typeface="+mj-lt"/>
            </a:endParaRPr>
          </a:p>
          <a:p>
            <a:endParaRPr lang="tr-TR" sz="2000" dirty="0">
              <a:solidFill>
                <a:schemeClr val="tx2"/>
              </a:solidFill>
              <a:latin typeface="+mj-lt"/>
            </a:endParaRPr>
          </a:p>
          <a:p>
            <a:endParaRPr lang="tr-TR" sz="2000" dirty="0">
              <a:solidFill>
                <a:schemeClr val="tx2"/>
              </a:solidFill>
              <a:latin typeface="+mj-lt"/>
            </a:endParaRPr>
          </a:p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Discriminant functions</a:t>
            </a:r>
          </a:p>
        </p:txBody>
      </p:sp>
      <p:graphicFrame>
        <p:nvGraphicFramePr>
          <p:cNvPr id="221193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73150" y="2433638"/>
          <a:ext cx="7023100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13000" imgH="469800" progId="Equation.3">
                  <p:embed/>
                </p:oleObj>
              </mc:Choice>
              <mc:Fallback>
                <p:oleObj name="Equation" r:id="rId2" imgW="3213000" imgH="469800" progId="Equation.3">
                  <p:embed/>
                  <p:pic>
                    <p:nvPicPr>
                      <p:cNvPr id="2211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2433638"/>
                        <a:ext cx="7023100" cy="1027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95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44525" y="4162425"/>
          <a:ext cx="7889875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59120" imgH="609480" progId="Equation.3">
                  <p:embed/>
                </p:oleObj>
              </mc:Choice>
              <mc:Fallback>
                <p:oleObj name="Equation" r:id="rId4" imgW="3759120" imgH="609480" progId="Equation.3">
                  <p:embed/>
                  <p:pic>
                    <p:nvPicPr>
                      <p:cNvPr id="22119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4162425"/>
                        <a:ext cx="7889875" cy="1279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7C4004-C347-45D8-90E1-BDDF4F9783AA}" type="slidenum">
              <a:rPr lang="tr-TR"/>
              <a:pPr/>
              <a:t>43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1491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Estimation of Parameters</a:t>
            </a:r>
          </a:p>
        </p:txBody>
      </p:sp>
      <p:graphicFrame>
        <p:nvGraphicFramePr>
          <p:cNvPr id="222215" name="Object 7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071563" y="2071688"/>
          <a:ext cx="4210050" cy="322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520" imgH="1498320" progId="Equation.3">
                  <p:embed/>
                </p:oleObj>
              </mc:Choice>
              <mc:Fallback>
                <p:oleObj name="Equation" r:id="rId2" imgW="1955520" imgH="1498320" progId="Equation.3">
                  <p:embed/>
                  <p:pic>
                    <p:nvPicPr>
                      <p:cNvPr id="2222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2071688"/>
                        <a:ext cx="4210050" cy="322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7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14438" y="5357813"/>
          <a:ext cx="6904037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393480" progId="Equation.3">
                  <p:embed/>
                </p:oleObj>
              </mc:Choice>
              <mc:Fallback>
                <p:oleObj name="Equation" r:id="rId4" imgW="3200400" imgH="393480" progId="Equation.3">
                  <p:embed/>
                  <p:pic>
                    <p:nvPicPr>
                      <p:cNvPr id="2222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5357813"/>
                        <a:ext cx="6904037" cy="849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25000" lnSpcReduction="20000"/>
          </a:bodyPr>
          <a:lstStyle/>
          <a:p>
            <a:fld id="{79703DE4-3C38-4D55-87C0-550690D3BF90}" type="slidenum">
              <a:rPr lang="tr-TR"/>
              <a:pPr/>
              <a:t>44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38494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Discrete Features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AEA590A-4414-4CD3-8DB6-AAB08F2761A4}" type="slidenum">
              <a:rPr lang="tr-TR"/>
              <a:pPr/>
              <a:t>45</a:t>
            </a:fld>
            <a:endParaRPr lang="tr-TR"/>
          </a:p>
        </p:txBody>
      </p:sp>
      <p:graphicFrame>
        <p:nvGraphicFramePr>
          <p:cNvPr id="233488" name="Object 16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15616" y="4437112"/>
          <a:ext cx="624205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560" imgH="583920" progId="Equation.3">
                  <p:embed/>
                </p:oleObj>
              </mc:Choice>
              <mc:Fallback>
                <p:oleObj name="Equation" r:id="rId2" imgW="3022560" imgH="583920" progId="Equation.3">
                  <p:embed/>
                  <p:pic>
                    <p:nvPicPr>
                      <p:cNvPr id="23348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437112"/>
                        <a:ext cx="6242050" cy="120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772816"/>
            <a:ext cx="8229600" cy="3886200"/>
          </a:xfrm>
        </p:spPr>
        <p:txBody>
          <a:bodyPr/>
          <a:lstStyle/>
          <a:p>
            <a:r>
              <a:rPr lang="tr-TR" dirty="0">
                <a:solidFill>
                  <a:schemeClr val="accent1"/>
                </a:solidFill>
                <a:latin typeface="+mj-lt"/>
              </a:rPr>
              <a:t>Binary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features:</a:t>
            </a: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		if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j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are independent (Naive Bayes’)</a:t>
            </a:r>
          </a:p>
          <a:p>
            <a:pPr>
              <a:buFont typeface="Wingdings" pitchFamily="2" charset="2"/>
              <a:buNone/>
            </a:pPr>
            <a:endParaRPr lang="tr-TR" dirty="0">
              <a:solidFill>
                <a:schemeClr val="tx2"/>
              </a:solidFill>
              <a:latin typeface="+mj-lt"/>
            </a:endParaRPr>
          </a:p>
          <a:p>
            <a:pPr>
              <a:buFont typeface="Wingdings" pitchFamily="2" charset="2"/>
              <a:buNone/>
            </a:pPr>
            <a:endParaRPr lang="tr-TR" dirty="0">
              <a:solidFill>
                <a:schemeClr val="tx2"/>
              </a:solidFill>
              <a:latin typeface="+mj-lt"/>
            </a:endParaRP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		the discriminant is linear</a:t>
            </a: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 </a:t>
            </a:r>
          </a:p>
        </p:txBody>
      </p:sp>
      <p:graphicFrame>
        <p:nvGraphicFramePr>
          <p:cNvPr id="233483" name="Object 11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923928" y="1844824"/>
          <a:ext cx="21193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360" imgH="228600" progId="Equation.3">
                  <p:embed/>
                </p:oleObj>
              </mc:Choice>
              <mc:Fallback>
                <p:oleObj name="Equation" r:id="rId4" imgW="990360" imgH="228600" progId="Equation.3">
                  <p:embed/>
                  <p:pic>
                    <p:nvPicPr>
                      <p:cNvPr id="2334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1844824"/>
                        <a:ext cx="2119313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5" name="Object 1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843808" y="2924944"/>
          <a:ext cx="35321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444240" progId="Equation.3">
                  <p:embed/>
                </p:oleObj>
              </mc:Choice>
              <mc:Fallback>
                <p:oleObj name="Equation" r:id="rId6" imgW="1676160" imgH="444240" progId="Equation.3">
                  <p:embed/>
                  <p:pic>
                    <p:nvPicPr>
                      <p:cNvPr id="2334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924944"/>
                        <a:ext cx="3532188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90" name="Object 1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220072" y="5589240"/>
          <a:ext cx="168592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507960" progId="Equation.3">
                  <p:embed/>
                </p:oleObj>
              </mc:Choice>
              <mc:Fallback>
                <p:oleObj name="Equation" r:id="rId8" imgW="812520" imgH="507960" progId="Equation.3">
                  <p:embed/>
                  <p:pic>
                    <p:nvPicPr>
                      <p:cNvPr id="23349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5589240"/>
                        <a:ext cx="1685925" cy="105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82" name="Text Box 10"/>
          <p:cNvSpPr txBox="1">
            <a:spLocks noChangeArrowheads="1"/>
          </p:cNvSpPr>
          <p:nvPr/>
        </p:nvSpPr>
        <p:spPr bwMode="auto">
          <a:xfrm>
            <a:off x="1476375" y="5661025"/>
            <a:ext cx="29300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dirty="0">
                <a:solidFill>
                  <a:schemeClr val="tx2"/>
                </a:solidFill>
                <a:latin typeface="+mj-lt"/>
              </a:rPr>
              <a:t>Estimated parameters</a:t>
            </a:r>
          </a:p>
        </p:txBody>
      </p:sp>
    </p:spTree>
    <p:extLst>
      <p:ext uri="{BB962C8B-B14F-4D97-AF65-F5344CB8AC3E}">
        <p14:creationId xmlns:p14="http://schemas.microsoft.com/office/powerpoint/2010/main" val="36217016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Discrete Features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4827EAA-DCEE-44A3-9544-765A8D2C5AB4}" type="slidenum">
              <a:rPr lang="tr-TR"/>
              <a:pPr/>
              <a:t>46</a:t>
            </a:fld>
            <a:endParaRPr lang="tr-TR"/>
          </a:p>
        </p:txBody>
      </p:sp>
      <p:graphicFrame>
        <p:nvGraphicFramePr>
          <p:cNvPr id="234505" name="Object 9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691680" y="2204864"/>
          <a:ext cx="46831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228600" progId="Equation.3">
                  <p:embed/>
                </p:oleObj>
              </mc:Choice>
              <mc:Fallback>
                <p:oleObj name="Equation" r:id="rId2" imgW="1942920" imgH="228600" progId="Equation.3">
                  <p:embed/>
                  <p:pic>
                    <p:nvPicPr>
                      <p:cNvPr id="2345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2204864"/>
                        <a:ext cx="4683125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4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628800"/>
            <a:ext cx="8229600" cy="3886200"/>
          </a:xfrm>
        </p:spPr>
        <p:txBody>
          <a:bodyPr/>
          <a:lstStyle/>
          <a:p>
            <a:r>
              <a:rPr lang="tr-TR" dirty="0">
                <a:solidFill>
                  <a:schemeClr val="accent1"/>
                </a:solidFill>
                <a:latin typeface="+mj-lt"/>
              </a:rPr>
              <a:t>Multinomial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(1-of-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j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 features: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j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Î {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v</a:t>
            </a:r>
            <a:r>
              <a:rPr lang="tr-TR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,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v</a:t>
            </a:r>
            <a:r>
              <a:rPr lang="tr-TR" baseline="-25000" dirty="0">
                <a:solidFill>
                  <a:schemeClr val="tx2"/>
                </a:solidFill>
                <a:latin typeface="+mj-lt"/>
              </a:rPr>
              <a:t>2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,...,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v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n</a:t>
            </a:r>
            <a:r>
              <a:rPr lang="tr-TR" i="1" baseline="-50000" dirty="0">
                <a:solidFill>
                  <a:schemeClr val="tx2"/>
                </a:solidFill>
                <a:latin typeface="+mj-lt"/>
              </a:rPr>
              <a:t>j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tr-TR" dirty="0">
              <a:solidFill>
                <a:schemeClr val="tx2"/>
              </a:solidFill>
              <a:latin typeface="+mj-lt"/>
            </a:endParaRP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	if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j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are independent</a:t>
            </a:r>
          </a:p>
          <a:p>
            <a:pPr>
              <a:buFont typeface="Wingdings" pitchFamily="2" charset="2"/>
              <a:buNone/>
            </a:pPr>
            <a:endParaRPr lang="tr-TR" dirty="0">
              <a:solidFill>
                <a:schemeClr val="tx2"/>
              </a:solidFill>
              <a:latin typeface="+mj-lt"/>
            </a:endParaRPr>
          </a:p>
          <a:p>
            <a:pPr>
              <a:buFont typeface="Wingdings" pitchFamily="2" charset="2"/>
              <a:buNone/>
            </a:pPr>
            <a:endParaRPr lang="tr-TR" dirty="0">
              <a:solidFill>
                <a:schemeClr val="tx2"/>
              </a:solidFill>
              <a:latin typeface="+mj-lt"/>
            </a:endParaRPr>
          </a:p>
        </p:txBody>
      </p:sp>
      <p:graphicFrame>
        <p:nvGraphicFramePr>
          <p:cNvPr id="234507" name="Object 11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979712" y="3212976"/>
          <a:ext cx="4549775" cy="270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33360" imgH="1269720" progId="Equation.3">
                  <p:embed/>
                </p:oleObj>
              </mc:Choice>
              <mc:Fallback>
                <p:oleObj name="Equation" r:id="rId4" imgW="2133360" imgH="1269720" progId="Equation.3">
                  <p:embed/>
                  <p:pic>
                    <p:nvPicPr>
                      <p:cNvPr id="23450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3212976"/>
                        <a:ext cx="4549775" cy="2708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95512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>
                <a:solidFill>
                  <a:srgbClr val="FF0000"/>
                </a:solidFill>
              </a:rPr>
              <a:t>http://www.cmpe.boun.edu.tr/~ethem/i2ml3e</a:t>
            </a:r>
          </a:p>
          <a:p>
            <a:pPr fontAlgn="ctr"/>
            <a:r>
              <a:rPr lang="en-US" dirty="0"/>
              <a:t>https://users.cs.fiu.edu/~taoli/class/CAP4770-F10/class08.ppt</a:t>
            </a:r>
          </a:p>
          <a:p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02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13979</TotalTime>
  <Words>1576</Words>
  <Application>Microsoft Macintosh PowerPoint</Application>
  <PresentationFormat>On-screen Show (4:3)</PresentationFormat>
  <Paragraphs>287</Paragraphs>
  <Slides>47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1" baseType="lpstr">
      <vt:lpstr>Arial</vt:lpstr>
      <vt:lpstr>Calibri</vt:lpstr>
      <vt:lpstr>Comic Sans MS</vt:lpstr>
      <vt:lpstr>Gill Sans MT</vt:lpstr>
      <vt:lpstr>Lucida Bright</vt:lpstr>
      <vt:lpstr>Lucida Calligraphy</vt:lpstr>
      <vt:lpstr>Monotype Sorts</vt:lpstr>
      <vt:lpstr>Symbol</vt:lpstr>
      <vt:lpstr>Times New Roman</vt:lpstr>
      <vt:lpstr>Verdana</vt:lpstr>
      <vt:lpstr>Wingdings</vt:lpstr>
      <vt:lpstr>Wingdings 2</vt:lpstr>
      <vt:lpstr>Solstice</vt:lpstr>
      <vt:lpstr>Equation</vt:lpstr>
      <vt:lpstr>CSCE883 Machine Learning</vt:lpstr>
      <vt:lpstr>The estimation problem</vt:lpstr>
      <vt:lpstr>Parametric Estimation</vt:lpstr>
      <vt:lpstr>Maximum Likelihood Estimation</vt:lpstr>
      <vt:lpstr>The Likelihood Function</vt:lpstr>
      <vt:lpstr>Example: MLE in Binomial Data</vt:lpstr>
      <vt:lpstr>From Binomial to Multinomial</vt:lpstr>
      <vt:lpstr>Example: Multinomial</vt:lpstr>
      <vt:lpstr>Examples: Bernoulli/Multinomial</vt:lpstr>
      <vt:lpstr>Gaussian (Normal) Distribution</vt:lpstr>
      <vt:lpstr>Bias and Variance</vt:lpstr>
      <vt:lpstr>Bayes’ Estimator</vt:lpstr>
      <vt:lpstr>Bayes’ Estimator: Example</vt:lpstr>
      <vt:lpstr>Parametric Classification</vt:lpstr>
      <vt:lpstr>PowerPoint Presentation</vt:lpstr>
      <vt:lpstr>PowerPoint Presentation</vt:lpstr>
      <vt:lpstr>PowerPoint Presentation</vt:lpstr>
      <vt:lpstr>PowerPoint Presentation</vt:lpstr>
      <vt:lpstr>Regression</vt:lpstr>
      <vt:lpstr>Regression: From LogL to Error</vt:lpstr>
      <vt:lpstr>Linear Regression</vt:lpstr>
      <vt:lpstr>Polynomial Regression</vt:lpstr>
      <vt:lpstr>Other Error Measures</vt:lpstr>
      <vt:lpstr>Bias and Variance</vt:lpstr>
      <vt:lpstr>Estimating Bias and Variance</vt:lpstr>
      <vt:lpstr>Bias/Variance Dilemma</vt:lpstr>
      <vt:lpstr>PowerPoint Presentation</vt:lpstr>
      <vt:lpstr>Polynomial Regression</vt:lpstr>
      <vt:lpstr>PowerPoint Presentation</vt:lpstr>
      <vt:lpstr>Model Selection</vt:lpstr>
      <vt:lpstr>Bayesian Model Selection</vt:lpstr>
      <vt:lpstr>Regression example</vt:lpstr>
      <vt:lpstr>PowerPoint Presentation</vt:lpstr>
      <vt:lpstr>Multivariate Data</vt:lpstr>
      <vt:lpstr>Multivariate Parameters</vt:lpstr>
      <vt:lpstr>Parameter Estimation</vt:lpstr>
      <vt:lpstr>Estimation of Missing Values</vt:lpstr>
      <vt:lpstr>Multivariate Normal Distribution</vt:lpstr>
      <vt:lpstr>Multivariate Normal Distribution</vt:lpstr>
      <vt:lpstr>Bivariate Normal</vt:lpstr>
      <vt:lpstr>PowerPoint Presentation</vt:lpstr>
      <vt:lpstr>Independent Inputs: Naive Bayes</vt:lpstr>
      <vt:lpstr>Parametric Classification</vt:lpstr>
      <vt:lpstr>Estimation of Parameters</vt:lpstr>
      <vt:lpstr>Discrete Features</vt:lpstr>
      <vt:lpstr>Discrete Features</vt:lpstr>
      <vt:lpstr>Acknowledgements</vt:lpstr>
    </vt:vector>
  </TitlesOfParts>
  <Company>University of South Carolina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jianjunh</dc:creator>
  <cp:lastModifiedBy>Hu, Jianjun</cp:lastModifiedBy>
  <cp:revision>147</cp:revision>
  <dcterms:created xsi:type="dcterms:W3CDTF">2016-01-10T23:57:09Z</dcterms:created>
  <dcterms:modified xsi:type="dcterms:W3CDTF">2024-09-16T04:48:05Z</dcterms:modified>
</cp:coreProperties>
</file>