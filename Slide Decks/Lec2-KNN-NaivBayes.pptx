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handoutMasterIdLst>
    <p:handoutMasterId r:id="rId69"/>
  </p:handoutMasterIdLst>
  <p:sldIdLst>
    <p:sldId id="256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42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27" r:id="rId28"/>
    <p:sldId id="343" r:id="rId29"/>
    <p:sldId id="393" r:id="rId30"/>
    <p:sldId id="355" r:id="rId31"/>
    <p:sldId id="356" r:id="rId32"/>
    <p:sldId id="357" r:id="rId33"/>
    <p:sldId id="358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90" r:id="rId47"/>
    <p:sldId id="391" r:id="rId48"/>
    <p:sldId id="392" r:id="rId49"/>
    <p:sldId id="373" r:id="rId50"/>
    <p:sldId id="374" r:id="rId51"/>
    <p:sldId id="375" r:id="rId52"/>
    <p:sldId id="376" r:id="rId53"/>
    <p:sldId id="377" r:id="rId54"/>
    <p:sldId id="378" r:id="rId55"/>
    <p:sldId id="379" r:id="rId56"/>
    <p:sldId id="380" r:id="rId57"/>
    <p:sldId id="381" r:id="rId58"/>
    <p:sldId id="382" r:id="rId59"/>
    <p:sldId id="383" r:id="rId60"/>
    <p:sldId id="384" r:id="rId61"/>
    <p:sldId id="385" r:id="rId62"/>
    <p:sldId id="386" r:id="rId63"/>
    <p:sldId id="387" r:id="rId64"/>
    <p:sldId id="388" r:id="rId65"/>
    <p:sldId id="389" r:id="rId66"/>
    <p:sldId id="354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307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845240-AF0E-4A19-B454-492FD520C3B1}" type="slidenum">
              <a:rPr lang="zh-CN" altLang="en-US">
                <a:latin typeface="Times New Roman" panose="02020603050405020304" pitchFamily="18" charset="0"/>
              </a:rPr>
              <a:pPr/>
              <a:t>24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4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FA2FFC-F416-4EC0-9298-8FE53744814E}" type="slidenum">
              <a:rPr lang="zh-CN" altLang="en-US">
                <a:latin typeface="Times New Roman" panose="02020603050405020304" pitchFamily="18" charset="0"/>
              </a:rPr>
              <a:pPr/>
              <a:t>25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5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D2D10FE-11AF-41B6-B895-D37900507D6A}" type="slidenum">
              <a:rPr lang="zh-CN" altLang="en-US">
                <a:latin typeface="Times New Roman" panose="02020603050405020304" pitchFamily="18" charset="0"/>
              </a:rPr>
              <a:pPr/>
              <a:t>26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86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D1A448C0-489F-46B7-B5CE-F5D997FA73CC}" type="slidenum">
              <a:rPr lang="en-US" altLang="en-US" sz="1300">
                <a:latin typeface="Arial" panose="020B0604020202020204" pitchFamily="34" charset="0"/>
              </a:rPr>
              <a:pPr eaLnBrk="1" hangingPunct="1"/>
              <a:t>29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754B71-71DA-400F-BB3A-590D1390CAA7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55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9C28D3-9E9B-4FB3-8A42-D9052CDD9F10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07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0E031E-9E26-4731-B2D2-27FFF7B028B6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362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344FF4-CAB1-4901-A409-404FEDD99A78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538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0CDADF-D789-4808-9FAD-2737AC35BFB9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736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5B5047-5A41-4FF8-B3FC-7C452EA61E82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902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7BC12A-8441-43BD-8378-0E9EFBEB5FB6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5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F0B431-DC0C-4623-B35C-76FCB05D1E05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262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526893-B12B-4F69-AE80-F69C47FE4F5C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66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DC542B-EF38-44B0-9C76-24648A0C420E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948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C4723D-D4AF-4F2B-AC11-4E9A384CB3D1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38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D3FEF1-485A-4D0D-A3D6-BF1C00F902EE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19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189111-E711-4E62-AE0B-AE27B13D831B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642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2A59E8-09A5-44E2-B18B-A558914EC894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719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96DC33-C915-4E7B-A13B-EE6344EDF2E5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47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AC2EC4-7CFE-4D16-98BF-932B4FE59CDB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34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7E1B5E18-1E3E-463A-AB42-E0DAE506C988}" type="slidenum">
              <a:rPr lang="en-US" altLang="en-US" sz="1300">
                <a:latin typeface="Arial" panose="020B0604020202020204" pitchFamily="34" charset="0"/>
              </a:rPr>
              <a:pPr eaLnBrk="1" hangingPunct="1"/>
              <a:t>46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450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1D27D07B-260C-41EE-A810-29E1601BE4A6}" type="slidenum">
              <a:rPr lang="en-US" altLang="en-US" sz="1300">
                <a:latin typeface="Arial" panose="020B0604020202020204" pitchFamily="34" charset="0"/>
              </a:rPr>
              <a:pPr eaLnBrk="1" hangingPunct="1"/>
              <a:t>47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5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5F737EF4-2923-4930-9345-E3753631A4B9}" type="slidenum">
              <a:rPr lang="en-US" altLang="en-US" sz="1300">
                <a:latin typeface="Arial" panose="020B0604020202020204" pitchFamily="34" charset="0"/>
              </a:rPr>
              <a:pPr eaLnBrk="1" hangingPunct="1"/>
              <a:t>48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8710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F0E62F-227D-4EF4-875B-183BDAE7A653}" type="slidenum">
              <a:rPr lang="en-US" altLang="en-US" smtClean="0"/>
              <a:pPr/>
              <a:t>53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2824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7CB36D-8718-4B47-899D-2B08E4031A27}" type="slidenum">
              <a:rPr lang="en-US" altLang="en-US" smtClean="0"/>
              <a:pPr/>
              <a:t>54</a:t>
            </a:fld>
            <a:endParaRPr lang="en-US" alt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18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B7C020-C403-459A-8B7F-A5F3CC6882F6}" type="slidenum">
              <a:rPr lang="en-US" altLang="en-US" smtClean="0"/>
              <a:pPr/>
              <a:t>55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9850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9250E6-A185-4F27-9E00-C03696EB61E7}" type="slidenum">
              <a:rPr lang="en-US" altLang="en-US" smtClean="0"/>
              <a:pPr/>
              <a:t>56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16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342902-6D59-4E5F-8AE7-BB43C58D4B3D}" type="slidenum">
              <a:rPr lang="en-US" altLang="en-US" smtClean="0"/>
              <a:pPr/>
              <a:t>57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67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07A54E-2C29-4FF9-83A3-ADC3866B4C6D}" type="slidenum">
              <a:rPr lang="en-US" altLang="en-US" smtClean="0"/>
              <a:pPr/>
              <a:t>58</a:t>
            </a:fld>
            <a:endParaRPr lang="en-US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3597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C5281B-EDDD-408D-94B2-222A9A704105}" type="slidenum">
              <a:rPr lang="zh-CN" altLang="en-US" smtClean="0"/>
              <a:pPr/>
              <a:t>59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66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2634FC-7A5A-441C-91F0-8168E1F4FA07}" type="slidenum">
              <a:rPr lang="zh-CN" altLang="en-US" smtClean="0"/>
              <a:pPr/>
              <a:t>60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1577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832BBE-39E4-4AA7-A563-8F7FC59332B2}" type="slidenum">
              <a:rPr lang="en-US" altLang="en-US" smtClean="0"/>
              <a:pPr/>
              <a:t>61</a:t>
            </a:fld>
            <a:endParaRPr lang="en-US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061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7F456D-B7C8-484D-AF54-4D1C8754A56C}" type="slidenum">
              <a:rPr lang="en-US" altLang="en-US" smtClean="0"/>
              <a:pPr/>
              <a:t>62</a:t>
            </a:fld>
            <a:endParaRPr lang="en-US" alt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022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EB6218-666A-4082-AB06-5CB67D597BAC}" type="slidenum">
              <a:rPr lang="en-US" altLang="en-US" smtClean="0"/>
              <a:pPr/>
              <a:t>63</a:t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3475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6DB780-F373-4985-8B8A-6C60372D3A15}" type="slidenum">
              <a:rPr lang="en-US" altLang="en-US" smtClean="0"/>
              <a:pPr/>
              <a:t>64</a:t>
            </a:fld>
            <a:endParaRPr lang="en-US" alt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980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FAD6A3-7ED4-4682-B378-E987B7B2FCBD}" type="slidenum">
              <a:rPr lang="en-US" altLang="en-US" smtClean="0"/>
              <a:pPr/>
              <a:t>65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47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2AD2982-C8A2-46B9-B5BF-2CA42BE54529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1917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9C910F-95E2-44E4-84AE-A7A1028AFFDD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32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1E02EA1-D2B5-4355-B372-290AC846D86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4934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9C3109D-626F-4B87-B607-773472FB1702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60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8/27/24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wmf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7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7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7406640" cy="236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2  </a:t>
            </a:r>
            <a:r>
              <a:rPr lang="en-US" dirty="0" err="1"/>
              <a:t>SL+KNN+Bayes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Learning a Class from Examples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6444352-98EB-4C2F-B839-A2A12EA93647}" type="slidenum">
              <a:rPr lang="tr-TR"/>
              <a:pPr/>
              <a:t>2</a:t>
            </a:fld>
            <a:endParaRPr lang="tr-TR"/>
          </a:p>
        </p:txBody>
      </p:sp>
      <p:sp>
        <p:nvSpPr>
          <p:cNvPr id="47111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1439179" y="3048000"/>
            <a:ext cx="7498080" cy="3352800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Class C of a “family car”</a:t>
            </a:r>
          </a:p>
          <a:p>
            <a:pPr lvl="1"/>
            <a:r>
              <a:rPr lang="tr-TR" sz="2400" dirty="0">
                <a:solidFill>
                  <a:schemeClr val="accent1"/>
                </a:solidFill>
                <a:latin typeface="+mj-lt"/>
              </a:rPr>
              <a:t>Prediction: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Is car </a:t>
            </a:r>
            <a:r>
              <a:rPr lang="tr-TR" sz="2400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sz="2400" dirty="0">
                <a:solidFill>
                  <a:schemeClr val="tx2"/>
                </a:solidFill>
                <a:latin typeface="+mj-lt"/>
              </a:rPr>
              <a:t> a family car?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Input representation: </a:t>
            </a:r>
          </a:p>
          <a:p>
            <a:pPr>
              <a:buFont typeface="Wingdings" pitchFamily="2" charset="2"/>
              <a:buNone/>
            </a:pPr>
            <a:r>
              <a:rPr lang="tr-TR" i="1" dirty="0">
                <a:solidFill>
                  <a:schemeClr val="tx2"/>
                </a:solidFill>
                <a:latin typeface="+mj-lt"/>
              </a:rPr>
              <a:t>		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: price,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: engine power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Output: </a:t>
            </a:r>
          </a:p>
          <a:p>
            <a:pPr lvl="1">
              <a:buFont typeface="Wingdings" pitchFamily="2" charset="2"/>
              <a:buNone/>
            </a:pPr>
            <a:r>
              <a:rPr lang="tr-TR" sz="2400" dirty="0">
                <a:solidFill>
                  <a:schemeClr val="tx2"/>
                </a:solidFill>
                <a:latin typeface="+mj-lt"/>
              </a:rPr>
              <a:t>		Positive (+) and negative (–) 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84" y="1254088"/>
            <a:ext cx="2466975" cy="1847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295400"/>
            <a:ext cx="27336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3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57338"/>
            <a:ext cx="558165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44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990848" y="332656"/>
            <a:ext cx="8229600" cy="828660"/>
          </a:xfrm>
        </p:spPr>
        <p:txBody>
          <a:bodyPr/>
          <a:lstStyle/>
          <a:p>
            <a:r>
              <a:rPr lang="tr-TR" dirty="0"/>
              <a:t>Training set </a:t>
            </a:r>
            <a:r>
              <a:rPr lang="tr-TR" i="0" dirty="0">
                <a:latin typeface="Lucida Calligraphy" pitchFamily="66" charset="0"/>
              </a:rPr>
              <a:t>X</a:t>
            </a:r>
          </a:p>
        </p:txBody>
      </p:sp>
      <p:graphicFrame>
        <p:nvGraphicFramePr>
          <p:cNvPr id="112665" name="Rectangle 2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50344884"/>
              </p:ext>
            </p:extLst>
          </p:nvPr>
        </p:nvGraphicFramePr>
        <p:xfrm>
          <a:off x="3071812" y="291465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112665" name="Rectangle 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2" y="291465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7" name="Object 2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83913215"/>
              </p:ext>
            </p:extLst>
          </p:nvPr>
        </p:nvGraphicFramePr>
        <p:xfrm>
          <a:off x="6823496" y="1700808"/>
          <a:ext cx="180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41200" progId="Equation.3">
                  <p:embed/>
                </p:oleObj>
              </mc:Choice>
              <mc:Fallback>
                <p:oleObj name="Equation" r:id="rId4" imgW="863280" imgH="241200" progId="Equation.3">
                  <p:embed/>
                  <p:pic>
                    <p:nvPicPr>
                      <p:cNvPr id="11266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496" y="1700808"/>
                        <a:ext cx="18065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1" name="Object 3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01526574"/>
              </p:ext>
            </p:extLst>
          </p:nvPr>
        </p:nvGraphicFramePr>
        <p:xfrm>
          <a:off x="5887392" y="2708920"/>
          <a:ext cx="30956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57200" progId="Equation.3">
                  <p:embed/>
                </p:oleObj>
              </mc:Choice>
              <mc:Fallback>
                <p:oleObj name="Equation" r:id="rId6" imgW="1371600" imgH="457200" progId="Equation.3">
                  <p:embed/>
                  <p:pic>
                    <p:nvPicPr>
                      <p:cNvPr id="11267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392" y="2708920"/>
                        <a:ext cx="3095625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183437" y="6237288"/>
            <a:ext cx="2133600" cy="457200"/>
          </a:xfrm>
        </p:spPr>
        <p:txBody>
          <a:bodyPr/>
          <a:lstStyle/>
          <a:p>
            <a:fld id="{EEDA0B84-E934-4CCF-852A-950DBD7D0868}" type="slidenum">
              <a:rPr lang="tr-TR"/>
              <a:pPr/>
              <a:t>3</a:t>
            </a:fld>
            <a:endParaRPr lang="tr-TR"/>
          </a:p>
        </p:txBody>
      </p:sp>
      <p:graphicFrame>
        <p:nvGraphicFramePr>
          <p:cNvPr id="11267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131030"/>
              </p:ext>
            </p:extLst>
          </p:nvPr>
        </p:nvGraphicFramePr>
        <p:xfrm>
          <a:off x="7039520" y="4437112"/>
          <a:ext cx="124777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457200" progId="Equation.3">
                  <p:embed/>
                </p:oleObj>
              </mc:Choice>
              <mc:Fallback>
                <p:oleObj name="Equation" r:id="rId8" imgW="533160" imgH="457200" progId="Equation.3">
                  <p:embed/>
                  <p:pic>
                    <p:nvPicPr>
                      <p:cNvPr id="1126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9520" y="4437112"/>
                        <a:ext cx="1247775" cy="1068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70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1540" y="1484313"/>
            <a:ext cx="54006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7896" y="260648"/>
            <a:ext cx="8229600" cy="882352"/>
          </a:xfrm>
        </p:spPr>
        <p:txBody>
          <a:bodyPr/>
          <a:lstStyle/>
          <a:p>
            <a:r>
              <a:rPr lang="tr-TR" dirty="0"/>
              <a:t>Class </a:t>
            </a:r>
            <a:r>
              <a:rPr lang="tr-TR" i="0" dirty="0">
                <a:latin typeface="Lucida Calligraphy" pitchFamily="66" charset="0"/>
              </a:rPr>
              <a:t>C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305550"/>
            <a:ext cx="457200" cy="476250"/>
          </a:xfrm>
        </p:spPr>
        <p:txBody>
          <a:bodyPr>
            <a:normAutofit/>
          </a:bodyPr>
          <a:lstStyle/>
          <a:p>
            <a:fld id="{97FE7FC5-EBE2-4223-9934-12223D1105AE}" type="slidenum">
              <a:rPr lang="tr-TR"/>
              <a:pPr/>
              <a:t>4</a:t>
            </a:fld>
            <a:endParaRPr lang="tr-TR"/>
          </a:p>
        </p:txBody>
      </p:sp>
      <p:graphicFrame>
        <p:nvGraphicFramePr>
          <p:cNvPr id="115723" name="Object 11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51933529"/>
              </p:ext>
            </p:extLst>
          </p:nvPr>
        </p:nvGraphicFramePr>
        <p:xfrm>
          <a:off x="2644902" y="1863725"/>
          <a:ext cx="61356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22560" imgH="203040" progId="Equation.3">
                  <p:embed/>
                </p:oleObj>
              </mc:Choice>
              <mc:Fallback>
                <p:oleObj name="Equation" r:id="rId3" imgW="3022560" imgH="203040" progId="Equation.3">
                  <p:embed/>
                  <p:pic>
                    <p:nvPicPr>
                      <p:cNvPr id="1157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902" y="1863725"/>
                        <a:ext cx="6135688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763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701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9350" y="1484313"/>
            <a:ext cx="615315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144" y="188640"/>
            <a:ext cx="8229600" cy="936104"/>
          </a:xfrm>
        </p:spPr>
        <p:txBody>
          <a:bodyPr/>
          <a:lstStyle/>
          <a:p>
            <a:r>
              <a:rPr lang="tr-TR" dirty="0"/>
              <a:t>Hypothesis class </a:t>
            </a:r>
            <a:r>
              <a:rPr lang="tr-TR" i="0" dirty="0">
                <a:latin typeface="Lucida Calligraphy" pitchFamily="66" charset="0"/>
              </a:rPr>
              <a:t>H</a:t>
            </a:r>
          </a:p>
        </p:txBody>
      </p:sp>
      <p:graphicFrame>
        <p:nvGraphicFramePr>
          <p:cNvPr id="114712" name="Object 2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32934479"/>
              </p:ext>
            </p:extLst>
          </p:nvPr>
        </p:nvGraphicFramePr>
        <p:xfrm>
          <a:off x="4532313" y="1543050"/>
          <a:ext cx="36877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457200" progId="Equation.3">
                  <p:embed/>
                </p:oleObj>
              </mc:Choice>
              <mc:Fallback>
                <p:oleObj name="Equation" r:id="rId3" imgW="2019240" imgH="457200" progId="Equation.3">
                  <p:embed/>
                  <p:pic>
                    <p:nvPicPr>
                      <p:cNvPr id="1147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1543050"/>
                        <a:ext cx="3687762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4" name="Object 2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7754857"/>
              </p:ext>
            </p:extLst>
          </p:nvPr>
        </p:nvGraphicFramePr>
        <p:xfrm>
          <a:off x="6045696" y="4437112"/>
          <a:ext cx="3245097" cy="920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431640" progId="Equation.3">
                  <p:embed/>
                </p:oleObj>
              </mc:Choice>
              <mc:Fallback>
                <p:oleObj name="Equation" r:id="rId5" imgW="1523880" imgH="431640" progId="Equation.3">
                  <p:embed/>
                  <p:pic>
                    <p:nvPicPr>
                      <p:cNvPr id="11471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696" y="4437112"/>
                        <a:ext cx="3245097" cy="9203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09600" y="0"/>
            <a:ext cx="0" cy="0"/>
          </a:xfrm>
        </p:spPr>
        <p:txBody>
          <a:bodyPr>
            <a:normAutofit fontScale="25000" lnSpcReduction="20000"/>
          </a:bodyPr>
          <a:lstStyle/>
          <a:p>
            <a:fld id="{BBE044D3-A45A-49F6-AF6E-C0C10AACE9F4}" type="slidenum">
              <a:rPr lang="tr-TR"/>
              <a:pPr/>
              <a:t>5</a:t>
            </a:fld>
            <a:endParaRPr lang="tr-TR"/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5901680" y="3789040"/>
            <a:ext cx="36210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tr-TR" sz="2400" dirty="0">
                <a:latin typeface="+mj-lt"/>
              </a:rPr>
              <a:t>Error of </a:t>
            </a:r>
            <a:r>
              <a:rPr lang="tr-TR" sz="2400" i="1" dirty="0">
                <a:latin typeface="+mj-lt"/>
              </a:rPr>
              <a:t>h </a:t>
            </a:r>
            <a:r>
              <a:rPr lang="tr-TR" sz="2400" dirty="0">
                <a:latin typeface="+mj-lt"/>
              </a:rPr>
              <a:t>on</a:t>
            </a:r>
            <a:r>
              <a:rPr lang="tr-TR" sz="2400" i="1" dirty="0">
                <a:latin typeface="+mj-lt"/>
              </a:rPr>
              <a:t> </a:t>
            </a:r>
            <a:r>
              <a:rPr lang="tr-TR" sz="2400" i="0" dirty="0">
                <a:latin typeface="Lucida Calligraphy" pitchFamily="66" charset="0"/>
              </a:rPr>
              <a:t>H</a:t>
            </a:r>
            <a:endParaRPr lang="en-GB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897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3902" y="1557338"/>
            <a:ext cx="5000625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760" y="274638"/>
            <a:ext cx="7498080" cy="1143000"/>
          </a:xfrm>
        </p:spPr>
        <p:txBody>
          <a:bodyPr/>
          <a:lstStyle/>
          <a:p>
            <a:r>
              <a:rPr lang="tr-TR"/>
              <a:t>S, G, and the Version Space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67800" y="6305550"/>
            <a:ext cx="457200" cy="476250"/>
          </a:xfrm>
        </p:spPr>
        <p:txBody>
          <a:bodyPr>
            <a:normAutofit/>
          </a:bodyPr>
          <a:lstStyle/>
          <a:p>
            <a:fld id="{4BF278D9-B881-4104-A829-EC488FE52DF4}" type="slidenum">
              <a:rPr lang="tr-TR"/>
              <a:pPr/>
              <a:t>6</a:t>
            </a:fld>
            <a:endParaRPr lang="tr-TR"/>
          </a:p>
        </p:txBody>
      </p:sp>
      <p:sp>
        <p:nvSpPr>
          <p:cNvPr id="116749" name="Line 13"/>
          <p:cNvSpPr>
            <a:spLocks noChangeShapeType="1"/>
          </p:cNvSpPr>
          <p:nvPr/>
        </p:nvSpPr>
        <p:spPr bwMode="auto">
          <a:xfrm>
            <a:off x="2865565" y="2349500"/>
            <a:ext cx="2159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16750" name="Line 14"/>
          <p:cNvSpPr>
            <a:spLocks noChangeShapeType="1"/>
          </p:cNvSpPr>
          <p:nvPr/>
        </p:nvSpPr>
        <p:spPr bwMode="auto">
          <a:xfrm flipH="1">
            <a:off x="4881690" y="2781300"/>
            <a:ext cx="5762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16753" name="Text Box 17"/>
          <p:cNvSpPr txBox="1">
            <a:spLocks noChangeArrowheads="1"/>
          </p:cNvSpPr>
          <p:nvPr/>
        </p:nvSpPr>
        <p:spPr bwMode="auto">
          <a:xfrm>
            <a:off x="2001965" y="1952625"/>
            <a:ext cx="29662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dirty="0">
                <a:latin typeface="+mj-lt"/>
              </a:rPr>
              <a:t>most specific hypothesis, </a:t>
            </a:r>
            <a:r>
              <a:rPr lang="tr-TR" sz="2000" i="1" dirty="0">
                <a:latin typeface="+mj-lt"/>
              </a:rPr>
              <a:t>S</a:t>
            </a:r>
            <a:endParaRPr lang="en-GB" sz="2000" i="1" dirty="0">
              <a:latin typeface="+mj-lt"/>
            </a:endParaRPr>
          </a:p>
        </p:txBody>
      </p:sp>
      <p:sp>
        <p:nvSpPr>
          <p:cNvPr id="116754" name="Text Box 18"/>
          <p:cNvSpPr txBox="1">
            <a:spLocks noChangeArrowheads="1"/>
          </p:cNvSpPr>
          <p:nvPr/>
        </p:nvSpPr>
        <p:spPr bwMode="auto">
          <a:xfrm>
            <a:off x="5457952" y="2457450"/>
            <a:ext cx="30101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dirty="0">
                <a:latin typeface="+mj-lt"/>
              </a:rPr>
              <a:t>most general hypothesis, </a:t>
            </a:r>
            <a:r>
              <a:rPr lang="tr-TR" sz="2000" i="1" dirty="0">
                <a:latin typeface="+mj-lt"/>
              </a:rPr>
              <a:t>G</a:t>
            </a:r>
            <a:endParaRPr lang="en-GB" sz="2000" i="1" dirty="0">
              <a:latin typeface="+mj-lt"/>
            </a:endParaRPr>
          </a:p>
        </p:txBody>
      </p: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5602414" y="3482975"/>
            <a:ext cx="360020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tr-TR" sz="2000" i="1" dirty="0">
                <a:latin typeface="+mj-lt"/>
              </a:rPr>
              <a:t>h </a:t>
            </a:r>
            <a:r>
              <a:rPr lang="tr-TR" sz="2000" dirty="0">
                <a:latin typeface="Symbol" pitchFamily="18" charset="2"/>
              </a:rPr>
              <a:t>Î </a:t>
            </a:r>
            <a:r>
              <a:rPr lang="tr-TR" sz="2000" dirty="0">
                <a:latin typeface="+mj-lt"/>
              </a:rPr>
              <a:t>H, between </a:t>
            </a:r>
            <a:r>
              <a:rPr lang="tr-TR" sz="2000" i="1" dirty="0">
                <a:latin typeface="+mj-lt"/>
              </a:rPr>
              <a:t>S</a:t>
            </a:r>
            <a:r>
              <a:rPr lang="tr-TR" sz="2000" dirty="0">
                <a:latin typeface="+mj-lt"/>
              </a:rPr>
              <a:t> and </a:t>
            </a:r>
            <a:r>
              <a:rPr lang="tr-TR" sz="2000" i="1" dirty="0">
                <a:latin typeface="+mj-lt"/>
              </a:rPr>
              <a:t>G</a:t>
            </a:r>
            <a:r>
              <a:rPr lang="tr-TR" sz="2000" dirty="0">
                <a:latin typeface="+mj-lt"/>
              </a:rPr>
              <a:t> is</a:t>
            </a:r>
          </a:p>
          <a:p>
            <a:r>
              <a:rPr lang="tr-TR" sz="2000" dirty="0">
                <a:solidFill>
                  <a:schemeClr val="tx2"/>
                </a:solidFill>
                <a:latin typeface="+mj-lt"/>
              </a:rPr>
              <a:t>consistent </a:t>
            </a:r>
            <a:r>
              <a:rPr lang="tr-TR" sz="2000" dirty="0">
                <a:latin typeface="+mj-lt"/>
              </a:rPr>
              <a:t>and make up the </a:t>
            </a:r>
          </a:p>
          <a:p>
            <a:r>
              <a:rPr lang="tr-TR" sz="2000" dirty="0">
                <a:solidFill>
                  <a:schemeClr val="tx2"/>
                </a:solidFill>
                <a:latin typeface="+mj-lt"/>
              </a:rPr>
              <a:t>version space</a:t>
            </a:r>
          </a:p>
          <a:p>
            <a:r>
              <a:rPr lang="tr-TR" sz="2000" dirty="0">
                <a:latin typeface="+mj-lt"/>
              </a:rPr>
              <a:t>(Mitchell, 1997)</a:t>
            </a:r>
            <a:endParaRPr lang="en-GB" sz="2000" dirty="0">
              <a:latin typeface="+mj-l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1198A0-E3A5-B3CF-0871-E959249414A1}"/>
              </a:ext>
            </a:extLst>
          </p:cNvPr>
          <p:cNvSpPr/>
          <p:nvPr/>
        </p:nvSpPr>
        <p:spPr>
          <a:xfrm>
            <a:off x="2865565" y="3482975"/>
            <a:ext cx="1020635" cy="5556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1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Margin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AC0D210-71C6-4AB2-92CC-A96B65609C9A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Choose </a:t>
            </a:r>
            <a:r>
              <a:rPr lang="tr-TR" i="1" dirty="0"/>
              <a:t>h</a:t>
            </a:r>
            <a:r>
              <a:rPr lang="tr-TR" dirty="0"/>
              <a:t> with largest margin</a:t>
            </a:r>
          </a:p>
        </p:txBody>
      </p:sp>
      <p:pic>
        <p:nvPicPr>
          <p:cNvPr id="408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2643182"/>
            <a:ext cx="382905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91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638" y="2205038"/>
            <a:ext cx="47148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Noise and Model Complexity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A69A90D-68B4-44BD-B5BA-4D595A9E4370}" type="slidenum">
              <a:rPr lang="tr-TR"/>
              <a:pPr/>
              <a:t>8</a:t>
            </a:fld>
            <a:endParaRPr lang="tr-TR"/>
          </a:p>
        </p:txBody>
      </p:sp>
      <p:sp>
        <p:nvSpPr>
          <p:cNvPr id="121859" name="AutoShape 3"/>
          <p:cNvSpPr>
            <a:spLocks noGrp="1" noChangeAspect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tr-TR" dirty="0"/>
              <a:t>Use the simpler one because</a:t>
            </a:r>
          </a:p>
          <a:p>
            <a:r>
              <a:rPr lang="tr-TR" sz="2400" dirty="0"/>
              <a:t>Simpler to use </a:t>
            </a:r>
          </a:p>
          <a:p>
            <a:pPr>
              <a:buFont typeface="Wingdings" pitchFamily="2" charset="2"/>
              <a:buNone/>
            </a:pPr>
            <a:r>
              <a:rPr lang="tr-TR" sz="2400" dirty="0"/>
              <a:t>	(lower computational </a:t>
            </a:r>
          </a:p>
          <a:p>
            <a:pPr>
              <a:buFont typeface="Wingdings" pitchFamily="2" charset="2"/>
              <a:buNone/>
            </a:pPr>
            <a:r>
              <a:rPr lang="tr-TR" sz="2400" dirty="0"/>
              <a:t>	complexity)</a:t>
            </a:r>
          </a:p>
          <a:p>
            <a:r>
              <a:rPr lang="tr-TR" sz="2400" dirty="0"/>
              <a:t>Easier to train (lower </a:t>
            </a:r>
          </a:p>
          <a:p>
            <a:pPr>
              <a:buFont typeface="Wingdings" pitchFamily="2" charset="2"/>
              <a:buNone/>
            </a:pPr>
            <a:r>
              <a:rPr lang="tr-TR" sz="2400" dirty="0"/>
              <a:t>	space complexity)</a:t>
            </a:r>
          </a:p>
          <a:p>
            <a:r>
              <a:rPr lang="tr-TR" sz="2400" dirty="0"/>
              <a:t>Easier to explain </a:t>
            </a:r>
          </a:p>
          <a:p>
            <a:pPr>
              <a:buFont typeface="Wingdings" pitchFamily="2" charset="2"/>
              <a:buNone/>
            </a:pPr>
            <a:r>
              <a:rPr lang="tr-TR" sz="2400" dirty="0"/>
              <a:t>	(more interpretable)</a:t>
            </a:r>
          </a:p>
          <a:p>
            <a:r>
              <a:rPr lang="tr-TR" sz="2400" dirty="0"/>
              <a:t>Generalizes better (lower </a:t>
            </a:r>
          </a:p>
          <a:p>
            <a:pPr>
              <a:buFont typeface="Wingdings" pitchFamily="2" charset="2"/>
              <a:buNone/>
            </a:pPr>
            <a:r>
              <a:rPr lang="tr-TR" sz="2400" dirty="0"/>
              <a:t>	variance - Occam’s razor)</a:t>
            </a:r>
          </a:p>
        </p:txBody>
      </p:sp>
    </p:spTree>
    <p:extLst>
      <p:ext uri="{BB962C8B-B14F-4D97-AF65-F5344CB8AC3E}">
        <p14:creationId xmlns:p14="http://schemas.microsoft.com/office/powerpoint/2010/main" val="23230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9813" y="1557338"/>
            <a:ext cx="615315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457200"/>
            <a:ext cx="8229600" cy="757222"/>
          </a:xfrm>
        </p:spPr>
        <p:txBody>
          <a:bodyPr>
            <a:normAutofit/>
          </a:bodyPr>
          <a:lstStyle/>
          <a:p>
            <a:r>
              <a:rPr lang="tr-TR" noProof="1"/>
              <a:t>Multiple Classes</a:t>
            </a:r>
            <a:r>
              <a:rPr lang="tr-TR" dirty="0"/>
              <a:t>, </a:t>
            </a:r>
            <a:r>
              <a:rPr lang="tr-TR" i="0" dirty="0">
                <a:latin typeface="Lucida Calligraphy" pitchFamily="66" charset="0"/>
              </a:rPr>
              <a:t>C</a:t>
            </a:r>
            <a:r>
              <a:rPr lang="tr-TR" baseline="-25000" dirty="0"/>
              <a:t>i</a:t>
            </a:r>
            <a:r>
              <a:rPr lang="tr-TR" dirty="0"/>
              <a:t> i=1,...,K</a:t>
            </a:r>
            <a:endParaRPr lang="tr-TR" i="0" noProof="1"/>
          </a:p>
        </p:txBody>
      </p:sp>
      <p:graphicFrame>
        <p:nvGraphicFramePr>
          <p:cNvPr id="122902" name="Object 2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57492923"/>
              </p:ext>
            </p:extLst>
          </p:nvPr>
        </p:nvGraphicFramePr>
        <p:xfrm>
          <a:off x="6080745" y="1628800"/>
          <a:ext cx="18811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241200" progId="Equation.3">
                  <p:embed/>
                </p:oleObj>
              </mc:Choice>
              <mc:Fallback>
                <p:oleObj name="Equation" r:id="rId3" imgW="863280" imgH="241200" progId="Equation.3">
                  <p:embed/>
                  <p:pic>
                    <p:nvPicPr>
                      <p:cNvPr id="1229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745" y="1628800"/>
                        <a:ext cx="1881188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4" name="Object 2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98716001"/>
              </p:ext>
            </p:extLst>
          </p:nvPr>
        </p:nvGraphicFramePr>
        <p:xfrm>
          <a:off x="6296769" y="2276872"/>
          <a:ext cx="262096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507960" progId="Equation.3">
                  <p:embed/>
                </p:oleObj>
              </mc:Choice>
              <mc:Fallback>
                <p:oleObj name="Equation" r:id="rId5" imgW="1333440" imgH="507960" progId="Equation.3">
                  <p:embed/>
                  <p:pic>
                    <p:nvPicPr>
                      <p:cNvPr id="12290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769" y="2276872"/>
                        <a:ext cx="2620963" cy="99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6" name="Object 2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72832474"/>
              </p:ext>
            </p:extLst>
          </p:nvPr>
        </p:nvGraphicFramePr>
        <p:xfrm>
          <a:off x="6327775" y="4576763"/>
          <a:ext cx="29686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00200" imgH="507960" progId="Equation.3">
                  <p:embed/>
                </p:oleObj>
              </mc:Choice>
              <mc:Fallback>
                <p:oleObj name="Equation" r:id="rId7" imgW="1600200" imgH="507960" progId="Equation.3">
                  <p:embed/>
                  <p:pic>
                    <p:nvPicPr>
                      <p:cNvPr id="12290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775" y="4576763"/>
                        <a:ext cx="2968625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016750" y="6237288"/>
            <a:ext cx="2133600" cy="457200"/>
          </a:xfrm>
        </p:spPr>
        <p:txBody>
          <a:bodyPr/>
          <a:lstStyle/>
          <a:p>
            <a:fld id="{C51555BC-930B-4076-A8BF-A2F2FB6FDEDE}" type="slidenum">
              <a:rPr lang="tr-TR"/>
              <a:pPr/>
              <a:t>9</a:t>
            </a:fld>
            <a:endParaRPr lang="tr-TR" dirty="0"/>
          </a:p>
        </p:txBody>
      </p:sp>
      <p:pic>
        <p:nvPicPr>
          <p:cNvPr id="122895" name="Picture 1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05000" y="2924175"/>
            <a:ext cx="6858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6296025" y="3357563"/>
            <a:ext cx="236731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dirty="0">
                <a:latin typeface="+mj-lt"/>
              </a:rPr>
              <a:t>Train hypotheses </a:t>
            </a:r>
          </a:p>
          <a:p>
            <a:r>
              <a:rPr lang="tr-TR" sz="2400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tr-TR" sz="2400" i="1" baseline="-25000" dirty="0">
                <a:latin typeface="Calibri" pitchFamily="34" charset="0"/>
                <a:cs typeface="Calibri" pitchFamily="34" charset="0"/>
              </a:rPr>
              <a:t>i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tr-TR" sz="2400" b="1" i="1" dirty="0">
                <a:latin typeface="Calibri" pitchFamily="34" charset="0"/>
                <a:cs typeface="Calibri" pitchFamily="34" charset="0"/>
              </a:rPr>
              <a:t>x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), </a:t>
            </a:r>
            <a:r>
              <a:rPr lang="tr-TR" sz="2400" i="1" dirty="0">
                <a:latin typeface="Calibri" pitchFamily="34" charset="0"/>
                <a:cs typeface="Calibri" pitchFamily="34" charset="0"/>
              </a:rPr>
              <a:t>i 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=1,...,</a:t>
            </a:r>
            <a:r>
              <a:rPr lang="tr-TR" sz="2400" i="1" dirty="0">
                <a:latin typeface="Calibri" pitchFamily="34" charset="0"/>
                <a:cs typeface="Calibri" pitchFamily="34" charset="0"/>
              </a:rPr>
              <a:t>K</a:t>
            </a:r>
            <a:r>
              <a:rPr lang="tr-TR" sz="2400" dirty="0">
                <a:latin typeface="Calibri" pitchFamily="34" charset="0"/>
                <a:cs typeface="Calibri" pitchFamily="34" charset="0"/>
              </a:rPr>
              <a:t>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3000" y="6262688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[0.1, 0.3, 0.5….]      [1, 0, 0, 0]</a:t>
            </a:r>
          </a:p>
          <a:p>
            <a:r>
              <a:rPr lang="en-US" dirty="0"/>
              <a:t>[0.3, 0.4, 0.5…]       [0, 1, 0, 0]</a:t>
            </a:r>
          </a:p>
        </p:txBody>
      </p:sp>
    </p:spTree>
    <p:extLst>
      <p:ext uri="{BB962C8B-B14F-4D97-AF65-F5344CB8AC3E}">
        <p14:creationId xmlns:p14="http://schemas.microsoft.com/office/powerpoint/2010/main" val="205640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4251" y="1556792"/>
            <a:ext cx="612457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390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66019" y="332656"/>
            <a:ext cx="8229600" cy="757222"/>
          </a:xfrm>
        </p:spPr>
        <p:txBody>
          <a:bodyPr>
            <a:normAutofit/>
          </a:bodyPr>
          <a:lstStyle/>
          <a:p>
            <a:r>
              <a:rPr lang="tr-TR" dirty="0"/>
              <a:t>Regression</a:t>
            </a:r>
          </a:p>
        </p:txBody>
      </p:sp>
      <p:graphicFrame>
        <p:nvGraphicFramePr>
          <p:cNvPr id="123945" name="Object 41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79559978"/>
              </p:ext>
            </p:extLst>
          </p:nvPr>
        </p:nvGraphicFramePr>
        <p:xfrm>
          <a:off x="5005388" y="2205038"/>
          <a:ext cx="19335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200" imgH="215640" progId="Equation.3">
                  <p:embed/>
                </p:oleObj>
              </mc:Choice>
              <mc:Fallback>
                <p:oleObj name="Equation" r:id="rId3" imgW="952200" imgH="215640" progId="Equation.3">
                  <p:embed/>
                  <p:pic>
                    <p:nvPicPr>
                      <p:cNvPr id="12394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2205038"/>
                        <a:ext cx="1933575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9" name="Object 3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06015013"/>
              </p:ext>
            </p:extLst>
          </p:nvPr>
        </p:nvGraphicFramePr>
        <p:xfrm>
          <a:off x="6467475" y="2794000"/>
          <a:ext cx="139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241200" progId="Equation.3">
                  <p:embed/>
                </p:oleObj>
              </mc:Choice>
              <mc:Fallback>
                <p:oleObj name="Equation" r:id="rId5" imgW="1396800" imgH="241200" progId="Equation.3">
                  <p:embed/>
                  <p:pic>
                    <p:nvPicPr>
                      <p:cNvPr id="12393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2794000"/>
                        <a:ext cx="1397000" cy="241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41" name="Object 3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41464431"/>
              </p:ext>
            </p:extLst>
          </p:nvPr>
        </p:nvGraphicFramePr>
        <p:xfrm>
          <a:off x="1138238" y="4076700"/>
          <a:ext cx="35417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63560" imgH="431640" progId="Equation.3">
                  <p:embed/>
                </p:oleObj>
              </mc:Choice>
              <mc:Fallback>
                <p:oleObj name="Equation" r:id="rId7" imgW="1663560" imgH="431640" progId="Equation.3">
                  <p:embed/>
                  <p:pic>
                    <p:nvPicPr>
                      <p:cNvPr id="12394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4076700"/>
                        <a:ext cx="3541712" cy="9191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86600" y="6237288"/>
            <a:ext cx="2133600" cy="457200"/>
          </a:xfrm>
        </p:spPr>
        <p:txBody>
          <a:bodyPr/>
          <a:lstStyle/>
          <a:p>
            <a:fld id="{46C3B7E8-76BE-4C0C-B1F0-65BB59E694E5}" type="slidenum">
              <a:rPr lang="tr-TR"/>
              <a:pPr/>
              <a:t>10</a:t>
            </a:fld>
            <a:endParaRPr lang="tr-TR"/>
          </a:p>
        </p:txBody>
      </p:sp>
      <p:sp>
        <p:nvSpPr>
          <p:cNvPr id="123916" name="Line 12"/>
          <p:cNvSpPr>
            <a:spLocks noChangeShapeType="1"/>
          </p:cNvSpPr>
          <p:nvPr/>
        </p:nvSpPr>
        <p:spPr bwMode="auto">
          <a:xfrm flipH="1">
            <a:off x="4710113" y="2781300"/>
            <a:ext cx="360362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23917" name="Line 13"/>
          <p:cNvSpPr>
            <a:spLocks noChangeShapeType="1"/>
          </p:cNvSpPr>
          <p:nvPr/>
        </p:nvSpPr>
        <p:spPr bwMode="auto">
          <a:xfrm flipH="1">
            <a:off x="5791200" y="3429000"/>
            <a:ext cx="576263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graphicFrame>
        <p:nvGraphicFramePr>
          <p:cNvPr id="12395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077658"/>
              </p:ext>
            </p:extLst>
          </p:nvPr>
        </p:nvGraphicFramePr>
        <p:xfrm>
          <a:off x="1235075" y="4968875"/>
          <a:ext cx="549116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23800" imgH="431640" progId="Equation.3">
                  <p:embed/>
                </p:oleObj>
              </mc:Choice>
              <mc:Fallback>
                <p:oleObj name="Equation" r:id="rId9" imgW="2323800" imgH="431640" progId="Equation.3">
                  <p:embed/>
                  <p:pic>
                    <p:nvPicPr>
                      <p:cNvPr id="12395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968875"/>
                        <a:ext cx="5491163" cy="1017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50831"/>
              </p:ext>
            </p:extLst>
          </p:nvPr>
        </p:nvGraphicFramePr>
        <p:xfrm>
          <a:off x="1125538" y="1844675"/>
          <a:ext cx="1912937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761760" progId="Equation.3">
                  <p:embed/>
                </p:oleObj>
              </mc:Choice>
              <mc:Fallback>
                <p:oleObj name="Equation" r:id="rId11" imgW="838080" imgH="761760" progId="Equation.3">
                  <p:embed/>
                  <p:pic>
                    <p:nvPicPr>
                      <p:cNvPr id="12395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1844675"/>
                        <a:ext cx="1912937" cy="173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802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875" y="457200"/>
            <a:ext cx="8229600" cy="595536"/>
          </a:xfrm>
        </p:spPr>
        <p:txBody>
          <a:bodyPr>
            <a:normAutofit fontScale="90000"/>
          </a:bodyPr>
          <a:lstStyle/>
          <a:p>
            <a:r>
              <a:rPr lang="tr-TR" dirty="0"/>
              <a:t>Dimensions of a Supervised Learner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1875" y="1981200"/>
            <a:ext cx="4038600" cy="3886200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tr-TR" sz="2400" dirty="0">
                <a:solidFill>
                  <a:schemeClr val="accent1"/>
                </a:solidFill>
                <a:latin typeface="+mj-lt"/>
              </a:rPr>
              <a:t>Model: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tr-TR" i="1" dirty="0">
                <a:latin typeface="+mj-lt"/>
              </a:rPr>
              <a:t>		</a:t>
            </a:r>
            <a:endParaRPr lang="tr-TR" dirty="0">
              <a:latin typeface="+mj-lt"/>
            </a:endParaRPr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sz="2400" dirty="0">
                <a:solidFill>
                  <a:schemeClr val="accent1"/>
                </a:solidFill>
                <a:latin typeface="+mj-lt"/>
              </a:rPr>
              <a:t>Loss function: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tr-TR" dirty="0">
                <a:latin typeface="+mj-lt"/>
              </a:rPr>
              <a:t>		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sz="2400" dirty="0">
                <a:solidFill>
                  <a:schemeClr val="accent1"/>
                </a:solidFill>
                <a:latin typeface="+mj-lt"/>
              </a:rPr>
              <a:t>Optimization procedure:</a:t>
            </a:r>
          </a:p>
          <a:p>
            <a:pPr marL="609600" indent="-609600">
              <a:buFont typeface="Wingdings" pitchFamily="2" charset="2"/>
              <a:buNone/>
            </a:pPr>
            <a:r>
              <a:rPr lang="tr-TR" sz="2000" dirty="0">
                <a:latin typeface="Symbol" pitchFamily="18" charset="2"/>
              </a:rPr>
              <a:t>			</a:t>
            </a:r>
            <a:endParaRPr lang="tr-TR" sz="2000" dirty="0"/>
          </a:p>
        </p:txBody>
      </p:sp>
      <p:graphicFrame>
        <p:nvGraphicFramePr>
          <p:cNvPr id="128017" name="Object 1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77472778"/>
              </p:ext>
            </p:extLst>
          </p:nvPr>
        </p:nvGraphicFramePr>
        <p:xfrm>
          <a:off x="3017838" y="2071688"/>
          <a:ext cx="9001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03040" progId="Equation.3">
                  <p:embed/>
                </p:oleObj>
              </mc:Choice>
              <mc:Fallback>
                <p:oleObj name="Equation" r:id="rId2" imgW="457200" imgH="203040" progId="Equation.3">
                  <p:embed/>
                  <p:pic>
                    <p:nvPicPr>
                      <p:cNvPr id="1280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071688"/>
                        <a:ext cx="900112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9" name="Object 1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744947386"/>
              </p:ext>
            </p:extLst>
          </p:nvPr>
        </p:nvGraphicFramePr>
        <p:xfrm>
          <a:off x="4200525" y="2928938"/>
          <a:ext cx="3590925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342720" progId="Equation.3">
                  <p:embed/>
                </p:oleObj>
              </mc:Choice>
              <mc:Fallback>
                <p:oleObj name="Equation" r:id="rId4" imgW="1612800" imgH="342720" progId="Equation.3">
                  <p:embed/>
                  <p:pic>
                    <p:nvPicPr>
                      <p:cNvPr id="1280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2928938"/>
                        <a:ext cx="3590925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162800" y="6237288"/>
            <a:ext cx="2133600" cy="457200"/>
          </a:xfrm>
        </p:spPr>
        <p:txBody>
          <a:bodyPr/>
          <a:lstStyle/>
          <a:p>
            <a:fld id="{0EF0D5A9-BAEB-40C8-9A1F-20C1C81D894A}" type="slidenum">
              <a:rPr lang="tr-TR"/>
              <a:pPr/>
              <a:t>11</a:t>
            </a:fld>
            <a:endParaRPr lang="tr-TR"/>
          </a:p>
        </p:txBody>
      </p:sp>
      <p:graphicFrame>
        <p:nvGraphicFramePr>
          <p:cNvPr id="1280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338013"/>
              </p:ext>
            </p:extLst>
          </p:nvPr>
        </p:nvGraphicFramePr>
        <p:xfrm>
          <a:off x="3765550" y="4375150"/>
          <a:ext cx="28146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266400" progId="Equation.3">
                  <p:embed/>
                </p:oleObj>
              </mc:Choice>
              <mc:Fallback>
                <p:oleObj name="Equation" r:id="rId6" imgW="1282680" imgH="266400" progId="Equation.3">
                  <p:embed/>
                  <p:pic>
                    <p:nvPicPr>
                      <p:cNvPr id="1280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4375150"/>
                        <a:ext cx="2814638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006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K-Nearest Neighbor Classifiers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5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42C15ED-EEFB-4A75-A321-8A592917EF49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AA53E91-5B2E-485C-95EB-9BCA0C2E640A}" type="slidenum">
              <a:rPr lang="zh-CN" altLang="en-US"/>
              <a:pPr eaLnBrk="1" hangingPunct="1"/>
              <a:t>13</a:t>
            </a:fld>
            <a:endParaRPr lang="en-US" altLang="zh-CN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Nearest Neighbor Classifiers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Basic idea: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If it walks like a duck, quacks like a duck, then it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>
                <a:ea typeface="宋体" panose="02010600030101010101" pitchFamily="2" charset="-122"/>
              </a:rPr>
              <a:t>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59763" cy="3429000"/>
            <a:chOff x="192" y="1776"/>
            <a:chExt cx="5203" cy="2160"/>
          </a:xfrm>
        </p:grpSpPr>
        <p:pic>
          <p:nvPicPr>
            <p:cNvPr id="22549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6" y="2283"/>
              <a:ext cx="537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0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" y="2756"/>
              <a:ext cx="732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1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3" y="2094"/>
              <a:ext cx="451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2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0" y="3087"/>
              <a:ext cx="379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3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54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4" y="2567"/>
              <a:ext cx="733" cy="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55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56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Training Records</a:t>
              </a:r>
            </a:p>
          </p:txBody>
        </p:sp>
        <p:sp>
          <p:nvSpPr>
            <p:cNvPr id="22557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22542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Compute Distance</a:t>
              </a:r>
            </a:p>
          </p:txBody>
        </p:sp>
        <p:grpSp>
          <p:nvGrpSpPr>
            <p:cNvPr id="22543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22544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5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6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7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8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22538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Choose k of the “nearest” records</a:t>
              </a:r>
            </a:p>
          </p:txBody>
        </p:sp>
        <p:grpSp>
          <p:nvGrpSpPr>
            <p:cNvPr id="22539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22540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1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90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3C236A-B0C0-457E-A014-96467E91B834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26916D-07C1-4B3B-A8C4-3D3EA7386A9A}" type="slidenum">
              <a:rPr lang="zh-CN" altLang="en-US"/>
              <a:pPr eaLnBrk="1" hangingPunct="1"/>
              <a:t>14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24000" y="3352800"/>
            <a:ext cx="4648200" cy="2438400"/>
            <a:chOff x="960" y="2112"/>
            <a:chExt cx="2928" cy="1536"/>
          </a:xfrm>
        </p:grpSpPr>
        <p:sp>
          <p:nvSpPr>
            <p:cNvPr id="1038" name="Rectangle 3"/>
            <p:cNvSpPr>
              <a:spLocks noChangeArrowheads="1"/>
            </p:cNvSpPr>
            <p:nvPr/>
          </p:nvSpPr>
          <p:spPr bwMode="auto">
            <a:xfrm>
              <a:off x="960" y="2112"/>
              <a:ext cx="2928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9" name="Oval 4"/>
            <p:cNvSpPr>
              <a:spLocks noChangeArrowheads="1"/>
            </p:cNvSpPr>
            <p:nvPr/>
          </p:nvSpPr>
          <p:spPr bwMode="auto">
            <a:xfrm>
              <a:off x="1248" y="24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0" name="Oval 5"/>
            <p:cNvSpPr>
              <a:spLocks noChangeArrowheads="1"/>
            </p:cNvSpPr>
            <p:nvPr/>
          </p:nvSpPr>
          <p:spPr bwMode="auto">
            <a:xfrm>
              <a:off x="1536" y="24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1" name="Oval 6"/>
            <p:cNvSpPr>
              <a:spLocks noChangeArrowheads="1"/>
            </p:cNvSpPr>
            <p:nvPr/>
          </p:nvSpPr>
          <p:spPr bwMode="auto">
            <a:xfrm>
              <a:off x="1200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2" name="Oval 7"/>
            <p:cNvSpPr>
              <a:spLocks noChangeArrowheads="1"/>
            </p:cNvSpPr>
            <p:nvPr/>
          </p:nvSpPr>
          <p:spPr bwMode="auto">
            <a:xfrm>
              <a:off x="2064" y="26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3" name="Oval 8"/>
            <p:cNvSpPr>
              <a:spLocks noChangeArrowheads="1"/>
            </p:cNvSpPr>
            <p:nvPr/>
          </p:nvSpPr>
          <p:spPr bwMode="auto">
            <a:xfrm>
              <a:off x="1488" y="278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4" name="Oval 9"/>
            <p:cNvSpPr>
              <a:spLocks noChangeArrowheads="1"/>
            </p:cNvSpPr>
            <p:nvPr/>
          </p:nvSpPr>
          <p:spPr bwMode="auto">
            <a:xfrm>
              <a:off x="1584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5" name="Oval 10"/>
            <p:cNvSpPr>
              <a:spLocks noChangeArrowheads="1"/>
            </p:cNvSpPr>
            <p:nvPr/>
          </p:nvSpPr>
          <p:spPr bwMode="auto">
            <a:xfrm>
              <a:off x="1824" y="28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6" name="Oval 11"/>
            <p:cNvSpPr>
              <a:spLocks noChangeArrowheads="1"/>
            </p:cNvSpPr>
            <p:nvPr/>
          </p:nvSpPr>
          <p:spPr bwMode="auto">
            <a:xfrm>
              <a:off x="2304" y="29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7" name="Oval 12"/>
            <p:cNvSpPr>
              <a:spLocks noChangeArrowheads="1"/>
            </p:cNvSpPr>
            <p:nvPr/>
          </p:nvSpPr>
          <p:spPr bwMode="auto">
            <a:xfrm>
              <a:off x="2352" y="23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8" name="Oval 13"/>
            <p:cNvSpPr>
              <a:spLocks noChangeArrowheads="1"/>
            </p:cNvSpPr>
            <p:nvPr/>
          </p:nvSpPr>
          <p:spPr bwMode="auto">
            <a:xfrm>
              <a:off x="1872" y="23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9" name="Oval 14"/>
            <p:cNvSpPr>
              <a:spLocks noChangeArrowheads="1"/>
            </p:cNvSpPr>
            <p:nvPr/>
          </p:nvSpPr>
          <p:spPr bwMode="auto">
            <a:xfrm>
              <a:off x="2400" y="26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0" name="Oval 15"/>
            <p:cNvSpPr>
              <a:spLocks noChangeArrowheads="1"/>
            </p:cNvSpPr>
            <p:nvPr/>
          </p:nvSpPr>
          <p:spPr bwMode="auto">
            <a:xfrm>
              <a:off x="1728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1" name="Oval 16"/>
            <p:cNvSpPr>
              <a:spLocks noChangeArrowheads="1"/>
            </p:cNvSpPr>
            <p:nvPr/>
          </p:nvSpPr>
          <p:spPr bwMode="auto">
            <a:xfrm>
              <a:off x="2064" y="29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2" name="Oval 17"/>
            <p:cNvSpPr>
              <a:spLocks noChangeArrowheads="1"/>
            </p:cNvSpPr>
            <p:nvPr/>
          </p:nvSpPr>
          <p:spPr bwMode="auto">
            <a:xfrm>
              <a:off x="3216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3" name="Oval 18"/>
            <p:cNvSpPr>
              <a:spLocks noChangeArrowheads="1"/>
            </p:cNvSpPr>
            <p:nvPr/>
          </p:nvSpPr>
          <p:spPr bwMode="auto">
            <a:xfrm>
              <a:off x="2880" y="235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4" name="Oval 19"/>
            <p:cNvSpPr>
              <a:spLocks noChangeArrowheads="1"/>
            </p:cNvSpPr>
            <p:nvPr/>
          </p:nvSpPr>
          <p:spPr bwMode="auto">
            <a:xfrm>
              <a:off x="2928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5" name="Oval 20"/>
            <p:cNvSpPr>
              <a:spLocks noChangeArrowheads="1"/>
            </p:cNvSpPr>
            <p:nvPr/>
          </p:nvSpPr>
          <p:spPr bwMode="auto">
            <a:xfrm>
              <a:off x="3072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6" name="Oval 21"/>
            <p:cNvSpPr>
              <a:spLocks noChangeArrowheads="1"/>
            </p:cNvSpPr>
            <p:nvPr/>
          </p:nvSpPr>
          <p:spPr bwMode="auto">
            <a:xfrm>
              <a:off x="2640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7" name="Oval 22"/>
            <p:cNvSpPr>
              <a:spLocks noChangeArrowheads="1"/>
            </p:cNvSpPr>
            <p:nvPr/>
          </p:nvSpPr>
          <p:spPr bwMode="auto">
            <a:xfrm>
              <a:off x="2832" y="283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8" name="Oval 23"/>
            <p:cNvSpPr>
              <a:spLocks noChangeArrowheads="1"/>
            </p:cNvSpPr>
            <p:nvPr/>
          </p:nvSpPr>
          <p:spPr bwMode="auto">
            <a:xfrm>
              <a:off x="2208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9" name="Oval 24"/>
            <p:cNvSpPr>
              <a:spLocks noChangeArrowheads="1"/>
            </p:cNvSpPr>
            <p:nvPr/>
          </p:nvSpPr>
          <p:spPr bwMode="auto">
            <a:xfrm>
              <a:off x="2160" y="278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0" name="Oval 25"/>
            <p:cNvSpPr>
              <a:spLocks noChangeArrowheads="1"/>
            </p:cNvSpPr>
            <p:nvPr/>
          </p:nvSpPr>
          <p:spPr bwMode="auto">
            <a:xfrm>
              <a:off x="2592" y="283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1" name="Oval 26"/>
            <p:cNvSpPr>
              <a:spLocks noChangeArrowheads="1"/>
            </p:cNvSpPr>
            <p:nvPr/>
          </p:nvSpPr>
          <p:spPr bwMode="auto">
            <a:xfrm>
              <a:off x="2208" y="307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2" name="Oval 27"/>
            <p:cNvSpPr>
              <a:spLocks noChangeArrowheads="1"/>
            </p:cNvSpPr>
            <p:nvPr/>
          </p:nvSpPr>
          <p:spPr bwMode="auto">
            <a:xfrm>
              <a:off x="2688" y="326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3" name="Oval 28"/>
            <p:cNvSpPr>
              <a:spLocks noChangeArrowheads="1"/>
            </p:cNvSpPr>
            <p:nvPr/>
          </p:nvSpPr>
          <p:spPr bwMode="auto">
            <a:xfrm>
              <a:off x="2976" y="288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4" name="Oval 29"/>
            <p:cNvSpPr>
              <a:spLocks noChangeArrowheads="1"/>
            </p:cNvSpPr>
            <p:nvPr/>
          </p:nvSpPr>
          <p:spPr bwMode="auto">
            <a:xfrm>
              <a:off x="2352" y="331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031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method</a:t>
            </a:r>
          </a:p>
        </p:txBody>
      </p:sp>
      <p:sp>
        <p:nvSpPr>
          <p:cNvPr id="1032" name="Rectangle 3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Majority vote within the k nearest neighbors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</a:t>
            </a:r>
          </a:p>
        </p:txBody>
      </p:sp>
      <p:graphicFrame>
        <p:nvGraphicFramePr>
          <p:cNvPr id="1026" name="Object 32"/>
          <p:cNvGraphicFramePr>
            <a:graphicFrameLocks noChangeAspect="1"/>
          </p:cNvGraphicFramePr>
          <p:nvPr/>
        </p:nvGraphicFramePr>
        <p:xfrm>
          <a:off x="2819400" y="2057400"/>
          <a:ext cx="236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019048" imgH="724001" progId="Paint.Picture">
                  <p:embed/>
                </p:oleObj>
              </mc:Choice>
              <mc:Fallback>
                <p:oleObj name="Bitmap Image" r:id="rId2" imgW="2019048" imgH="724001" progId="Paint.Picture">
                  <p:embed/>
                  <p:pic>
                    <p:nvPicPr>
                      <p:cNvPr id="102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57400"/>
                        <a:ext cx="2362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1649" name="Rectangle 33"/>
          <p:cNvSpPr>
            <a:spLocks noChangeArrowheads="1"/>
          </p:cNvSpPr>
          <p:nvPr/>
        </p:nvSpPr>
        <p:spPr bwMode="auto">
          <a:xfrm>
            <a:off x="6400800" y="3352800"/>
            <a:ext cx="20574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K= 1:  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brown</a:t>
            </a:r>
          </a:p>
          <a:p>
            <a:pPr algn="ctr"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K= 3:  </a:t>
            </a:r>
            <a:r>
              <a:rPr lang="en-US" altLang="zh-CN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green</a:t>
            </a: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4038600" y="2819400"/>
            <a:ext cx="2895600" cy="1524000"/>
            <a:chOff x="2544" y="1776"/>
            <a:chExt cx="1824" cy="960"/>
          </a:xfrm>
        </p:grpSpPr>
        <p:sp>
          <p:nvSpPr>
            <p:cNvPr id="1035" name="Oval 35"/>
            <p:cNvSpPr>
              <a:spLocks noChangeArrowheads="1"/>
            </p:cNvSpPr>
            <p:nvPr/>
          </p:nvSpPr>
          <p:spPr bwMode="auto">
            <a:xfrm>
              <a:off x="2544" y="26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6" name="Line 36"/>
            <p:cNvSpPr>
              <a:spLocks noChangeShapeType="1"/>
            </p:cNvSpPr>
            <p:nvPr/>
          </p:nvSpPr>
          <p:spPr bwMode="auto">
            <a:xfrm flipV="1">
              <a:off x="2640" y="1920"/>
              <a:ext cx="105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Text Box 37"/>
            <p:cNvSpPr txBox="1">
              <a:spLocks noChangeArrowheads="1"/>
            </p:cNvSpPr>
            <p:nvPr/>
          </p:nvSpPr>
          <p:spPr bwMode="auto">
            <a:xfrm>
              <a:off x="3696" y="177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new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773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16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FA863B0-C13D-4616-A569-AC1BAD956DDC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B5E38A-A8DE-4463-AD24-6C08FF9A8138}" type="slidenum">
              <a:rPr lang="zh-CN" altLang="en-US"/>
              <a:pPr eaLnBrk="1" hangingPunct="1"/>
              <a:t>15</a:t>
            </a:fld>
            <a:endParaRPr lang="en-US" altLang="zh-CN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Nearest-Neighbor Classifiers</a:t>
            </a: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5029200" y="1143000"/>
            <a:ext cx="396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Requires three things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The set of stored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Distance Metric to compute distance between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The value of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, the number of nearest neighbors to retrieve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To classify an unknown record: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Compute distance to other training records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Identify 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nearest neighbors 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Use class labels of nearest neighbors to determine the class label of unknown record (e.g., by taking majority vote)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457200" y="1143000"/>
          <a:ext cx="4316413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07454" imgH="8108144" progId="Visio.Drawing.6">
                  <p:embed/>
                </p:oleObj>
              </mc:Choice>
              <mc:Fallback>
                <p:oleObj name="Visio" r:id="rId2" imgW="7007454" imgH="8108144" progId="Visio.Drawing.6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4316413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483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A7BDB2A-DCF7-4F34-AE33-BE649708BD80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6E068F3-1244-425D-B635-170E0DE58899}" type="slidenum">
              <a:rPr lang="zh-CN" altLang="en-US"/>
              <a:pPr eaLnBrk="1" hangingPunct="1"/>
              <a:t>16</a:t>
            </a:fld>
            <a:endParaRPr lang="en-US" altLang="zh-CN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Definition of Nearest Neighbor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533400" y="16002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56360" imgH="4523760" progId="Visio.Drawing.6">
                  <p:embed/>
                </p:oleObj>
              </mc:Choice>
              <mc:Fallback>
                <p:oleObj name="VISIO" r:id="rId2" imgW="9756360" imgH="4523760" progId="Visio.Drawing.6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762000" y="5257800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K-nearest neighbors of a record x are data points that have the k smallest distance to x</a:t>
            </a:r>
          </a:p>
        </p:txBody>
      </p:sp>
    </p:spTree>
    <p:extLst>
      <p:ext uri="{BB962C8B-B14F-4D97-AF65-F5344CB8AC3E}">
        <p14:creationId xmlns:p14="http://schemas.microsoft.com/office/powerpoint/2010/main" val="1509676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7DAE3F2-D916-4969-9448-89B4DEC30805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5F49E8E-F905-44EE-BE1F-9839B01ED994}" type="slidenum">
              <a:rPr lang="zh-CN" altLang="en-US"/>
              <a:pPr eaLnBrk="1" hangingPunct="1"/>
              <a:t>17</a:t>
            </a:fld>
            <a:endParaRPr lang="en-US" altLang="zh-CN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 nearest-neighbor</a:t>
            </a:r>
          </a:p>
        </p:txBody>
      </p:sp>
      <p:pic>
        <p:nvPicPr>
          <p:cNvPr id="235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6172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4"/>
          <p:cNvSpPr>
            <a:spLocks noChangeArrowheads="1"/>
          </p:cNvSpPr>
          <p:nvPr/>
        </p:nvSpPr>
        <p:spPr bwMode="auto">
          <a:xfrm>
            <a:off x="2971800" y="1143000"/>
            <a:ext cx="3835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Voronoi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3078729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3FA5123-9124-4988-9AC7-9BFE9382A57B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704E173-6CDB-48A9-8FD5-B3CCC6F238EA}" type="slidenum">
              <a:rPr lang="zh-CN" altLang="en-US"/>
              <a:pPr eaLnBrk="1" hangingPunct="1"/>
              <a:t>18</a:t>
            </a:fld>
            <a:endParaRPr lang="en-US" altLang="zh-CN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Classification</a:t>
            </a:r>
          </a:p>
        </p:txBody>
      </p:sp>
      <p:sp>
        <p:nvSpPr>
          <p:cNvPr id="41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Compute distance between two points: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Euclidean distance </a:t>
            </a: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lvl="1"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Determine the class from nearest neighbor list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take the majority vote of class labels among the k-nearest neighbors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Weigh the vote according to distance</a:t>
            </a:r>
          </a:p>
          <a:p>
            <a:pPr lvl="2" eaLnBrk="1" hangingPunct="1"/>
            <a:r>
              <a:rPr lang="en-US" altLang="zh-CN">
                <a:ea typeface="宋体" panose="02010600030101010101" pitchFamily="2" charset="-122"/>
              </a:rPr>
              <a:t> weight factor, w = 1/d</a:t>
            </a:r>
            <a:r>
              <a:rPr lang="en-US" altLang="zh-CN" baseline="30000"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905000" y="2438400"/>
          <a:ext cx="4876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57200" progId="Equation.3">
                  <p:embed/>
                </p:oleObj>
              </mc:Choice>
              <mc:Fallback>
                <p:oleObj name="Equation" r:id="rId2" imgW="2705040" imgH="45720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438400"/>
                        <a:ext cx="48768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132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2766EE3-B8CD-41AD-9F79-ABF68B21E65D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2E72705-D7A0-41DB-8B3F-DBFB796B3092}" type="slidenum">
              <a:rPr lang="zh-CN" altLang="en-US"/>
              <a:pPr eaLnBrk="1" hangingPunct="1"/>
              <a:t>19</a:t>
            </a:fld>
            <a:endParaRPr lang="en-US" altLang="zh-CN"/>
          </a:p>
        </p:txBody>
      </p:sp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Classification…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Choosing the value of k: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If k is too small, sensitive to noise points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If k is too large, neighborhood may include points from other classes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3657600" y="3078163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582512" imgH="5298053" progId="Visio.Drawing.6">
                  <p:embed/>
                </p:oleObj>
              </mc:Choice>
              <mc:Fallback>
                <p:oleObj name="Visio" r:id="rId2" imgW="6582512" imgH="5298053" progId="Visio.Drawing.6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78163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031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6724796-F901-40E9-B200-198B8E3FE30B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39B437F-B91F-46E4-A463-45650E0F47C2}" type="slidenum">
              <a:rPr lang="zh-CN" altLang="en-US"/>
              <a:pPr eaLnBrk="1" hangingPunct="1"/>
              <a:t>20</a:t>
            </a:fld>
            <a:endParaRPr lang="en-US" altLang="zh-CN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Classification…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Scaling issues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Attributes may have to be scaled to prevent distance measures from being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dominated by one of the attributes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Example: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 height of a person may vary from 1.5m to 1.8m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 weight of a person may vary from 90lb to 300lb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 income of a person may vary from $10K to $1M</a:t>
            </a:r>
          </a:p>
        </p:txBody>
      </p:sp>
    </p:spTree>
    <p:extLst>
      <p:ext uri="{BB962C8B-B14F-4D97-AF65-F5344CB8AC3E}">
        <p14:creationId xmlns:p14="http://schemas.microsoft.com/office/powerpoint/2010/main" val="148851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41DA76-BACE-47D9-AF5E-55E636739BD6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9B97438-919A-43DE-99AF-BBADE66AACF8}" type="slidenum">
              <a:rPr lang="zh-CN" altLang="en-US"/>
              <a:pPr eaLnBrk="1" hangingPunct="1"/>
              <a:t>21</a:t>
            </a:fld>
            <a:endParaRPr lang="en-US" altLang="zh-CN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Classification…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Problem with Euclidean measure: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High dimensional data 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curse of dimensionality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produce counter-intuitive results</a:t>
            </a: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7" name="Text Box 4"/>
          <p:cNvSpPr txBox="1">
            <a:spLocks noChangeArrowheads="1"/>
          </p:cNvSpPr>
          <p:nvPr/>
        </p:nvSpPr>
        <p:spPr bwMode="auto">
          <a:xfrm>
            <a:off x="457200" y="35814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1 1 1 1 1 1 1 1 1 1 1 0</a:t>
            </a:r>
          </a:p>
        </p:txBody>
      </p:sp>
      <p:sp>
        <p:nvSpPr>
          <p:cNvPr id="25608" name="Text Box 5"/>
          <p:cNvSpPr txBox="1">
            <a:spLocks noChangeArrowheads="1"/>
          </p:cNvSpPr>
          <p:nvPr/>
        </p:nvSpPr>
        <p:spPr bwMode="auto">
          <a:xfrm>
            <a:off x="457200" y="42672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0 1 1 1 1 1 1 1 1 1 1 1</a:t>
            </a:r>
          </a:p>
        </p:txBody>
      </p:sp>
      <p:sp>
        <p:nvSpPr>
          <p:cNvPr id="25609" name="Text Box 6"/>
          <p:cNvSpPr txBox="1">
            <a:spLocks noChangeArrowheads="1"/>
          </p:cNvSpPr>
          <p:nvPr/>
        </p:nvSpPr>
        <p:spPr bwMode="auto">
          <a:xfrm>
            <a:off x="4876800" y="35941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1 0 0 0 0 0 0 0 0 0 0 0</a:t>
            </a:r>
          </a:p>
        </p:txBody>
      </p:sp>
      <p:sp>
        <p:nvSpPr>
          <p:cNvPr id="25610" name="Text Box 7"/>
          <p:cNvSpPr txBox="1">
            <a:spLocks noChangeArrowheads="1"/>
          </p:cNvSpPr>
          <p:nvPr/>
        </p:nvSpPr>
        <p:spPr bwMode="auto">
          <a:xfrm>
            <a:off x="4876800" y="4279900"/>
            <a:ext cx="32004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0 0 0 0 0 0 0 0 0 0 0 1</a:t>
            </a:r>
          </a:p>
        </p:txBody>
      </p:sp>
      <p:sp>
        <p:nvSpPr>
          <p:cNvPr id="25611" name="Rectangle 8"/>
          <p:cNvSpPr>
            <a:spLocks noChangeArrowheads="1"/>
          </p:cNvSpPr>
          <p:nvPr/>
        </p:nvSpPr>
        <p:spPr bwMode="auto">
          <a:xfrm>
            <a:off x="3962400" y="3898900"/>
            <a:ext cx="55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vs</a:t>
            </a:r>
          </a:p>
        </p:txBody>
      </p:sp>
      <p:sp>
        <p:nvSpPr>
          <p:cNvPr id="2038793" name="Text Box 9"/>
          <p:cNvSpPr txBox="1">
            <a:spLocks noChangeArrowheads="1"/>
          </p:cNvSpPr>
          <p:nvPr/>
        </p:nvSpPr>
        <p:spPr bwMode="auto">
          <a:xfrm>
            <a:off x="1295400" y="487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 = 1.4142</a:t>
            </a:r>
          </a:p>
        </p:txBody>
      </p:sp>
      <p:sp>
        <p:nvSpPr>
          <p:cNvPr id="2038794" name="Text Box 10"/>
          <p:cNvSpPr txBox="1">
            <a:spLocks noChangeArrowheads="1"/>
          </p:cNvSpPr>
          <p:nvPr/>
        </p:nvSpPr>
        <p:spPr bwMode="auto">
          <a:xfrm>
            <a:off x="5715000" y="487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 = 1.4142</a:t>
            </a:r>
          </a:p>
        </p:txBody>
      </p:sp>
      <p:sp>
        <p:nvSpPr>
          <p:cNvPr id="2038795" name="Rectangle 11"/>
          <p:cNvSpPr>
            <a:spLocks noChangeArrowheads="1"/>
          </p:cNvSpPr>
          <p:nvPr/>
        </p:nvSpPr>
        <p:spPr bwMode="auto">
          <a:xfrm>
            <a:off x="457200" y="5334000"/>
            <a:ext cx="8318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</a:p>
          <a:p>
            <a:pPr lvl="2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Solution: Normalize the vectors to unit length</a:t>
            </a:r>
          </a:p>
        </p:txBody>
      </p:sp>
    </p:spTree>
    <p:extLst>
      <p:ext uri="{BB962C8B-B14F-4D97-AF65-F5344CB8AC3E}">
        <p14:creationId xmlns:p14="http://schemas.microsoft.com/office/powerpoint/2010/main" val="77469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793" grpId="0" autoUpdateAnimBg="0"/>
      <p:bldP spid="2038794" grpId="0" autoUpdateAnimBg="0"/>
      <p:bldP spid="203879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196CF53-69B4-4851-AC1C-B0796C586822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8D3B1E7-3A11-4B31-9AE9-B3BBF26905BE}" type="slidenum">
              <a:rPr lang="zh-CN" altLang="en-US"/>
              <a:pPr eaLnBrk="1" hangingPunct="1"/>
              <a:t>22</a:t>
            </a:fld>
            <a:endParaRPr lang="en-US" altLang="zh-CN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Nearest neighbor Classification…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k-NN classifiers are lazy learners 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It does not build models explicitly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Unlike eager learners such as decision tree induction and rule-based systems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Classifying unknown records are relatively expensive</a:t>
            </a:r>
          </a:p>
        </p:txBody>
      </p:sp>
    </p:spTree>
    <p:extLst>
      <p:ext uri="{BB962C8B-B14F-4D97-AF65-F5344CB8AC3E}">
        <p14:creationId xmlns:p14="http://schemas.microsoft.com/office/powerpoint/2010/main" val="1884393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1C52217-29E3-4BBF-8AAA-276F93ED393B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A4566E2-C281-49C3-8770-0DBB847E6F72}" type="slidenum">
              <a:rPr lang="zh-CN" altLang="en-US"/>
              <a:pPr eaLnBrk="1" hangingPunct="1"/>
              <a:t>23</a:t>
            </a:fld>
            <a:endParaRPr lang="en-US" altLang="zh-CN"/>
          </a:p>
        </p:txBody>
      </p:sp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Discussion on the </a:t>
            </a:r>
            <a:r>
              <a:rPr lang="en-US" altLang="zh-CN" i="1">
                <a:ea typeface="宋体" panose="02010600030101010101" pitchFamily="2" charset="-122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-NN Algorithm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The k-NN algorithm for continuous-valued target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Calculate the mean values of the</a:t>
            </a:r>
            <a:r>
              <a:rPr lang="en-US" altLang="zh-CN" sz="2000" i="1">
                <a:ea typeface="宋体" panose="02010600030101010101" pitchFamily="2" charset="-122"/>
              </a:rPr>
              <a:t> k</a:t>
            </a:r>
            <a:r>
              <a:rPr lang="en-US" altLang="zh-CN" sz="2000">
                <a:ea typeface="宋体" panose="02010600030101010101" pitchFamily="2" charset="-122"/>
              </a:rPr>
              <a:t> nearest neighbors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Distance-weighted nearest neighbor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Weight the contribution of each of the k neighbors according to their distance to the query point</a:t>
            </a:r>
            <a:r>
              <a:rPr lang="en-US" altLang="zh-CN" sz="2000" i="1">
                <a:ea typeface="宋体" panose="02010600030101010101" pitchFamily="2" charset="-122"/>
              </a:rPr>
              <a:t> x</a:t>
            </a:r>
            <a:r>
              <a:rPr lang="en-US" altLang="zh-CN" sz="2000" i="1" baseline="-25000">
                <a:ea typeface="宋体" panose="02010600030101010101" pitchFamily="2" charset="-122"/>
              </a:rPr>
              <a:t>q</a:t>
            </a:r>
            <a:endParaRPr lang="en-US" altLang="zh-CN" sz="20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giving greater weight to closer neighbors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Similarly, for real-valued target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Robust to noisy data by averaging k-nearest neighbors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Curse of dimensionality: distance between neighbors could be dominated by irrelevant attributes.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To overcome it, axes stretch or elimination of the least relevant attributes.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6248400" y="2819400"/>
          <a:ext cx="1473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685800" progId="Equation.3">
                  <p:embed/>
                </p:oleObj>
              </mc:Choice>
              <mc:Fallback>
                <p:oleObj name="Equation" r:id="rId2" imgW="1473120" imgH="685800" progId="Equation.3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819400"/>
                        <a:ext cx="1473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9281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114800" y="63055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5CE0279-D5DB-4021-8B76-DF7F99CD81A0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3055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7048" y="6305550"/>
            <a:ext cx="457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50A3047-8601-4693-BCC5-B03FA5AC15D8}" type="slidenum">
              <a:rPr lang="zh-CN" altLang="en-US"/>
              <a:pPr eaLnBrk="1" hangingPunct="1"/>
              <a:t>24</a:t>
            </a:fld>
            <a:endParaRPr lang="en-US" altLang="zh-CN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88392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Lazy vs. Eager Learning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5344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u="sng">
                <a:ea typeface="宋体" panose="02010600030101010101" pitchFamily="2" charset="-122"/>
              </a:rPr>
              <a:t>Lazy vs. eager learning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Lazy learning (e.g., instance-based learning): Simply stores training data (or only minor processing) and waits until it is given a test tuple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Eager learning (the above discussed methods): Given a set of training set, constructs a classification model before receiving new (e.g., test) data to classify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Lazy: less time in training but more time in predicting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Lazy method effectively uses a richer hypothesis space since it uses many local linear functions to form its implicit global approximation to the target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Eager: must commit to a single hypothesis that covers the entire instance space</a:t>
            </a:r>
          </a:p>
        </p:txBody>
      </p:sp>
    </p:spTree>
    <p:extLst>
      <p:ext uri="{BB962C8B-B14F-4D97-AF65-F5344CB8AC3E}">
        <p14:creationId xmlns:p14="http://schemas.microsoft.com/office/powerpoint/2010/main" val="2369597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264152" y="63055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C54328D-3796-4E7D-938D-534F71C22863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97752" y="63055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305550"/>
            <a:ext cx="457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618C9A4-DB6C-462F-A710-5D20D8C9B8E2}" type="slidenum">
              <a:rPr lang="zh-CN" altLang="en-US"/>
              <a:pPr eaLnBrk="1" hangingPunct="1"/>
              <a:t>25</a:t>
            </a:fld>
            <a:endParaRPr lang="en-US" altLang="zh-CN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987552" y="228600"/>
            <a:ext cx="8382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Lazy Learner: Instance-Based Methods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9952" y="1371600"/>
            <a:ext cx="80772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Instance-based learning: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Store training examples and delay the processing (“lazy evaluation”) until a new instance must be classified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Typical approaches</a:t>
            </a:r>
            <a:endParaRPr lang="en-US" altLang="zh-CN" sz="2400" u="sng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u="sng">
                <a:ea typeface="宋体" panose="02010600030101010101" pitchFamily="2" charset="-122"/>
              </a:rPr>
              <a:t>k</a:t>
            </a:r>
            <a:r>
              <a:rPr lang="en-US" altLang="zh-CN" sz="2400" u="sng">
                <a:ea typeface="宋体" panose="02010600030101010101" pitchFamily="2" charset="-122"/>
              </a:rPr>
              <a:t>-nearest neighbor approach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Instances represented as points in a Euclidean space.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u="sng">
                <a:ea typeface="宋体" panose="02010600030101010101" pitchFamily="2" charset="-122"/>
              </a:rPr>
              <a:t>Locally weighted regression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Constructs local approximation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u="sng">
                <a:ea typeface="宋体" panose="02010600030101010101" pitchFamily="2" charset="-122"/>
              </a:rPr>
              <a:t>Case-based reasoning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Uses symbolic representations and knowledge-based inference</a:t>
            </a:r>
          </a:p>
        </p:txBody>
      </p:sp>
    </p:spTree>
    <p:extLst>
      <p:ext uri="{BB962C8B-B14F-4D97-AF65-F5344CB8AC3E}">
        <p14:creationId xmlns:p14="http://schemas.microsoft.com/office/powerpoint/2010/main" val="362344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340352" y="63055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F3E7D6-3A58-4379-AB08-2FE905D554B3}" type="datetime1">
              <a:rPr lang="en-US" altLang="zh-CN" smtClean="0">
                <a:ea typeface="宋体" panose="02010600030101010101" pitchFamily="2" charset="-122"/>
              </a:rPr>
              <a:pPr eaLnBrk="1" hangingPunct="1"/>
              <a:t>8/27/24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3952" y="63055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Data Mining: Concepts and Techniques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2600" y="6305550"/>
            <a:ext cx="457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F1E8CA6-52F4-4DE6-8A97-0C46471BEC36}" type="slidenum">
              <a:rPr lang="zh-CN" altLang="en-US"/>
              <a:pPr eaLnBrk="1" hangingPunct="1"/>
              <a:t>26</a:t>
            </a:fld>
            <a:endParaRPr lang="en-US" altLang="zh-CN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6152" y="381000"/>
            <a:ext cx="8153400" cy="569913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Case-Based Reasoning (CBR)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7552" y="1295400"/>
            <a:ext cx="86868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CBR: Uses a database of problem solutions to solve new problems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Store </a:t>
            </a:r>
            <a:r>
              <a:rPr lang="en-US" altLang="zh-CN" sz="2000" u="sng">
                <a:ea typeface="宋体" panose="02010600030101010101" pitchFamily="2" charset="-122"/>
              </a:rPr>
              <a:t>symbolic description</a:t>
            </a:r>
            <a:r>
              <a:rPr lang="en-US" altLang="zh-CN" sz="2000">
                <a:ea typeface="宋体" panose="02010600030101010101" pitchFamily="2" charset="-122"/>
              </a:rPr>
              <a:t> (tuples or cases)—not points in a Euclidean space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u="sng">
                <a:ea typeface="宋体" panose="02010600030101010101" pitchFamily="2" charset="-122"/>
              </a:rPr>
              <a:t>Applications:</a:t>
            </a:r>
            <a:r>
              <a:rPr lang="en-US" altLang="zh-CN" sz="2000">
                <a:ea typeface="宋体" panose="02010600030101010101" pitchFamily="2" charset="-122"/>
              </a:rPr>
              <a:t> Customer-service (product-related diagnosis), legal ruling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u="sng">
                <a:ea typeface="宋体" panose="02010600030101010101" pitchFamily="2" charset="-122"/>
              </a:rPr>
              <a:t>Methodology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Instances represented by rich symbolic descriptions (e.g., function graphs)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Search for similar cases, multiple retrieved cases may be combined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Tight coupling between case retrieval, knowledge-based reasoning, and problem solving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u="sng">
                <a:ea typeface="宋体" panose="02010600030101010101" pitchFamily="2" charset="-122"/>
              </a:rPr>
              <a:t>Challenges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Find a good similarity metric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ea typeface="宋体" panose="02010600030101010101" pitchFamily="2" charset="-122"/>
              </a:rPr>
              <a:t>Indexing based on syntactic similarity measure,  and when failure, backtracking, and adapting to additional cases</a:t>
            </a:r>
          </a:p>
        </p:txBody>
      </p:sp>
    </p:spTree>
    <p:extLst>
      <p:ext uri="{BB962C8B-B14F-4D97-AF65-F5344CB8AC3E}">
        <p14:creationId xmlns:p14="http://schemas.microsoft.com/office/powerpoint/2010/main" val="4119128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3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Probability and Inference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873C3B64-C785-44CA-8443-53C55DF4B013}" type="slidenum">
              <a:rPr lang="tr-TR"/>
              <a:pPr/>
              <a:t>28</a:t>
            </a:fld>
            <a:endParaRPr lang="tr-TR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solidFill>
                  <a:schemeClr val="tx2"/>
                </a:solidFill>
              </a:rPr>
              <a:t>Result of tossing a coin is </a:t>
            </a:r>
            <a:r>
              <a:rPr lang="tr-TR" dirty="0">
                <a:solidFill>
                  <a:schemeClr val="tx2"/>
                </a:solidFill>
                <a:latin typeface="Symbol" pitchFamily="18" charset="2"/>
              </a:rPr>
              <a:t>Î </a:t>
            </a:r>
            <a:r>
              <a:rPr lang="tr-TR" dirty="0">
                <a:solidFill>
                  <a:schemeClr val="tx2"/>
                </a:solidFill>
              </a:rPr>
              <a:t>{Heads,Tails}</a:t>
            </a:r>
          </a:p>
          <a:p>
            <a:r>
              <a:rPr lang="tr-TR" dirty="0">
                <a:solidFill>
                  <a:schemeClr val="tx2"/>
                </a:solidFill>
              </a:rPr>
              <a:t>Random var 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  <a:latin typeface="Symbol" pitchFamily="18" charset="2"/>
              </a:rPr>
              <a:t>Î</a:t>
            </a:r>
            <a:r>
              <a:rPr lang="tr-TR" dirty="0">
                <a:solidFill>
                  <a:schemeClr val="tx2"/>
                </a:solidFill>
              </a:rPr>
              <a:t>{1,0}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	Bernoulli: </a:t>
            </a:r>
            <a:r>
              <a:rPr lang="tr-TR" i="1" dirty="0">
                <a:solidFill>
                  <a:schemeClr val="tx2"/>
                </a:solidFill>
              </a:rPr>
              <a:t>P </a:t>
            </a:r>
            <a:r>
              <a:rPr lang="tr-TR" dirty="0">
                <a:solidFill>
                  <a:schemeClr val="tx2"/>
                </a:solidFill>
              </a:rPr>
              <a:t>{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dirty="0">
                <a:solidFill>
                  <a:schemeClr val="tx2"/>
                </a:solidFill>
              </a:rPr>
              <a:t>=1} =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i="1" baseline="-25000" dirty="0">
                <a:solidFill>
                  <a:schemeClr val="tx2"/>
                </a:solidFill>
              </a:rPr>
              <a:t>o</a:t>
            </a:r>
            <a:r>
              <a:rPr lang="tr-TR" i="1" baseline="30000" dirty="0">
                <a:solidFill>
                  <a:schemeClr val="tx2"/>
                </a:solidFill>
              </a:rPr>
              <a:t>X </a:t>
            </a:r>
            <a:r>
              <a:rPr lang="tr-TR" dirty="0">
                <a:solidFill>
                  <a:schemeClr val="tx2"/>
                </a:solidFill>
              </a:rPr>
              <a:t>(1 ‒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i="1" baseline="-25000" dirty="0">
                <a:solidFill>
                  <a:schemeClr val="tx2"/>
                </a:solidFill>
              </a:rPr>
              <a:t>o</a:t>
            </a:r>
            <a:r>
              <a:rPr lang="tr-TR" dirty="0">
                <a:solidFill>
                  <a:schemeClr val="tx2"/>
                </a:solidFill>
              </a:rPr>
              <a:t>)</a:t>
            </a:r>
            <a:r>
              <a:rPr lang="tr-TR" i="1" baseline="30000" dirty="0">
                <a:solidFill>
                  <a:schemeClr val="tx2"/>
                </a:solidFill>
              </a:rPr>
              <a:t>(1 </a:t>
            </a:r>
            <a:r>
              <a:rPr lang="tr-TR" baseline="30000" dirty="0">
                <a:solidFill>
                  <a:schemeClr val="tx2"/>
                </a:solidFill>
              </a:rPr>
              <a:t>‒</a:t>
            </a:r>
            <a:r>
              <a:rPr lang="tr-TR" i="1" baseline="30000" dirty="0">
                <a:solidFill>
                  <a:schemeClr val="tx2"/>
                </a:solidFill>
              </a:rPr>
              <a:t> X)</a:t>
            </a:r>
            <a:endParaRPr lang="tr-TR" dirty="0">
              <a:solidFill>
                <a:schemeClr val="tx2"/>
              </a:solidFill>
            </a:endParaRPr>
          </a:p>
          <a:p>
            <a:r>
              <a:rPr lang="tr-TR" dirty="0">
                <a:solidFill>
                  <a:schemeClr val="tx2"/>
                </a:solidFill>
              </a:rPr>
              <a:t>Sample: </a:t>
            </a:r>
            <a:r>
              <a:rPr lang="tr-TR" b="1" i="1" dirty="0">
                <a:solidFill>
                  <a:schemeClr val="tx2"/>
                </a:solidFill>
              </a:rPr>
              <a:t>X </a:t>
            </a:r>
            <a:r>
              <a:rPr lang="tr-TR" dirty="0">
                <a:solidFill>
                  <a:schemeClr val="tx2"/>
                </a:solidFill>
              </a:rPr>
              <a:t>= {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 </a:t>
            </a:r>
            <a:r>
              <a:rPr lang="tr-TR" dirty="0">
                <a:solidFill>
                  <a:schemeClr val="tx2"/>
                </a:solidFill>
              </a:rPr>
              <a:t>}</a:t>
            </a:r>
            <a:r>
              <a:rPr lang="tr-TR" i="1" baseline="30000" dirty="0">
                <a:solidFill>
                  <a:schemeClr val="tx2"/>
                </a:solidFill>
              </a:rPr>
              <a:t>N</a:t>
            </a:r>
            <a:r>
              <a:rPr lang="tr-TR" i="1" baseline="-25000" dirty="0">
                <a:solidFill>
                  <a:schemeClr val="tx2"/>
                </a:solidFill>
              </a:rPr>
              <a:t>t </a:t>
            </a:r>
            <a:r>
              <a:rPr lang="tr-TR" baseline="-25000" dirty="0">
                <a:solidFill>
                  <a:schemeClr val="tx2"/>
                </a:solidFill>
              </a:rPr>
              <a:t>=1</a:t>
            </a:r>
            <a:endParaRPr lang="tr-TR" i="1" baseline="30000" dirty="0">
              <a:solidFill>
                <a:schemeClr val="tx2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Estimation: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i="1" baseline="-25000" dirty="0">
                <a:solidFill>
                  <a:schemeClr val="tx2"/>
                </a:solidFill>
              </a:rPr>
              <a:t>o</a:t>
            </a:r>
            <a:r>
              <a:rPr lang="tr-TR" dirty="0">
                <a:solidFill>
                  <a:schemeClr val="tx2"/>
                </a:solidFill>
              </a:rPr>
              <a:t> = # {Heads}/#{Tosses} = ∑</a:t>
            </a:r>
            <a:r>
              <a:rPr lang="tr-TR" i="1" baseline="-40000" dirty="0">
                <a:solidFill>
                  <a:schemeClr val="tx2"/>
                </a:solidFill>
              </a:rPr>
              <a:t>t</a:t>
            </a:r>
            <a:r>
              <a:rPr lang="tr-TR" i="1" baseline="-25000" dirty="0">
                <a:solidFill>
                  <a:schemeClr val="tx2"/>
                </a:solidFill>
              </a:rPr>
              <a:t> </a:t>
            </a:r>
            <a:r>
              <a:rPr lang="tr-TR" i="1" dirty="0">
                <a:solidFill>
                  <a:schemeClr val="tx2"/>
                </a:solidFill>
              </a:rPr>
              <a:t>x</a:t>
            </a:r>
            <a:r>
              <a:rPr lang="tr-TR" i="1" baseline="30000" dirty="0">
                <a:solidFill>
                  <a:schemeClr val="tx2"/>
                </a:solidFill>
              </a:rPr>
              <a:t>t </a:t>
            </a:r>
            <a:r>
              <a:rPr lang="tr-TR" dirty="0">
                <a:solidFill>
                  <a:schemeClr val="tx2"/>
                </a:solidFill>
              </a:rPr>
              <a:t>/ </a:t>
            </a:r>
            <a:r>
              <a:rPr lang="tr-TR" i="1" dirty="0">
                <a:solidFill>
                  <a:schemeClr val="tx2"/>
                </a:solidFill>
              </a:rPr>
              <a:t>N</a:t>
            </a:r>
          </a:p>
          <a:p>
            <a:r>
              <a:rPr lang="tr-TR" dirty="0">
                <a:solidFill>
                  <a:schemeClr val="tx2"/>
                </a:solidFill>
              </a:rPr>
              <a:t>Prediction of next toss:</a:t>
            </a:r>
          </a:p>
          <a:p>
            <a:pPr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</a:rPr>
              <a:t>		Heads if </a:t>
            </a:r>
            <a:r>
              <a:rPr lang="tr-TR" i="1" dirty="0">
                <a:solidFill>
                  <a:schemeClr val="tx2"/>
                </a:solidFill>
              </a:rPr>
              <a:t>p</a:t>
            </a:r>
            <a:r>
              <a:rPr lang="tr-TR" i="1" baseline="-25000" dirty="0">
                <a:solidFill>
                  <a:schemeClr val="tx2"/>
                </a:solidFill>
              </a:rPr>
              <a:t>o</a:t>
            </a:r>
            <a:r>
              <a:rPr lang="tr-TR" baseline="-25000" dirty="0">
                <a:solidFill>
                  <a:schemeClr val="tx2"/>
                </a:solidFill>
              </a:rPr>
              <a:t> </a:t>
            </a:r>
            <a:r>
              <a:rPr lang="tr-TR" dirty="0">
                <a:solidFill>
                  <a:schemeClr val="tx2"/>
                </a:solidFill>
              </a:rPr>
              <a:t>&gt; ½, Tails otherwise</a:t>
            </a:r>
          </a:p>
        </p:txBody>
      </p:sp>
    </p:spTree>
    <p:extLst>
      <p:ext uri="{BB962C8B-B14F-4D97-AF65-F5344CB8AC3E}">
        <p14:creationId xmlns:p14="http://schemas.microsoft.com/office/powerpoint/2010/main" val="1234596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696200" y="607218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4" rIns="80147" bIns="40074"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47372F11-75B4-4688-B09B-BAF096A3CB60}" type="slidenum">
              <a:rPr lang="en-GB" altLang="en-US" sz="1400"/>
              <a:pPr eaLnBrk="1" hangingPunct="1"/>
              <a:t>29</a:t>
            </a:fld>
            <a:endParaRPr lang="en-GB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0"/>
            <a:ext cx="8807450" cy="1143000"/>
          </a:xfrm>
        </p:spPr>
        <p:txBody>
          <a:bodyPr/>
          <a:lstStyle/>
          <a:p>
            <a:r>
              <a:rPr lang="en-US" altLang="en-US"/>
              <a:t>Background	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2350" y="1217613"/>
            <a:ext cx="8545513" cy="4906962"/>
          </a:xfrm>
        </p:spPr>
        <p:txBody>
          <a:bodyPr>
            <a:normAutofit fontScale="85000" lnSpcReduction="10000"/>
          </a:bodyPr>
          <a:lstStyle/>
          <a:p>
            <a:pPr marL="466725" indent="-466725">
              <a:lnSpc>
                <a:spcPct val="110000"/>
              </a:lnSpc>
            </a:pPr>
            <a:r>
              <a:rPr lang="en-US" altLang="en-US"/>
              <a:t>There are three methods to establish a classifier</a:t>
            </a:r>
          </a:p>
          <a:p>
            <a:pPr marL="466725" indent="-466725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/>
              <a:t>     </a:t>
            </a:r>
            <a:r>
              <a:rPr lang="en-US" altLang="en-US" sz="2100" i="1">
                <a:solidFill>
                  <a:schemeClr val="accent2"/>
                </a:solidFill>
              </a:rPr>
              <a:t>a</a:t>
            </a:r>
            <a:r>
              <a:rPr lang="en-US" altLang="en-US" sz="2100">
                <a:solidFill>
                  <a:schemeClr val="accent2"/>
                </a:solidFill>
              </a:rPr>
              <a:t>) Model a classification rule directly</a:t>
            </a:r>
          </a:p>
          <a:p>
            <a:pPr marL="857250" lvl="1" indent="-4000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/>
              <a:t>     </a:t>
            </a:r>
            <a:r>
              <a:rPr lang="en-US" altLang="en-US" sz="1900"/>
              <a:t>Examples: k-NN, decision trees, perceptron, SVM</a:t>
            </a:r>
            <a:r>
              <a:rPr lang="en-US" altLang="en-US" sz="1800"/>
              <a:t> </a:t>
            </a:r>
            <a:endParaRPr lang="en-US" altLang="en-US" sz="1900"/>
          </a:p>
          <a:p>
            <a:pPr marL="857250" lvl="1" indent="-4000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  <a:r>
              <a:rPr lang="en-US" altLang="en-US" i="1">
                <a:solidFill>
                  <a:schemeClr val="accent2"/>
                </a:solidFill>
              </a:rPr>
              <a:t>b</a:t>
            </a:r>
            <a:r>
              <a:rPr lang="en-US" altLang="en-US">
                <a:solidFill>
                  <a:schemeClr val="accent2"/>
                </a:solidFill>
              </a:rPr>
              <a:t>) Model the probability of class memberships given input data</a:t>
            </a:r>
          </a:p>
          <a:p>
            <a:pPr marL="857250" lvl="1" indent="-4000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accent2"/>
                </a:solidFill>
              </a:rPr>
              <a:t>     </a:t>
            </a:r>
            <a:r>
              <a:rPr lang="en-US" altLang="en-US" sz="1900"/>
              <a:t>Example: multi-layered perceptron with the cross-entropy cost</a:t>
            </a:r>
          </a:p>
          <a:p>
            <a:pPr marL="466725" indent="-466725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/>
              <a:t>     </a:t>
            </a:r>
            <a:r>
              <a:rPr lang="en-US" altLang="en-US" i="1">
                <a:solidFill>
                  <a:schemeClr val="accent2"/>
                </a:solidFill>
              </a:rPr>
              <a:t>c</a:t>
            </a:r>
            <a:r>
              <a:rPr lang="en-US" altLang="en-US">
                <a:solidFill>
                  <a:schemeClr val="accent2"/>
                </a:solidFill>
              </a:rPr>
              <a:t>) </a:t>
            </a:r>
            <a:r>
              <a:rPr lang="en-US" altLang="en-US" sz="2100">
                <a:solidFill>
                  <a:schemeClr val="accent2"/>
                </a:solidFill>
              </a:rPr>
              <a:t>Make a probabilistic model of data within each class</a:t>
            </a:r>
          </a:p>
          <a:p>
            <a:pPr marL="857250" lvl="1" indent="-4000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/>
              <a:t>     </a:t>
            </a:r>
            <a:r>
              <a:rPr lang="en-US" altLang="en-US" sz="1900"/>
              <a:t>Examples: naive Bayes, model based classifiers</a:t>
            </a:r>
          </a:p>
          <a:p>
            <a:pPr marL="466725" indent="-466725">
              <a:lnSpc>
                <a:spcPct val="110000"/>
              </a:lnSpc>
            </a:pPr>
            <a:r>
              <a:rPr lang="en-US" altLang="en-US" i="1"/>
              <a:t>a</a:t>
            </a:r>
            <a:r>
              <a:rPr lang="en-US" altLang="en-US"/>
              <a:t>) and </a:t>
            </a:r>
            <a:r>
              <a:rPr lang="en-US" altLang="en-US" i="1"/>
              <a:t>b</a:t>
            </a:r>
            <a:r>
              <a:rPr lang="en-US" altLang="en-US"/>
              <a:t>) are examples of </a:t>
            </a:r>
            <a:r>
              <a:rPr lang="en-US" altLang="en-US">
                <a:solidFill>
                  <a:srgbClr val="FF0000"/>
                </a:solidFill>
              </a:rPr>
              <a:t>discriminative </a:t>
            </a:r>
            <a:r>
              <a:rPr lang="en-US" altLang="en-US"/>
              <a:t>classification</a:t>
            </a:r>
          </a:p>
          <a:p>
            <a:pPr marL="466725" indent="-466725">
              <a:lnSpc>
                <a:spcPct val="110000"/>
              </a:lnSpc>
            </a:pPr>
            <a:r>
              <a:rPr lang="en-US" altLang="en-US" i="1"/>
              <a:t>c</a:t>
            </a:r>
            <a:r>
              <a:rPr lang="en-US" altLang="en-US"/>
              <a:t>) is an example of </a:t>
            </a:r>
            <a:r>
              <a:rPr lang="en-US" altLang="en-US">
                <a:solidFill>
                  <a:srgbClr val="FF0000"/>
                </a:solidFill>
              </a:rPr>
              <a:t>generative</a:t>
            </a:r>
            <a:r>
              <a:rPr lang="en-US" altLang="en-US"/>
              <a:t> classification</a:t>
            </a:r>
          </a:p>
          <a:p>
            <a:pPr marL="466725" indent="-466725">
              <a:lnSpc>
                <a:spcPct val="110000"/>
              </a:lnSpc>
            </a:pPr>
            <a:r>
              <a:rPr lang="en-US" altLang="en-US" i="1"/>
              <a:t>b</a:t>
            </a:r>
            <a:r>
              <a:rPr lang="en-US" altLang="en-US"/>
              <a:t>) and </a:t>
            </a:r>
            <a:r>
              <a:rPr lang="en-US" altLang="en-US" i="1"/>
              <a:t>c</a:t>
            </a:r>
            <a:r>
              <a:rPr lang="en-US" altLang="en-US"/>
              <a:t>) are both examples of </a:t>
            </a:r>
            <a:r>
              <a:rPr lang="en-US" altLang="en-US">
                <a:solidFill>
                  <a:srgbClr val="FF0000"/>
                </a:solidFill>
              </a:rPr>
              <a:t>probabilistic</a:t>
            </a:r>
            <a:r>
              <a:rPr lang="en-US" altLang="en-US"/>
              <a:t>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5494313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Things We’d Like to Do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Spam Classification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Given an email, predict whether it is spam or not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Medical Diagnosis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Given a list of symptoms, predict whether a patient has disease X or not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Weather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Based on temperature, humidity, etc… predict if it will rain tomorrow</a:t>
            </a:r>
          </a:p>
        </p:txBody>
      </p:sp>
    </p:spTree>
    <p:extLst>
      <p:ext uri="{BB962C8B-B14F-4D97-AF65-F5344CB8AC3E}">
        <p14:creationId xmlns:p14="http://schemas.microsoft.com/office/powerpoint/2010/main" val="2464343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Bayesian Classification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Problem statement:</a:t>
            </a:r>
          </a:p>
          <a:p>
            <a:pPr lvl="1" eaLnBrk="1" hangingPunct="1"/>
            <a:r>
              <a:rPr lang="en-US" altLang="en-US"/>
              <a:t>Given features X</a:t>
            </a:r>
            <a:r>
              <a:rPr lang="en-US" altLang="en-US" baseline="-25000"/>
              <a:t>1</a:t>
            </a:r>
            <a:r>
              <a:rPr lang="en-US" altLang="en-US"/>
              <a:t>,X</a:t>
            </a:r>
            <a:r>
              <a:rPr lang="en-US" altLang="en-US" baseline="-25000"/>
              <a:t>2</a:t>
            </a:r>
            <a:r>
              <a:rPr lang="en-US" altLang="en-US"/>
              <a:t>,…,X</a:t>
            </a:r>
            <a:r>
              <a:rPr lang="en-US" altLang="en-US" baseline="-25000"/>
              <a:t>n</a:t>
            </a:r>
            <a:endParaRPr lang="en-US" altLang="en-US"/>
          </a:p>
          <a:p>
            <a:pPr lvl="1" eaLnBrk="1" hangingPunct="1"/>
            <a:r>
              <a:rPr lang="en-US" altLang="en-US"/>
              <a:t>Predict a label Y</a:t>
            </a:r>
          </a:p>
        </p:txBody>
      </p:sp>
    </p:spTree>
    <p:extLst>
      <p:ext uri="{BB962C8B-B14F-4D97-AF65-F5344CB8AC3E}">
        <p14:creationId xmlns:p14="http://schemas.microsoft.com/office/powerpoint/2010/main" val="3826671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Application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Digit Recognition</a:t>
            </a:r>
          </a:p>
          <a:p>
            <a:pPr eaLnBrk="1" hangingPunct="1"/>
            <a:endParaRPr lang="en-US" altLang="en-US" b="1"/>
          </a:p>
          <a:p>
            <a:pPr eaLnBrk="1" hangingPunct="1"/>
            <a:endParaRPr lang="en-US" altLang="en-US" b="1"/>
          </a:p>
          <a:p>
            <a:pPr eaLnBrk="1" hangingPunct="1"/>
            <a:endParaRPr lang="en-US" altLang="en-US" b="1"/>
          </a:p>
          <a:p>
            <a:pPr eaLnBrk="1" hangingPunct="1"/>
            <a:endParaRPr lang="en-US" altLang="en-US" b="1"/>
          </a:p>
          <a:p>
            <a:pPr eaLnBrk="1" hangingPunct="1"/>
            <a:endParaRPr lang="en-US" altLang="en-US" sz="2000" b="1"/>
          </a:p>
          <a:p>
            <a:pPr eaLnBrk="1" hangingPunct="1"/>
            <a:r>
              <a:rPr lang="en-US" altLang="en-US" sz="2000" b="1"/>
              <a:t>X</a:t>
            </a:r>
            <a:r>
              <a:rPr lang="en-US" altLang="en-US" sz="2000" b="1" baseline="-25000"/>
              <a:t>1</a:t>
            </a:r>
            <a:r>
              <a:rPr lang="en-US" altLang="en-US" sz="2000" b="1"/>
              <a:t>,…,X</a:t>
            </a:r>
            <a:r>
              <a:rPr lang="en-US" altLang="en-US" sz="2000" b="1" baseline="-25000"/>
              <a:t>n</a:t>
            </a:r>
            <a:r>
              <a:rPr lang="en-US" altLang="en-US" sz="2000" b="1"/>
              <a:t> </a:t>
            </a:r>
            <a:r>
              <a:rPr lang="en-US" altLang="en-US" sz="2000" b="1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2000" b="1"/>
              <a:t> {0,1} (Black vs. White pixels)</a:t>
            </a:r>
          </a:p>
          <a:p>
            <a:pPr eaLnBrk="1" hangingPunct="1"/>
            <a:r>
              <a:rPr lang="en-US" altLang="en-US" sz="2000" b="1"/>
              <a:t>Y </a:t>
            </a:r>
            <a:r>
              <a:rPr lang="en-US" altLang="en-US" sz="2000" b="1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2000" b="1"/>
              <a:t> {5,6} (predict whether a digit is a 5 or a 6)</a:t>
            </a:r>
          </a:p>
          <a:p>
            <a:pPr eaLnBrk="1" hangingPunct="1"/>
            <a:endParaRPr lang="en-US" altLang="en-US" b="1"/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4800600" y="2743200"/>
            <a:ext cx="22860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Classifier</a:t>
            </a:r>
          </a:p>
        </p:txBody>
      </p:sp>
      <p:sp>
        <p:nvSpPr>
          <p:cNvPr id="11269" name="Text Box 9"/>
          <p:cNvSpPr txBox="1">
            <a:spLocks noChangeArrowheads="1"/>
          </p:cNvSpPr>
          <p:nvPr/>
        </p:nvSpPr>
        <p:spPr bwMode="auto">
          <a:xfrm>
            <a:off x="8001000" y="3505200"/>
            <a:ext cx="68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270" name="AutoShape 10"/>
          <p:cNvSpPr>
            <a:spLocks noChangeArrowheads="1"/>
          </p:cNvSpPr>
          <p:nvPr/>
        </p:nvSpPr>
        <p:spPr bwMode="auto">
          <a:xfrm>
            <a:off x="3962400" y="32004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1" name="AutoShape 11"/>
          <p:cNvSpPr>
            <a:spLocks noChangeArrowheads="1"/>
          </p:cNvSpPr>
          <p:nvPr/>
        </p:nvSpPr>
        <p:spPr bwMode="auto">
          <a:xfrm>
            <a:off x="7010400" y="37338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11272" name="Picture 12" descr="fiv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3429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331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Bayes Classifier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good strategy is to predict: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r>
              <a:rPr lang="en-US" altLang="en-US" sz="2400"/>
              <a:t>(for example: what is the probability that the image represents a 5 given its pixels?)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So … How do we compute that?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14600"/>
            <a:ext cx="3810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6159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Bayes Classifier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Use Bayes Rule!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Why did this help?  Well, we think that we might be able to specify how features are “generated” by the class label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11450"/>
            <a:ext cx="67818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5029200" y="4159250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chemeClr val="hlink"/>
                </a:solidFill>
                <a:latin typeface="Arial" panose="020B0604020202020204" pitchFamily="34" charset="0"/>
              </a:rPr>
              <a:t>Normalization Constant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4495800" y="2406650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Arial" panose="020B0604020202020204" pitchFamily="34" charset="0"/>
              </a:rPr>
              <a:t>Likelihood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7696200" y="240665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800080"/>
                </a:solidFill>
                <a:latin typeface="Arial" panose="020B0604020202020204" pitchFamily="34" charset="0"/>
              </a:rPr>
              <a:t>Prior</a:t>
            </a:r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 flipH="1">
            <a:off x="7924800" y="271145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>
            <a:off x="5029200" y="271145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2"/>
          <p:cNvSpPr>
            <a:spLocks noChangeShapeType="1"/>
          </p:cNvSpPr>
          <p:nvPr/>
        </p:nvSpPr>
        <p:spPr bwMode="auto">
          <a:xfrm flipV="1">
            <a:off x="6172200" y="40068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22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Bayes Classifier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Let’s expand this for our digit recognition task: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To classify, we’ll simply compute these two probabilities and predict based on which one is greater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8991600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5991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Model Parameters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For the Bayes classifier, we need to “learn” two functions, the likelihood and the prior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How many parameters are required to specify the prior for our digit recognition example?</a:t>
            </a:r>
          </a:p>
        </p:txBody>
      </p:sp>
    </p:spTree>
    <p:extLst>
      <p:ext uri="{BB962C8B-B14F-4D97-AF65-F5344CB8AC3E}">
        <p14:creationId xmlns:p14="http://schemas.microsoft.com/office/powerpoint/2010/main" val="1597143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Model Parameters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How many parameters are required to specify the likelihood?</a:t>
            </a:r>
          </a:p>
          <a:p>
            <a:pPr lvl="1" eaLnBrk="1" hangingPunct="1"/>
            <a:r>
              <a:rPr lang="en-US" altLang="en-US" sz="2400"/>
              <a:t>(Supposing that each image is 30x30 pixels)</a:t>
            </a:r>
          </a:p>
          <a:p>
            <a:pPr lvl="1" eaLnBrk="1" hangingPunct="1"/>
            <a:endParaRPr lang="en-US" altLang="en-US" sz="240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9600"/>
              <a:t>					?</a:t>
            </a:r>
          </a:p>
        </p:txBody>
      </p:sp>
    </p:spTree>
    <p:extLst>
      <p:ext uri="{BB962C8B-B14F-4D97-AF65-F5344CB8AC3E}">
        <p14:creationId xmlns:p14="http://schemas.microsoft.com/office/powerpoint/2010/main" val="4155709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Model Parameters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problem with explicitly modeling P(X</a:t>
            </a:r>
            <a:r>
              <a:rPr lang="en-US" altLang="en-US" sz="2400" baseline="-25000"/>
              <a:t>1</a:t>
            </a:r>
            <a:r>
              <a:rPr lang="en-US" altLang="en-US" sz="2400"/>
              <a:t>,…,X</a:t>
            </a:r>
            <a:r>
              <a:rPr lang="en-US" altLang="en-US" sz="2400" baseline="-25000"/>
              <a:t>n</a:t>
            </a:r>
            <a:r>
              <a:rPr lang="en-US" altLang="en-US" sz="2400"/>
              <a:t>|Y) is that there are usually way too many parameters:</a:t>
            </a:r>
          </a:p>
          <a:p>
            <a:pPr lvl="1" eaLnBrk="1" hangingPunct="1"/>
            <a:r>
              <a:rPr lang="en-US" altLang="en-US" sz="2400"/>
              <a:t>We’ll run out of space</a:t>
            </a:r>
          </a:p>
          <a:p>
            <a:pPr lvl="1" eaLnBrk="1" hangingPunct="1"/>
            <a:r>
              <a:rPr lang="en-US" altLang="en-US" sz="2400"/>
              <a:t>We’ll run out of time</a:t>
            </a:r>
          </a:p>
          <a:p>
            <a:pPr lvl="1" eaLnBrk="1" hangingPunct="1"/>
            <a:r>
              <a:rPr lang="en-US" altLang="en-US" sz="2400"/>
              <a:t>And we’ll need tons of training data (which is usually not available)</a:t>
            </a:r>
          </a:p>
        </p:txBody>
      </p:sp>
    </p:spTree>
    <p:extLst>
      <p:ext uri="{BB962C8B-B14F-4D97-AF65-F5344CB8AC3E}">
        <p14:creationId xmlns:p14="http://schemas.microsoft.com/office/powerpoint/2010/main" val="3467428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Naïve Bayes Model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</a:t>
            </a:r>
            <a:r>
              <a:rPr lang="en-US" altLang="en-US" sz="2400" i="1"/>
              <a:t>Naïve Bayes Assumption</a:t>
            </a:r>
            <a:r>
              <a:rPr lang="en-US" altLang="en-US" sz="2400"/>
              <a:t>: Assume that all features are independent </a:t>
            </a:r>
            <a:r>
              <a:rPr lang="en-US" altLang="en-US" sz="2400" b="1"/>
              <a:t>given the class label Y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Equationally speaking: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(We will discuss the validity of this assumption later)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3438525"/>
            <a:ext cx="46005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856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is this useful?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# of parameters for modeling P(X</a:t>
            </a:r>
            <a:r>
              <a:rPr lang="en-US" altLang="en-US" sz="2400" baseline="-25000"/>
              <a:t>1</a:t>
            </a:r>
            <a:r>
              <a:rPr lang="en-US" altLang="en-US" sz="2400"/>
              <a:t>,…,X</a:t>
            </a:r>
            <a:r>
              <a:rPr lang="en-US" altLang="en-US" sz="2400" baseline="-25000"/>
              <a:t>n</a:t>
            </a:r>
            <a:r>
              <a:rPr lang="en-US" altLang="en-US" sz="2400"/>
              <a:t>|Y):</a:t>
            </a:r>
          </a:p>
          <a:p>
            <a:pPr eaLnBrk="1" hangingPunct="1"/>
            <a:endParaRPr lang="en-US" altLang="en-US" sz="240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000"/>
              <a:t>2(2</a:t>
            </a:r>
            <a:r>
              <a:rPr lang="en-US" altLang="en-US" sz="2000" baseline="30000"/>
              <a:t>n</a:t>
            </a:r>
            <a:r>
              <a:rPr lang="en-US" altLang="en-US" sz="2000"/>
              <a:t>-1)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# of parameters for modeling P(X</a:t>
            </a:r>
            <a:r>
              <a:rPr lang="en-US" altLang="en-US" sz="2400" baseline="-25000"/>
              <a:t>1</a:t>
            </a:r>
            <a:r>
              <a:rPr lang="en-US" altLang="en-US" sz="2400"/>
              <a:t>|Y),…,P(X</a:t>
            </a:r>
            <a:r>
              <a:rPr lang="en-US" altLang="en-US" sz="2400" baseline="-25000"/>
              <a:t>n</a:t>
            </a:r>
            <a:r>
              <a:rPr lang="en-US" altLang="en-US" sz="2400"/>
              <a:t>|Y)</a:t>
            </a:r>
          </a:p>
          <a:p>
            <a:pPr eaLnBrk="1" hangingPunct="1"/>
            <a:endParaRPr lang="en-US" altLang="en-US" sz="240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2000"/>
              <a:t>2n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32760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Training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Now that we’ve decided to use a Naïve Bayes classifier, we need to train it with some data: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62288"/>
            <a:ext cx="275748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062288"/>
            <a:ext cx="26479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581400" y="61864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MNIST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436553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Training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Training in Naïve Bayes is </a:t>
            </a:r>
            <a:r>
              <a:rPr lang="en-US" altLang="en-US" sz="2000" b="1"/>
              <a:t>easy</a:t>
            </a:r>
            <a:r>
              <a:rPr lang="en-US" altLang="en-US" sz="2000"/>
              <a:t>:</a:t>
            </a:r>
          </a:p>
          <a:p>
            <a:pPr lvl="1" eaLnBrk="1" hangingPunct="1"/>
            <a:r>
              <a:rPr lang="en-US" altLang="en-US" sz="2000"/>
              <a:t>Estimate P(Y=v) as the fraction of records with Y=v</a:t>
            </a:r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r>
              <a:rPr lang="en-US" altLang="en-US" sz="2000"/>
              <a:t>Estimate P(X</a:t>
            </a:r>
            <a:r>
              <a:rPr lang="en-US" altLang="en-US" sz="2000" baseline="-25000"/>
              <a:t>i</a:t>
            </a:r>
            <a:r>
              <a:rPr lang="en-US" altLang="en-US" sz="2000"/>
              <a:t>=u|Y=v) as the fraction of records with Y=v for which X</a:t>
            </a:r>
            <a:r>
              <a:rPr lang="en-US" altLang="en-US" sz="2000" baseline="-25000"/>
              <a:t>i</a:t>
            </a:r>
            <a:r>
              <a:rPr lang="en-US" altLang="en-US" sz="2000"/>
              <a:t>=u</a:t>
            </a:r>
          </a:p>
          <a:p>
            <a:pPr lvl="1"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(This corresponds to Maximum Likelihood estimation of model parameters)</a:t>
            </a: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91000"/>
            <a:ext cx="47244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743200"/>
            <a:ext cx="281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4796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Training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 practice, some of these counts can be zero</a:t>
            </a:r>
          </a:p>
          <a:p>
            <a:pPr eaLnBrk="1" hangingPunct="1"/>
            <a:r>
              <a:rPr lang="en-US" altLang="en-US" sz="2400"/>
              <a:t>Fix this by adding “virtual” counts: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r>
              <a:rPr lang="en-US" altLang="en-US" sz="2400"/>
              <a:t>(This is like putting a prior on parameters and doing MAP estimation instead of MLE)</a:t>
            </a:r>
          </a:p>
          <a:p>
            <a:pPr lvl="1" eaLnBrk="1" hangingPunct="1"/>
            <a:r>
              <a:rPr lang="en-US" altLang="en-US" sz="2400"/>
              <a:t>This is called </a:t>
            </a:r>
            <a:r>
              <a:rPr lang="en-US" altLang="en-US" sz="2400" i="1"/>
              <a:t>Smoothing</a:t>
            </a:r>
          </a:p>
          <a:p>
            <a:pPr eaLnBrk="1" hangingPunct="1"/>
            <a:endParaRPr lang="en-US" altLang="en-US" sz="2400" i="1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71800"/>
            <a:ext cx="510540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392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Training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For binary digits, training amounts to averaging all of the training fives together and all of the training sixes together.</a:t>
            </a:r>
          </a:p>
        </p:txBody>
      </p:sp>
      <p:pic>
        <p:nvPicPr>
          <p:cNvPr id="35844" name="Picture 5" descr="trainparams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0" r="8064"/>
          <a:stretch>
            <a:fillRect/>
          </a:stretch>
        </p:blipFill>
        <p:spPr bwMode="auto">
          <a:xfrm>
            <a:off x="838200" y="2597150"/>
            <a:ext cx="7620000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2138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Classification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7892" name="Picture 4" descr="classification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9" r="9790"/>
          <a:stretch>
            <a:fillRect/>
          </a:stretch>
        </p:blipFill>
        <p:spPr bwMode="auto">
          <a:xfrm>
            <a:off x="0" y="2286000"/>
            <a:ext cx="91440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060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5829300" y="63817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4" rIns="80147" bIns="40074"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9F14C818-8AB8-459A-B122-32B5344E3F17}" type="slidenum">
              <a:rPr lang="en-GB" altLang="en-US" sz="1400"/>
              <a:pPr eaLnBrk="1" hangingPunct="1"/>
              <a:t>46</a:t>
            </a:fld>
            <a:endParaRPr lang="en-GB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087438" y="42863"/>
            <a:ext cx="8742362" cy="1143000"/>
          </a:xfrm>
        </p:spPr>
        <p:txBody>
          <a:bodyPr/>
          <a:lstStyle/>
          <a:p>
            <a:r>
              <a:rPr lang="en-US" altLang="en-US"/>
              <a:t>Example	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2350" y="1217613"/>
            <a:ext cx="8545513" cy="5114925"/>
          </a:xfrm>
        </p:spPr>
        <p:txBody>
          <a:bodyPr/>
          <a:lstStyle/>
          <a:p>
            <a:pPr marL="466725" indent="-466725">
              <a:lnSpc>
                <a:spcPct val="110000"/>
              </a:lnSpc>
            </a:pPr>
            <a:endParaRPr lang="en-US" altLang="en-US"/>
          </a:p>
          <a:p>
            <a:pPr marL="466725" indent="-466725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     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1022350" y="1079500"/>
            <a:ext cx="8666163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>
            <a:lvl1pPr marL="466725" indent="-466725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500">
                <a:latin typeface="Tahoma" panose="020B0604030504040204" pitchFamily="34" charset="0"/>
              </a:rPr>
              <a:t>Example: Play Tennis</a:t>
            </a:r>
          </a:p>
        </p:txBody>
      </p:sp>
      <p:pic>
        <p:nvPicPr>
          <p:cNvPr id="215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3" y="1701800"/>
            <a:ext cx="5668962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63733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5253038" y="6215063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4" rIns="80147" bIns="40074"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011A1A41-B122-4E85-9265-1DB5C6C2AB92}" type="slidenum">
              <a:rPr lang="en-GB" altLang="en-US" sz="1400"/>
              <a:pPr eaLnBrk="1" hangingPunct="1"/>
              <a:t>47</a:t>
            </a:fld>
            <a:endParaRPr lang="en-GB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011238" y="42863"/>
            <a:ext cx="8742362" cy="1143000"/>
          </a:xfrm>
        </p:spPr>
        <p:txBody>
          <a:bodyPr/>
          <a:lstStyle/>
          <a:p>
            <a:r>
              <a:rPr lang="en-US" altLang="en-US"/>
              <a:t>Example	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1217613"/>
            <a:ext cx="8545513" cy="5114925"/>
          </a:xfrm>
        </p:spPr>
        <p:txBody>
          <a:bodyPr/>
          <a:lstStyle/>
          <a:p>
            <a:pPr marL="466725" indent="-466725">
              <a:lnSpc>
                <a:spcPct val="110000"/>
              </a:lnSpc>
            </a:pPr>
            <a:endParaRPr lang="en-US" altLang="en-US" b="1"/>
          </a:p>
          <a:p>
            <a:pPr marL="466725" indent="-466725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   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946150" y="1079500"/>
            <a:ext cx="8666163" cy="52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>
            <a:lvl1pPr marL="466725" indent="-466725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500">
                <a:latin typeface="Tahoma" panose="020B0604030504040204" pitchFamily="34" charset="0"/>
              </a:rPr>
              <a:t>Learning Phase</a:t>
            </a:r>
          </a:p>
        </p:txBody>
      </p:sp>
      <p:graphicFrame>
        <p:nvGraphicFramePr>
          <p:cNvPr id="541824" name="Group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164685"/>
              </p:ext>
            </p:extLst>
          </p:nvPr>
        </p:nvGraphicFramePr>
        <p:xfrm>
          <a:off x="1466850" y="1771650"/>
          <a:ext cx="3113087" cy="1614489"/>
        </p:xfrm>
        <a:graphic>
          <a:graphicData uri="http://schemas.openxmlformats.org/drawingml/2006/table">
            <a:tbl>
              <a:tblPr/>
              <a:tblGrid>
                <a:gridCol w="103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48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Outlook</a:t>
                      </a:r>
                    </a:p>
                  </a:txBody>
                  <a:tcPr marL="78201" marR="78201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3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Sunny</a:t>
                      </a:r>
                    </a:p>
                  </a:txBody>
                  <a:tcPr marL="78201" marR="78201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2/9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3/5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3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Overcast</a:t>
                      </a:r>
                    </a:p>
                  </a:txBody>
                  <a:tcPr marL="78201" marR="78201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4/9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0/5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3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Rain</a:t>
                      </a:r>
                    </a:p>
                  </a:txBody>
                  <a:tcPr marL="78201" marR="78201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L="78201" marR="78201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1770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45938"/>
              </p:ext>
            </p:extLst>
          </p:nvPr>
        </p:nvGraphicFramePr>
        <p:xfrm>
          <a:off x="4725988" y="1771650"/>
          <a:ext cx="3910013" cy="1886176"/>
        </p:xfrm>
        <a:graphic>
          <a:graphicData uri="http://schemas.openxmlformats.org/drawingml/2006/table">
            <a:tbl>
              <a:tblPr/>
              <a:tblGrid>
                <a:gridCol w="1433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48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Temperature</a:t>
                      </a:r>
                    </a:p>
                  </a:txBody>
                  <a:tcPr marL="78200" marR="78200" marT="41462" marB="41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1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Hot</a:t>
                      </a:r>
                    </a:p>
                  </a:txBody>
                  <a:tcPr marL="78200" marR="78200" marT="41462" marB="41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2/9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1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Mild</a:t>
                      </a:r>
                    </a:p>
                  </a:txBody>
                  <a:tcPr marL="78200" marR="78200" marT="41462" marB="41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4/9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155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Cool</a:t>
                      </a:r>
                    </a:p>
                  </a:txBody>
                  <a:tcPr marL="78200" marR="78200" marT="41462" marB="41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1/5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L="78200" marR="78200" marT="41462" marB="41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1828" name="Group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403035"/>
              </p:ext>
            </p:extLst>
          </p:nvPr>
        </p:nvGraphicFramePr>
        <p:xfrm>
          <a:off x="1598613" y="3636963"/>
          <a:ext cx="3322637" cy="1468437"/>
        </p:xfrm>
        <a:graphic>
          <a:graphicData uri="http://schemas.openxmlformats.org/drawingml/2006/table">
            <a:tbl>
              <a:tblPr/>
              <a:tblGrid>
                <a:gridCol w="1328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761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Humidity</a:t>
                      </a:r>
                    </a:p>
                  </a:txBody>
                  <a:tcPr marL="78180" marR="78180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Play=N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o</a:t>
                      </a: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3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High</a:t>
                      </a:r>
                    </a:p>
                  </a:txBody>
                  <a:tcPr marL="78180" marR="78180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4/5</a:t>
                      </a: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38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Normal</a:t>
                      </a:r>
                    </a:p>
                  </a:txBody>
                  <a:tcPr marL="78180" marR="78180" marT="41480" marB="414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6/9</a:t>
                      </a: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1/5</a:t>
                      </a:r>
                    </a:p>
                  </a:txBody>
                  <a:tcPr marL="78180" marR="78180" marT="41480" marB="414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41833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75028"/>
              </p:ext>
            </p:extLst>
          </p:nvPr>
        </p:nvGraphicFramePr>
        <p:xfrm>
          <a:off x="5181600" y="3636963"/>
          <a:ext cx="3322638" cy="1248019"/>
        </p:xfrm>
        <a:graphic>
          <a:graphicData uri="http://schemas.openxmlformats.org/drawingml/2006/table">
            <a:tbl>
              <a:tblPr/>
              <a:tblGrid>
                <a:gridCol w="116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647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alatino Linotype" pitchFamily="18" charset="0"/>
                        </a:rPr>
                        <a:t>Wind</a:t>
                      </a:r>
                    </a:p>
                  </a:txBody>
                  <a:tcPr marL="78180" marR="78180" marT="41453" marB="414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Yes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itchFamily="18" charset="0"/>
                      </a:endParaRP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Play=</a:t>
                      </a:r>
                      <a:r>
                        <a:rPr kumimoji="0" lang="en-GB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No</a:t>
                      </a: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Strong</a:t>
                      </a:r>
                    </a:p>
                  </a:txBody>
                  <a:tcPr marL="78180" marR="78180" marT="41453" marB="414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3/9</a:t>
                      </a: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3/5</a:t>
                      </a: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64"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Weak</a:t>
                      </a:r>
                    </a:p>
                  </a:txBody>
                  <a:tcPr marL="78180" marR="78180" marT="41453" marB="414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6/9</a:t>
                      </a: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itchFamily="18" charset="0"/>
                        </a:rPr>
                        <a:t>2/5</a:t>
                      </a:r>
                    </a:p>
                  </a:txBody>
                  <a:tcPr marL="78180" marR="78180" marT="41453" marB="414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14" name="Text Box 119"/>
          <p:cNvSpPr txBox="1">
            <a:spLocks noChangeArrowheads="1"/>
          </p:cNvSpPr>
          <p:nvPr/>
        </p:nvSpPr>
        <p:spPr bwMode="auto">
          <a:xfrm>
            <a:off x="2770188" y="5295900"/>
            <a:ext cx="2284412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147" tIns="40074" rIns="80147" bIns="40074">
            <a:spAutoFit/>
          </a:bodyPr>
          <a:lstStyle>
            <a:lvl1pPr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GB" altLang="en-US" sz="2100" i="1"/>
              <a:t>P</a:t>
            </a:r>
            <a:r>
              <a:rPr lang="en-GB" altLang="en-US" sz="2100"/>
              <a:t>(Play</a:t>
            </a:r>
            <a:r>
              <a:rPr lang="en-GB" altLang="en-US" sz="2100" i="1"/>
              <a:t>=Yes) = </a:t>
            </a:r>
            <a:r>
              <a:rPr lang="en-GB" altLang="en-US" sz="2100"/>
              <a:t>9/14</a:t>
            </a:r>
          </a:p>
        </p:txBody>
      </p:sp>
      <p:sp>
        <p:nvSpPr>
          <p:cNvPr id="22615" name="Text Box 120"/>
          <p:cNvSpPr txBox="1">
            <a:spLocks noChangeArrowheads="1"/>
          </p:cNvSpPr>
          <p:nvPr/>
        </p:nvSpPr>
        <p:spPr bwMode="auto">
          <a:xfrm>
            <a:off x="5214938" y="5295900"/>
            <a:ext cx="225425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147" tIns="40074" rIns="80147" bIns="40074">
            <a:spAutoFit/>
          </a:bodyPr>
          <a:lstStyle>
            <a:lvl1pPr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GB" altLang="en-US" sz="2100" i="1"/>
              <a:t>P</a:t>
            </a:r>
            <a:r>
              <a:rPr lang="en-GB" altLang="en-US" sz="2100"/>
              <a:t>(Play</a:t>
            </a:r>
            <a:r>
              <a:rPr lang="en-GB" altLang="en-US" sz="2100" i="1"/>
              <a:t>=No) = </a:t>
            </a:r>
            <a:r>
              <a:rPr lang="en-GB" altLang="en-US" sz="2100"/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228083939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43613" y="63817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4" rIns="80147" bIns="40074"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76449726-5A50-4E24-A093-46D3CDED0833}" type="slidenum">
              <a:rPr lang="en-GB" altLang="en-US" sz="1400"/>
              <a:pPr eaLnBrk="1" hangingPunct="1"/>
              <a:t>48</a:t>
            </a:fld>
            <a:endParaRPr lang="en-GB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87438" y="42863"/>
            <a:ext cx="8742362" cy="1143000"/>
          </a:xfrm>
        </p:spPr>
        <p:txBody>
          <a:bodyPr/>
          <a:lstStyle/>
          <a:p>
            <a:r>
              <a:rPr lang="en-US" altLang="en-US" dirty="0"/>
              <a:t>Example	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2350" y="1217613"/>
            <a:ext cx="8545513" cy="5114925"/>
          </a:xfrm>
        </p:spPr>
        <p:txBody>
          <a:bodyPr/>
          <a:lstStyle/>
          <a:p>
            <a:pPr marL="466725" indent="-466725">
              <a:lnSpc>
                <a:spcPct val="110000"/>
              </a:lnSpc>
            </a:pPr>
            <a:endParaRPr lang="en-US" altLang="en-US" b="1"/>
          </a:p>
          <a:p>
            <a:pPr marL="466725" indent="-466725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   </a:t>
            </a: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022350" y="1079500"/>
            <a:ext cx="8666163" cy="52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>
            <a:lvl1pPr marL="466725" indent="-466725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857250" indent="-4000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500">
                <a:latin typeface="Tahoma" panose="020B0604030504040204" pitchFamily="34" charset="0"/>
              </a:rPr>
              <a:t>Test Phase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00">
                <a:latin typeface="Tahoma" panose="020B0604030504040204" pitchFamily="34" charset="0"/>
              </a:rPr>
              <a:t>Given a new instance,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100" b="1"/>
              <a:t>      </a:t>
            </a:r>
            <a:r>
              <a:rPr lang="en-US" altLang="en-US" sz="2100" b="1">
                <a:solidFill>
                  <a:schemeClr val="accent2"/>
                </a:solidFill>
              </a:rPr>
              <a:t>x</a:t>
            </a:r>
            <a:r>
              <a:rPr lang="en-US" altLang="en-US" sz="1800">
                <a:solidFill>
                  <a:schemeClr val="accent2"/>
                </a:solidFill>
              </a:rPr>
              <a:t>’=(Outlook=</a:t>
            </a:r>
            <a:r>
              <a:rPr lang="en-US" altLang="en-US" sz="1800" i="1">
                <a:solidFill>
                  <a:schemeClr val="accent2"/>
                </a:solidFill>
              </a:rPr>
              <a:t>Sunny, </a:t>
            </a:r>
            <a:r>
              <a:rPr lang="en-US" altLang="en-US" sz="1800">
                <a:solidFill>
                  <a:schemeClr val="accent2"/>
                </a:solidFill>
              </a:rPr>
              <a:t>Temperature=</a:t>
            </a:r>
            <a:r>
              <a:rPr lang="en-US" altLang="en-US" sz="1800" i="1">
                <a:solidFill>
                  <a:schemeClr val="accent2"/>
                </a:solidFill>
              </a:rPr>
              <a:t>Cool, </a:t>
            </a:r>
            <a:r>
              <a:rPr lang="en-US" altLang="en-US" sz="1800">
                <a:solidFill>
                  <a:schemeClr val="accent2"/>
                </a:solidFill>
              </a:rPr>
              <a:t>Humidity</a:t>
            </a:r>
            <a:r>
              <a:rPr lang="en-US" altLang="en-US" sz="1800" i="1">
                <a:solidFill>
                  <a:schemeClr val="accent2"/>
                </a:solidFill>
              </a:rPr>
              <a:t>=High, </a:t>
            </a:r>
            <a:r>
              <a:rPr lang="en-US" altLang="en-US" sz="1800">
                <a:solidFill>
                  <a:schemeClr val="accent2"/>
                </a:solidFill>
              </a:rPr>
              <a:t>Wind=</a:t>
            </a:r>
            <a:r>
              <a:rPr lang="en-US" altLang="en-US" sz="1800" i="1">
                <a:solidFill>
                  <a:schemeClr val="accent2"/>
                </a:solidFill>
              </a:rPr>
              <a:t>Strong</a:t>
            </a:r>
            <a:r>
              <a:rPr lang="en-US" altLang="en-US" sz="1800">
                <a:solidFill>
                  <a:schemeClr val="accent2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00">
                <a:solidFill>
                  <a:schemeClr val="tx2"/>
                </a:solidFill>
                <a:latin typeface="Tahoma" panose="020B0604030504040204" pitchFamily="34" charset="0"/>
              </a:rPr>
              <a:t>Look up tables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en-US" sz="210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en-US" sz="2100">
                <a:solidFill>
                  <a:schemeClr val="tx2"/>
                </a:solidFill>
                <a:latin typeface="Tahoma" panose="020B0604030504040204" pitchFamily="34" charset="0"/>
              </a:rPr>
              <a:t>MAP rule</a:t>
            </a:r>
          </a:p>
        </p:txBody>
      </p:sp>
      <p:sp>
        <p:nvSpPr>
          <p:cNvPr id="23558" name="Text Box 91"/>
          <p:cNvSpPr txBox="1">
            <a:spLocks noChangeArrowheads="1"/>
          </p:cNvSpPr>
          <p:nvPr/>
        </p:nvSpPr>
        <p:spPr bwMode="auto">
          <a:xfrm>
            <a:off x="5257800" y="2624138"/>
            <a:ext cx="3502025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147" tIns="40074" rIns="80147" bIns="40074">
            <a:spAutoFit/>
          </a:bodyPr>
          <a:lstStyle>
            <a:lvl1pPr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00"/>
              <a:t>P(Outlook=S</a:t>
            </a:r>
            <a:r>
              <a:rPr lang="en-GB" altLang="en-US" sz="1600" i="1"/>
              <a:t>unny</a:t>
            </a:r>
            <a:r>
              <a:rPr lang="en-GB" altLang="en-US" sz="1600"/>
              <a:t>|Play=</a:t>
            </a:r>
            <a:r>
              <a:rPr lang="en-GB" altLang="en-US" sz="1600" i="1"/>
              <a:t>No</a:t>
            </a:r>
            <a:r>
              <a:rPr lang="en-GB" altLang="en-US" sz="1600"/>
              <a:t>) = 3/5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P(Temperature=</a:t>
            </a:r>
            <a:r>
              <a:rPr lang="en-GB" altLang="en-US" sz="1600" i="1"/>
              <a:t>Cool</a:t>
            </a:r>
            <a:r>
              <a:rPr lang="en-GB" altLang="en-US" sz="1600"/>
              <a:t>|Play=</a:t>
            </a:r>
            <a:r>
              <a:rPr lang="en-GB" altLang="en-US" sz="1600" i="1"/>
              <a:t>=No</a:t>
            </a:r>
            <a:r>
              <a:rPr lang="en-GB" altLang="en-US" sz="1600"/>
              <a:t>) = 1/5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P(Huminity=</a:t>
            </a:r>
            <a:r>
              <a:rPr lang="en-GB" altLang="en-US" sz="1600" i="1"/>
              <a:t>High</a:t>
            </a:r>
            <a:r>
              <a:rPr lang="en-GB" altLang="en-US" sz="1600"/>
              <a:t>|Play=</a:t>
            </a:r>
            <a:r>
              <a:rPr lang="en-GB" altLang="en-US" sz="1600" i="1"/>
              <a:t>No</a:t>
            </a:r>
            <a:r>
              <a:rPr lang="en-GB" altLang="en-US" sz="1600"/>
              <a:t>) = 4/5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P(Wind=</a:t>
            </a:r>
            <a:r>
              <a:rPr lang="en-GB" altLang="en-US" sz="1600" i="1"/>
              <a:t>Strong</a:t>
            </a:r>
            <a:r>
              <a:rPr lang="en-GB" altLang="en-US" sz="1600"/>
              <a:t>|Play=</a:t>
            </a:r>
            <a:r>
              <a:rPr lang="en-GB" altLang="en-US" sz="1600" i="1"/>
              <a:t>No</a:t>
            </a:r>
            <a:r>
              <a:rPr lang="en-GB" altLang="en-US" sz="1600"/>
              <a:t>) = 3/5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P(Play=</a:t>
            </a:r>
            <a:r>
              <a:rPr lang="en-GB" altLang="en-US" sz="1600" i="1"/>
              <a:t>No</a:t>
            </a:r>
            <a:r>
              <a:rPr lang="en-GB" altLang="en-US" sz="1600"/>
              <a:t>) = 5/14</a:t>
            </a:r>
          </a:p>
        </p:txBody>
      </p:sp>
      <p:sp>
        <p:nvSpPr>
          <p:cNvPr id="23559" name="Text Box 93"/>
          <p:cNvSpPr txBox="1">
            <a:spLocks noChangeArrowheads="1"/>
          </p:cNvSpPr>
          <p:nvPr/>
        </p:nvSpPr>
        <p:spPr bwMode="auto">
          <a:xfrm>
            <a:off x="1870075" y="2670175"/>
            <a:ext cx="3421063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0147" tIns="40074" rIns="80147" bIns="40074">
            <a:spAutoFit/>
          </a:bodyPr>
          <a:lstStyle>
            <a:lvl1pPr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00"/>
              <a:t>P(Outlook=</a:t>
            </a:r>
            <a:r>
              <a:rPr lang="en-GB" altLang="en-US" sz="1600" i="1"/>
              <a:t>Sunny</a:t>
            </a:r>
            <a:r>
              <a:rPr lang="en-GB" altLang="en-US" sz="1600"/>
              <a:t>|Play=</a:t>
            </a:r>
            <a:r>
              <a:rPr lang="en-GB" altLang="en-US" sz="1600" i="1"/>
              <a:t>Yes</a:t>
            </a:r>
            <a:r>
              <a:rPr lang="en-GB" altLang="en-US" sz="1600"/>
              <a:t>) = 2/9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P(Temperature=</a:t>
            </a:r>
            <a:r>
              <a:rPr lang="en-GB" altLang="en-US" sz="1600" i="1"/>
              <a:t>Cool</a:t>
            </a:r>
            <a:r>
              <a:rPr lang="en-GB" altLang="en-US" sz="1600"/>
              <a:t>|Play=</a:t>
            </a:r>
            <a:r>
              <a:rPr lang="en-GB" altLang="en-US" sz="1600" i="1"/>
              <a:t>Yes</a:t>
            </a:r>
            <a:r>
              <a:rPr lang="en-GB" altLang="en-US" sz="1600"/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P(Huminity=</a:t>
            </a:r>
            <a:r>
              <a:rPr lang="en-GB" altLang="en-US" sz="1600" i="1"/>
              <a:t>High</a:t>
            </a:r>
            <a:r>
              <a:rPr lang="en-GB" altLang="en-US" sz="1600"/>
              <a:t>|Play=</a:t>
            </a:r>
            <a:r>
              <a:rPr lang="en-GB" altLang="en-US" sz="1600" i="1"/>
              <a:t>Yes</a:t>
            </a:r>
            <a:r>
              <a:rPr lang="en-GB" altLang="en-US" sz="1600"/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P(Wind=</a:t>
            </a:r>
            <a:r>
              <a:rPr lang="en-GB" altLang="en-US" sz="1600" i="1"/>
              <a:t>Strong</a:t>
            </a:r>
            <a:r>
              <a:rPr lang="en-GB" altLang="en-US" sz="1600"/>
              <a:t>|Play=</a:t>
            </a:r>
            <a:r>
              <a:rPr lang="en-GB" altLang="en-US" sz="1600" i="1"/>
              <a:t>Yes</a:t>
            </a:r>
            <a:r>
              <a:rPr lang="en-GB" altLang="en-US" sz="1600"/>
              <a:t>) = 3/9</a:t>
            </a:r>
          </a:p>
          <a:p>
            <a:pPr eaLnBrk="1" hangingPunct="1">
              <a:lnSpc>
                <a:spcPct val="130000"/>
              </a:lnSpc>
            </a:pPr>
            <a:r>
              <a:rPr lang="en-GB" altLang="en-US" sz="1600"/>
              <a:t>P(Play=</a:t>
            </a:r>
            <a:r>
              <a:rPr lang="en-GB" altLang="en-US" sz="1600" i="1"/>
              <a:t>Yes</a:t>
            </a:r>
            <a:r>
              <a:rPr lang="en-GB" altLang="en-US" sz="1600"/>
              <a:t>) = 9/14</a:t>
            </a:r>
          </a:p>
        </p:txBody>
      </p:sp>
      <p:sp>
        <p:nvSpPr>
          <p:cNvPr id="23560" name="Text Box 94"/>
          <p:cNvSpPr txBox="1">
            <a:spLocks noChangeArrowheads="1"/>
          </p:cNvSpPr>
          <p:nvPr/>
        </p:nvSpPr>
        <p:spPr bwMode="auto">
          <a:xfrm>
            <a:off x="1870075" y="4881563"/>
            <a:ext cx="7297738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47" tIns="40074" rIns="80147" bIns="40074">
            <a:spAutoFit/>
          </a:bodyPr>
          <a:lstStyle>
            <a:lvl1pPr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12813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GB" altLang="en-US" sz="1600">
                <a:solidFill>
                  <a:schemeClr val="accent2"/>
                </a:solidFill>
              </a:rPr>
              <a:t>P(</a:t>
            </a:r>
            <a:r>
              <a:rPr lang="en-GB" altLang="en-US" sz="1600" i="1">
                <a:solidFill>
                  <a:schemeClr val="accent2"/>
                </a:solidFill>
              </a:rPr>
              <a:t>Yes</a:t>
            </a:r>
            <a:r>
              <a:rPr lang="en-GB" altLang="en-US" sz="1600">
                <a:solidFill>
                  <a:schemeClr val="accent2"/>
                </a:solidFill>
              </a:rPr>
              <a:t>|</a:t>
            </a:r>
            <a:r>
              <a:rPr lang="en-GB" altLang="en-US" sz="1900" b="1">
                <a:solidFill>
                  <a:schemeClr val="accent2"/>
                </a:solidFill>
              </a:rPr>
              <a:t>x</a:t>
            </a:r>
            <a:r>
              <a:rPr lang="en-GB" altLang="en-US" sz="1600">
                <a:solidFill>
                  <a:schemeClr val="accent2"/>
                </a:solidFill>
              </a:rPr>
              <a:t>’):</a:t>
            </a:r>
            <a:r>
              <a:rPr lang="en-GB" altLang="en-US" sz="1600"/>
              <a:t> [P(</a:t>
            </a:r>
            <a:r>
              <a:rPr lang="en-GB" altLang="en-US" sz="1600" i="1"/>
              <a:t>Sunny</a:t>
            </a:r>
            <a:r>
              <a:rPr lang="en-GB" altLang="en-US" sz="1600"/>
              <a:t>|Y</a:t>
            </a:r>
            <a:r>
              <a:rPr lang="en-GB" altLang="en-US" sz="1600" i="1"/>
              <a:t>es</a:t>
            </a:r>
            <a:r>
              <a:rPr lang="en-GB" altLang="en-US" sz="1600"/>
              <a:t>)P(</a:t>
            </a:r>
            <a:r>
              <a:rPr lang="en-GB" altLang="en-US" sz="1600" i="1"/>
              <a:t>Cool</a:t>
            </a:r>
            <a:r>
              <a:rPr lang="en-GB" altLang="en-US" sz="1600"/>
              <a:t>|</a:t>
            </a:r>
            <a:r>
              <a:rPr lang="en-GB" altLang="en-US" sz="1600" i="1"/>
              <a:t>Yes</a:t>
            </a:r>
            <a:r>
              <a:rPr lang="en-GB" altLang="en-US" sz="1600"/>
              <a:t>)P(</a:t>
            </a:r>
            <a:r>
              <a:rPr lang="en-GB" altLang="en-US" sz="1600" i="1"/>
              <a:t>High</a:t>
            </a:r>
            <a:r>
              <a:rPr lang="en-GB" altLang="en-US" sz="1600"/>
              <a:t>|Y</a:t>
            </a:r>
            <a:r>
              <a:rPr lang="en-GB" altLang="en-US" sz="1600" i="1"/>
              <a:t>es</a:t>
            </a:r>
            <a:r>
              <a:rPr lang="en-GB" altLang="en-US" sz="1600"/>
              <a:t>)P(</a:t>
            </a:r>
            <a:r>
              <a:rPr lang="en-GB" altLang="en-US" sz="1600" i="1"/>
              <a:t>Strong</a:t>
            </a:r>
            <a:r>
              <a:rPr lang="en-GB" altLang="en-US" sz="1600"/>
              <a:t>|</a:t>
            </a:r>
            <a:r>
              <a:rPr lang="en-GB" altLang="en-US" sz="1600" i="1"/>
              <a:t>Yes</a:t>
            </a:r>
            <a:r>
              <a:rPr lang="en-GB" altLang="en-US" sz="1600"/>
              <a:t>)]P(Play=</a:t>
            </a:r>
            <a:r>
              <a:rPr lang="en-GB" altLang="en-US" sz="1600" i="1"/>
              <a:t>Yes</a:t>
            </a:r>
            <a:r>
              <a:rPr lang="en-GB" altLang="en-US" sz="1600"/>
              <a:t>) = 0.0053</a:t>
            </a:r>
          </a:p>
          <a:p>
            <a:pPr eaLnBrk="1" hangingPunct="1"/>
            <a:r>
              <a:rPr lang="en-GB" altLang="en-US" sz="1600"/>
              <a:t> </a:t>
            </a:r>
            <a:r>
              <a:rPr lang="en-GB" altLang="en-US" sz="1600">
                <a:solidFill>
                  <a:schemeClr val="accent2"/>
                </a:solidFill>
              </a:rPr>
              <a:t>P(</a:t>
            </a:r>
            <a:r>
              <a:rPr lang="en-GB" altLang="en-US" sz="1600" i="1">
                <a:solidFill>
                  <a:schemeClr val="accent2"/>
                </a:solidFill>
              </a:rPr>
              <a:t>No</a:t>
            </a:r>
            <a:r>
              <a:rPr lang="en-GB" altLang="en-US" sz="1600">
                <a:solidFill>
                  <a:schemeClr val="accent2"/>
                </a:solidFill>
              </a:rPr>
              <a:t>|</a:t>
            </a:r>
            <a:r>
              <a:rPr lang="en-GB" altLang="en-US" sz="1900" b="1">
                <a:solidFill>
                  <a:schemeClr val="accent2"/>
                </a:solidFill>
              </a:rPr>
              <a:t>x</a:t>
            </a:r>
            <a:r>
              <a:rPr lang="en-GB" altLang="en-US" sz="1600">
                <a:solidFill>
                  <a:schemeClr val="accent2"/>
                </a:solidFill>
              </a:rPr>
              <a:t>’):</a:t>
            </a:r>
            <a:r>
              <a:rPr lang="en-GB" altLang="en-US" sz="1600"/>
              <a:t> [P(</a:t>
            </a:r>
            <a:r>
              <a:rPr lang="en-GB" altLang="en-US" sz="1600" i="1"/>
              <a:t>Sunny</a:t>
            </a:r>
            <a:r>
              <a:rPr lang="en-GB" altLang="en-US" sz="1600"/>
              <a:t>|N</a:t>
            </a:r>
            <a:r>
              <a:rPr lang="en-GB" altLang="en-US" sz="1600" i="1"/>
              <a:t>o</a:t>
            </a:r>
            <a:r>
              <a:rPr lang="en-GB" altLang="en-US" sz="1600"/>
              <a:t>) P(</a:t>
            </a:r>
            <a:r>
              <a:rPr lang="en-GB" altLang="en-US" sz="1600" i="1"/>
              <a:t>Cool</a:t>
            </a:r>
            <a:r>
              <a:rPr lang="en-GB" altLang="en-US" sz="1600"/>
              <a:t>|N</a:t>
            </a:r>
            <a:r>
              <a:rPr lang="en-GB" altLang="en-US" sz="1600" i="1"/>
              <a:t>o</a:t>
            </a:r>
            <a:r>
              <a:rPr lang="en-GB" altLang="en-US" sz="1600"/>
              <a:t>)P(</a:t>
            </a:r>
            <a:r>
              <a:rPr lang="en-GB" altLang="en-US" sz="1600" i="1"/>
              <a:t>High</a:t>
            </a:r>
            <a:r>
              <a:rPr lang="en-GB" altLang="en-US" sz="1600"/>
              <a:t>|</a:t>
            </a:r>
            <a:r>
              <a:rPr lang="en-GB" altLang="en-US" sz="1600" i="1"/>
              <a:t>No</a:t>
            </a:r>
            <a:r>
              <a:rPr lang="en-GB" altLang="en-US" sz="1600"/>
              <a:t>)P(</a:t>
            </a:r>
            <a:r>
              <a:rPr lang="en-GB" altLang="en-US" sz="1600" i="1"/>
              <a:t>Strong</a:t>
            </a:r>
            <a:r>
              <a:rPr lang="en-GB" altLang="en-US" sz="1600"/>
              <a:t>|</a:t>
            </a:r>
            <a:r>
              <a:rPr lang="en-GB" altLang="en-US" sz="1600" i="1"/>
              <a:t>No</a:t>
            </a:r>
            <a:r>
              <a:rPr lang="en-GB" altLang="en-US" sz="1600"/>
              <a:t>)]P(Play=</a:t>
            </a:r>
            <a:r>
              <a:rPr lang="en-GB" altLang="en-US" sz="1600" i="1"/>
              <a:t>No</a:t>
            </a:r>
            <a:r>
              <a:rPr lang="en-GB" altLang="en-US" sz="1600"/>
              <a:t>) = 0.0206</a:t>
            </a:r>
          </a:p>
          <a:p>
            <a:pPr eaLnBrk="1" hangingPunct="1">
              <a:lnSpc>
                <a:spcPct val="50000"/>
              </a:lnSpc>
            </a:pPr>
            <a:endParaRPr lang="en-GB" altLang="en-US" sz="1600"/>
          </a:p>
          <a:p>
            <a:pPr eaLnBrk="1" hangingPunct="1">
              <a:lnSpc>
                <a:spcPct val="130000"/>
              </a:lnSpc>
            </a:pPr>
            <a:r>
              <a:rPr lang="en-GB" altLang="en-US" sz="1800">
                <a:solidFill>
                  <a:schemeClr val="accent2"/>
                </a:solidFill>
              </a:rPr>
              <a:t>         Given the fact</a:t>
            </a:r>
            <a:r>
              <a:rPr lang="en-GB" altLang="en-US" sz="1800" b="1">
                <a:solidFill>
                  <a:schemeClr val="accent2"/>
                </a:solidFill>
              </a:rPr>
              <a:t> </a:t>
            </a:r>
            <a:r>
              <a:rPr lang="en-GB" altLang="en-US" sz="1800">
                <a:solidFill>
                  <a:schemeClr val="accent2"/>
                </a:solidFill>
              </a:rPr>
              <a:t>P(</a:t>
            </a:r>
            <a:r>
              <a:rPr lang="en-GB" altLang="en-US" sz="1800" i="1">
                <a:solidFill>
                  <a:schemeClr val="accent2"/>
                </a:solidFill>
              </a:rPr>
              <a:t>Yes</a:t>
            </a:r>
            <a:r>
              <a:rPr lang="en-GB" altLang="en-US" sz="1800">
                <a:solidFill>
                  <a:schemeClr val="accent2"/>
                </a:solidFill>
              </a:rPr>
              <a:t>|</a:t>
            </a:r>
            <a:r>
              <a:rPr lang="en-GB" altLang="en-US" sz="2100" b="1">
                <a:solidFill>
                  <a:schemeClr val="accent2"/>
                </a:solidFill>
              </a:rPr>
              <a:t>x</a:t>
            </a:r>
            <a:r>
              <a:rPr lang="en-GB" altLang="en-US" sz="1800">
                <a:solidFill>
                  <a:schemeClr val="accent2"/>
                </a:solidFill>
              </a:rPr>
              <a:t>’) &lt; P(</a:t>
            </a:r>
            <a:r>
              <a:rPr lang="en-GB" altLang="en-US" sz="1800" i="1">
                <a:solidFill>
                  <a:schemeClr val="accent2"/>
                </a:solidFill>
              </a:rPr>
              <a:t>No</a:t>
            </a:r>
            <a:r>
              <a:rPr lang="en-GB" altLang="en-US" sz="1800">
                <a:solidFill>
                  <a:schemeClr val="accent2"/>
                </a:solidFill>
              </a:rPr>
              <a:t>|</a:t>
            </a:r>
            <a:r>
              <a:rPr lang="en-GB" altLang="en-US" sz="2100" b="1">
                <a:solidFill>
                  <a:schemeClr val="accent2"/>
                </a:solidFill>
              </a:rPr>
              <a:t>x</a:t>
            </a:r>
            <a:r>
              <a:rPr lang="en-GB" altLang="en-US" sz="1800">
                <a:solidFill>
                  <a:schemeClr val="accent2"/>
                </a:solidFill>
              </a:rPr>
              <a:t>’), we label </a:t>
            </a:r>
            <a:r>
              <a:rPr lang="en-GB" altLang="en-US" sz="2100" b="1">
                <a:solidFill>
                  <a:schemeClr val="accent2"/>
                </a:solidFill>
              </a:rPr>
              <a:t>x</a:t>
            </a:r>
            <a:r>
              <a:rPr lang="en-GB" altLang="en-US" sz="1800">
                <a:solidFill>
                  <a:schemeClr val="accent2"/>
                </a:solidFill>
              </a:rPr>
              <a:t>’ to be “</a:t>
            </a:r>
            <a:r>
              <a:rPr lang="en-GB" altLang="en-US" sz="1800" i="1">
                <a:solidFill>
                  <a:schemeClr val="accent2"/>
                </a:solidFill>
              </a:rPr>
              <a:t>No</a:t>
            </a:r>
            <a:r>
              <a:rPr lang="en-GB" altLang="en-US" sz="1800">
                <a:solidFill>
                  <a:schemeClr val="accent2"/>
                </a:solidFill>
              </a:rPr>
              <a:t>”.</a:t>
            </a:r>
            <a:r>
              <a:rPr lang="en-GB" altLang="en-US" sz="1800"/>
              <a:t>    </a:t>
            </a:r>
          </a:p>
          <a:p>
            <a:pPr eaLnBrk="1" hangingPunct="1">
              <a:lnSpc>
                <a:spcPct val="130000"/>
              </a:lnSpc>
            </a:pPr>
            <a:endParaRPr lang="en-GB" altLang="en-US" sz="1800"/>
          </a:p>
        </p:txBody>
      </p:sp>
    </p:spTree>
    <p:extLst>
      <p:ext uri="{BB962C8B-B14F-4D97-AF65-F5344CB8AC3E}">
        <p14:creationId xmlns:p14="http://schemas.microsoft.com/office/powerpoint/2010/main" val="1029979832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638"/>
            <a:ext cx="8229600" cy="1714500"/>
          </a:xfrm>
        </p:spPr>
        <p:txBody>
          <a:bodyPr/>
          <a:lstStyle/>
          <a:p>
            <a:pPr eaLnBrk="1" hangingPunct="1"/>
            <a:r>
              <a:rPr lang="en-US" altLang="zh-TW" sz="4000"/>
              <a:t>The Naive Bayes Classifier for Data Sets with Numerical Attribute Values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420938"/>
            <a:ext cx="8229600" cy="3705225"/>
          </a:xfrm>
        </p:spPr>
        <p:txBody>
          <a:bodyPr/>
          <a:lstStyle/>
          <a:p>
            <a:pPr eaLnBrk="1" hangingPunct="1"/>
            <a:r>
              <a:rPr lang="en-US" altLang="zh-TW"/>
              <a:t>One common practice to handle numerical attribute values is to assume normal distributions for numerical attributes.</a:t>
            </a:r>
          </a:p>
        </p:txBody>
      </p:sp>
    </p:spTree>
    <p:extLst>
      <p:ext uri="{BB962C8B-B14F-4D97-AF65-F5344CB8AC3E}">
        <p14:creationId xmlns:p14="http://schemas.microsoft.com/office/powerpoint/2010/main" val="2302643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04" name="Group 372"/>
          <p:cNvGraphicFramePr>
            <a:graphicFrameLocks noGrp="1"/>
          </p:cNvGraphicFramePr>
          <p:nvPr/>
        </p:nvGraphicFramePr>
        <p:xfrm>
          <a:off x="179388" y="836613"/>
          <a:ext cx="8856662" cy="5526091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49270">
                <a:tc gridSpan="1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The numeric weather data with summary statistics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outlook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temperature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humidity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windy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play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sunny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86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false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overcast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96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true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rainy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68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71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91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6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81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sunny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2/9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3/5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mean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74.6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mean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79.1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86.2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false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6/9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2/5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9/14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5/14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791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overcast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4/9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0/5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std dev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6.2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7.9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std dev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10.2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9.7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true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3/9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3/5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92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rainy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3/9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2/5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115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8"/>
          <p:cNvSpPr>
            <a:spLocks noGrp="1" noChangeArrowheads="1"/>
          </p:cNvSpPr>
          <p:nvPr>
            <p:ph type="title"/>
          </p:nvPr>
        </p:nvSpPr>
        <p:spPr>
          <a:xfrm>
            <a:off x="1004887" y="457200"/>
            <a:ext cx="8229600" cy="13716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4887" y="1600200"/>
            <a:ext cx="8291513" cy="4525963"/>
          </a:xfrm>
        </p:spPr>
        <p:txBody>
          <a:bodyPr/>
          <a:lstStyle/>
          <a:p>
            <a:pPr eaLnBrk="1" hangingPunct="1"/>
            <a:r>
              <a:rPr lang="en-US" altLang="zh-TW" sz="2800"/>
              <a:t>Let </a:t>
            </a:r>
            <a:r>
              <a:rPr lang="en-US" altLang="zh-TW" sz="2800" i="1"/>
              <a:t>x</a:t>
            </a:r>
            <a:r>
              <a:rPr lang="en-US" altLang="zh-TW" sz="2800" baseline="-25000"/>
              <a:t>1</a:t>
            </a:r>
            <a:r>
              <a:rPr lang="en-US" altLang="zh-TW" sz="2800"/>
              <a:t>, </a:t>
            </a:r>
            <a:r>
              <a:rPr lang="en-US" altLang="zh-TW" sz="2800" i="1"/>
              <a:t>x</a:t>
            </a:r>
            <a:r>
              <a:rPr lang="en-US" altLang="zh-TW" sz="2800" baseline="-25000"/>
              <a:t>2</a:t>
            </a:r>
            <a:r>
              <a:rPr lang="en-US" altLang="zh-TW" sz="2800"/>
              <a:t>, …, </a:t>
            </a:r>
            <a:r>
              <a:rPr lang="en-US" altLang="zh-TW" sz="2800" i="1"/>
              <a:t>x</a:t>
            </a:r>
            <a:r>
              <a:rPr lang="en-US" altLang="zh-TW" sz="2800" i="1" baseline="-25000"/>
              <a:t>n</a:t>
            </a:r>
            <a:r>
              <a:rPr lang="en-US" altLang="zh-TW" sz="2800"/>
              <a:t> be the values of a numerical attribute in the training data set.</a:t>
            </a:r>
          </a:p>
          <a:p>
            <a:pPr eaLnBrk="1" hangingPunct="1"/>
            <a:endParaRPr lang="en-US" altLang="zh-TW" sz="2800"/>
          </a:p>
          <a:p>
            <a:pPr eaLnBrk="1" hangingPunct="1"/>
            <a:endParaRPr lang="en-US" altLang="zh-TW" sz="2800"/>
          </a:p>
          <a:p>
            <a:pPr eaLnBrk="1" hangingPunct="1"/>
            <a:endParaRPr lang="en-US" altLang="zh-TW" sz="2800"/>
          </a:p>
          <a:p>
            <a:pPr eaLnBrk="1" hangingPunct="1"/>
            <a:endParaRPr lang="en-US" altLang="zh-TW" sz="2800"/>
          </a:p>
        </p:txBody>
      </p:sp>
      <p:graphicFrame>
        <p:nvGraphicFramePr>
          <p:cNvPr id="440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60199353"/>
              </p:ext>
            </p:extLst>
          </p:nvPr>
        </p:nvGraphicFramePr>
        <p:xfrm>
          <a:off x="2095500" y="2709863"/>
          <a:ext cx="3278187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244600" imgH="1257300" progId="Equation.3">
                  <p:embed/>
                </p:oleObj>
              </mc:Choice>
              <mc:Fallback>
                <p:oleObj name="方程式" r:id="rId2" imgW="1244600" imgH="1257300" progId="Equation.3">
                  <p:embed/>
                  <p:pic>
                    <p:nvPicPr>
                      <p:cNvPr id="44036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709863"/>
                        <a:ext cx="3278187" cy="331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2015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8"/>
          <p:cNvSpPr>
            <a:spLocks noGrp="1" noChangeArrowheads="1"/>
          </p:cNvSpPr>
          <p:nvPr>
            <p:ph type="title"/>
          </p:nvPr>
        </p:nvSpPr>
        <p:spPr>
          <a:xfrm>
            <a:off x="857250" y="457200"/>
            <a:ext cx="8229600" cy="13716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57250" y="1981200"/>
            <a:ext cx="4038600" cy="3886200"/>
          </a:xfrm>
        </p:spPr>
        <p:txBody>
          <a:bodyPr/>
          <a:lstStyle/>
          <a:p>
            <a:pPr eaLnBrk="1" hangingPunct="1"/>
            <a:r>
              <a:rPr lang="en-US" altLang="zh-TW" sz="2800"/>
              <a:t>For examples, </a:t>
            </a:r>
          </a:p>
          <a:p>
            <a:pPr eaLnBrk="1" hangingPunct="1"/>
            <a:endParaRPr lang="en-US" altLang="zh-TW" sz="2800"/>
          </a:p>
          <a:p>
            <a:pPr eaLnBrk="1" hangingPunct="1"/>
            <a:endParaRPr lang="en-US" altLang="zh-TW" sz="2800"/>
          </a:p>
          <a:p>
            <a:pPr eaLnBrk="1" hangingPunct="1"/>
            <a:r>
              <a:rPr lang="en-US" altLang="zh-TW" sz="2800"/>
              <a:t>Likelihood of Yes =</a:t>
            </a:r>
          </a:p>
          <a:p>
            <a:pPr eaLnBrk="1" hangingPunct="1"/>
            <a:endParaRPr lang="en-US" altLang="zh-TW" sz="2800"/>
          </a:p>
          <a:p>
            <a:pPr eaLnBrk="1" hangingPunct="1"/>
            <a:r>
              <a:rPr lang="en-US" altLang="zh-TW" sz="2800"/>
              <a:t>Likelihood of No =  </a:t>
            </a: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78857971"/>
              </p:ext>
            </p:extLst>
          </p:nvPr>
        </p:nvGraphicFramePr>
        <p:xfrm>
          <a:off x="4412290" y="3321843"/>
          <a:ext cx="475297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273300" imgH="368300" progId="Equation.3">
                  <p:embed/>
                </p:oleObj>
              </mc:Choice>
              <mc:Fallback>
                <p:oleObj name="方程式" r:id="rId2" imgW="2273300" imgH="368300" progId="Equation.3">
                  <p:embed/>
                  <p:pic>
                    <p:nvPicPr>
                      <p:cNvPr id="4506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2290" y="3321843"/>
                        <a:ext cx="475297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35365557"/>
              </p:ext>
            </p:extLst>
          </p:nvPr>
        </p:nvGraphicFramePr>
        <p:xfrm>
          <a:off x="4499123" y="4343400"/>
          <a:ext cx="45005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184400" imgH="368300" progId="Equation.3">
                  <p:embed/>
                </p:oleObj>
              </mc:Choice>
              <mc:Fallback>
                <p:oleObj name="方程式" r:id="rId4" imgW="2184400" imgH="368300" progId="Equation.3">
                  <p:embed/>
                  <p:pic>
                    <p:nvPicPr>
                      <p:cNvPr id="45061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123" y="4343400"/>
                        <a:ext cx="45005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50817"/>
              </p:ext>
            </p:extLst>
          </p:nvPr>
        </p:nvGraphicFramePr>
        <p:xfrm>
          <a:off x="1828800" y="2209800"/>
          <a:ext cx="60483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124200" imgH="444500" progId="Equation.3">
                  <p:embed/>
                </p:oleObj>
              </mc:Choice>
              <mc:Fallback>
                <p:oleObj name="方程式" r:id="rId6" imgW="3124200" imgH="444500" progId="Equation.3">
                  <p:embed/>
                  <p:pic>
                    <p:nvPicPr>
                      <p:cNvPr id="450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60483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09175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Outputting Probabilities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What’s nice about Naïve Bayes (and generative models in general) is that it returns probabilities</a:t>
            </a:r>
          </a:p>
          <a:p>
            <a:pPr lvl="1" eaLnBrk="1" hangingPunct="1"/>
            <a:r>
              <a:rPr lang="en-US" altLang="en-US" sz="2400"/>
              <a:t>These probabilities can tell us how confident the algorithm is</a:t>
            </a:r>
          </a:p>
          <a:p>
            <a:pPr lvl="1" eaLnBrk="1" hangingPunct="1"/>
            <a:r>
              <a:rPr lang="en-US" altLang="en-US" sz="2400"/>
              <a:t>So… don’t throw away those probabilities!</a:t>
            </a:r>
          </a:p>
        </p:txBody>
      </p:sp>
    </p:spTree>
    <p:extLst>
      <p:ext uri="{BB962C8B-B14F-4D97-AF65-F5344CB8AC3E}">
        <p14:creationId xmlns:p14="http://schemas.microsoft.com/office/powerpoint/2010/main" val="9893800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on a Test Set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Naïve Bayes is often a good choice if you don’t have much training data!</a:t>
            </a:r>
          </a:p>
        </p:txBody>
      </p:sp>
      <p:pic>
        <p:nvPicPr>
          <p:cNvPr id="48132" name="Picture 4" descr="accuracy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92375"/>
            <a:ext cx="5105400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1087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Naïve Bayes Assumption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Recall the Naïve Bayes assumption:</a:t>
            </a:r>
          </a:p>
          <a:p>
            <a:pPr eaLnBrk="1" hangingPunct="1"/>
            <a:endParaRPr lang="en-US" altLang="en-US" sz="2400"/>
          </a:p>
          <a:p>
            <a:pPr lvl="1" eaLnBrk="1" hangingPunct="1"/>
            <a:r>
              <a:rPr lang="en-US" altLang="en-US" sz="2000"/>
              <a:t>that all features are independent </a:t>
            </a:r>
            <a:r>
              <a:rPr lang="en-US" altLang="en-US" sz="2000" b="1"/>
              <a:t>given the class label Y</a:t>
            </a:r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Does this hold for the digit recognition problem?</a:t>
            </a:r>
          </a:p>
        </p:txBody>
      </p:sp>
    </p:spTree>
    <p:extLst>
      <p:ext uri="{BB962C8B-B14F-4D97-AF65-F5344CB8AC3E}">
        <p14:creationId xmlns:p14="http://schemas.microsoft.com/office/powerpoint/2010/main" val="998364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0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Exclusive-OR Example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58925" y="1981200"/>
            <a:ext cx="7585075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For an example where conditional independence fails:</a:t>
            </a:r>
          </a:p>
          <a:p>
            <a:pPr lvl="1" eaLnBrk="1" hangingPunct="1"/>
            <a:r>
              <a:rPr lang="en-US" altLang="en-US" sz="2000"/>
              <a:t>Y=XOR(X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</p:txBody>
      </p:sp>
      <p:graphicFrame>
        <p:nvGraphicFramePr>
          <p:cNvPr id="70694" name="Group 3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7706746"/>
              </p:ext>
            </p:extLst>
          </p:nvPr>
        </p:nvGraphicFramePr>
        <p:xfrm>
          <a:off x="1371600" y="3429000"/>
          <a:ext cx="8001000" cy="2438401"/>
        </p:xfrm>
        <a:graphic>
          <a:graphicData uri="http://schemas.openxmlformats.org/drawingml/2006/table">
            <a:tbl>
              <a:tblPr/>
              <a:tblGrid>
                <a:gridCol w="200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P(Y=0|X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P(Y=1|X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,X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7602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Actually, the Naïve Bayes assumption is almost never true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Still… Naïve Bayes often performs surprisingly well even when its assumptions do not hold</a:t>
            </a:r>
          </a:p>
        </p:txBody>
      </p:sp>
    </p:spTree>
    <p:extLst>
      <p:ext uri="{BB962C8B-B14F-4D97-AF65-F5344CB8AC3E}">
        <p14:creationId xmlns:p14="http://schemas.microsoft.com/office/powerpoint/2010/main" val="40129901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Numerical Stability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It is often the case that machine learning algorithms need to work with very small numbers</a:t>
            </a:r>
          </a:p>
          <a:p>
            <a:pPr lvl="1" eaLnBrk="1" hangingPunct="1"/>
            <a:r>
              <a:rPr lang="en-US" altLang="en-US" sz="2400"/>
              <a:t>Imagine computing the probability of 2000 independent coin flips</a:t>
            </a:r>
          </a:p>
          <a:p>
            <a:pPr lvl="1" eaLnBrk="1" hangingPunct="1"/>
            <a:r>
              <a:rPr lang="en-US" altLang="en-US" sz="2400"/>
              <a:t>MATLAB thinks that (.5)</a:t>
            </a:r>
            <a:r>
              <a:rPr lang="en-US" altLang="en-US" sz="2400" baseline="30000"/>
              <a:t>2000</a:t>
            </a:r>
            <a:r>
              <a:rPr lang="en-US" altLang="en-US" sz="240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7508691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543800" cy="5794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500"/>
              <a:t>Underflow Prevention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8229600" cy="44116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Multiplying lots of probabilities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sym typeface="Wingdings" pitchFamily="2" charset="2"/>
              </a:rPr>
              <a:t> </a:t>
            </a:r>
            <a:r>
              <a:rPr lang="en-US" altLang="zh-CN" dirty="0"/>
              <a:t>floating-point underflow.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Recall:  </a:t>
            </a:r>
            <a:r>
              <a:rPr lang="en-US" altLang="zh-CN" i="1" dirty="0"/>
              <a:t>log(</a:t>
            </a:r>
            <a:r>
              <a:rPr lang="en-US" altLang="zh-CN" i="1" dirty="0" err="1"/>
              <a:t>xy</a:t>
            </a:r>
            <a:r>
              <a:rPr lang="en-US" altLang="zh-CN" i="1" dirty="0"/>
              <a:t>) = log(x) + log(y),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i="1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i="1" dirty="0">
                <a:sym typeface="Wingdings" pitchFamily="2" charset="2"/>
              </a:rPr>
              <a:t></a:t>
            </a:r>
            <a:r>
              <a:rPr lang="en-US" altLang="zh-CN" dirty="0"/>
              <a:t> better to sum logs of probabilities rather than multiplying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750544186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543800" cy="5794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500"/>
              <a:t>Underflow Prevention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/>
              <a:t>Class with highest final un-normalized log probability score is still the most probable.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209925"/>
              </p:ext>
            </p:extLst>
          </p:nvPr>
        </p:nvGraphicFramePr>
        <p:xfrm>
          <a:off x="1524000" y="3124200"/>
          <a:ext cx="64833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900" imgH="355600" progId="Equation.3">
                  <p:embed/>
                </p:oleObj>
              </mc:Choice>
              <mc:Fallback>
                <p:oleObj name="Equation" r:id="rId3" imgW="2628900" imgH="355600" progId="Equation.3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24200"/>
                        <a:ext cx="648335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245663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Numerical Stability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Instead of comparing P(Y=5|X</a:t>
            </a:r>
            <a:r>
              <a:rPr lang="en-US" altLang="en-US" sz="2400" baseline="-25000"/>
              <a:t>1</a:t>
            </a:r>
            <a:r>
              <a:rPr lang="en-US" altLang="en-US" sz="2400"/>
              <a:t>,…,X</a:t>
            </a:r>
            <a:r>
              <a:rPr lang="en-US" altLang="en-US" sz="2400" baseline="-25000"/>
              <a:t>n</a:t>
            </a:r>
            <a:r>
              <a:rPr lang="en-US" altLang="en-US" sz="2400"/>
              <a:t>) with P(Y=6|X</a:t>
            </a:r>
            <a:r>
              <a:rPr lang="en-US" altLang="en-US" sz="2400" baseline="-25000"/>
              <a:t>1</a:t>
            </a:r>
            <a:r>
              <a:rPr lang="en-US" altLang="en-US" sz="2400"/>
              <a:t>,…,X</a:t>
            </a:r>
            <a:r>
              <a:rPr lang="en-US" altLang="en-US" sz="2400" baseline="-25000"/>
              <a:t>n</a:t>
            </a:r>
            <a:r>
              <a:rPr lang="en-US" altLang="en-US" sz="2400"/>
              <a:t>),</a:t>
            </a:r>
          </a:p>
          <a:p>
            <a:pPr lvl="1" eaLnBrk="1" hangingPunct="1"/>
            <a:r>
              <a:rPr lang="en-US" altLang="en-US" sz="2400"/>
              <a:t>Compare their logarithms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lvl="1" eaLnBrk="1" hangingPunct="1"/>
            <a:endParaRPr lang="en-US" altLang="en-US" sz="2400"/>
          </a:p>
          <a:p>
            <a:pPr eaLnBrk="1" hangingPunct="1"/>
            <a:endParaRPr lang="en-US" altLang="en-US"/>
          </a:p>
        </p:txBody>
      </p:sp>
      <p:pic>
        <p:nvPicPr>
          <p:cNvPr id="6246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352800"/>
            <a:ext cx="7239000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70528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Recovering the Probabilities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What if we want the probabilities though??</a:t>
            </a:r>
          </a:p>
          <a:p>
            <a:pPr eaLnBrk="1" hangingPunct="1"/>
            <a:r>
              <a:rPr lang="en-US" altLang="en-US" sz="2400"/>
              <a:t>Suppose that for some constant K, we have: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lvl="1" eaLnBrk="1" hangingPunct="1"/>
            <a:r>
              <a:rPr lang="en-US" altLang="en-US" sz="2000"/>
              <a:t>And</a:t>
            </a:r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lvl="1" eaLnBrk="1" hangingPunct="1"/>
            <a:endParaRPr lang="en-US" altLang="en-US" sz="2000"/>
          </a:p>
          <a:p>
            <a:pPr eaLnBrk="1" hangingPunct="1"/>
            <a:r>
              <a:rPr lang="en-US" altLang="en-US" sz="2400"/>
              <a:t>How would we recover the original probabilities?</a:t>
            </a:r>
          </a:p>
        </p:txBody>
      </p:sp>
      <p:pic>
        <p:nvPicPr>
          <p:cNvPr id="6451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00375"/>
            <a:ext cx="4114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352925"/>
            <a:ext cx="40576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9994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851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Recovering the Probabilities	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2026920" y="1447800"/>
            <a:ext cx="749808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Given: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Then for any constant C: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One suggestion: set C such that the greatest </a:t>
            </a:r>
            <a:r>
              <a:rPr lang="en-US" altLang="en-US" sz="2400">
                <a:latin typeface="Symbol" panose="05050102010706020507" pitchFamily="18" charset="2"/>
                <a:sym typeface="Symbol" panose="05050102010706020507" pitchFamily="18" charset="2"/>
              </a:rPr>
              <a:t></a:t>
            </a:r>
            <a:r>
              <a:rPr lang="en-US" altLang="en-US" sz="2400" baseline="-25000">
                <a:sym typeface="Symbol" panose="05050102010706020507" pitchFamily="18" charset="2"/>
              </a:rPr>
              <a:t>i</a:t>
            </a:r>
            <a:r>
              <a:rPr lang="en-US" altLang="en-US" sz="2400"/>
              <a:t> is shifted to zero:</a:t>
            </a:r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47800"/>
            <a:ext cx="18288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09800"/>
            <a:ext cx="2967037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912" y="5638800"/>
            <a:ext cx="1828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TextBox 1"/>
          <p:cNvSpPr txBox="1">
            <a:spLocks noChangeArrowheads="1"/>
          </p:cNvSpPr>
          <p:nvPr/>
        </p:nvSpPr>
        <p:spPr bwMode="auto">
          <a:xfrm>
            <a:off x="1048512" y="6096000"/>
            <a:ext cx="74676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900"/>
              <a:t>See https://stats.stackexchange.com/questions/105602/example-of-how-the-log-sum-exp-trick-works-in-naive-bayes?noredirect=1&amp;lq=1</a:t>
            </a:r>
          </a:p>
        </p:txBody>
      </p:sp>
    </p:spTree>
    <p:extLst>
      <p:ext uri="{BB962C8B-B14F-4D97-AF65-F5344CB8AC3E}">
        <p14:creationId xmlns:p14="http://schemas.microsoft.com/office/powerpoint/2010/main" val="37421395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Recap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We defined a </a:t>
            </a:r>
            <a:r>
              <a:rPr lang="en-US" altLang="en-US" sz="2400" i="1"/>
              <a:t>Bayes classifier</a:t>
            </a:r>
            <a:r>
              <a:rPr lang="en-US" altLang="en-US" sz="2400"/>
              <a:t> but saw that it’s intractable to compute P(X</a:t>
            </a:r>
            <a:r>
              <a:rPr lang="en-US" altLang="en-US" sz="2400" baseline="-25000"/>
              <a:t>1</a:t>
            </a:r>
            <a:r>
              <a:rPr lang="en-US" altLang="en-US" sz="2400"/>
              <a:t>,…,X</a:t>
            </a:r>
            <a:r>
              <a:rPr lang="en-US" altLang="en-US" sz="2400" baseline="-25000"/>
              <a:t>n</a:t>
            </a:r>
            <a:r>
              <a:rPr lang="en-US" altLang="en-US" sz="2400"/>
              <a:t>|Y)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 then used the </a:t>
            </a:r>
            <a:r>
              <a:rPr lang="en-US" altLang="en-US" sz="2400" i="1"/>
              <a:t>Naïve Bayes assumption</a:t>
            </a:r>
            <a:r>
              <a:rPr lang="en-US" altLang="en-US" sz="2400"/>
              <a:t> – that everything is independent given the class label 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natural question:  is there some happy compromise where we only assume that </a:t>
            </a:r>
            <a:r>
              <a:rPr lang="en-US" altLang="en-US" sz="2400" i="1"/>
              <a:t>some</a:t>
            </a:r>
            <a:r>
              <a:rPr lang="en-US" altLang="en-US" sz="2400"/>
              <a:t> features are conditionally independent?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Stay Tuned…</a:t>
            </a:r>
          </a:p>
        </p:txBody>
      </p:sp>
    </p:spTree>
    <p:extLst>
      <p:ext uri="{BB962C8B-B14F-4D97-AF65-F5344CB8AC3E}">
        <p14:creationId xmlns:p14="http://schemas.microsoft.com/office/powerpoint/2010/main" val="39704763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Naïve Bayes is: </a:t>
            </a:r>
          </a:p>
          <a:p>
            <a:pPr lvl="1" eaLnBrk="1" hangingPunct="1"/>
            <a:r>
              <a:rPr lang="en-US" altLang="en-US" sz="2400"/>
              <a:t>Really easy to implement and often works well</a:t>
            </a:r>
          </a:p>
          <a:p>
            <a:pPr lvl="1" eaLnBrk="1" hangingPunct="1"/>
            <a:r>
              <a:rPr lang="en-US" altLang="en-US" sz="2400"/>
              <a:t>Often a good first thing to try</a:t>
            </a:r>
          </a:p>
          <a:p>
            <a:pPr lvl="1" eaLnBrk="1" hangingPunct="1"/>
            <a:r>
              <a:rPr lang="en-US" altLang="en-US" sz="2400"/>
              <a:t>Commonly used as a “punching bag” for smarter algorithms</a:t>
            </a:r>
          </a:p>
        </p:txBody>
      </p:sp>
    </p:spTree>
    <p:extLst>
      <p:ext uri="{BB962C8B-B14F-4D97-AF65-F5344CB8AC3E}">
        <p14:creationId xmlns:p14="http://schemas.microsoft.com/office/powerpoint/2010/main" val="16437934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>
                <a:solidFill>
                  <a:srgbClr val="FF0000"/>
                </a:solidFill>
              </a:rPr>
              <a:t>http://www.cmpe.boun.edu.tr/~ethem/i2ml3e</a:t>
            </a:r>
          </a:p>
          <a:p>
            <a:pPr fontAlgn="ctr"/>
            <a:r>
              <a:rPr lang="en-US" dirty="0"/>
              <a:t>https://users.cs.fiu.edu/~taoli/class/CAP4770-F10/class08.ppt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23359</TotalTime>
  <Words>2907</Words>
  <Application>Microsoft Macintosh PowerPoint</Application>
  <PresentationFormat>On-screen Show (4:3)</PresentationFormat>
  <Paragraphs>676</Paragraphs>
  <Slides>66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66</vt:i4>
      </vt:variant>
    </vt:vector>
  </HeadingPairs>
  <TitlesOfParts>
    <vt:vector size="85" baseType="lpstr">
      <vt:lpstr>宋体</vt:lpstr>
      <vt:lpstr>Arial</vt:lpstr>
      <vt:lpstr>Calibri</vt:lpstr>
      <vt:lpstr>Gill Sans MT</vt:lpstr>
      <vt:lpstr>Lucida Calligraphy</vt:lpstr>
      <vt:lpstr>Monotype Sorts</vt:lpstr>
      <vt:lpstr>Palatino Linotype</vt:lpstr>
      <vt:lpstr>Symbol</vt:lpstr>
      <vt:lpstr>Tahoma</vt:lpstr>
      <vt:lpstr>Times New Roman</vt:lpstr>
      <vt:lpstr>Verdana</vt:lpstr>
      <vt:lpstr>Wingdings</vt:lpstr>
      <vt:lpstr>Wingdings 2</vt:lpstr>
      <vt:lpstr>Solstice</vt:lpstr>
      <vt:lpstr>Equation</vt:lpstr>
      <vt:lpstr>Bitmap Image</vt:lpstr>
      <vt:lpstr>Visio</vt:lpstr>
      <vt:lpstr>VISIO</vt:lpstr>
      <vt:lpstr>方程式</vt:lpstr>
      <vt:lpstr>CSCE883 Machine Learning</vt:lpstr>
      <vt:lpstr>Learning a Class from Examples</vt:lpstr>
      <vt:lpstr>Training set X</vt:lpstr>
      <vt:lpstr>Class C</vt:lpstr>
      <vt:lpstr>Hypothesis class H</vt:lpstr>
      <vt:lpstr>S, G, and the Version Space</vt:lpstr>
      <vt:lpstr>Margin</vt:lpstr>
      <vt:lpstr>Noise and Model Complexity</vt:lpstr>
      <vt:lpstr>Multiple Classes, Ci i=1,...,K</vt:lpstr>
      <vt:lpstr>Regression</vt:lpstr>
      <vt:lpstr>Dimensions of a Supervised Learner</vt:lpstr>
      <vt:lpstr>K-Nearest Neighbor Classifiers</vt:lpstr>
      <vt:lpstr>Nearest Neighbor Classifiers</vt:lpstr>
      <vt:lpstr>Nearest neighbor method</vt:lpstr>
      <vt:lpstr>Nearest-Neighbor Classifiers</vt:lpstr>
      <vt:lpstr>Definition of Nearest Neighbor</vt:lpstr>
      <vt:lpstr>1 nearest-neighbor</vt:lpstr>
      <vt:lpstr>Nearest Neighbor Classification</vt:lpstr>
      <vt:lpstr>Nearest Neighbor Classification…</vt:lpstr>
      <vt:lpstr>Nearest Neighbor Classification…</vt:lpstr>
      <vt:lpstr>Nearest Neighbor Classification…</vt:lpstr>
      <vt:lpstr>Nearest neighbor Classification…</vt:lpstr>
      <vt:lpstr>Discussion on the k-NN Algorithm</vt:lpstr>
      <vt:lpstr>Lazy vs. Eager Learning</vt:lpstr>
      <vt:lpstr>Lazy Learner: Instance-Based Methods</vt:lpstr>
      <vt:lpstr>Case-Based Reasoning (CBR)</vt:lpstr>
      <vt:lpstr>Naïve Bayes Classifier</vt:lpstr>
      <vt:lpstr>Probability and Inference</vt:lpstr>
      <vt:lpstr>Background </vt:lpstr>
      <vt:lpstr>Things We’d Like to Do</vt:lpstr>
      <vt:lpstr>Bayesian Classification</vt:lpstr>
      <vt:lpstr>Another Application</vt:lpstr>
      <vt:lpstr>The Bayes Classifier</vt:lpstr>
      <vt:lpstr>The Bayes Classifier</vt:lpstr>
      <vt:lpstr>The Bayes Classifier</vt:lpstr>
      <vt:lpstr>Model Parameters</vt:lpstr>
      <vt:lpstr>Model Parameters</vt:lpstr>
      <vt:lpstr>Model Parameters</vt:lpstr>
      <vt:lpstr>The Naïve Bayes Model</vt:lpstr>
      <vt:lpstr>Why is this useful?</vt:lpstr>
      <vt:lpstr>Naïve Bayes Training</vt:lpstr>
      <vt:lpstr>Naïve Bayes Training</vt:lpstr>
      <vt:lpstr>Naïve Bayes Training</vt:lpstr>
      <vt:lpstr>Naïve Bayes Training</vt:lpstr>
      <vt:lpstr>Naïve Bayes Classification</vt:lpstr>
      <vt:lpstr>Example </vt:lpstr>
      <vt:lpstr>Example </vt:lpstr>
      <vt:lpstr>Example </vt:lpstr>
      <vt:lpstr>The Naive Bayes Classifier for Data Sets with Numerical Attribute Values</vt:lpstr>
      <vt:lpstr>PowerPoint Presentation</vt:lpstr>
      <vt:lpstr>PowerPoint Presentation</vt:lpstr>
      <vt:lpstr>PowerPoint Presentation</vt:lpstr>
      <vt:lpstr>Outputting Probabilities</vt:lpstr>
      <vt:lpstr>Performance on a Test Set</vt:lpstr>
      <vt:lpstr>Naïve Bayes Assumption</vt:lpstr>
      <vt:lpstr>Exclusive-OR Example</vt:lpstr>
      <vt:lpstr>PowerPoint Presentation</vt:lpstr>
      <vt:lpstr>Numerical Stability</vt:lpstr>
      <vt:lpstr>Underflow Prevention</vt:lpstr>
      <vt:lpstr>Underflow Prevention</vt:lpstr>
      <vt:lpstr>Numerical Stability</vt:lpstr>
      <vt:lpstr>Recovering the Probabilities</vt:lpstr>
      <vt:lpstr>Recovering the Probabilities </vt:lpstr>
      <vt:lpstr>Recap</vt:lpstr>
      <vt:lpstr>Conclusions</vt:lpstr>
      <vt:lpstr>Acknowledgements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134</cp:revision>
  <dcterms:created xsi:type="dcterms:W3CDTF">2016-01-10T23:57:09Z</dcterms:created>
  <dcterms:modified xsi:type="dcterms:W3CDTF">2024-09-06T18:15:58Z</dcterms:modified>
</cp:coreProperties>
</file>